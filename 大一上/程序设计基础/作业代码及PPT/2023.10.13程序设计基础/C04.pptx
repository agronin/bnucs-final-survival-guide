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673" r:id="rId3"/>
    <p:sldId id="674" r:id="rId4"/>
    <p:sldId id="633" r:id="rId5"/>
    <p:sldId id="634" r:id="rId6"/>
    <p:sldId id="636" r:id="rId7"/>
    <p:sldId id="601" r:id="rId8"/>
    <p:sldId id="637" r:id="rId9"/>
    <p:sldId id="638" r:id="rId10"/>
    <p:sldId id="598" r:id="rId11"/>
    <p:sldId id="599" r:id="rId12"/>
    <p:sldId id="603" r:id="rId13"/>
    <p:sldId id="604" r:id="rId14"/>
    <p:sldId id="675" r:id="rId15"/>
    <p:sldId id="713" r:id="rId16"/>
    <p:sldId id="607" r:id="rId17"/>
    <p:sldId id="608" r:id="rId18"/>
    <p:sldId id="606" r:id="rId19"/>
    <p:sldId id="609" r:id="rId20"/>
    <p:sldId id="715" r:id="rId21"/>
    <p:sldId id="714" r:id="rId22"/>
    <p:sldId id="612" r:id="rId23"/>
    <p:sldId id="613" r:id="rId24"/>
    <p:sldId id="614" r:id="rId25"/>
    <p:sldId id="615" r:id="rId26"/>
    <p:sldId id="716" r:id="rId27"/>
    <p:sldId id="616" r:id="rId28"/>
    <p:sldId id="618" r:id="rId29"/>
    <p:sldId id="619" r:id="rId30"/>
    <p:sldId id="620" r:id="rId31"/>
    <p:sldId id="621" r:id="rId32"/>
    <p:sldId id="622" r:id="rId33"/>
    <p:sldId id="617" r:id="rId34"/>
    <p:sldId id="717" r:id="rId35"/>
    <p:sldId id="623" r:id="rId36"/>
    <p:sldId id="624" r:id="rId37"/>
    <p:sldId id="625" r:id="rId38"/>
    <p:sldId id="626" r:id="rId39"/>
    <p:sldId id="627" r:id="rId40"/>
    <p:sldId id="628" r:id="rId41"/>
    <p:sldId id="629" r:id="rId42"/>
    <p:sldId id="630" r:id="rId43"/>
    <p:sldId id="631" r:id="rId44"/>
    <p:sldId id="632" r:id="rId4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8080"/>
    <a:srgbClr val="FF3300"/>
    <a:srgbClr val="FF9966"/>
    <a:srgbClr val="FF9933"/>
    <a:srgbClr val="FFFF00"/>
    <a:srgbClr val="757E30"/>
    <a:srgbClr val="33CC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55"/>
    <p:restoredTop sz="87587"/>
  </p:normalViewPr>
  <p:slideViewPr>
    <p:cSldViewPr showGuides="1">
      <p:cViewPr varScale="1">
        <p:scale>
          <a:sx n="96" d="100"/>
          <a:sy n="96" d="100"/>
        </p:scale>
        <p:origin x="392" y="48"/>
      </p:cViewPr>
      <p:guideLst>
        <p:guide orient="horz" pos="2154"/>
        <p:guide pos="27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C051A7-3587-483F-9A84-19A57A54D70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76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9EBB9F-ED3F-4095-BBB0-A0D8AB781BF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00D6FC-F8F6-4751-AF76-C915BE71AE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4AC981-3895-42EE-8AD4-27665A5AE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48177" name="Text Box 17"/>
          <p:cNvSpPr txBox="1">
            <a:spLocks noChangeArrowheads="1"/>
          </p:cNvSpPr>
          <p:nvPr/>
        </p:nvSpPr>
        <p:spPr bwMode="auto">
          <a:xfrm>
            <a:off x="8532813" y="63087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9E139-8418-4926-8889-64399745B4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187450" y="333375"/>
            <a:ext cx="5630863" cy="990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latin typeface="宋体" pitchFamily="2" charset="-122"/>
              </a:rPr>
              <a:t>Chap</a:t>
            </a:r>
            <a:r>
              <a:rPr lang="x-none" altLang="en-US" dirty="0">
                <a:latin typeface="宋体" pitchFamily="2" charset="-122"/>
              </a:rPr>
              <a:t>ter</a:t>
            </a:r>
            <a:r>
              <a:rPr lang="en-US" altLang="zh-CN" dirty="0">
                <a:latin typeface="宋体" pitchFamily="2" charset="-122"/>
              </a:rPr>
              <a:t> 4</a:t>
            </a:r>
            <a:r>
              <a:rPr lang="zh-CN" altLang="en-US" dirty="0">
                <a:latin typeface="宋体" pitchFamily="2" charset="-122"/>
              </a:rPr>
              <a:t>  循环结构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899795" y="1628775"/>
            <a:ext cx="6151245" cy="3241675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 lnSpcReduction="20000"/>
          </a:bodyPr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while循环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2.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do-while循环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3.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break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和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continue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4.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循环嵌套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5.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循环结构程序设计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899795" y="1628775"/>
            <a:ext cx="6151245" cy="3241675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 lnSpcReduction="20000"/>
          </a:bodyPr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while循环</a:t>
            </a:r>
            <a:endParaRPr lang="zh-CN" altLang="en-US" sz="4000" b="0" dirty="0">
              <a:solidFill>
                <a:srgbClr val="FF0000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2.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do-while循环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3.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break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和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continue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4.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循环嵌套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5.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循环结构程序设计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idx="1"/>
          </p:nvPr>
        </p:nvSpPr>
        <p:spPr>
          <a:xfrm>
            <a:off x="313690" y="1093470"/>
            <a:ext cx="8218488" cy="5073650"/>
          </a:xfrm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/*  </a:t>
            </a:r>
            <a:r>
              <a:rPr lang="zh-CN" altLang="en-US" sz="2400" b="0" dirty="0"/>
              <a:t>计算</a:t>
            </a:r>
            <a:r>
              <a:rPr lang="en-US" altLang="zh-CN" sz="2400" b="0" dirty="0"/>
              <a:t>1 + 2 + 3 + …… + 100  */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#include &lt;stdio.h&gt;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{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int i, sum;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</a:t>
            </a:r>
            <a:r>
              <a:rPr lang="en-US" altLang="zh-CN" sz="2400" b="0" dirty="0">
                <a:solidFill>
                  <a:srgbClr val="FF0000"/>
                </a:solidFill>
              </a:rPr>
              <a:t>sum = 0;</a:t>
            </a:r>
            <a:r>
              <a:rPr lang="en-US" altLang="zh-CN" sz="2400" b="0" dirty="0"/>
              <a:t>                  	    </a:t>
            </a:r>
            <a:r>
              <a:rPr lang="x-none" altLang="en-US" sz="2400" b="0" dirty="0"/>
              <a:t>        </a:t>
            </a:r>
            <a:r>
              <a:rPr lang="en-US" altLang="zh-CN" sz="2400" b="0" dirty="0">
                <a:solidFill>
                  <a:srgbClr val="00B050"/>
                </a:solidFill>
              </a:rPr>
              <a:t>/* </a:t>
            </a:r>
            <a:r>
              <a:rPr lang="zh-CN" altLang="en-US" sz="2400" b="0" dirty="0">
                <a:solidFill>
                  <a:srgbClr val="00B050"/>
                </a:solidFill>
              </a:rPr>
              <a:t>置累加和初值为</a:t>
            </a:r>
            <a:r>
              <a:rPr lang="en-US" altLang="zh-CN" sz="2400" b="0" dirty="0">
                <a:solidFill>
                  <a:srgbClr val="00B050"/>
                </a:solidFill>
              </a:rPr>
              <a:t>0 */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</a:t>
            </a:r>
            <a:r>
              <a:rPr lang="en-US" altLang="zh-CN" sz="2400" b="0" dirty="0">
                <a:solidFill>
                  <a:srgbClr val="FF0000"/>
                </a:solidFill>
              </a:rPr>
              <a:t>for ( i = 1; i &lt;= 100; i++ ) </a:t>
            </a:r>
            <a:r>
              <a:rPr lang="en-US" altLang="zh-CN" sz="2400" b="0" dirty="0"/>
              <a:t>   </a:t>
            </a:r>
            <a:r>
              <a:rPr lang="en-US" altLang="zh-CN" sz="2400" b="0" dirty="0">
                <a:solidFill>
                  <a:srgbClr val="00B050"/>
                </a:solidFill>
              </a:rPr>
              <a:t>/* </a:t>
            </a:r>
            <a:r>
              <a:rPr lang="zh-CN" altLang="en-US" sz="2400" b="0" dirty="0">
                <a:solidFill>
                  <a:srgbClr val="00B050"/>
                </a:solidFill>
              </a:rPr>
              <a:t>循环重复</a:t>
            </a:r>
            <a:r>
              <a:rPr lang="en-US" altLang="zh-CN" sz="2400" b="0" dirty="0">
                <a:solidFill>
                  <a:srgbClr val="00B050"/>
                </a:solidFill>
              </a:rPr>
              <a:t>100</a:t>
            </a:r>
            <a:r>
              <a:rPr lang="zh-CN" altLang="en-US" sz="2400" b="0" dirty="0">
                <a:solidFill>
                  <a:srgbClr val="00B050"/>
                </a:solidFill>
              </a:rPr>
              <a:t>次 *</a:t>
            </a:r>
            <a:r>
              <a:rPr lang="en-US" altLang="zh-CN" sz="2400" b="0" dirty="0">
                <a:solidFill>
                  <a:srgbClr val="00B050"/>
                </a:solidFill>
              </a:rPr>
              <a:t>/</a:t>
            </a:r>
            <a:endParaRPr lang="en-US" altLang="zh-CN" sz="2400" b="0" dirty="0">
              <a:solidFill>
                <a:srgbClr val="00B05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    </a:t>
            </a:r>
            <a:r>
              <a:rPr lang="en-US" altLang="zh-CN" sz="2400" b="0" dirty="0">
                <a:solidFill>
                  <a:srgbClr val="FF0000"/>
                </a:solidFill>
              </a:rPr>
              <a:t>sum = sum + i;</a:t>
            </a:r>
            <a:r>
              <a:rPr lang="en-US" altLang="zh-CN" sz="2400" b="0" dirty="0"/>
              <a:t>         	   </a:t>
            </a:r>
            <a:r>
              <a:rPr lang="en-US" altLang="zh-CN" sz="2400" b="0" dirty="0">
                <a:solidFill>
                  <a:srgbClr val="00B050"/>
                </a:solidFill>
              </a:rPr>
              <a:t>/* </a:t>
            </a:r>
            <a:r>
              <a:rPr lang="zh-CN" altLang="en-US" sz="2400" b="0" dirty="0">
                <a:solidFill>
                  <a:srgbClr val="00B050"/>
                </a:solidFill>
              </a:rPr>
              <a:t>反复累加 *</a:t>
            </a:r>
            <a:r>
              <a:rPr lang="en-US" altLang="zh-CN" sz="2400" b="0" dirty="0">
                <a:solidFill>
                  <a:srgbClr val="00B050"/>
                </a:solidFill>
              </a:rPr>
              <a:t>/</a:t>
            </a:r>
            <a:endParaRPr lang="en-US" altLang="zh-CN" sz="2400" b="0" dirty="0">
              <a:solidFill>
                <a:srgbClr val="00B050"/>
              </a:solidFill>
            </a:endParaRPr>
          </a:p>
          <a:p>
            <a:pPr marL="377825" indent="-377825" algn="just" eaLnBrk="1" hangingPunct="1">
              <a:lnSpc>
                <a:spcPct val="120000"/>
              </a:lnSpc>
              <a:buNone/>
            </a:pPr>
            <a:r>
              <a:rPr lang="en-US" altLang="zh-CN" sz="2400" b="0" dirty="0"/>
              <a:t>    printf( “sum = %d\n”, sum); </a:t>
            </a:r>
            <a:r>
              <a:rPr lang="x-none" altLang="en-US" sz="2400" b="0" dirty="0"/>
              <a:t> </a:t>
            </a:r>
            <a:r>
              <a:rPr lang="en-US" altLang="zh-CN" sz="2400" b="0" dirty="0">
                <a:solidFill>
                  <a:srgbClr val="00B050"/>
                </a:solidFill>
              </a:rPr>
              <a:t>/* </a:t>
            </a:r>
            <a:r>
              <a:rPr lang="zh-CN" altLang="en-US" sz="2400" b="0" dirty="0">
                <a:solidFill>
                  <a:srgbClr val="00B050"/>
                </a:solidFill>
              </a:rPr>
              <a:t>输出累加和 *</a:t>
            </a:r>
            <a:r>
              <a:rPr lang="en-US" altLang="zh-CN" sz="2400" b="0" dirty="0">
                <a:solidFill>
                  <a:srgbClr val="00B050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120000"/>
              </a:lnSpc>
              <a:buNone/>
            </a:pPr>
            <a:r>
              <a:rPr lang="en-US" altLang="zh-CN" sz="2400" b="0" dirty="0"/>
              <a:t>    return 0;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}</a:t>
            </a:r>
            <a:endParaRPr lang="en-US" altLang="zh-CN" b="0" dirty="0"/>
          </a:p>
        </p:txBody>
      </p:sp>
      <p:sp>
        <p:nvSpPr>
          <p:cNvPr id="63491" name="Rectangle 3" descr="Large confetti"/>
          <p:cNvSpPr>
            <a:spLocks noGrp="1"/>
          </p:cNvSpPr>
          <p:nvPr>
            <p:ph type="title"/>
          </p:nvPr>
        </p:nvSpPr>
        <p:spPr>
          <a:xfrm>
            <a:off x="32385" y="168275"/>
            <a:ext cx="8644255" cy="73850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b="0" dirty="0"/>
              <a:t>源程序－求 </a:t>
            </a:r>
            <a:r>
              <a:rPr lang="en-US" altLang="zh-CN" sz="4000" b="0" dirty="0"/>
              <a:t>1+2+……+100</a:t>
            </a:r>
            <a:endParaRPr lang="zh-CN" altLang="en-US" sz="4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idx="1"/>
          </p:nvPr>
        </p:nvSpPr>
        <p:spPr>
          <a:xfrm>
            <a:off x="323850" y="1308735"/>
            <a:ext cx="4309745" cy="2988310"/>
          </a:xfr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</a:rPr>
              <a:t>sum = 0;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</a:rPr>
              <a:t>for ( i = 1; i &lt;= 100; i++ )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</a:rPr>
              <a:t>{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</a:rPr>
              <a:t>     sum = sum + i;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</a:rPr>
              <a:t>}</a:t>
            </a:r>
            <a:endParaRPr lang="x-none" altLang="en-US" sz="2400" b="0" dirty="0">
              <a:solidFill>
                <a:srgbClr val="FF0000"/>
              </a:solidFill>
            </a:endParaRPr>
          </a:p>
        </p:txBody>
      </p:sp>
      <p:sp>
        <p:nvSpPr>
          <p:cNvPr id="63491" name="Rectangle 3" descr="Large confetti"/>
          <p:cNvSpPr>
            <a:spLocks noGrp="1"/>
          </p:cNvSpPr>
          <p:nvPr>
            <p:ph type="title"/>
          </p:nvPr>
        </p:nvSpPr>
        <p:spPr>
          <a:xfrm>
            <a:off x="32385" y="168275"/>
            <a:ext cx="8644255" cy="73850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b="0" dirty="0"/>
              <a:t>使用</a:t>
            </a:r>
            <a:r>
              <a:rPr lang="en-US" altLang="zh-CN" sz="4000" b="0" dirty="0"/>
              <a:t>while</a:t>
            </a:r>
            <a:r>
              <a:rPr lang="zh-CN" altLang="en-US" sz="4000" b="0" dirty="0"/>
              <a:t>循环求 </a:t>
            </a:r>
            <a:r>
              <a:rPr lang="en-US" altLang="zh-CN" sz="4000" b="0" dirty="0"/>
              <a:t>1+2+……+100</a:t>
            </a:r>
            <a:endParaRPr lang="zh-CN" altLang="en-US" sz="4000" b="0" dirty="0"/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4801870" y="1308735"/>
            <a:ext cx="4013835" cy="298831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</a:rPr>
              <a:t>sum = 0;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</a:rPr>
              <a:t>i = 1;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chemeClr val="accent5">
                    <a:lumMod val="75000"/>
                  </a:schemeClr>
                </a:solidFill>
              </a:rPr>
              <a:t>while(i&lt;=100)</a:t>
            </a:r>
            <a:endParaRPr lang="en-US" altLang="zh-CN" sz="2400" b="0" dirty="0">
              <a:solidFill>
                <a:schemeClr val="accent5">
                  <a:lumMod val="75000"/>
                </a:schemeClr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chemeClr val="accent5">
                    <a:lumMod val="75000"/>
                  </a:schemeClr>
                </a:solidFill>
              </a:rPr>
              <a:t>{</a:t>
            </a:r>
            <a:endParaRPr lang="en-US" altLang="zh-CN" sz="2400" b="0" dirty="0">
              <a:solidFill>
                <a:schemeClr val="accent5">
                  <a:lumMod val="75000"/>
                </a:schemeClr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</a:rPr>
              <a:t>	sum = sum + i;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</a:rPr>
              <a:t>	i = i + 1;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</a:rPr>
              <a:t>}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/>
          </p:cNvSpPr>
          <p:nvPr>
            <p:ph idx="1"/>
          </p:nvPr>
        </p:nvSpPr>
        <p:spPr>
          <a:xfrm>
            <a:off x="170180" y="1524000"/>
            <a:ext cx="4783455" cy="449580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rmAutofit lnSpcReduction="10000"/>
          </a:bodyPr>
          <a:p>
            <a:pPr marL="377825" lvl="0" indent="-377825" algn="just" eaLnBrk="1" hangingPunct="1">
              <a:lnSpc>
                <a:spcPct val="90000"/>
              </a:lnSpc>
              <a:buNone/>
            </a:pPr>
            <a:endParaRPr lang="en-US" altLang="zh-CN" sz="2400" b="0" dirty="0">
              <a:solidFill>
                <a:srgbClr val="FF0000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  <a:sym typeface="+mn-ea"/>
              </a:rPr>
              <a:t>    int i</a:t>
            </a:r>
            <a:r>
              <a:rPr lang="en-US" altLang="zh-CN" sz="2400" b="0" dirty="0">
                <a:solidFill>
                  <a:srgbClr val="FF0000"/>
                </a:solidFill>
                <a:sym typeface="+mn-ea"/>
              </a:rPr>
              <a:t>;</a:t>
            </a:r>
            <a:endParaRPr lang="en-US" altLang="zh-CN" sz="2400" b="0" dirty="0">
              <a:solidFill>
                <a:srgbClr val="FF0000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  <a:sym typeface="+mn-ea"/>
              </a:rPr>
              <a:t>    double </a:t>
            </a:r>
            <a:r>
              <a:rPr lang="en-US" altLang="zh-CN" sz="2400" b="0" dirty="0">
                <a:solidFill>
                  <a:srgbClr val="FF0000"/>
                </a:solidFill>
                <a:sym typeface="+mn-ea"/>
              </a:rPr>
              <a:t>sum</a:t>
            </a:r>
            <a:r>
              <a:rPr lang="en-US" altLang="zh-CN" sz="2400" b="0" dirty="0">
                <a:solidFill>
                  <a:srgbClr val="FF0000"/>
                </a:solidFill>
                <a:sym typeface="+mn-ea"/>
              </a:rPr>
              <a:t> = 0.0</a:t>
            </a:r>
            <a:r>
              <a:rPr lang="en-US" altLang="zh-CN" sz="2400" b="0" dirty="0">
                <a:solidFill>
                  <a:srgbClr val="FF0000"/>
                </a:solidFill>
                <a:sym typeface="+mn-ea"/>
              </a:rPr>
              <a:t>;</a:t>
            </a:r>
            <a:endParaRPr lang="en-US" altLang="zh-CN" sz="2400" b="0" dirty="0">
              <a:solidFill>
                <a:srgbClr val="FF0000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endParaRPr lang="en-US" altLang="zh-CN" sz="2400" b="0" dirty="0">
              <a:solidFill>
                <a:srgbClr val="FF0000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  <a:sym typeface="+mn-ea"/>
              </a:rPr>
              <a:t>    for ( i = 1; i &lt;= 100; i++ )</a:t>
            </a:r>
            <a:endParaRPr lang="en-US" altLang="zh-CN" sz="2400" b="0" dirty="0">
              <a:solidFill>
                <a:srgbClr val="FF0000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  <a:sym typeface="+mn-ea"/>
              </a:rPr>
              <a:t>	</a:t>
            </a:r>
            <a:r>
              <a:rPr lang="x-none" altLang="en-US" sz="2400" b="0" dirty="0">
                <a:solidFill>
                  <a:srgbClr val="FF0000"/>
                </a:solidFill>
                <a:sym typeface="+mn-ea"/>
              </a:rPr>
              <a:t>{</a:t>
            </a:r>
            <a:endParaRPr lang="en-US" altLang="zh-CN" sz="2400" b="0" dirty="0">
              <a:solidFill>
                <a:srgbClr val="FF0000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  <a:sym typeface="+mn-ea"/>
              </a:rPr>
              <a:t>        sum = sum + </a:t>
            </a:r>
            <a:r>
              <a:rPr lang="en-US" altLang="zh-CN" sz="2400" b="0" dirty="0">
                <a:solidFill>
                  <a:srgbClr val="FF0000"/>
                </a:solidFill>
                <a:sym typeface="+mn-ea"/>
              </a:rPr>
              <a:t>1.0/</a:t>
            </a:r>
            <a:r>
              <a:rPr lang="en-US" altLang="zh-CN" sz="2400" b="0" dirty="0">
                <a:solidFill>
                  <a:srgbClr val="FF0000"/>
                </a:solidFill>
                <a:sym typeface="+mn-ea"/>
              </a:rPr>
              <a:t>i; </a:t>
            </a:r>
            <a:endParaRPr lang="en-US" altLang="zh-CN" sz="2400" b="0" dirty="0">
              <a:solidFill>
                <a:srgbClr val="FF0000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  <a:sym typeface="+mn-ea"/>
              </a:rPr>
              <a:t>	</a:t>
            </a:r>
            <a:r>
              <a:rPr lang="x-none" altLang="en-US" sz="2400" b="0" dirty="0">
                <a:solidFill>
                  <a:srgbClr val="FF0000"/>
                </a:solidFill>
                <a:sym typeface="+mn-ea"/>
              </a:rPr>
              <a:t>}</a:t>
            </a:r>
            <a:endParaRPr lang="x-none" altLang="en-US" sz="2400" b="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64515" name="Rectangle 3" descr="Large confetti"/>
          <p:cNvSpPr>
            <a:spLocks noGrp="1"/>
          </p:cNvSpPr>
          <p:nvPr>
            <p:ph type="title"/>
          </p:nvPr>
        </p:nvSpPr>
        <p:spPr>
          <a:xfrm>
            <a:off x="170180" y="332740"/>
            <a:ext cx="8229600" cy="73818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b="0" dirty="0"/>
              <a:t>求 </a:t>
            </a:r>
            <a:r>
              <a:rPr lang="en-US" altLang="zh-CN" sz="4000" b="0" dirty="0"/>
              <a:t>1+1/2+1/3+……+ 1/100</a:t>
            </a:r>
            <a:endParaRPr lang="en-US" altLang="zh-CN" sz="4000" b="0" dirty="0"/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017135" y="1524000"/>
            <a:ext cx="3999230" cy="449643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    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	</a:t>
            </a: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int i</a:t>
            </a: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;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	</a:t>
            </a: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double </a:t>
            </a: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sum</a:t>
            </a: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 = 0.0</a:t>
            </a: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;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endParaRPr lang="x-none" altLang="en-US" sz="2400" b="0" dirty="0"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	while(i&lt;=100)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	{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	   sum = sum + 1.0/i;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	   i = i + 1;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	}</a:t>
            </a:r>
            <a:endParaRPr lang="x-none" altLang="en-US" sz="2400" b="0" dirty="0">
              <a:solidFill>
                <a:schemeClr val="accent5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172720" y="434340"/>
            <a:ext cx="8827770" cy="64008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b="0">
                <a:latin typeface="+mn-ea"/>
                <a:cs typeface="+mn-ea"/>
              </a:rPr>
              <a:t>while </a:t>
            </a:r>
            <a:r>
              <a:rPr lang="zh-CN" altLang="en-US" b="0" dirty="0">
                <a:latin typeface="+mn-ea"/>
                <a:cs typeface="+mn-ea"/>
              </a:rPr>
              <a:t>语句和</a:t>
            </a:r>
            <a:r>
              <a:rPr lang="en-US" altLang="zh-CN" b="0">
                <a:latin typeface="+mn-ea"/>
                <a:cs typeface="+mn-ea"/>
              </a:rPr>
              <a:t>for</a:t>
            </a:r>
            <a:r>
              <a:rPr lang="zh-CN" altLang="en-US" b="0" dirty="0">
                <a:latin typeface="+mn-ea"/>
                <a:cs typeface="+mn-ea"/>
              </a:rPr>
              <a:t>语句都是在循环前先判断条件</a:t>
            </a:r>
            <a:endParaRPr lang="zh-CN" altLang="en-US" b="0" dirty="0">
              <a:latin typeface="+mn-ea"/>
              <a:cs typeface="+mn-ea"/>
            </a:endParaRPr>
          </a:p>
        </p:txBody>
      </p:sp>
      <p:sp>
        <p:nvSpPr>
          <p:cNvPr id="121861" name="Rectangle 5"/>
          <p:cNvSpPr/>
          <p:nvPr/>
        </p:nvSpPr>
        <p:spPr>
          <a:xfrm>
            <a:off x="252095" y="2639695"/>
            <a:ext cx="6002020" cy="2589530"/>
          </a:xfrm>
          <a:prstGeom prst="rect">
            <a:avLst/>
          </a:prstGeom>
          <a:noFill/>
          <a:ln w="28575" cap="rnd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lvl="1" indent="0" eaLnBrk="1" hangingPunct="1">
              <a:spcBef>
                <a:spcPct val="20000"/>
              </a:spcBef>
            </a:pPr>
            <a:r>
              <a:rPr lang="zh-CN" altLang="en-US" sz="2800" dirty="0">
                <a:solidFill>
                  <a:srgbClr val="00B050"/>
                </a:solidFill>
                <a:latin typeface="Arial" panose="02080604020202020204" pitchFamily="34" charset="0"/>
              </a:rPr>
              <a:t>表达式1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；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spcBef>
                <a:spcPct val="20000"/>
              </a:spcBef>
            </a:pPr>
            <a:r>
              <a:rPr lang="en-US" altLang="zh-CN" sz="2800">
                <a:solidFill>
                  <a:schemeClr val="tx1"/>
                </a:solidFill>
                <a:latin typeface="Arial" panose="02080604020202020204" pitchFamily="34" charset="0"/>
              </a:rPr>
              <a:t>while (</a:t>
            </a:r>
            <a:r>
              <a:rPr lang="zh-CN" altLang="en-US" sz="2800" dirty="0">
                <a:solidFill>
                  <a:srgbClr val="CC0066"/>
                </a:solidFill>
                <a:latin typeface="Arial" panose="02080604020202020204" pitchFamily="34" charset="0"/>
              </a:rPr>
              <a:t>表达式2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) {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    </a:t>
            </a:r>
            <a:r>
              <a:rPr lang="en-US" altLang="zh-CN" sz="2800">
                <a:solidFill>
                  <a:schemeClr val="bg2"/>
                </a:solidFill>
                <a:sym typeface="+mn-ea"/>
              </a:rPr>
              <a:t>循环体语句</a:t>
            </a:r>
            <a:r>
              <a:rPr lang="x-none" altLang="en-US" sz="2800">
                <a:solidFill>
                  <a:schemeClr val="bg2"/>
                </a:solidFill>
                <a:sym typeface="+mn-ea"/>
              </a:rPr>
              <a:t>;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    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80604020202020204" pitchFamily="34" charset="0"/>
              </a:rPr>
              <a:t>表达式3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；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}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21862" name="Rectangle 6"/>
          <p:cNvSpPr/>
          <p:nvPr/>
        </p:nvSpPr>
        <p:spPr>
          <a:xfrm>
            <a:off x="252095" y="1200150"/>
            <a:ext cx="6019800" cy="11684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t" anchorCtr="0">
            <a:spAutoFit/>
          </a:bodyPr>
          <a:p>
            <a:pPr lvl="1" indent="0"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  <a:latin typeface="Arial" panose="02080604020202020204" pitchFamily="34" charset="0"/>
              </a:rPr>
              <a:t>for(</a:t>
            </a:r>
            <a:r>
              <a:rPr lang="zh-CN" altLang="en-US" sz="2800" dirty="0">
                <a:solidFill>
                  <a:srgbClr val="00B050"/>
                </a:solidFill>
                <a:latin typeface="Arial" panose="02080604020202020204" pitchFamily="34" charset="0"/>
              </a:rPr>
              <a:t>表达式1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; </a:t>
            </a:r>
            <a:r>
              <a:rPr lang="zh-CN" altLang="en-US" sz="2800" dirty="0">
                <a:solidFill>
                  <a:srgbClr val="CC0066"/>
                </a:solidFill>
                <a:latin typeface="Arial" panose="02080604020202020204" pitchFamily="34" charset="0"/>
              </a:rPr>
              <a:t>表达式2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; 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80604020202020204" pitchFamily="34" charset="0"/>
              </a:rPr>
              <a:t>表达式3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)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      </a:t>
            </a:r>
            <a:r>
              <a:rPr lang="en-US" altLang="zh-CN" sz="2800">
                <a:solidFill>
                  <a:schemeClr val="bg2"/>
                </a:solidFill>
                <a:latin typeface="Arial" panose="02080604020202020204" pitchFamily="34" charset="0"/>
              </a:rPr>
              <a:t>循环体语句</a:t>
            </a:r>
            <a:r>
              <a:rPr lang="x-none" altLang="en-US" sz="2800">
                <a:solidFill>
                  <a:schemeClr val="bg2"/>
                </a:solidFill>
                <a:latin typeface="Arial" panose="02080604020202020204" pitchFamily="34" charset="0"/>
              </a:rPr>
              <a:t>;</a:t>
            </a:r>
            <a:endParaRPr lang="x-none" altLang="en-US" sz="2800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 bldLvl="0" animBg="1"/>
      <p:bldP spid="12186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172720" y="434340"/>
            <a:ext cx="8827770" cy="64008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b="0">
                <a:latin typeface="+mn-ea"/>
                <a:cs typeface="+mn-ea"/>
              </a:rPr>
              <a:t>while </a:t>
            </a:r>
            <a:r>
              <a:rPr lang="zh-CN" altLang="en-US" b="0" dirty="0">
                <a:latin typeface="+mn-ea"/>
                <a:cs typeface="+mn-ea"/>
              </a:rPr>
              <a:t>语句和</a:t>
            </a:r>
            <a:r>
              <a:rPr lang="en-US" altLang="zh-CN" b="0">
                <a:latin typeface="+mn-ea"/>
                <a:cs typeface="+mn-ea"/>
              </a:rPr>
              <a:t>for</a:t>
            </a:r>
            <a:r>
              <a:rPr lang="zh-CN" altLang="en-US" b="0" dirty="0">
                <a:latin typeface="+mn-ea"/>
                <a:cs typeface="+mn-ea"/>
              </a:rPr>
              <a:t>语句都是在循环前先判断条件</a:t>
            </a:r>
            <a:endParaRPr lang="zh-CN" altLang="en-US" b="0" dirty="0">
              <a:latin typeface="+mn-ea"/>
              <a:cs typeface="+mn-ea"/>
            </a:endParaRPr>
          </a:p>
        </p:txBody>
      </p:sp>
      <p:sp>
        <p:nvSpPr>
          <p:cNvPr id="121861" name="Rectangle 5"/>
          <p:cNvSpPr/>
          <p:nvPr/>
        </p:nvSpPr>
        <p:spPr>
          <a:xfrm>
            <a:off x="252095" y="2639695"/>
            <a:ext cx="6002020" cy="2589530"/>
          </a:xfrm>
          <a:prstGeom prst="rect">
            <a:avLst/>
          </a:prstGeom>
          <a:noFill/>
          <a:ln w="28575" cap="rnd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lvl="1" indent="0" eaLnBrk="1" hangingPunct="1">
              <a:spcBef>
                <a:spcPct val="20000"/>
              </a:spcBef>
            </a:pPr>
            <a:r>
              <a:rPr lang="x-none" altLang="zh-CN" sz="2800" dirty="0">
                <a:solidFill>
                  <a:srgbClr val="00B050"/>
                </a:solidFill>
                <a:latin typeface="Arial" panose="02080604020202020204" pitchFamily="34" charset="0"/>
              </a:rPr>
              <a:t>i=</a:t>
            </a:r>
            <a:r>
              <a:rPr lang="zh-CN" altLang="en-US" sz="2800" dirty="0">
                <a:solidFill>
                  <a:srgbClr val="00B050"/>
                </a:solidFill>
                <a:latin typeface="Arial" panose="02080604020202020204" pitchFamily="34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；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spcBef>
                <a:spcPct val="20000"/>
              </a:spcBef>
            </a:pPr>
            <a:r>
              <a:rPr lang="en-US" altLang="zh-CN" sz="2800">
                <a:solidFill>
                  <a:schemeClr val="tx1"/>
                </a:solidFill>
                <a:latin typeface="Arial" panose="02080604020202020204" pitchFamily="34" charset="0"/>
              </a:rPr>
              <a:t>while (</a:t>
            </a:r>
            <a:r>
              <a:rPr lang="x-none" altLang="zh-CN" sz="2800" dirty="0">
                <a:solidFill>
                  <a:srgbClr val="CC0066"/>
                </a:solidFill>
                <a:latin typeface="Arial" panose="02080604020202020204" pitchFamily="34" charset="0"/>
              </a:rPr>
              <a:t>i&lt;=10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) {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    </a:t>
            </a:r>
            <a:r>
              <a:rPr lang="en-US" altLang="zh-CN" sz="2800">
                <a:solidFill>
                  <a:schemeClr val="bg2"/>
                </a:solidFill>
                <a:sym typeface="+mn-ea"/>
              </a:rPr>
              <a:t>sum = </a:t>
            </a:r>
            <a:r>
              <a:rPr lang="en-US" altLang="zh-CN" sz="2800" err="1">
                <a:solidFill>
                  <a:schemeClr val="bg2"/>
                </a:solidFill>
                <a:sym typeface="+mn-ea"/>
              </a:rPr>
              <a:t>sum</a:t>
            </a:r>
            <a:r>
              <a:rPr lang="en-US" altLang="zh-CN" sz="2800">
                <a:solidFill>
                  <a:schemeClr val="bg2"/>
                </a:solidFill>
                <a:sym typeface="+mn-ea"/>
              </a:rPr>
              <a:t> + i</a:t>
            </a:r>
            <a:r>
              <a:rPr lang="en-US" altLang="zh-CN" sz="2800">
                <a:sym typeface="+mn-ea"/>
              </a:rPr>
              <a:t>;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    </a:t>
            </a:r>
            <a:r>
              <a:rPr lang="x-none" altLang="zh-CN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80604020202020204" pitchFamily="34" charset="0"/>
              </a:rPr>
              <a:t>i++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；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}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21862" name="Rectangle 6"/>
          <p:cNvSpPr/>
          <p:nvPr/>
        </p:nvSpPr>
        <p:spPr>
          <a:xfrm>
            <a:off x="252095" y="1200150"/>
            <a:ext cx="6019800" cy="11684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t" anchorCtr="0">
            <a:spAutoFit/>
          </a:bodyPr>
          <a:p>
            <a:pPr lvl="1" indent="0"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  <a:latin typeface="Arial" panose="02080604020202020204" pitchFamily="34" charset="0"/>
              </a:rPr>
              <a:t>for(</a:t>
            </a:r>
            <a:r>
              <a:rPr lang="x-none" altLang="zh-CN" sz="2800" dirty="0">
                <a:solidFill>
                  <a:srgbClr val="00B050"/>
                </a:solidFill>
                <a:latin typeface="Arial" panose="02080604020202020204" pitchFamily="34" charset="0"/>
              </a:rPr>
              <a:t>i=1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; </a:t>
            </a:r>
            <a:r>
              <a:rPr lang="x-none" altLang="zh-CN" sz="2800" dirty="0">
                <a:solidFill>
                  <a:srgbClr val="CC0066"/>
                </a:solidFill>
                <a:latin typeface="Arial" panose="02080604020202020204" pitchFamily="34" charset="0"/>
              </a:rPr>
              <a:t>i&lt;=10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; </a:t>
            </a:r>
            <a:r>
              <a:rPr lang="x-none" altLang="zh-CN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80604020202020204" pitchFamily="34" charset="0"/>
              </a:rPr>
              <a:t>i++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)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      </a:t>
            </a:r>
            <a:r>
              <a:rPr lang="en-US" altLang="zh-CN" sz="2800">
                <a:solidFill>
                  <a:schemeClr val="bg2"/>
                </a:solidFill>
                <a:sym typeface="+mn-ea"/>
              </a:rPr>
              <a:t>sum = </a:t>
            </a:r>
            <a:r>
              <a:rPr lang="en-US" altLang="zh-CN" sz="2800" err="1">
                <a:solidFill>
                  <a:schemeClr val="bg2"/>
                </a:solidFill>
                <a:sym typeface="+mn-ea"/>
              </a:rPr>
              <a:t>sum</a:t>
            </a:r>
            <a:r>
              <a:rPr lang="en-US" altLang="zh-CN" sz="2800">
                <a:solidFill>
                  <a:schemeClr val="bg2"/>
                </a:solidFill>
                <a:sym typeface="+mn-ea"/>
              </a:rPr>
              <a:t> + i</a:t>
            </a:r>
            <a:r>
              <a:rPr lang="en-US" altLang="zh-CN" sz="2800">
                <a:sym typeface="+mn-ea"/>
              </a:rPr>
              <a:t>;</a:t>
            </a:r>
            <a:endParaRPr lang="en-US" altLang="zh-CN" sz="2800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 bldLvl="0" animBg="1"/>
      <p:bldP spid="121862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473" name="Rectangle 81"/>
          <p:cNvSpPr/>
          <p:nvPr/>
        </p:nvSpPr>
        <p:spPr>
          <a:xfrm>
            <a:off x="3708400" y="2593340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循环条件</a:t>
            </a:r>
            <a:endParaRPr lang="zh-CN" altLang="en-US" sz="28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59474" name="Rectangle 82"/>
          <p:cNvSpPr/>
          <p:nvPr/>
        </p:nvSpPr>
        <p:spPr>
          <a:xfrm>
            <a:off x="3924300" y="3548380"/>
            <a:ext cx="12557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循环体</a:t>
            </a:r>
            <a:endParaRPr lang="zh-CN" altLang="en-US" sz="28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712460" y="1871980"/>
            <a:ext cx="2719070" cy="3745865"/>
            <a:chOff x="1287" y="3386"/>
            <a:chExt cx="4282" cy="5899"/>
          </a:xfrm>
        </p:grpSpPr>
        <p:sp>
          <p:nvSpPr>
            <p:cNvPr id="8198" name="Text Box 69"/>
            <p:cNvSpPr txBox="1"/>
            <p:nvPr/>
          </p:nvSpPr>
          <p:spPr>
            <a:xfrm>
              <a:off x="3149" y="5364"/>
              <a:ext cx="663" cy="59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真</a:t>
              </a:r>
              <a:endParaRPr lang="zh-CN" altLang="en-US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199" name="Text Box 70"/>
            <p:cNvSpPr txBox="1"/>
            <p:nvPr/>
          </p:nvSpPr>
          <p:spPr>
            <a:xfrm>
              <a:off x="4139" y="4454"/>
              <a:ext cx="1431" cy="59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假</a:t>
              </a:r>
              <a:endParaRPr lang="zh-CN" altLang="en-US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200" name="Line 71"/>
            <p:cNvSpPr/>
            <p:nvPr/>
          </p:nvSpPr>
          <p:spPr>
            <a:xfrm>
              <a:off x="3136" y="5417"/>
              <a:ext cx="0" cy="3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8202" name="Text Box 73"/>
            <p:cNvSpPr txBox="1"/>
            <p:nvPr/>
          </p:nvSpPr>
          <p:spPr>
            <a:xfrm>
              <a:off x="1871" y="8689"/>
              <a:ext cx="2952" cy="5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/>
              <a:r>
                <a:rPr lang="en-US" altLang="zh-CN" sz="1600">
                  <a:solidFill>
                    <a:schemeClr val="tx1"/>
                  </a:solidFill>
                  <a:latin typeface="Times New Roman" pitchFamily="18" charset="0"/>
                </a:rPr>
                <a:t>for</a:t>
              </a:r>
              <a:r>
                <a:rPr lang="zh-CN" altLang="en-US" sz="1600">
                  <a:solidFill>
                    <a:schemeClr val="tx1"/>
                  </a:solidFill>
                  <a:latin typeface="Times New Roman" pitchFamily="18" charset="0"/>
                </a:rPr>
                <a:t>后面的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语句</a:t>
              </a:r>
              <a:endParaRPr lang="zh-CN" altLang="en-US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203" name="Line 74"/>
            <p:cNvSpPr/>
            <p:nvPr/>
          </p:nvSpPr>
          <p:spPr>
            <a:xfrm>
              <a:off x="3136" y="3960"/>
              <a:ext cx="0" cy="49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8204" name="AutoShape 75"/>
            <p:cNvSpPr/>
            <p:nvPr/>
          </p:nvSpPr>
          <p:spPr>
            <a:xfrm>
              <a:off x="1543" y="4442"/>
              <a:ext cx="3219" cy="978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表达式</a:t>
              </a:r>
              <a:r>
                <a:rPr lang="x-none" altLang="zh-CN" sz="1600" dirty="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  <a:endParaRPr lang="x-none" altLang="zh-CN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205" name="Rectangle 76"/>
            <p:cNvSpPr/>
            <p:nvPr/>
          </p:nvSpPr>
          <p:spPr>
            <a:xfrm>
              <a:off x="2100" y="5840"/>
              <a:ext cx="2088" cy="57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循环体语句</a:t>
              </a:r>
              <a:endParaRPr lang="zh-CN" altLang="en-US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" name="Rectangle 76"/>
            <p:cNvSpPr/>
            <p:nvPr/>
          </p:nvSpPr>
          <p:spPr>
            <a:xfrm>
              <a:off x="2092" y="3386"/>
              <a:ext cx="2088" cy="57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表达式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" name="Rectangle 76"/>
            <p:cNvSpPr/>
            <p:nvPr/>
          </p:nvSpPr>
          <p:spPr>
            <a:xfrm>
              <a:off x="2092" y="6842"/>
              <a:ext cx="2088" cy="57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表达式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itchFamily="18" charset="0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5" name="Line 71"/>
            <p:cNvSpPr/>
            <p:nvPr/>
          </p:nvSpPr>
          <p:spPr>
            <a:xfrm>
              <a:off x="3110" y="6408"/>
              <a:ext cx="0" cy="3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cxnSp>
          <p:nvCxnSpPr>
            <p:cNvPr id="6" name="肘形连接符 5"/>
            <p:cNvCxnSpPr>
              <a:stCxn id="8204" idx="3"/>
              <a:endCxn id="8202" idx="0"/>
            </p:cNvCxnSpPr>
            <p:nvPr/>
          </p:nvCxnSpPr>
          <p:spPr>
            <a:xfrm flipH="1">
              <a:off x="3347" y="4931"/>
              <a:ext cx="1415" cy="3758"/>
            </a:xfrm>
            <a:prstGeom prst="bentConnector4">
              <a:avLst>
                <a:gd name="adj1" fmla="val -30813"/>
                <a:gd name="adj2" fmla="val 83954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" name="肘形连接符 6"/>
            <p:cNvCxnSpPr>
              <a:stCxn id="4" idx="2"/>
            </p:cNvCxnSpPr>
            <p:nvPr/>
          </p:nvCxnSpPr>
          <p:spPr>
            <a:xfrm rot="5400000" flipH="1">
              <a:off x="580" y="4860"/>
              <a:ext cx="3263" cy="1849"/>
            </a:xfrm>
            <a:prstGeom prst="bentConnector3">
              <a:avLst>
                <a:gd name="adj1" fmla="val -11492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箭头连接符 8"/>
            <p:cNvCxnSpPr/>
            <p:nvPr/>
          </p:nvCxnSpPr>
          <p:spPr>
            <a:xfrm>
              <a:off x="1326" y="4152"/>
              <a:ext cx="180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2" name="Group 68"/>
          <p:cNvGrpSpPr/>
          <p:nvPr/>
        </p:nvGrpSpPr>
        <p:grpSpPr>
          <a:xfrm>
            <a:off x="899160" y="2277745"/>
            <a:ext cx="2743200" cy="2895600"/>
            <a:chOff x="1869" y="4088"/>
            <a:chExt cx="2762" cy="3104"/>
          </a:xfrm>
        </p:grpSpPr>
        <p:sp>
          <p:nvSpPr>
            <p:cNvPr id="13" name="Text Box 69"/>
            <p:cNvSpPr txBox="1"/>
            <p:nvPr/>
          </p:nvSpPr>
          <p:spPr>
            <a:xfrm>
              <a:off x="2777" y="5044"/>
              <a:ext cx="1080" cy="40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真</a:t>
              </a:r>
              <a:endParaRPr lang="zh-CN" altLang="en-US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4" name="Text Box 70"/>
            <p:cNvSpPr txBox="1"/>
            <p:nvPr/>
          </p:nvSpPr>
          <p:spPr>
            <a:xfrm>
              <a:off x="3716" y="4424"/>
              <a:ext cx="915" cy="40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假</a:t>
              </a:r>
              <a:endParaRPr lang="zh-CN" altLang="en-US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5" name="Line 71"/>
            <p:cNvSpPr/>
            <p:nvPr/>
          </p:nvSpPr>
          <p:spPr>
            <a:xfrm>
              <a:off x="3111" y="5080"/>
              <a:ext cx="0" cy="26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pSp>
          <p:nvGrpSpPr>
            <p:cNvPr id="16" name="Group 72"/>
            <p:cNvGrpSpPr/>
            <p:nvPr/>
          </p:nvGrpSpPr>
          <p:grpSpPr>
            <a:xfrm>
              <a:off x="1869" y="4088"/>
              <a:ext cx="2687" cy="3104"/>
              <a:chOff x="1869" y="4088"/>
              <a:chExt cx="2687" cy="3104"/>
            </a:xfrm>
          </p:grpSpPr>
          <p:sp>
            <p:nvSpPr>
              <p:cNvPr id="17" name="Text Box 73"/>
              <p:cNvSpPr txBox="1"/>
              <p:nvPr/>
            </p:nvSpPr>
            <p:spPr>
              <a:xfrm>
                <a:off x="2264" y="6786"/>
                <a:ext cx="1887" cy="40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 eaLnBrk="0" hangingPunct="0"/>
                <a:r>
                  <a:rPr lang="en-US" altLang="zh-CN" sz="1600">
                    <a:solidFill>
                      <a:schemeClr val="tx1"/>
                    </a:solidFill>
                    <a:latin typeface="Times New Roman" pitchFamily="18" charset="0"/>
                  </a:rPr>
                  <a:t>while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Times New Roman" pitchFamily="18" charset="0"/>
                  </a:rPr>
                  <a:t>下一条语句</a:t>
                </a:r>
                <a:endParaRPr lang="zh-CN" altLang="en-US" sz="1600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" name="Line 74"/>
              <p:cNvSpPr/>
              <p:nvPr/>
            </p:nvSpPr>
            <p:spPr>
              <a:xfrm>
                <a:off x="3111" y="4088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19" name="AutoShape 75"/>
              <p:cNvSpPr/>
              <p:nvPr/>
            </p:nvSpPr>
            <p:spPr>
              <a:xfrm>
                <a:off x="2206" y="4416"/>
                <a:ext cx="1815" cy="666"/>
              </a:xfrm>
              <a:prstGeom prst="flowChartDecision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 eaLnBrk="0" hangingPunct="0"/>
                <a:r>
                  <a:rPr lang="zh-CN" altLang="en-US" sz="1600" dirty="0">
                    <a:solidFill>
                      <a:schemeClr val="tx1"/>
                    </a:solidFill>
                    <a:latin typeface="Times New Roman" pitchFamily="18" charset="0"/>
                  </a:rPr>
                  <a:t>表达式</a:t>
                </a:r>
                <a:endParaRPr lang="zh-CN" altLang="en-US" sz="1600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" name="Rectangle 76"/>
              <p:cNvSpPr/>
              <p:nvPr/>
            </p:nvSpPr>
            <p:spPr>
              <a:xfrm>
                <a:off x="2449" y="5368"/>
                <a:ext cx="1335" cy="391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 eaLnBrk="0" hangingPunct="0"/>
                <a:r>
                  <a:rPr lang="zh-CN" altLang="en-US" sz="1600" dirty="0">
                    <a:solidFill>
                      <a:schemeClr val="tx1"/>
                    </a:solidFill>
                    <a:latin typeface="Times New Roman" pitchFamily="18" charset="0"/>
                  </a:rPr>
                  <a:t>循环体语句</a:t>
                </a:r>
                <a:endParaRPr lang="zh-CN" altLang="en-US" sz="1600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1" name="Freeform 77"/>
              <p:cNvSpPr/>
              <p:nvPr/>
            </p:nvSpPr>
            <p:spPr>
              <a:xfrm>
                <a:off x="3191" y="4755"/>
                <a:ext cx="1365" cy="2028"/>
              </a:xfrm>
              <a:custGeom>
                <a:avLst/>
                <a:gdLst/>
                <a:ahLst/>
                <a:cxnLst>
                  <a:cxn ang="0">
                    <a:pos x="840" y="0"/>
                  </a:cxn>
                  <a:cxn ang="0">
                    <a:pos x="1365" y="0"/>
                  </a:cxn>
                  <a:cxn ang="0">
                    <a:pos x="1365" y="1560"/>
                  </a:cxn>
                  <a:cxn ang="0">
                    <a:pos x="0" y="1560"/>
                  </a:cxn>
                  <a:cxn ang="0">
                    <a:pos x="0" y="2028"/>
                  </a:cxn>
                </a:cxnLst>
                <a:pathLst>
                  <a:path w="1365" h="2028">
                    <a:moveTo>
                      <a:pt x="840" y="0"/>
                    </a:moveTo>
                    <a:lnTo>
                      <a:pt x="1365" y="0"/>
                    </a:lnTo>
                    <a:lnTo>
                      <a:pt x="1365" y="1560"/>
                    </a:lnTo>
                    <a:lnTo>
                      <a:pt x="0" y="1560"/>
                    </a:lnTo>
                    <a:lnTo>
                      <a:pt x="0" y="2028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" name="Freeform 78"/>
              <p:cNvSpPr/>
              <p:nvPr/>
            </p:nvSpPr>
            <p:spPr>
              <a:xfrm>
                <a:off x="1869" y="4350"/>
                <a:ext cx="1260" cy="1942"/>
              </a:xfrm>
              <a:custGeom>
                <a:avLst/>
                <a:gdLst/>
                <a:ahLst/>
                <a:cxnLst>
                  <a:cxn ang="0">
                    <a:pos x="1260" y="1412"/>
                  </a:cxn>
                  <a:cxn ang="0">
                    <a:pos x="1260" y="1942"/>
                  </a:cxn>
                  <a:cxn ang="0">
                    <a:pos x="0" y="1942"/>
                  </a:cxn>
                  <a:cxn ang="0">
                    <a:pos x="0" y="0"/>
                  </a:cxn>
                  <a:cxn ang="0">
                    <a:pos x="1155" y="0"/>
                  </a:cxn>
                </a:cxnLst>
                <a:pathLst>
                  <a:path w="1260" h="1716">
                    <a:moveTo>
                      <a:pt x="1260" y="1248"/>
                    </a:moveTo>
                    <a:lnTo>
                      <a:pt x="1260" y="1716"/>
                    </a:lnTo>
                    <a:lnTo>
                      <a:pt x="0" y="1716"/>
                    </a:lnTo>
                    <a:lnTo>
                      <a:pt x="0" y="0"/>
                    </a:lnTo>
                    <a:lnTo>
                      <a:pt x="1155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4" name="Rectangle 3"/>
          <p:cNvSpPr>
            <a:spLocks noGrp="1"/>
          </p:cNvSpPr>
          <p:nvPr>
            <p:ph idx="1"/>
          </p:nvPr>
        </p:nvSpPr>
        <p:spPr>
          <a:xfrm>
            <a:off x="1188085" y="1557020"/>
            <a:ext cx="2446020" cy="409575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70000"/>
              </a:lnSpc>
              <a:buNone/>
            </a:pPr>
            <a:r>
              <a:rPr lang="en-US" altLang="zh-CN" dirty="0">
                <a:solidFill>
                  <a:srgbClr val="CC0066"/>
                </a:solidFill>
              </a:rPr>
              <a:t>while</a:t>
            </a:r>
            <a:r>
              <a:rPr lang="zh-CN" altLang="en-US" dirty="0">
                <a:solidFill>
                  <a:srgbClr val="CC0066"/>
                </a:solidFill>
              </a:rPr>
              <a:t>循环</a:t>
            </a:r>
            <a:r>
              <a:rPr lang="zh-CN" altLang="en-US" dirty="0">
                <a:latin typeface="宋体" pitchFamily="2" charset="-122"/>
              </a:rPr>
              <a:t>   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25" name="Rectangle 3"/>
          <p:cNvSpPr>
            <a:spLocks noGrp="1"/>
          </p:cNvSpPr>
          <p:nvPr/>
        </p:nvSpPr>
        <p:spPr>
          <a:xfrm>
            <a:off x="6012180" y="1303020"/>
            <a:ext cx="1776730" cy="4095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70000"/>
              </a:lnSpc>
              <a:buNone/>
            </a:pPr>
            <a:r>
              <a:rPr lang="en-US" altLang="zh-CN" dirty="0">
                <a:solidFill>
                  <a:srgbClr val="CC0066"/>
                </a:solidFill>
              </a:rPr>
              <a:t>for</a:t>
            </a:r>
            <a:r>
              <a:rPr lang="zh-CN" altLang="en-US" dirty="0">
                <a:solidFill>
                  <a:srgbClr val="CC0066"/>
                </a:solidFill>
              </a:rPr>
              <a:t>循环</a:t>
            </a:r>
            <a:r>
              <a:rPr lang="zh-CN" altLang="en-US" dirty="0">
                <a:latin typeface="宋体" pitchFamily="2" charset="-122"/>
              </a:rPr>
              <a:t>   </a:t>
            </a:r>
            <a:endParaRPr lang="zh-CN" altLang="en-US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73" grpId="0"/>
      <p:bldP spid="5947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215265" y="417830"/>
            <a:ext cx="6765925" cy="708025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4000" b="0" dirty="0">
                <a:sym typeface="+mn-ea"/>
              </a:rPr>
              <a:t>用格里高利公式求</a:t>
            </a:r>
            <a:r>
              <a:rPr lang="zh-CN" altLang="en-US" sz="4000" b="0" dirty="0">
                <a:sym typeface="+mn-ea"/>
              </a:rPr>
              <a:t>π</a:t>
            </a:r>
            <a:r>
              <a:rPr lang="zh-CN" altLang="en-US" sz="4000" b="0" dirty="0">
                <a:sym typeface="+mn-ea"/>
              </a:rPr>
              <a:t>的近似值</a:t>
            </a:r>
            <a:endParaRPr lang="zh-CN" altLang="en-US" sz="4000" b="0" dirty="0">
              <a:sym typeface="+mn-ea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395605" y="1268730"/>
            <a:ext cx="7990205" cy="2666365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p>
            <a:pPr lvl="0" algn="just" eaLnBrk="1" hangingPunct="1">
              <a:buNone/>
            </a:pPr>
            <a:r>
              <a:rPr lang="en-US" altLang="zh-CN" b="0">
                <a:latin typeface="+mn-ea"/>
                <a:cs typeface="+mn-ea"/>
                <a:sym typeface="+mn-ea"/>
              </a:rPr>
              <a:t>使用格里高利公式求</a:t>
            </a:r>
            <a:r>
              <a:rPr lang="en-US" altLang="zh-CN" b="0">
                <a:latin typeface="+mn-ea"/>
                <a:cs typeface="+mn-ea"/>
                <a:sym typeface="+mn-ea"/>
              </a:rPr>
              <a:t>π</a:t>
            </a:r>
            <a:r>
              <a:rPr lang="en-US" altLang="zh-CN" b="0">
                <a:latin typeface="+mn-ea"/>
                <a:cs typeface="+mn-ea"/>
                <a:sym typeface="+mn-ea"/>
              </a:rPr>
              <a:t>的近似值，要求精确到最后一项的绝对值小于10</a:t>
            </a:r>
            <a:r>
              <a:rPr lang="en-US" altLang="zh-CN" b="0" baseline="30000">
                <a:latin typeface="+mn-ea"/>
                <a:cs typeface="+mn-ea"/>
                <a:sym typeface="+mn-ea"/>
              </a:rPr>
              <a:t>–</a:t>
            </a:r>
            <a:r>
              <a:rPr lang="en-US" altLang="zh-CN" b="0" baseline="30000">
                <a:latin typeface="+mn-ea"/>
                <a:cs typeface="+mn-ea"/>
                <a:sym typeface="+mn-ea"/>
              </a:rPr>
              <a:t>4</a:t>
            </a:r>
            <a:r>
              <a:rPr lang="en-US" altLang="zh-CN" b="0">
                <a:latin typeface="+mn-ea"/>
                <a:cs typeface="+mn-ea"/>
                <a:sym typeface="+mn-ea"/>
              </a:rPr>
              <a:t>。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None/>
            </a:pP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None/>
            </a:pP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None/>
            </a:pPr>
            <a:endParaRPr lang="en-US" altLang="zh-CN" b="0">
              <a:latin typeface="+mn-ea"/>
              <a:cs typeface="+mn-ea"/>
              <a:sym typeface="+mn-ea"/>
            </a:endParaRPr>
          </a:p>
        </p:txBody>
      </p:sp>
      <p:graphicFrame>
        <p:nvGraphicFramePr>
          <p:cNvPr id="6148" name="Object 7"/>
          <p:cNvGraphicFramePr/>
          <p:nvPr/>
        </p:nvGraphicFramePr>
        <p:xfrm>
          <a:off x="1524000" y="2663825"/>
          <a:ext cx="30480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295400" imgH="423545" progId="">
                  <p:embed/>
                </p:oleObj>
              </mc:Choice>
              <mc:Fallback>
                <p:oleObj name="" r:id="rId1" imgW="1295400" imgH="423545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2663825"/>
                        <a:ext cx="3048000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252095" y="116840"/>
            <a:ext cx="8733155" cy="666369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>
            <a:spAutoFit/>
          </a:bodyPr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#include &lt;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math.h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&gt;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main(void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){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denominator, flag;     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double item, pi;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flag = 1; denominator = 1 ; item = 1.0;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pi = 0;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while(fabs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(item) &gt;= 0.0001)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{  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item = flag * 1.0 / denominator;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pi =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pi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+ item;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flag = -flag;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denominator =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denominator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+2;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}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pi =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pi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* 4;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printf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( “pi = %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f\n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”, pi);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return 0;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indent="0" algn="l" defTabSz="914400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}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120839" name="Rectangle 7"/>
          <p:cNvSpPr/>
          <p:nvPr/>
        </p:nvSpPr>
        <p:spPr>
          <a:xfrm>
            <a:off x="4428173" y="4724083"/>
            <a:ext cx="3700462" cy="46037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2075" tIns="46038" rIns="92075" bIns="46038" anchor="t" anchorCtr="0">
            <a:spAutoFit/>
          </a:bodyPr>
          <a:p>
            <a:pPr lvl="0"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buFontTx/>
            </a:pPr>
            <a:r>
              <a:rPr lang="en-US" altLang="zh-CN" sz="2400">
                <a:sym typeface="+mn-ea"/>
              </a:rPr>
              <a:t>pi = 3.141613</a:t>
            </a:r>
            <a:r>
              <a:rPr lang="en-US" altLang="zh-CN" sz="2400">
                <a:sym typeface="+mn-ea"/>
              </a:rPr>
              <a:t> </a:t>
            </a:r>
            <a:endParaRPr lang="en-US" altLang="zh-CN" sz="2400">
              <a:sym typeface="+mn-ea"/>
            </a:endParaRPr>
          </a:p>
        </p:txBody>
      </p:sp>
      <p:sp>
        <p:nvSpPr>
          <p:cNvPr id="120840" name="Rectangle 8"/>
          <p:cNvSpPr/>
          <p:nvPr/>
        </p:nvSpPr>
        <p:spPr>
          <a:xfrm>
            <a:off x="4428173" y="5319713"/>
            <a:ext cx="2157412" cy="42227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2075" tIns="46038" rIns="92075" bIns="46038" anchor="t" anchorCtr="0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item=0.0 ?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20841" name="Rectangle 9"/>
          <p:cNvSpPr/>
          <p:nvPr/>
        </p:nvSpPr>
        <p:spPr>
          <a:xfrm>
            <a:off x="4428173" y="5877243"/>
            <a:ext cx="4441825" cy="52197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r>
              <a:rPr lang="en-US" altLang="zh-CN" sz="2800" err="1">
                <a:solidFill>
                  <a:schemeClr val="tx1"/>
                </a:solidFill>
                <a:latin typeface="Arial" panose="02080604020202020204" pitchFamily="34" charset="0"/>
              </a:rPr>
              <a:t>fabs(item</a:t>
            </a:r>
            <a:r>
              <a:rPr lang="en-US" altLang="zh-CN" sz="2800">
                <a:solidFill>
                  <a:schemeClr val="tx1"/>
                </a:solidFill>
                <a:latin typeface="Arial" panose="02080604020202020204" pitchFamily="34" charset="0"/>
              </a:rPr>
              <a:t>) &lt; 0.0001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9" grpId="0" bldLvl="0" animBg="1"/>
      <p:bldP spid="120840" grpId="0" bldLvl="0" animBg="1"/>
      <p:bldP spid="12084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3" name="Rectangle 2051"/>
          <p:cNvSpPr>
            <a:spLocks noGrp="1"/>
          </p:cNvSpPr>
          <p:nvPr>
            <p:ph idx="1"/>
          </p:nvPr>
        </p:nvSpPr>
        <p:spPr>
          <a:xfrm>
            <a:off x="457200" y="1371600"/>
            <a:ext cx="8362950" cy="4865688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 lnSpcReduction="10000"/>
          </a:bodyPr>
          <a:p>
            <a:pPr lvl="0" algn="just" eaLnBrk="1" hangingPunct="1">
              <a:buNone/>
            </a:pPr>
            <a:r>
              <a:rPr lang="en-US" altLang="zh-CN" b="0">
                <a:latin typeface="+mn-ea"/>
                <a:cs typeface="+mn-ea"/>
                <a:sym typeface="+mn-ea"/>
              </a:rPr>
              <a:t>分析：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Char char="¨"/>
            </a:pPr>
            <a:r>
              <a:rPr lang="en-US" altLang="zh-CN" b="0">
                <a:latin typeface="+mn-ea"/>
                <a:cs typeface="+mn-ea"/>
                <a:sym typeface="+mn-ea"/>
              </a:rPr>
              <a:t>求累加和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Char char="¨"/>
            </a:pP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Char char="¨"/>
            </a:pPr>
            <a:r>
              <a:rPr lang="en-US" altLang="zh-CN" b="0">
                <a:latin typeface="+mn-ea"/>
                <a:cs typeface="+mn-ea"/>
                <a:sym typeface="+mn-ea"/>
              </a:rPr>
              <a:t>确定循环条件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1" algn="just" eaLnBrk="1" hangingPunct="1"/>
            <a:r>
              <a:rPr lang="en-US" altLang="zh-CN" b="0">
                <a:latin typeface="+mn-ea"/>
                <a:cs typeface="+mn-ea"/>
                <a:sym typeface="+mn-ea"/>
              </a:rPr>
              <a:t>不知道输入数据的个数，无法确定循环次数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1" algn="just" eaLnBrk="1" hangingPunct="1"/>
            <a:r>
              <a:rPr lang="en-US" altLang="zh-CN" b="0">
                <a:latin typeface="+mn-ea"/>
                <a:cs typeface="+mn-ea"/>
                <a:sym typeface="+mn-ea"/>
              </a:rPr>
              <a:t>用一个特殊的数据作为正常输入数据的结束标志，</a:t>
            </a:r>
            <a:r>
              <a:rPr lang="zh-CN" altLang="en-US" b="0">
                <a:latin typeface="+mn-ea"/>
                <a:cs typeface="+mn-ea"/>
                <a:sym typeface="+mn-ea"/>
              </a:rPr>
              <a:t>例如</a:t>
            </a:r>
            <a:r>
              <a:rPr lang="en-US" altLang="zh-CN" b="0">
                <a:latin typeface="+mn-ea"/>
                <a:cs typeface="+mn-ea"/>
                <a:sym typeface="+mn-ea"/>
              </a:rPr>
              <a:t>选一个负数作为结束标志</a:t>
            </a:r>
            <a:r>
              <a:rPr lang="en-US" altLang="zh-CN" b="0">
                <a:latin typeface="+mn-ea"/>
                <a:cs typeface="+mn-ea"/>
                <a:sym typeface="+mn-ea"/>
              </a:rPr>
              <a:t>。</a:t>
            </a:r>
            <a:endParaRPr lang="en-US" altLang="zh-CN" b="0">
              <a:latin typeface="+mn-ea"/>
              <a:cs typeface="+mn-ea"/>
              <a:sym typeface="+mn-ea"/>
            </a:endParaRPr>
          </a:p>
        </p:txBody>
      </p:sp>
      <p:sp>
        <p:nvSpPr>
          <p:cNvPr id="11267" name="Rectangle 2052"/>
          <p:cNvSpPr>
            <a:spLocks noGrp="1"/>
          </p:cNvSpPr>
          <p:nvPr>
            <p:ph type="title"/>
          </p:nvPr>
        </p:nvSpPr>
        <p:spPr>
          <a:xfrm>
            <a:off x="395605" y="260985"/>
            <a:ext cx="8208645" cy="795020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4000" b="0" dirty="0">
                <a:sym typeface="+mn-ea"/>
              </a:rPr>
              <a:t>统计输入的一批学生的平均成绩</a:t>
            </a:r>
            <a:endParaRPr lang="zh-CN" altLang="en-US" sz="4000" b="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charRg st="26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3">
                                            <p:txEl>
                                              <p:charRg st="26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3">
                                            <p:txEl>
                                              <p:charRg st="26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charRg st="3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3">
                                            <p:txEl>
                                              <p:charRg st="3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3">
                                            <p:txEl>
                                              <p:charRg st="3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charRg st="35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3">
                                            <p:txEl>
                                              <p:charRg st="35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3">
                                            <p:txEl>
                                              <p:charRg st="35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883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83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charRg st="64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883">
                                            <p:txEl>
                                              <p:charRg st="64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883">
                                            <p:txEl>
                                              <p:charRg st="64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ldLvl="3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3"/>
          <p:cNvSpPr>
            <a:spLocks noGrp="1"/>
          </p:cNvSpPr>
          <p:nvPr>
            <p:ph idx="1"/>
          </p:nvPr>
        </p:nvSpPr>
        <p:spPr>
          <a:xfrm>
            <a:off x="107950" y="80645"/>
            <a:ext cx="8855710" cy="6616065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#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include &lt;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stdio.h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&gt;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main(void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){   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num; 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double grade, total; 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num = 0; total = 0;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printf(“Enter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grades: \n"); 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scanf("%lf", &amp;grade);     </a:t>
            </a: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</a:t>
            </a:r>
            <a:r>
              <a:rPr lang="en-US" sz="20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0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/* 输入第1个数*/</a:t>
            </a:r>
            <a:br>
              <a:rPr sz="20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</a:b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while (grade &gt;= 0) {         </a:t>
            </a:r>
            <a:r>
              <a:rPr sz="20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/* 输入负数，循环结束 */</a:t>
            </a:r>
            <a:endParaRPr sz="2000" b="0" kern="1200">
              <a:solidFill>
                <a:srgbClr val="00B050"/>
              </a:solidFill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       </a:t>
            </a: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t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otal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= total + grade; 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       </a:t>
            </a: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num++;  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scanf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(“%lf”, &amp;grade);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}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if(num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!= 0)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printf(“Grade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average is %.2f\n", total/num);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else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printf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(" Grade average is 0\n");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lang="en-US"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return 0;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}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123909" name="Rectangle 5"/>
          <p:cNvSpPr/>
          <p:nvPr/>
        </p:nvSpPr>
        <p:spPr>
          <a:xfrm>
            <a:off x="3997325" y="980440"/>
            <a:ext cx="4894263" cy="8001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  <a:ea typeface="Arial Unicode MS" pitchFamily="34" charset="-122"/>
              </a:rPr>
              <a:t>Enter grades: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67 88 73 54 82 -1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  <a:ea typeface="Arial Unicode MS" pitchFamily="34" charset="-122"/>
              </a:rPr>
              <a:t>Grade average is 72.80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 Unicode MS" pitchFamily="34" charset="-122"/>
            </a:endParaRPr>
          </a:p>
        </p:txBody>
      </p:sp>
      <p:sp>
        <p:nvSpPr>
          <p:cNvPr id="123910" name="Rectangle 6"/>
          <p:cNvSpPr/>
          <p:nvPr/>
        </p:nvSpPr>
        <p:spPr>
          <a:xfrm>
            <a:off x="3995738" y="116840"/>
            <a:ext cx="4895850" cy="8001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  <a:ea typeface="Arial Unicode MS" pitchFamily="34" charset="-122"/>
              </a:rPr>
              <a:t>Enter grades: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-1 67 88 73 54 82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  <a:ea typeface="Arial Unicode MS" pitchFamily="34" charset="-122"/>
              </a:rPr>
              <a:t>Grade average is 0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 Unicode MS" pitchFamily="34" charset="-122"/>
            </a:endParaRPr>
          </a:p>
        </p:txBody>
      </p:sp>
      <p:sp>
        <p:nvSpPr>
          <p:cNvPr id="2" name="Rectangle 5"/>
          <p:cNvSpPr/>
          <p:nvPr/>
        </p:nvSpPr>
        <p:spPr>
          <a:xfrm>
            <a:off x="3997325" y="4221480"/>
            <a:ext cx="4894263" cy="39878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  <a:ea typeface="Arial Unicode MS" pitchFamily="34" charset="-122"/>
              </a:rPr>
              <a:t>Enter grades: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182 -1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9" grpId="0" bldLvl="0" animBg="1"/>
      <p:bldP spid="123910" grpId="0" bldLvl="0" animBg="1"/>
      <p:bldP spid="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899795" y="1628775"/>
            <a:ext cx="6151245" cy="3241675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 lnSpcReduction="20000"/>
          </a:bodyPr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while循环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2. </a:t>
            </a:r>
            <a:r>
              <a:rPr lang="zh-CN" altLang="en-US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do-while循环</a:t>
            </a:r>
            <a:endParaRPr lang="zh-CN" altLang="en-US" sz="4000" b="0" dirty="0">
              <a:solidFill>
                <a:srgbClr val="FF0000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3.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break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和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continue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4.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循环嵌套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5.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循环结构程序设计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idx="1"/>
          </p:nvPr>
        </p:nvSpPr>
        <p:spPr>
          <a:xfrm>
            <a:off x="323850" y="1308735"/>
            <a:ext cx="4309745" cy="2112645"/>
          </a:xfr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</a:rPr>
              <a:t>sum = 0;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</a:rPr>
              <a:t>for ( i = 1; i &lt;= 100; i++ )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</a:rPr>
              <a:t>{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</a:rPr>
              <a:t>     sum = sum + i;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</a:rPr>
              <a:t>}</a:t>
            </a:r>
            <a:endParaRPr lang="x-none" altLang="en-US" sz="2400" b="0" dirty="0">
              <a:solidFill>
                <a:srgbClr val="FF0000"/>
              </a:solidFill>
            </a:endParaRPr>
          </a:p>
        </p:txBody>
      </p:sp>
      <p:sp>
        <p:nvSpPr>
          <p:cNvPr id="63491" name="Rectangle 3" descr="Large confetti"/>
          <p:cNvSpPr>
            <a:spLocks noGrp="1"/>
          </p:cNvSpPr>
          <p:nvPr>
            <p:ph type="title"/>
          </p:nvPr>
        </p:nvSpPr>
        <p:spPr>
          <a:xfrm>
            <a:off x="32385" y="168275"/>
            <a:ext cx="8644255" cy="73850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b="0" dirty="0"/>
              <a:t>源程序－求 </a:t>
            </a:r>
            <a:r>
              <a:rPr lang="en-US" altLang="zh-CN" sz="4000" b="0" dirty="0"/>
              <a:t>1+2+……+100</a:t>
            </a:r>
            <a:endParaRPr lang="zh-CN" altLang="en-US" sz="4000" b="0" dirty="0"/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4801870" y="1308735"/>
            <a:ext cx="4013835" cy="298831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</a:rPr>
              <a:t>sum = 0;</a:t>
            </a:r>
            <a:endParaRPr lang="x-none" altLang="en-US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</a:rPr>
              <a:t>i = 1;</a:t>
            </a:r>
            <a:endParaRPr lang="x-none" altLang="en-US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</a:rPr>
              <a:t>while(i&lt;=100)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>
                <a:solidFill>
                  <a:srgbClr val="FF0000"/>
                </a:solidFill>
              </a:rPr>
              <a:t>{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</a:rPr>
              <a:t>	sum = sum + i;</a:t>
            </a:r>
            <a:endParaRPr lang="x-none" altLang="en-US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</a:rPr>
              <a:t>	i = i + 1;</a:t>
            </a:r>
            <a:endParaRPr lang="x-none" altLang="en-US" sz="2400" b="0" dirty="0">
              <a:solidFill>
                <a:srgbClr val="FF0000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rgbClr val="FF0000"/>
                </a:solidFill>
              </a:rPr>
              <a:t>}</a:t>
            </a:r>
            <a:endParaRPr lang="x-none" altLang="en-US" sz="2400" b="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3573145"/>
            <a:ext cx="4310380" cy="298831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tx1"/>
                </a:solidFill>
                <a:sym typeface="+mn-ea"/>
              </a:rPr>
              <a:t>sum = 0;</a:t>
            </a:r>
            <a:endParaRPr lang="x-none" altLang="en-US" sz="2400" b="0" dirty="0">
              <a:solidFill>
                <a:schemeClr val="tx1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tx1"/>
                </a:solidFill>
                <a:sym typeface="+mn-ea"/>
              </a:rPr>
              <a:t>i = 1;</a:t>
            </a:r>
            <a:endParaRPr lang="x-none" altLang="en-US" sz="2400" b="0" dirty="0">
              <a:solidFill>
                <a:schemeClr val="tx1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endParaRPr lang="x-none" altLang="en-US" sz="2400" b="0" dirty="0">
              <a:solidFill>
                <a:schemeClr val="tx1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tx1"/>
                </a:solidFill>
                <a:sym typeface="+mn-ea"/>
              </a:rPr>
              <a:t>do{</a:t>
            </a:r>
            <a:endParaRPr lang="x-none" altLang="en-US" sz="2400" b="0" dirty="0">
              <a:solidFill>
                <a:schemeClr val="tx1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tx1"/>
                </a:solidFill>
                <a:sym typeface="+mn-ea"/>
              </a:rPr>
              <a:t>	sum = sum + i;</a:t>
            </a:r>
            <a:endParaRPr lang="x-none" altLang="en-US" sz="2400" b="0" dirty="0">
              <a:solidFill>
                <a:schemeClr val="tx1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tx1"/>
                </a:solidFill>
                <a:sym typeface="+mn-ea"/>
              </a:rPr>
              <a:t>	i = i + 1;</a:t>
            </a:r>
            <a:endParaRPr lang="x-none" altLang="en-US" sz="2400" b="0" dirty="0">
              <a:solidFill>
                <a:schemeClr val="tx1"/>
              </a:solidFill>
              <a:sym typeface="+mn-ea"/>
            </a:endParaRPr>
          </a:p>
          <a:p>
            <a:pPr marL="377825" lvl="0" indent="-377825" algn="just" eaLnBrk="1" hangingPunct="1">
              <a:lnSpc>
                <a:spcPct val="90000"/>
              </a:lnSpc>
              <a:buNone/>
            </a:pPr>
            <a:r>
              <a:rPr lang="x-none" altLang="en-US" sz="2400" b="0" dirty="0">
                <a:solidFill>
                  <a:schemeClr val="tx1"/>
                </a:solidFill>
                <a:sym typeface="+mn-ea"/>
              </a:rPr>
              <a:t>}</a:t>
            </a:r>
            <a:r>
              <a:rPr lang="x-none" altLang="en-US" sz="2400" b="0" dirty="0">
                <a:solidFill>
                  <a:schemeClr val="tx1"/>
                </a:solidFill>
                <a:sym typeface="+mn-ea"/>
              </a:rPr>
              <a:t>while(i&lt;=100)</a:t>
            </a:r>
            <a:endParaRPr lang="x-none" altLang="en-US" sz="2400" b="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838200" y="228600"/>
            <a:ext cx="6958330" cy="610235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200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do - while </a:t>
            </a:r>
            <a:r>
              <a:rPr lang="en-US" altLang="zh-CN" sz="3200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语句</a:t>
            </a:r>
            <a:endParaRPr lang="en-US" altLang="zh-CN" sz="3200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900113" y="1125538"/>
            <a:ext cx="6121400" cy="18288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>
                <a:solidFill>
                  <a:srgbClr val="CC0066"/>
                </a:solidFill>
              </a:rPr>
              <a:t>do</a:t>
            </a:r>
            <a:r>
              <a:rPr lang="en-US" altLang="zh-CN"/>
              <a:t> {</a:t>
            </a:r>
            <a:endParaRPr lang="en-US" altLang="zh-CN"/>
          </a:p>
          <a:p>
            <a:pPr algn="just" eaLnBrk="1" hangingPunct="1">
              <a:buNone/>
            </a:pPr>
            <a:r>
              <a:rPr lang="en-US" altLang="zh-CN"/>
              <a:t>	</a:t>
            </a:r>
            <a:r>
              <a:rPr lang="zh-CN" altLang="en-US" dirty="0"/>
              <a:t>循环体语句</a:t>
            </a:r>
            <a:endParaRPr lang="zh-CN" altLang="en-US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zh-CN" altLang="en-US" dirty="0"/>
              <a:t>}</a:t>
            </a:r>
            <a:r>
              <a:rPr lang="zh-CN" altLang="en-US" dirty="0">
                <a:solidFill>
                  <a:srgbClr val="FF0066"/>
                </a:solidFill>
              </a:rPr>
              <a:t> </a:t>
            </a:r>
            <a:r>
              <a:rPr lang="en-US" altLang="zh-CN">
                <a:solidFill>
                  <a:srgbClr val="CC0066"/>
                </a:solidFill>
              </a:rPr>
              <a:t>while </a:t>
            </a:r>
            <a:r>
              <a:rPr lang="en-US" altLang="zh-CN"/>
              <a:t>(</a:t>
            </a:r>
            <a:r>
              <a:rPr lang="zh-CN" altLang="en-US" dirty="0"/>
              <a:t>表达式)；</a:t>
            </a:r>
            <a:endParaRPr lang="zh-CN" altLang="en-US" dirty="0"/>
          </a:p>
        </p:txBody>
      </p:sp>
      <p:sp>
        <p:nvSpPr>
          <p:cNvPr id="44054" name="AutoShape 22"/>
          <p:cNvSpPr/>
          <p:nvPr/>
        </p:nvSpPr>
        <p:spPr>
          <a:xfrm>
            <a:off x="7451725" y="2205038"/>
            <a:ext cx="1447800" cy="533400"/>
          </a:xfrm>
          <a:prstGeom prst="wedgeRectCallout">
            <a:avLst>
              <a:gd name="adj1" fmla="val -63708"/>
              <a:gd name="adj2" fmla="val 149403"/>
            </a:avLst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先循环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4055" name="AutoShape 23"/>
          <p:cNvSpPr/>
          <p:nvPr/>
        </p:nvSpPr>
        <p:spPr>
          <a:xfrm>
            <a:off x="3276600" y="4724400"/>
            <a:ext cx="1447800" cy="533400"/>
          </a:xfrm>
          <a:prstGeom prst="wedgeRectCallout">
            <a:avLst>
              <a:gd name="adj1" fmla="val 116667"/>
              <a:gd name="adj2" fmla="val -106546"/>
            </a:avLst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后判断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366" name="Text Box 25"/>
          <p:cNvSpPr txBox="1"/>
          <p:nvPr/>
        </p:nvSpPr>
        <p:spPr>
          <a:xfrm>
            <a:off x="6300788" y="4613593"/>
            <a:ext cx="423862" cy="39211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algn="ctr" eaLnBrk="0" hangingPunct="0"/>
            <a:r>
              <a:rPr lang="zh-CN" altLang="en-US" sz="2000" dirty="0">
                <a:solidFill>
                  <a:schemeClr val="tx1"/>
                </a:solidFill>
                <a:latin typeface="Arial" panose="02080604020202020204" pitchFamily="34" charset="0"/>
              </a:rPr>
              <a:t>真</a:t>
            </a:r>
            <a:endParaRPr lang="zh-CN" altLang="en-US" sz="20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5367" name="Text Box 26"/>
          <p:cNvSpPr txBox="1"/>
          <p:nvPr/>
        </p:nvSpPr>
        <p:spPr>
          <a:xfrm>
            <a:off x="7519988" y="3860800"/>
            <a:ext cx="581025" cy="3937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algn="ctr" eaLnBrk="0" hangingPunct="0"/>
            <a:r>
              <a:rPr lang="zh-CN" altLang="en-US" sz="2000" dirty="0">
                <a:solidFill>
                  <a:schemeClr val="tx1"/>
                </a:solidFill>
                <a:latin typeface="Arial" panose="02080604020202020204" pitchFamily="34" charset="0"/>
              </a:rPr>
              <a:t>假</a:t>
            </a:r>
            <a:endParaRPr lang="zh-CN" altLang="en-US" sz="20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5368" name="AutoShape 27"/>
          <p:cNvSpPr/>
          <p:nvPr/>
        </p:nvSpPr>
        <p:spPr>
          <a:xfrm>
            <a:off x="5554663" y="4005263"/>
            <a:ext cx="2112962" cy="604837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zh-CN" altLang="en-US" sz="2000" dirty="0">
                <a:solidFill>
                  <a:schemeClr val="tx1"/>
                </a:solidFill>
                <a:latin typeface="Arial" panose="02080604020202020204" pitchFamily="34" charset="0"/>
              </a:rPr>
              <a:t>表达式</a:t>
            </a:r>
            <a:endParaRPr lang="zh-CN" altLang="en-US" sz="20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5369" name="Rectangle 28"/>
          <p:cNvSpPr/>
          <p:nvPr/>
        </p:nvSpPr>
        <p:spPr>
          <a:xfrm>
            <a:off x="5867400" y="3363913"/>
            <a:ext cx="1728788" cy="3905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zh-CN" altLang="en-US" sz="2000" dirty="0">
                <a:solidFill>
                  <a:schemeClr val="tx1"/>
                </a:solidFill>
                <a:latin typeface="Arial" panose="02080604020202020204" pitchFamily="34" charset="0"/>
              </a:rPr>
              <a:t>循环体语句</a:t>
            </a:r>
            <a:endParaRPr lang="zh-CN" altLang="en-US" sz="20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5370" name="Line 29"/>
          <p:cNvSpPr/>
          <p:nvPr/>
        </p:nvSpPr>
        <p:spPr>
          <a:xfrm>
            <a:off x="6748463" y="3760788"/>
            <a:ext cx="1587" cy="2571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15371" name="Line 30"/>
          <p:cNvSpPr/>
          <p:nvPr/>
        </p:nvSpPr>
        <p:spPr>
          <a:xfrm>
            <a:off x="6748463" y="4583113"/>
            <a:ext cx="0" cy="4524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sm" len="sm"/>
          </a:ln>
        </p:spPr>
      </p:sp>
      <p:sp>
        <p:nvSpPr>
          <p:cNvPr id="15372" name="Line 31"/>
          <p:cNvSpPr/>
          <p:nvPr/>
        </p:nvSpPr>
        <p:spPr>
          <a:xfrm>
            <a:off x="6732588" y="2924175"/>
            <a:ext cx="0" cy="45243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15373" name="Line 32"/>
          <p:cNvSpPr/>
          <p:nvPr/>
        </p:nvSpPr>
        <p:spPr>
          <a:xfrm>
            <a:off x="5148263" y="5035550"/>
            <a:ext cx="16002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374" name="Line 33"/>
          <p:cNvSpPr/>
          <p:nvPr/>
        </p:nvSpPr>
        <p:spPr>
          <a:xfrm flipV="1">
            <a:off x="5148263" y="3160713"/>
            <a:ext cx="0" cy="186531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375" name="Line 34"/>
          <p:cNvSpPr/>
          <p:nvPr/>
        </p:nvSpPr>
        <p:spPr>
          <a:xfrm>
            <a:off x="5148263" y="3170238"/>
            <a:ext cx="16002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15376" name="Line 35"/>
          <p:cNvSpPr/>
          <p:nvPr/>
        </p:nvSpPr>
        <p:spPr>
          <a:xfrm>
            <a:off x="7621588" y="4279900"/>
            <a:ext cx="72707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377" name="Line 36"/>
          <p:cNvSpPr/>
          <p:nvPr/>
        </p:nvSpPr>
        <p:spPr>
          <a:xfrm>
            <a:off x="8348663" y="4279900"/>
            <a:ext cx="0" cy="90646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378" name="Line 37"/>
          <p:cNvSpPr/>
          <p:nvPr/>
        </p:nvSpPr>
        <p:spPr>
          <a:xfrm>
            <a:off x="6748463" y="5186363"/>
            <a:ext cx="16002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379" name="Line 38"/>
          <p:cNvSpPr/>
          <p:nvPr/>
        </p:nvSpPr>
        <p:spPr>
          <a:xfrm flipH="1">
            <a:off x="6732588" y="5186363"/>
            <a:ext cx="15875" cy="4032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15380" name="Rectangle 39"/>
          <p:cNvSpPr/>
          <p:nvPr/>
        </p:nvSpPr>
        <p:spPr>
          <a:xfrm>
            <a:off x="5076825" y="5589588"/>
            <a:ext cx="3303588" cy="3619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do-while</a:t>
            </a:r>
            <a:r>
              <a:rPr lang="zh-CN" altLang="en-US" sz="2000" dirty="0">
                <a:solidFill>
                  <a:schemeClr val="tx1"/>
                </a:solidFill>
                <a:latin typeface="Arial" panose="02080604020202020204" pitchFamily="34" charset="0"/>
              </a:rPr>
              <a:t>的下一条语句</a:t>
            </a:r>
            <a:endParaRPr lang="zh-CN" altLang="en-US" sz="20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4" grpId="0" bldLvl="0" animBg="1"/>
      <p:bldP spid="44055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8" name="Rectangle 4"/>
          <p:cNvSpPr>
            <a:spLocks noGrp="1"/>
          </p:cNvSpPr>
          <p:nvPr>
            <p:ph idx="1"/>
          </p:nvPr>
        </p:nvSpPr>
        <p:spPr>
          <a:xfrm>
            <a:off x="762000" y="1143000"/>
            <a:ext cx="7543800" cy="1600200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p>
            <a:pPr lvl="0" algn="just" eaLnBrk="1" hangingPunct="1">
              <a:buNone/>
            </a:pPr>
            <a:r>
              <a:rPr lang="en-US" altLang="zh-CN" b="0">
                <a:latin typeface="+mn-ea"/>
                <a:cs typeface="+mn-ea"/>
                <a:sym typeface="+mn-ea"/>
              </a:rPr>
              <a:t> </a:t>
            </a:r>
            <a:r>
              <a:rPr lang="en-US" altLang="zh-CN" sz="2400" b="0">
                <a:latin typeface="+mn-ea"/>
                <a:cs typeface="+mn-ea"/>
                <a:sym typeface="+mn-ea"/>
              </a:rPr>
              <a:t>while</a:t>
            </a:r>
            <a:r>
              <a:rPr lang="en-US" altLang="zh-CN" sz="2400" b="0">
                <a:latin typeface="+mn-ea"/>
                <a:cs typeface="+mn-ea"/>
                <a:sym typeface="+mn-ea"/>
              </a:rPr>
              <a:t> </a:t>
            </a:r>
            <a:r>
              <a:rPr lang="en-US" altLang="zh-CN" sz="2400" b="0">
                <a:latin typeface="+mn-ea"/>
                <a:cs typeface="+mn-ea"/>
                <a:sym typeface="+mn-ea"/>
              </a:rPr>
              <a:t>是先判别条件，再决定是否循环；</a:t>
            </a:r>
            <a:endParaRPr lang="en-US" altLang="zh-CN" sz="2400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None/>
            </a:pPr>
            <a:r>
              <a:rPr lang="en-US" altLang="zh-CN" sz="2400" b="0">
                <a:latin typeface="+mn-ea"/>
                <a:cs typeface="+mn-ea"/>
                <a:sym typeface="+mn-ea"/>
              </a:rPr>
              <a:t> </a:t>
            </a:r>
            <a:r>
              <a:rPr lang="en-US" altLang="zh-CN" sz="2400" b="0">
                <a:latin typeface="+mn-ea"/>
                <a:cs typeface="+mn-ea"/>
                <a:sym typeface="+mn-ea"/>
              </a:rPr>
              <a:t>do-while</a:t>
            </a:r>
            <a:r>
              <a:rPr lang="en-US" altLang="zh-CN" sz="2400" b="0">
                <a:latin typeface="+mn-ea"/>
                <a:cs typeface="+mn-ea"/>
                <a:sym typeface="+mn-ea"/>
              </a:rPr>
              <a:t> </a:t>
            </a:r>
            <a:r>
              <a:rPr lang="en-US" altLang="zh-CN" sz="2400" b="0">
                <a:latin typeface="+mn-ea"/>
                <a:cs typeface="+mn-ea"/>
                <a:sym typeface="+mn-ea"/>
              </a:rPr>
              <a:t>是先循环一次，再决定是否继续循环。</a:t>
            </a:r>
            <a:endParaRPr lang="en-US" altLang="zh-CN" sz="2400" b="0">
              <a:latin typeface="+mn-ea"/>
              <a:cs typeface="+mn-ea"/>
              <a:sym typeface="+mn-ea"/>
            </a:endParaRPr>
          </a:p>
        </p:txBody>
      </p:sp>
      <p:sp>
        <p:nvSpPr>
          <p:cNvPr id="16387" name="Rectangle 17"/>
          <p:cNvSpPr>
            <a:spLocks noGrp="1"/>
          </p:cNvSpPr>
          <p:nvPr>
            <p:ph type="title"/>
          </p:nvPr>
        </p:nvSpPr>
        <p:spPr>
          <a:xfrm>
            <a:off x="457200" y="457200"/>
            <a:ext cx="7629525" cy="639763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200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while </a:t>
            </a:r>
            <a:r>
              <a:rPr lang="en-US" altLang="zh-CN" sz="3200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和 </a:t>
            </a:r>
            <a:r>
              <a:rPr lang="en-US" altLang="zh-CN" sz="3200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do-while </a:t>
            </a:r>
            <a:r>
              <a:rPr lang="en-US" altLang="zh-CN" sz="3200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的比较</a:t>
            </a:r>
            <a:endParaRPr lang="en-US" altLang="zh-CN" sz="3200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16404" name="Group 47"/>
          <p:cNvGrpSpPr/>
          <p:nvPr/>
        </p:nvGrpSpPr>
        <p:grpSpPr>
          <a:xfrm>
            <a:off x="5181600" y="2819400"/>
            <a:ext cx="2743200" cy="2895600"/>
            <a:chOff x="3264" y="1776"/>
            <a:chExt cx="1728" cy="1824"/>
          </a:xfrm>
        </p:grpSpPr>
        <p:sp>
          <p:nvSpPr>
            <p:cNvPr id="16405" name="Text Box 36"/>
            <p:cNvSpPr txBox="1"/>
            <p:nvPr/>
          </p:nvSpPr>
          <p:spPr>
            <a:xfrm>
              <a:off x="3832" y="2338"/>
              <a:ext cx="676" cy="23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真</a:t>
              </a:r>
              <a:endParaRPr lang="zh-CN" altLang="en-US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6406" name="Text Box 37"/>
            <p:cNvSpPr txBox="1"/>
            <p:nvPr/>
          </p:nvSpPr>
          <p:spPr>
            <a:xfrm>
              <a:off x="4420" y="1973"/>
              <a:ext cx="572" cy="23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假</a:t>
              </a:r>
              <a:endParaRPr lang="zh-CN" altLang="en-US" sz="16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6407" name="Line 38"/>
            <p:cNvSpPr/>
            <p:nvPr/>
          </p:nvSpPr>
          <p:spPr>
            <a:xfrm>
              <a:off x="4041" y="2359"/>
              <a:ext cx="0" cy="1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pSp>
          <p:nvGrpSpPr>
            <p:cNvPr id="16408" name="Group 46"/>
            <p:cNvGrpSpPr/>
            <p:nvPr/>
          </p:nvGrpSpPr>
          <p:grpSpPr>
            <a:xfrm>
              <a:off x="3264" y="1776"/>
              <a:ext cx="1681" cy="1824"/>
              <a:chOff x="3264" y="1776"/>
              <a:chExt cx="1681" cy="1824"/>
            </a:xfrm>
          </p:grpSpPr>
          <p:sp>
            <p:nvSpPr>
              <p:cNvPr id="16409" name="Text Box 40"/>
              <p:cNvSpPr txBox="1"/>
              <p:nvPr/>
            </p:nvSpPr>
            <p:spPr>
              <a:xfrm>
                <a:off x="3424" y="3361"/>
                <a:ext cx="1319" cy="239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 eaLnBrk="0" hangingPunct="0"/>
                <a:r>
                  <a:rPr lang="en-US" altLang="zh-CN" sz="1600">
                    <a:solidFill>
                      <a:schemeClr val="tx1"/>
                    </a:solidFill>
                    <a:latin typeface="Times New Roman" pitchFamily="18" charset="0"/>
                  </a:rPr>
                  <a:t>while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Times New Roman" pitchFamily="18" charset="0"/>
                  </a:rPr>
                  <a:t>的下一条语句</a:t>
                </a:r>
                <a:endParaRPr lang="zh-CN" altLang="en-US" sz="1600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410" name="Line 41"/>
              <p:cNvSpPr/>
              <p:nvPr/>
            </p:nvSpPr>
            <p:spPr>
              <a:xfrm>
                <a:off x="4041" y="1776"/>
                <a:ext cx="0" cy="19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16411" name="AutoShape 42"/>
              <p:cNvSpPr/>
              <p:nvPr/>
            </p:nvSpPr>
            <p:spPr>
              <a:xfrm>
                <a:off x="3475" y="1969"/>
                <a:ext cx="1135" cy="391"/>
              </a:xfrm>
              <a:prstGeom prst="flowChartDecision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 eaLnBrk="0" hangingPunct="0"/>
                <a:r>
                  <a:rPr lang="zh-CN" altLang="en-US" sz="1600" dirty="0">
                    <a:solidFill>
                      <a:schemeClr val="tx1"/>
                    </a:solidFill>
                    <a:latin typeface="Times New Roman" pitchFamily="18" charset="0"/>
                  </a:rPr>
                  <a:t>表达式</a:t>
                </a:r>
                <a:endParaRPr lang="zh-CN" altLang="en-US" sz="1600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412" name="Rectangle 43"/>
              <p:cNvSpPr/>
              <p:nvPr/>
            </p:nvSpPr>
            <p:spPr>
              <a:xfrm>
                <a:off x="3627" y="2528"/>
                <a:ext cx="835" cy="23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 eaLnBrk="0" hangingPunct="0"/>
                <a:r>
                  <a:rPr lang="zh-CN" altLang="en-US" sz="1600" dirty="0">
                    <a:solidFill>
                      <a:schemeClr val="tx1"/>
                    </a:solidFill>
                    <a:latin typeface="Times New Roman" pitchFamily="18" charset="0"/>
                  </a:rPr>
                  <a:t>循环体语句</a:t>
                </a:r>
                <a:endParaRPr lang="zh-CN" altLang="en-US" sz="1600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413" name="Freeform 44"/>
              <p:cNvSpPr/>
              <p:nvPr/>
            </p:nvSpPr>
            <p:spPr>
              <a:xfrm>
                <a:off x="4091" y="2168"/>
                <a:ext cx="854" cy="1192"/>
              </a:xfrm>
              <a:custGeom>
                <a:avLst/>
                <a:gdLst/>
                <a:ahLst/>
                <a:cxnLst>
                  <a:cxn ang="0">
                    <a:pos x="526" y="0"/>
                  </a:cxn>
                  <a:cxn ang="0">
                    <a:pos x="854" y="0"/>
                  </a:cxn>
                  <a:cxn ang="0">
                    <a:pos x="854" y="917"/>
                  </a:cxn>
                  <a:cxn ang="0">
                    <a:pos x="0" y="917"/>
                  </a:cxn>
                  <a:cxn ang="0">
                    <a:pos x="0" y="1192"/>
                  </a:cxn>
                </a:cxnLst>
                <a:pathLst>
                  <a:path w="1365" h="2028">
                    <a:moveTo>
                      <a:pt x="840" y="0"/>
                    </a:moveTo>
                    <a:lnTo>
                      <a:pt x="1365" y="0"/>
                    </a:lnTo>
                    <a:lnTo>
                      <a:pt x="1365" y="1560"/>
                    </a:lnTo>
                    <a:lnTo>
                      <a:pt x="0" y="1560"/>
                    </a:lnTo>
                    <a:lnTo>
                      <a:pt x="0" y="2028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414" name="Freeform 45"/>
              <p:cNvSpPr/>
              <p:nvPr/>
            </p:nvSpPr>
            <p:spPr>
              <a:xfrm>
                <a:off x="3264" y="1930"/>
                <a:ext cx="788" cy="1141"/>
              </a:xfrm>
              <a:custGeom>
                <a:avLst/>
                <a:gdLst/>
                <a:ahLst/>
                <a:cxnLst>
                  <a:cxn ang="0">
                    <a:pos x="788" y="830"/>
                  </a:cxn>
                  <a:cxn ang="0">
                    <a:pos x="788" y="1141"/>
                  </a:cxn>
                  <a:cxn ang="0">
                    <a:pos x="0" y="1141"/>
                  </a:cxn>
                  <a:cxn ang="0">
                    <a:pos x="0" y="0"/>
                  </a:cxn>
                  <a:cxn ang="0">
                    <a:pos x="722" y="0"/>
                  </a:cxn>
                </a:cxnLst>
                <a:pathLst>
                  <a:path w="1260" h="1716">
                    <a:moveTo>
                      <a:pt x="1260" y="1248"/>
                    </a:moveTo>
                    <a:lnTo>
                      <a:pt x="1260" y="1716"/>
                    </a:lnTo>
                    <a:lnTo>
                      <a:pt x="0" y="1716"/>
                    </a:lnTo>
                    <a:lnTo>
                      <a:pt x="0" y="0"/>
                    </a:lnTo>
                    <a:lnTo>
                      <a:pt x="1155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3" name="Text Box 36"/>
          <p:cNvSpPr txBox="1"/>
          <p:nvPr/>
        </p:nvSpPr>
        <p:spPr>
          <a:xfrm>
            <a:off x="1875155" y="4535170"/>
            <a:ext cx="1073150" cy="3778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algn="ctr" eaLnBrk="0" hangingPunct="0"/>
            <a:r>
              <a:rPr lang="zh-CN" altLang="en-US" sz="1600" dirty="0">
                <a:solidFill>
                  <a:schemeClr val="tx1"/>
                </a:solidFill>
                <a:latin typeface="Times New Roman" pitchFamily="18" charset="0"/>
              </a:rPr>
              <a:t>真</a:t>
            </a:r>
            <a:endParaRPr lang="zh-CN" altLang="en-US" sz="16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" name="Text Box 37"/>
          <p:cNvSpPr txBox="1"/>
          <p:nvPr/>
        </p:nvSpPr>
        <p:spPr>
          <a:xfrm>
            <a:off x="3276600" y="3860800"/>
            <a:ext cx="908050" cy="37973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algn="ctr" eaLnBrk="0" hangingPunct="0"/>
            <a:r>
              <a:rPr lang="zh-CN" altLang="en-US" sz="1600" dirty="0">
                <a:solidFill>
                  <a:schemeClr val="tx1"/>
                </a:solidFill>
                <a:latin typeface="Times New Roman" pitchFamily="18" charset="0"/>
              </a:rPr>
              <a:t>假</a:t>
            </a:r>
            <a:endParaRPr lang="zh-CN" altLang="en-US" sz="16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" name="Line 38"/>
          <p:cNvSpPr/>
          <p:nvPr/>
        </p:nvSpPr>
        <p:spPr>
          <a:xfrm>
            <a:off x="2637790" y="3636010"/>
            <a:ext cx="0" cy="2476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7" name="Text Box 40"/>
          <p:cNvSpPr txBox="1"/>
          <p:nvPr/>
        </p:nvSpPr>
        <p:spPr>
          <a:xfrm>
            <a:off x="1586230" y="5441950"/>
            <a:ext cx="2304415" cy="3797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en-US" altLang="zh-CN" sz="1600">
                <a:solidFill>
                  <a:schemeClr val="tx1"/>
                </a:solidFill>
                <a:latin typeface="Times New Roman" pitchFamily="18" charset="0"/>
              </a:rPr>
              <a:t>do</a:t>
            </a:r>
            <a:r>
              <a:rPr lang="x-none" altLang="en-US" sz="1600">
                <a:solidFill>
                  <a:schemeClr val="tx1"/>
                </a:solidFill>
                <a:latin typeface="Times New Roman" pitchFamily="18" charset="0"/>
              </a:rPr>
              <a:t>-</a:t>
            </a:r>
            <a:r>
              <a:rPr lang="en-US" altLang="zh-CN" sz="1600">
                <a:solidFill>
                  <a:schemeClr val="tx1"/>
                </a:solidFill>
                <a:latin typeface="Times New Roman" pitchFamily="18" charset="0"/>
              </a:rPr>
              <a:t>while</a:t>
            </a:r>
            <a:r>
              <a:rPr lang="zh-CN" altLang="en-US" sz="1600" dirty="0">
                <a:solidFill>
                  <a:schemeClr val="tx1"/>
                </a:solidFill>
                <a:latin typeface="Times New Roman" pitchFamily="18" charset="0"/>
              </a:rPr>
              <a:t>的下一条语句</a:t>
            </a:r>
            <a:endParaRPr lang="zh-CN" altLang="en-US" sz="16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" name="Line 41"/>
          <p:cNvSpPr/>
          <p:nvPr/>
        </p:nvSpPr>
        <p:spPr>
          <a:xfrm>
            <a:off x="2637790" y="2781935"/>
            <a:ext cx="0" cy="4320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9" name="AutoShape 42"/>
          <p:cNvSpPr/>
          <p:nvPr/>
        </p:nvSpPr>
        <p:spPr>
          <a:xfrm>
            <a:off x="1736725" y="3885565"/>
            <a:ext cx="1802130" cy="621030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zh-CN" altLang="en-US" sz="1600" dirty="0">
                <a:solidFill>
                  <a:schemeClr val="tx1"/>
                </a:solidFill>
                <a:latin typeface="Times New Roman" pitchFamily="18" charset="0"/>
              </a:rPr>
              <a:t>表达式</a:t>
            </a:r>
            <a:endParaRPr lang="zh-CN" altLang="en-US" sz="16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" name="Freeform 44"/>
          <p:cNvSpPr/>
          <p:nvPr/>
        </p:nvSpPr>
        <p:spPr>
          <a:xfrm>
            <a:off x="2717165" y="4194810"/>
            <a:ext cx="1355725" cy="1245235"/>
          </a:xfrm>
          <a:custGeom>
            <a:avLst/>
            <a:gdLst/>
            <a:ahLst/>
            <a:cxnLst>
              <a:cxn ang="0">
                <a:pos x="526" y="0"/>
              </a:cxn>
              <a:cxn ang="0">
                <a:pos x="854" y="0"/>
              </a:cxn>
              <a:cxn ang="0">
                <a:pos x="854" y="917"/>
              </a:cxn>
              <a:cxn ang="0">
                <a:pos x="0" y="917"/>
              </a:cxn>
              <a:cxn ang="0">
                <a:pos x="0" y="1192"/>
              </a:cxn>
            </a:cxnLst>
            <a:pathLst>
              <a:path w="1365" h="2028">
                <a:moveTo>
                  <a:pt x="840" y="0"/>
                </a:moveTo>
                <a:lnTo>
                  <a:pt x="1365" y="0"/>
                </a:lnTo>
                <a:lnTo>
                  <a:pt x="1365" y="1560"/>
                </a:lnTo>
                <a:lnTo>
                  <a:pt x="0" y="1560"/>
                </a:lnTo>
                <a:lnTo>
                  <a:pt x="0" y="2028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13" name="Rectangle 43"/>
          <p:cNvSpPr/>
          <p:nvPr/>
        </p:nvSpPr>
        <p:spPr>
          <a:xfrm>
            <a:off x="1981200" y="3237865"/>
            <a:ext cx="1325880" cy="3651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zh-CN" altLang="en-US" sz="1600" dirty="0">
                <a:solidFill>
                  <a:schemeClr val="tx1"/>
                </a:solidFill>
                <a:latin typeface="Times New Roman" pitchFamily="18" charset="0"/>
              </a:rPr>
              <a:t>循环体语句</a:t>
            </a:r>
            <a:endParaRPr lang="zh-CN" altLang="en-US" sz="16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8" name="直接连接符 17"/>
          <p:cNvCxnSpPr>
            <a:stCxn id="9" idx="2"/>
          </p:cNvCxnSpPr>
          <p:nvPr/>
        </p:nvCxnSpPr>
        <p:spPr>
          <a:xfrm flipH="1">
            <a:off x="2628265" y="4506595"/>
            <a:ext cx="0" cy="5791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直接连接符 19"/>
          <p:cNvCxnSpPr/>
          <p:nvPr/>
        </p:nvCxnSpPr>
        <p:spPr>
          <a:xfrm flipH="1">
            <a:off x="1332230" y="5081270"/>
            <a:ext cx="128587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直接连接符 21"/>
          <p:cNvCxnSpPr/>
          <p:nvPr/>
        </p:nvCxnSpPr>
        <p:spPr>
          <a:xfrm flipV="1">
            <a:off x="1332230" y="2921000"/>
            <a:ext cx="0" cy="2160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直接箭头连接符 22"/>
          <p:cNvCxnSpPr>
            <a:endCxn id="8" idx="0"/>
          </p:cNvCxnSpPr>
          <p:nvPr/>
        </p:nvCxnSpPr>
        <p:spPr>
          <a:xfrm flipV="1">
            <a:off x="1330325" y="2925445"/>
            <a:ext cx="130746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8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8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charRg st="2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8">
                                            <p:txEl>
                                              <p:charRg st="2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8">
                                            <p:txEl>
                                              <p:charRg st="2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3"/>
          <p:cNvSpPr>
            <a:spLocks noGrp="1"/>
          </p:cNvSpPr>
          <p:nvPr>
            <p:ph idx="1"/>
          </p:nvPr>
        </p:nvSpPr>
        <p:spPr>
          <a:xfrm>
            <a:off x="250825" y="1052830"/>
            <a:ext cx="8718550" cy="4898390"/>
          </a:xfr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/>
          <a:p>
            <a:pPr marL="187325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</a:rPr>
              <a:t>int main(void)</a:t>
            </a:r>
            <a:endParaRPr sz="2000" b="0" kern="1200">
              <a:latin typeface="Arial" panose="02080604020202020204" pitchFamily="34" charset="0"/>
              <a:ea typeface="宋体" pitchFamily="2" charset="-122"/>
            </a:endParaRPr>
          </a:p>
          <a:p>
            <a:pPr marL="187325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</a:rPr>
              <a:t>{  int count, number; </a:t>
            </a:r>
            <a:endParaRPr sz="2000" b="0" kern="1200">
              <a:latin typeface="Arial" panose="02080604020202020204" pitchFamily="34" charset="0"/>
              <a:ea typeface="宋体" pitchFamily="2" charset="-122"/>
            </a:endParaRPr>
          </a:p>
          <a:p>
            <a:pPr lvl="1" indent="-3651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cs typeface="+mn-cs"/>
              </a:rPr>
              <a:t>count = 0;</a:t>
            </a:r>
            <a:endParaRPr sz="2000" b="0" kern="1200">
              <a:latin typeface="Arial" panose="02080604020202020204" pitchFamily="34" charset="0"/>
              <a:ea typeface="宋体" pitchFamily="2" charset="-122"/>
              <a:cs typeface="+mn-cs"/>
            </a:endParaRPr>
          </a:p>
          <a:p>
            <a:pPr lvl="1" indent="-3651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cs typeface="+mn-cs"/>
              </a:rPr>
              <a:t>printf(“Enter a number: ");</a:t>
            </a:r>
            <a:endParaRPr sz="2000" b="0" kern="1200">
              <a:latin typeface="Arial" panose="02080604020202020204" pitchFamily="34" charset="0"/>
              <a:ea typeface="宋体" pitchFamily="2" charset="-122"/>
              <a:cs typeface="+mn-cs"/>
            </a:endParaRPr>
          </a:p>
          <a:p>
            <a:pPr lvl="1" indent="-3651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cs typeface="+mn-cs"/>
              </a:rPr>
              <a:t>scanf ("%d", &amp;number) ;</a:t>
            </a:r>
            <a:endParaRPr sz="2000" b="0" kern="1200">
              <a:latin typeface="Arial" panose="02080604020202020204" pitchFamily="34" charset="0"/>
              <a:ea typeface="宋体" pitchFamily="2" charset="-122"/>
              <a:cs typeface="+mn-cs"/>
            </a:endParaRPr>
          </a:p>
          <a:p>
            <a:pPr lvl="1" indent="-3651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cs typeface="+mn-cs"/>
              </a:rPr>
              <a:t>if (number &lt; 0)   number = -number; </a:t>
            </a:r>
            <a:endParaRPr sz="2000" b="0" kern="1200">
              <a:latin typeface="Arial" panose="02080604020202020204" pitchFamily="34" charset="0"/>
              <a:ea typeface="宋体" pitchFamily="2" charset="-122"/>
              <a:cs typeface="+mn-cs"/>
            </a:endParaRPr>
          </a:p>
          <a:p>
            <a:pPr lvl="1" indent="-3651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cs typeface="+mn-cs"/>
              </a:rPr>
              <a:t>do {</a:t>
            </a:r>
            <a:endParaRPr sz="2000" b="0" kern="1200">
              <a:latin typeface="Arial" panose="02080604020202020204" pitchFamily="34" charset="0"/>
              <a:ea typeface="宋体" pitchFamily="2" charset="-122"/>
              <a:cs typeface="+mn-cs"/>
            </a:endParaRPr>
          </a:p>
          <a:p>
            <a:pPr lvl="1" indent="-3651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cs typeface="+mn-cs"/>
              </a:rPr>
              <a:t>      number = number / 10; 		</a:t>
            </a:r>
            <a:endParaRPr sz="2000" b="0" kern="1200">
              <a:latin typeface="Arial" panose="02080604020202020204" pitchFamily="34" charset="0"/>
              <a:ea typeface="宋体" pitchFamily="2" charset="-122"/>
              <a:cs typeface="+mn-cs"/>
            </a:endParaRPr>
          </a:p>
          <a:p>
            <a:pPr lvl="1" indent="-3651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cs typeface="+mn-cs"/>
              </a:rPr>
              <a:t>    	  count ++;	</a:t>
            </a:r>
            <a:endParaRPr sz="2000" b="0" kern="1200">
              <a:latin typeface="Arial" panose="02080604020202020204" pitchFamily="34" charset="0"/>
              <a:ea typeface="宋体" pitchFamily="2" charset="-122"/>
              <a:cs typeface="+mn-cs"/>
            </a:endParaRPr>
          </a:p>
          <a:p>
            <a:pPr lvl="1" indent="-3651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cs typeface="+mn-cs"/>
              </a:rPr>
              <a:t>} while (number != 0);</a:t>
            </a:r>
            <a:endParaRPr sz="2000" b="0" kern="1200">
              <a:latin typeface="Arial" panose="02080604020202020204" pitchFamily="34" charset="0"/>
              <a:ea typeface="宋体" pitchFamily="2" charset="-122"/>
              <a:cs typeface="+mn-cs"/>
            </a:endParaRPr>
          </a:p>
          <a:p>
            <a:pPr lvl="1" indent="-3651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cs typeface="+mn-cs"/>
              </a:rPr>
              <a:t>printf("It contains %d digits.\n", count);</a:t>
            </a:r>
            <a:endParaRPr sz="2000" b="0" kern="1200">
              <a:latin typeface="Arial" panose="02080604020202020204" pitchFamily="34" charset="0"/>
              <a:ea typeface="宋体" pitchFamily="2" charset="-122"/>
              <a:cs typeface="+mn-cs"/>
            </a:endParaRPr>
          </a:p>
          <a:p>
            <a:pPr marL="187325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</a:rPr>
              <a:t>     return 0;</a:t>
            </a:r>
            <a:endParaRPr sz="2000" b="0" kern="1200">
              <a:latin typeface="Arial" panose="02080604020202020204" pitchFamily="34" charset="0"/>
              <a:ea typeface="宋体" pitchFamily="2" charset="-122"/>
            </a:endParaRPr>
          </a:p>
          <a:p>
            <a:pPr marL="187325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</a:rPr>
              <a:t>}</a:t>
            </a:r>
            <a:endParaRPr sz="2000" b="0" kern="120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4339" name="Rectangle 5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85063" cy="762000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4000" b="0" dirty="0">
                <a:sym typeface="+mn-ea"/>
              </a:rPr>
              <a:t>统计一个整数的位数</a:t>
            </a:r>
            <a:endParaRPr lang="zh-CN" altLang="en-US" sz="4000" b="0" dirty="0">
              <a:sym typeface="+mn-ea"/>
            </a:endParaRPr>
          </a:p>
        </p:txBody>
      </p:sp>
      <p:sp>
        <p:nvSpPr>
          <p:cNvPr id="125958" name="Rectangle 6"/>
          <p:cNvSpPr/>
          <p:nvPr/>
        </p:nvSpPr>
        <p:spPr>
          <a:xfrm>
            <a:off x="5148263" y="3357563"/>
            <a:ext cx="3678237" cy="798512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a number: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12534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It contains 5 digits.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125959" name="Rectangle 7"/>
          <p:cNvSpPr/>
          <p:nvPr/>
        </p:nvSpPr>
        <p:spPr>
          <a:xfrm>
            <a:off x="5657850" y="5157470"/>
            <a:ext cx="3311525" cy="798513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a number: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-99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It contains 2 digits.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125960" name="Rectangle 8"/>
          <p:cNvSpPr/>
          <p:nvPr/>
        </p:nvSpPr>
        <p:spPr>
          <a:xfrm>
            <a:off x="2484438" y="5157470"/>
            <a:ext cx="3148012" cy="798513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a number: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0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It contains 1 digits.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125961" name="Rectangle 9"/>
          <p:cNvSpPr/>
          <p:nvPr/>
        </p:nvSpPr>
        <p:spPr>
          <a:xfrm>
            <a:off x="4572000" y="1051560"/>
            <a:ext cx="4397375" cy="141605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while (number != 0) {</a:t>
            </a:r>
            <a:endParaRPr lang="zh-CN" altLang="en-US" sz="20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>
              <a:spcBef>
                <a:spcPct val="1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80604020202020204" pitchFamily="34" charset="0"/>
              </a:rPr>
              <a:t>      </a:t>
            </a: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number = </a:t>
            </a:r>
            <a:r>
              <a:rPr lang="en-US" altLang="zh-CN" sz="2000" err="1">
                <a:solidFill>
                  <a:schemeClr val="tx1"/>
                </a:solidFill>
                <a:latin typeface="Arial" panose="02080604020202020204" pitchFamily="34" charset="0"/>
              </a:rPr>
              <a:t>number</a:t>
            </a: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 / 10;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>
              <a:spcBef>
                <a:spcPct val="1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80604020202020204" pitchFamily="34" charset="0"/>
              </a:rPr>
              <a:t>      </a:t>
            </a: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count ++;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>
              <a:spcBef>
                <a:spcPct val="1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80604020202020204" pitchFamily="34" charset="0"/>
              </a:rPr>
              <a:t>}</a:t>
            </a:r>
            <a:endParaRPr lang="zh-CN" altLang="en-US" sz="20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8" grpId="0" bldLvl="0" animBg="1"/>
      <p:bldP spid="125959" grpId="0" bldLvl="0" animBg="1"/>
      <p:bldP spid="125960" grpId="0" bldLvl="0" animBg="1"/>
      <p:bldP spid="12596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395605" y="332740"/>
            <a:ext cx="3031490" cy="556260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 fontScale="90000"/>
          </a:bodyPr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循环语句的选择</a:t>
            </a:r>
            <a:endParaRPr lang="en-US" altLang="zh-CN" sz="3555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612775" y="1219200"/>
            <a:ext cx="8317230" cy="4124960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p>
            <a:pPr lvl="0" algn="just" eaLnBrk="1" hangingPunct="1">
              <a:buNone/>
            </a:pPr>
            <a:r>
              <a:rPr lang="en-US" altLang="zh-CN" b="0">
                <a:latin typeface="+mn-ea"/>
                <a:cs typeface="+mn-ea"/>
                <a:sym typeface="+mn-ea"/>
              </a:rPr>
              <a:t>if（</a:t>
            </a:r>
            <a:r>
              <a:rPr lang="en-US" altLang="zh-CN" b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循环次数已知</a:t>
            </a:r>
            <a:r>
              <a:rPr lang="en-US" altLang="zh-CN" b="0">
                <a:latin typeface="+mn-ea"/>
                <a:cs typeface="+mn-ea"/>
                <a:sym typeface="+mn-ea"/>
              </a:rPr>
              <a:t>）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None/>
            </a:pPr>
            <a:r>
              <a:rPr lang="en-US" altLang="zh-CN" b="0">
                <a:latin typeface="+mn-ea"/>
                <a:cs typeface="+mn-ea"/>
                <a:sym typeface="+mn-ea"/>
              </a:rPr>
              <a:t>	 	使用</a:t>
            </a:r>
            <a:r>
              <a:rPr lang="en-US" altLang="zh-CN" b="0">
                <a:latin typeface="+mn-ea"/>
                <a:cs typeface="+mn-ea"/>
                <a:sym typeface="+mn-ea"/>
              </a:rPr>
              <a:t>for</a:t>
            </a:r>
            <a:r>
              <a:rPr lang="en-US" altLang="zh-CN" b="0">
                <a:latin typeface="+mn-ea"/>
                <a:cs typeface="+mn-ea"/>
                <a:sym typeface="+mn-ea"/>
              </a:rPr>
              <a:t>语句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None/>
            </a:pPr>
            <a:r>
              <a:rPr lang="en-US" altLang="zh-CN" b="0">
                <a:latin typeface="+mn-ea"/>
                <a:cs typeface="+mn-ea"/>
                <a:sym typeface="+mn-ea"/>
              </a:rPr>
              <a:t>else  </a:t>
            </a:r>
            <a:r>
              <a:rPr lang="en-US" altLang="zh-CN" b="0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/* </a:t>
            </a:r>
            <a:r>
              <a:rPr lang="en-US" altLang="zh-CN" b="0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循环次数未知 */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None/>
            </a:pPr>
            <a:r>
              <a:rPr lang="en-US" altLang="zh-CN" b="0">
                <a:latin typeface="+mn-ea"/>
                <a:cs typeface="+mn-ea"/>
                <a:sym typeface="+mn-ea"/>
              </a:rPr>
              <a:t>		</a:t>
            </a:r>
            <a:r>
              <a:rPr lang="en-US" altLang="zh-CN" b="0">
                <a:latin typeface="+mn-ea"/>
                <a:cs typeface="+mn-ea"/>
                <a:sym typeface="+mn-ea"/>
              </a:rPr>
              <a:t>if  (</a:t>
            </a:r>
            <a:r>
              <a:rPr lang="en-US" altLang="zh-CN" b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循环条件在进入循环时明确</a:t>
            </a:r>
            <a:r>
              <a:rPr lang="en-US" altLang="zh-CN" b="0">
                <a:latin typeface="+mn-ea"/>
                <a:cs typeface="+mn-ea"/>
                <a:sym typeface="+mn-ea"/>
              </a:rPr>
              <a:t>)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None/>
            </a:pPr>
            <a:r>
              <a:rPr lang="en-US" altLang="zh-CN" b="0">
                <a:latin typeface="+mn-ea"/>
                <a:cs typeface="+mn-ea"/>
                <a:sym typeface="+mn-ea"/>
              </a:rPr>
              <a:t>			使用</a:t>
            </a:r>
            <a:r>
              <a:rPr lang="en-US" altLang="zh-CN" b="0">
                <a:latin typeface="+mn-ea"/>
                <a:cs typeface="+mn-ea"/>
                <a:sym typeface="+mn-ea"/>
              </a:rPr>
              <a:t>while</a:t>
            </a:r>
            <a:r>
              <a:rPr lang="en-US" altLang="zh-CN" b="0">
                <a:latin typeface="+mn-ea"/>
                <a:cs typeface="+mn-ea"/>
                <a:sym typeface="+mn-ea"/>
              </a:rPr>
              <a:t>语句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None/>
            </a:pPr>
            <a:r>
              <a:rPr lang="en-US" altLang="zh-CN" b="0">
                <a:latin typeface="+mn-ea"/>
                <a:cs typeface="+mn-ea"/>
                <a:sym typeface="+mn-ea"/>
              </a:rPr>
              <a:t>		</a:t>
            </a:r>
            <a:r>
              <a:rPr lang="en-US" altLang="zh-CN" b="0">
                <a:latin typeface="+mn-ea"/>
                <a:cs typeface="+mn-ea"/>
                <a:sym typeface="+mn-ea"/>
              </a:rPr>
              <a:t>else </a:t>
            </a:r>
            <a:r>
              <a:rPr lang="en-US" altLang="zh-CN" b="0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/* </a:t>
            </a:r>
            <a:r>
              <a:rPr lang="en-US" altLang="zh-CN" b="0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循环条件需要在循环体中明确 */</a:t>
            </a:r>
            <a:endParaRPr lang="en-US" altLang="zh-CN" b="0">
              <a:latin typeface="+mn-ea"/>
              <a:cs typeface="+mn-ea"/>
              <a:sym typeface="+mn-ea"/>
            </a:endParaRPr>
          </a:p>
          <a:p>
            <a:pPr lvl="0" algn="just" eaLnBrk="1" hangingPunct="1">
              <a:buNone/>
            </a:pPr>
            <a:r>
              <a:rPr lang="en-US" altLang="zh-CN" b="0">
                <a:latin typeface="+mn-ea"/>
                <a:cs typeface="+mn-ea"/>
                <a:sym typeface="+mn-ea"/>
              </a:rPr>
              <a:t>			使用</a:t>
            </a:r>
            <a:r>
              <a:rPr lang="en-US" altLang="zh-CN" b="0">
                <a:latin typeface="+mn-ea"/>
                <a:cs typeface="+mn-ea"/>
                <a:sym typeface="+mn-ea"/>
              </a:rPr>
              <a:t>do-while</a:t>
            </a:r>
            <a:r>
              <a:rPr lang="en-US" altLang="zh-CN" b="0">
                <a:latin typeface="+mn-ea"/>
                <a:cs typeface="+mn-ea"/>
                <a:sym typeface="+mn-ea"/>
              </a:rPr>
              <a:t>语句</a:t>
            </a:r>
            <a:endParaRPr lang="en-US" altLang="zh-CN" b="0">
              <a:latin typeface="+mn-ea"/>
              <a:cs typeface="+mn-ea"/>
              <a:sym typeface="+mn-ea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3564255" y="332740"/>
            <a:ext cx="5287010" cy="5562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x-none" altLang="en-US" sz="3100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for, while, do-while</a:t>
            </a:r>
            <a:r>
              <a:rPr lang="zh-CN" altLang="x-none" sz="3100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是否等价？</a:t>
            </a:r>
            <a:endParaRPr lang="zh-CN" altLang="x-none" sz="3100">
              <a:solidFill>
                <a:srgbClr val="FF0000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22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>
                                            <p:txEl>
                                              <p:charRg st="22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5">
                                            <p:txEl>
                                              <p:charRg st="22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47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75">
                                            <p:txEl>
                                              <p:charRg st="47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275">
                                            <p:txEl>
                                              <p:charRg st="47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68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75">
                                            <p:txEl>
                                              <p:charRg st="68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75">
                                            <p:txEl>
                                              <p:charRg st="68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75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75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1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275">
                                            <p:txEl>
                                              <p:charRg st="11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275">
                                            <p:txEl>
                                              <p:charRg st="11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899795" y="1628775"/>
            <a:ext cx="6151245" cy="3241675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 lnSpcReduction="20000"/>
          </a:bodyPr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while循环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2. do-while循环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3. break 和 continue</a:t>
            </a:r>
            <a:endParaRPr lang="en-US" altLang="zh-CN" sz="4000" b="0" dirty="0">
              <a:solidFill>
                <a:srgbClr val="FF0000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4. 循环嵌套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5. 循环结构程序设计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252095" y="476885"/>
            <a:ext cx="7772400" cy="637540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 fontScale="90000"/>
          </a:bodyPr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判断素数</a:t>
            </a:r>
            <a:endParaRPr lang="en-US" altLang="zh-CN" sz="3555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10200"/>
          </a:xfrm>
        </p:spPr>
        <p:txBody>
          <a:bodyPr vert="horz" wrap="square" lIns="91440" tIns="45720" rIns="91440" bIns="45720" anchor="t" anchorCtr="0"/>
          <a:p>
            <a:pPr lvl="1" algn="just" eaLnBrk="1" hangingPunct="1">
              <a:lnSpc>
                <a:spcPct val="90000"/>
              </a:lnSpc>
              <a:buNone/>
            </a:pPr>
            <a:r>
              <a:rPr lang="zh-CN" altLang="zh-CN" sz="2400" b="0" dirty="0"/>
              <a:t>算法：除了</a:t>
            </a:r>
            <a:r>
              <a:rPr lang="zh-CN" altLang="en-US" sz="2400" b="0" dirty="0"/>
              <a:t>1和</a:t>
            </a:r>
            <a:r>
              <a:rPr lang="en-US" altLang="zh-CN" sz="2400" b="0"/>
              <a:t>m</a:t>
            </a:r>
            <a:r>
              <a:rPr lang="zh-CN" altLang="en-US" sz="2400" b="0" dirty="0"/>
              <a:t>，不能被其它数整除。</a:t>
            </a:r>
            <a:endParaRPr lang="zh-CN" altLang="en-US" sz="2400" b="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设 </a:t>
            </a:r>
            <a:r>
              <a:rPr lang="en-US" altLang="zh-CN" sz="2400" b="0"/>
              <a:t>i </a:t>
            </a:r>
            <a:r>
              <a:rPr lang="zh-CN" altLang="en-US" sz="2400" b="0" dirty="0"/>
              <a:t>取值 [2, </a:t>
            </a:r>
            <a:r>
              <a:rPr lang="en-US" altLang="zh-CN" sz="2400" b="0"/>
              <a:t>m-1]  </a:t>
            </a:r>
            <a:endParaRPr lang="en-US" altLang="zh-CN" sz="2400" b="0"/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b="0" dirty="0"/>
              <a:t>如果</a:t>
            </a:r>
            <a:r>
              <a:rPr lang="en-US" altLang="zh-CN" b="0"/>
              <a:t>m</a:t>
            </a:r>
            <a:r>
              <a:rPr lang="zh-CN" altLang="en-US" b="0" dirty="0"/>
              <a:t>不能被该区间上的任何一个数整除，即对每个</a:t>
            </a:r>
            <a:r>
              <a:rPr lang="en-US" altLang="zh-CN" b="0" err="1"/>
              <a:t>i，m%i</a:t>
            </a:r>
            <a:r>
              <a:rPr lang="en-US" altLang="zh-CN" b="0"/>
              <a:t> </a:t>
            </a:r>
            <a:r>
              <a:rPr lang="zh-CN" altLang="en-US" b="0" dirty="0"/>
              <a:t>都不为0，则</a:t>
            </a:r>
            <a:r>
              <a:rPr lang="en-US" altLang="zh-CN" b="0"/>
              <a:t>m</a:t>
            </a:r>
            <a:r>
              <a:rPr lang="zh-CN" altLang="en-US" b="0" dirty="0"/>
              <a:t>是素数</a:t>
            </a:r>
            <a:endParaRPr lang="zh-CN" altLang="en-US" b="0" dirty="0"/>
          </a:p>
          <a:p>
            <a:pPr lvl="2" algn="just" eaLnBrk="1" hangingPunct="1">
              <a:lnSpc>
                <a:spcPct val="90000"/>
              </a:lnSpc>
            </a:pPr>
            <a:endParaRPr lang="zh-CN" altLang="en-US" b="0" dirty="0"/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b="0" dirty="0"/>
              <a:t>只要找到一个</a:t>
            </a:r>
            <a:r>
              <a:rPr lang="en-US" altLang="zh-CN" b="0"/>
              <a:t>i，</a:t>
            </a:r>
            <a:r>
              <a:rPr lang="zh-CN" altLang="en-US" b="0" dirty="0"/>
              <a:t>使</a:t>
            </a:r>
            <a:r>
              <a:rPr lang="en-US" altLang="zh-CN" b="0" err="1"/>
              <a:t>m%i</a:t>
            </a:r>
            <a:r>
              <a:rPr lang="zh-CN" altLang="en-US" b="0" dirty="0"/>
              <a:t>为0，则</a:t>
            </a:r>
            <a:r>
              <a:rPr lang="en-US" altLang="zh-CN" b="0"/>
              <a:t>m</a:t>
            </a:r>
            <a:r>
              <a:rPr lang="zh-CN" altLang="en-US" b="0" dirty="0"/>
              <a:t>肯定不是素数</a:t>
            </a:r>
            <a:endParaRPr lang="zh-CN" altLang="zh-CN" b="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400" b="0"/>
              <a:t>       m   %2     %3     %4    %5  ...    %(m-1)</a:t>
            </a:r>
            <a:endParaRPr lang="en-US" altLang="zh-CN" sz="2400" b="0"/>
          </a:p>
          <a:p>
            <a:pPr lvl="1" algn="just" eaLnBrk="1" hangingPunct="1">
              <a:lnSpc>
                <a:spcPct val="90000"/>
              </a:lnSpc>
              <a:buNone/>
            </a:pPr>
            <a:endParaRPr lang="zh-CN" altLang="en-US" sz="2400" b="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400" b="0"/>
              <a:t>       m</a:t>
            </a:r>
            <a:r>
              <a:rPr lang="zh-CN" altLang="en-US" sz="2400" b="0" dirty="0"/>
              <a:t>不可能被大于 </a:t>
            </a:r>
            <a:r>
              <a:rPr lang="en-US" altLang="zh-CN" sz="2400" b="0"/>
              <a:t>m/2 </a:t>
            </a:r>
            <a:r>
              <a:rPr lang="zh-CN" altLang="en-US" sz="2400" b="0" dirty="0"/>
              <a:t>的数整除</a:t>
            </a:r>
            <a:endParaRPr lang="zh-CN" altLang="en-US" sz="2400" b="0" dirty="0"/>
          </a:p>
          <a:p>
            <a:pPr lvl="2" algn="just" eaLnBrk="1" hangingPunct="1">
              <a:lnSpc>
                <a:spcPct val="90000"/>
              </a:lnSpc>
              <a:buNone/>
            </a:pPr>
            <a:r>
              <a:rPr lang="en-US" altLang="zh-CN" b="0" dirty="0"/>
              <a:t> </a:t>
            </a:r>
            <a:r>
              <a:rPr lang="zh-CN" altLang="en-US" b="0" dirty="0"/>
              <a:t> </a:t>
            </a:r>
            <a:r>
              <a:rPr lang="en-US" altLang="zh-CN" b="0"/>
              <a:t>i </a:t>
            </a:r>
            <a:r>
              <a:rPr lang="zh-CN" altLang="en-US" b="0" dirty="0"/>
              <a:t>取值 [2, </a:t>
            </a:r>
            <a:r>
              <a:rPr lang="en-US" altLang="zh-CN" b="0"/>
              <a:t>m-1] 、 </a:t>
            </a:r>
            <a:r>
              <a:rPr lang="zh-CN" altLang="en-US" b="0" dirty="0"/>
              <a:t>[2, </a:t>
            </a:r>
            <a:r>
              <a:rPr lang="en-US" altLang="zh-CN" b="0"/>
              <a:t>m/2] 、 </a:t>
            </a:r>
            <a:r>
              <a:rPr lang="zh-CN" altLang="en-US" b="0" dirty="0"/>
              <a:t>[2,        </a:t>
            </a:r>
            <a:r>
              <a:rPr lang="en-US" altLang="zh-CN" b="0"/>
              <a:t>]</a:t>
            </a:r>
            <a:endParaRPr lang="zh-CN" altLang="en-US" b="0" dirty="0"/>
          </a:p>
        </p:txBody>
      </p:sp>
      <p:graphicFrame>
        <p:nvGraphicFramePr>
          <p:cNvPr id="63501" name="Object 13"/>
          <p:cNvGraphicFramePr/>
          <p:nvPr/>
        </p:nvGraphicFramePr>
        <p:xfrm>
          <a:off x="6084253" y="4725670"/>
          <a:ext cx="609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79400" imgH="215900" progId="Equation.DSMT4">
                  <p:embed/>
                </p:oleObj>
              </mc:Choice>
              <mc:Fallback>
                <p:oleObj name="" r:id="rId1" imgW="279400" imgH="2159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84253" y="4725670"/>
                        <a:ext cx="6096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102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charRg st="102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charRg st="102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221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charRg st="221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charRg st="221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238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1">
                                            <p:txEl>
                                              <p:charRg st="238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1">
                                            <p:txEl>
                                              <p:charRg st="238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ldLvl="3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idx="1"/>
          </p:nvPr>
        </p:nvSpPr>
        <p:spPr>
          <a:xfrm>
            <a:off x="457200" y="793115"/>
            <a:ext cx="7986713" cy="464820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rmAutofit/>
          </a:bodyPr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main(void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)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{ 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i, m;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printf(“Enter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a number: ");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scanf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("%d", &amp;m);	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for (i = 2; 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 &lt;= m/2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; i++)      	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  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if (m % i == 0)  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break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;  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if (i &gt; m/2 ) 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 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printf("%d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is a prime number! \n", m);  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else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 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printf("No!\n</a:t>
            </a: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");       	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0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}</a:t>
            </a:r>
            <a:endParaRPr sz="20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type="title"/>
          </p:nvPr>
        </p:nvSpPr>
        <p:spPr>
          <a:xfrm>
            <a:off x="457200" y="147955"/>
            <a:ext cx="4978400" cy="762000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源程序－判断素数</a:t>
            </a:r>
            <a:endParaRPr lang="en-US" altLang="zh-CN" sz="3555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148484" name="Rectangle 4"/>
          <p:cNvSpPr/>
          <p:nvPr/>
        </p:nvSpPr>
        <p:spPr>
          <a:xfrm>
            <a:off x="4933950" y="838200"/>
            <a:ext cx="3396615" cy="79883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a number: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9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No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148485" name="Rectangle 5"/>
          <p:cNvSpPr/>
          <p:nvPr/>
        </p:nvSpPr>
        <p:spPr>
          <a:xfrm>
            <a:off x="4933315" y="1629093"/>
            <a:ext cx="3397250" cy="798512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a number: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11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11 is a prime number!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148490" name="Rectangle 10"/>
          <p:cNvSpPr/>
          <p:nvPr/>
        </p:nvSpPr>
        <p:spPr>
          <a:xfrm>
            <a:off x="4936490" y="2423160"/>
            <a:ext cx="3393440" cy="86614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循环条件?</a:t>
            </a:r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>
              <a:spcBef>
                <a:spcPct val="1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循环的结束条件?</a:t>
            </a:r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49538" name="Rectangle 34"/>
          <p:cNvSpPr/>
          <p:nvPr/>
        </p:nvSpPr>
        <p:spPr>
          <a:xfrm>
            <a:off x="3678555" y="4293235"/>
            <a:ext cx="4765675" cy="2312035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rmAutofit/>
          </a:bodyPr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sym typeface="+mn-ea"/>
              </a:rPr>
              <a:t>for(i</a:t>
            </a:r>
            <a:r>
              <a:rPr sz="2000">
                <a:sym typeface="+mn-ea"/>
              </a:rPr>
              <a:t> = 2; i &lt;= m/2; i++)</a:t>
            </a:r>
            <a:endParaRPr sz="20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sym typeface="+mn-ea"/>
              </a:rPr>
              <a:t>    </a:t>
            </a:r>
            <a:r>
              <a:rPr sz="2000">
                <a:sym typeface="+mn-ea"/>
              </a:rPr>
              <a:t>if(m%i</a:t>
            </a:r>
            <a:r>
              <a:rPr sz="2000">
                <a:sym typeface="+mn-ea"/>
              </a:rPr>
              <a:t> == 0){</a:t>
            </a:r>
            <a:endParaRPr sz="20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sym typeface="+mn-ea"/>
              </a:rPr>
              <a:t>        </a:t>
            </a:r>
            <a:r>
              <a:rPr sz="2000">
                <a:sym typeface="+mn-ea"/>
              </a:rPr>
              <a:t>printf("No!\n</a:t>
            </a:r>
            <a:r>
              <a:rPr sz="2000">
                <a:sym typeface="+mn-ea"/>
              </a:rPr>
              <a:t>");</a:t>
            </a:r>
            <a:endParaRPr sz="20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sym typeface="+mn-ea"/>
              </a:rPr>
              <a:t>        break;  </a:t>
            </a:r>
            <a:endParaRPr sz="20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sym typeface="+mn-ea"/>
              </a:rPr>
              <a:t>    }</a:t>
            </a:r>
            <a:endParaRPr sz="20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sym typeface="+mn-ea"/>
              </a:rPr>
              <a:t>printf("Yes</a:t>
            </a:r>
            <a:r>
              <a:rPr sz="2000">
                <a:sym typeface="+mn-ea"/>
              </a:rPr>
              <a:t>");  </a:t>
            </a:r>
            <a:endParaRPr sz="20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 bldLvl="0" animBg="1"/>
      <p:bldP spid="148485" grpId="0" bldLvl="0" animBg="1"/>
      <p:bldP spid="148490" grpId="0" bldLvl="0" animBg="1"/>
      <p:bldP spid="149538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xfrm>
            <a:off x="323850" y="332740"/>
            <a:ext cx="3759200" cy="570865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 fontScale="90000"/>
          </a:bodyPr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break </a:t>
            </a: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语句</a:t>
            </a:r>
            <a:endParaRPr lang="en-US" altLang="zh-CN" sz="3555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149507" name="Rectangle 3"/>
          <p:cNvSpPr>
            <a:spLocks noGrp="1"/>
          </p:cNvSpPr>
          <p:nvPr>
            <p:ph idx="1"/>
          </p:nvPr>
        </p:nvSpPr>
        <p:spPr>
          <a:xfrm>
            <a:off x="237490" y="1582420"/>
            <a:ext cx="3890645" cy="3075940"/>
          </a:xfr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/>
          <a:p>
            <a:pPr lvl="1" eaLnBrk="1" hangingPunct="1">
              <a:buFontTx/>
              <a:buNone/>
            </a:pPr>
            <a:r>
              <a:rPr lang="en-US" altLang="zh-CN" err="1"/>
              <a:t>while(</a:t>
            </a:r>
            <a:r>
              <a:rPr lang="en-US" altLang="zh-CN" err="1">
                <a:solidFill>
                  <a:schemeClr val="bg2"/>
                </a:solidFill>
              </a:rPr>
              <a:t>exp</a:t>
            </a:r>
            <a:r>
              <a:rPr lang="en-US" altLang="zh-CN"/>
              <a:t>)</a:t>
            </a:r>
            <a:r>
              <a:rPr lang="zh-CN" altLang="en-US" dirty="0"/>
              <a:t>{</a:t>
            </a:r>
            <a:endParaRPr lang="zh-CN" altLang="en-US" dirty="0"/>
          </a:p>
          <a:p>
            <a:pPr lvl="1" eaLnBrk="1" hangingPunct="1">
              <a:buFontTx/>
              <a:buNone/>
            </a:pPr>
            <a:r>
              <a:rPr lang="zh-CN" altLang="en-US" dirty="0"/>
              <a:t>   语句1</a:t>
            </a:r>
            <a:endParaRPr lang="zh-CN" altLang="en-US" dirty="0"/>
          </a:p>
          <a:p>
            <a:pPr lvl="1" eaLnBrk="1" hangingPunct="1">
              <a:buFontTx/>
              <a:buNone/>
            </a:pPr>
            <a:r>
              <a:rPr lang="zh-CN" altLang="en-US" dirty="0"/>
              <a:t>   </a:t>
            </a:r>
            <a:r>
              <a:rPr lang="en-US" altLang="zh-CN"/>
              <a:t>if (</a:t>
            </a:r>
            <a:r>
              <a:rPr lang="en-US" altLang="zh-CN" err="1">
                <a:solidFill>
                  <a:srgbClr val="CC0066"/>
                </a:solidFill>
              </a:rPr>
              <a:t>expb</a:t>
            </a:r>
            <a:r>
              <a:rPr lang="en-US" altLang="zh-CN"/>
              <a:t>)           	  </a:t>
            </a:r>
            <a:r>
              <a:rPr lang="en-US" altLang="zh-CN" i="1"/>
              <a:t>break</a:t>
            </a:r>
            <a:r>
              <a:rPr lang="en-US" altLang="zh-CN"/>
              <a:t>;</a:t>
            </a:r>
            <a:endParaRPr lang="en-US" altLang="zh-CN"/>
          </a:p>
          <a:p>
            <a:pPr lvl="1" eaLnBrk="1" hangingPunct="1">
              <a:buFontTx/>
              <a:buNone/>
            </a:pPr>
            <a:r>
              <a:rPr lang="en-US" altLang="zh-CN"/>
              <a:t>   </a:t>
            </a:r>
            <a:r>
              <a:rPr lang="zh-CN" altLang="en-US" dirty="0"/>
              <a:t>语句2</a:t>
            </a:r>
            <a:endParaRPr lang="zh-CN" altLang="en-US" dirty="0"/>
          </a:p>
          <a:p>
            <a:pPr lvl="1" eaLnBrk="1" hangingPunct="1">
              <a:buFontTx/>
              <a:buNone/>
            </a:pPr>
            <a:r>
              <a:rPr lang="zh-CN" altLang="en-US" dirty="0"/>
              <a:t>}</a:t>
            </a:r>
            <a:endParaRPr lang="zh-CN" altLang="en-US" dirty="0">
              <a:latin typeface="Times New Roman" pitchFamily="18" charset="0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4787900" y="393700"/>
            <a:ext cx="3733800" cy="5029200"/>
            <a:chOff x="2976" y="960"/>
            <a:chExt cx="2352" cy="3168"/>
          </a:xfrm>
        </p:grpSpPr>
        <p:sp>
          <p:nvSpPr>
            <p:cNvPr id="21508" name="Text Box 5"/>
            <p:cNvSpPr txBox="1"/>
            <p:nvPr/>
          </p:nvSpPr>
          <p:spPr>
            <a:xfrm>
              <a:off x="4224" y="1728"/>
              <a:ext cx="480" cy="27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真</a:t>
              </a:r>
              <a:endParaRPr lang="zh-CN" altLang="en-US" sz="9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1509" name="Rectangle 6"/>
            <p:cNvSpPr/>
            <p:nvPr/>
          </p:nvSpPr>
          <p:spPr>
            <a:xfrm>
              <a:off x="2976" y="1928"/>
              <a:ext cx="2064" cy="1336"/>
            </a:xfrm>
            <a:prstGeom prst="rect">
              <a:avLst/>
            </a:prstGeom>
            <a:solidFill>
              <a:srgbClr val="FFFFFF"/>
            </a:solidFill>
            <a:ln w="12700" cap="rnd" cmpd="sng">
              <a:solidFill>
                <a:schemeClr val="accent1">
                  <a:shade val="50000"/>
                </a:schemeClr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21510" name="Text Box 7"/>
            <p:cNvSpPr txBox="1"/>
            <p:nvPr/>
          </p:nvSpPr>
          <p:spPr>
            <a:xfrm>
              <a:off x="4704" y="1296"/>
              <a:ext cx="336" cy="23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假</a:t>
              </a:r>
              <a:endParaRPr lang="zh-CN" altLang="en-US" sz="9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1511" name="AutoShape 8"/>
            <p:cNvSpPr/>
            <p:nvPr/>
          </p:nvSpPr>
          <p:spPr>
            <a:xfrm>
              <a:off x="3120" y="1440"/>
              <a:ext cx="1488" cy="384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just" eaLnBrk="0" hangingPunct="0"/>
              <a:r>
                <a:rPr lang="en-US" altLang="zh-CN" sz="2000">
                  <a:solidFill>
                    <a:schemeClr val="tx1"/>
                  </a:solidFill>
                  <a:latin typeface="Times New Roman" pitchFamily="18" charset="0"/>
                </a:rPr>
                <a:t>  </a:t>
              </a:r>
              <a:r>
                <a:rPr lang="zh-CN" altLang="en-US" sz="2000">
                  <a:solidFill>
                    <a:schemeClr val="tx1"/>
                  </a:solidFill>
                  <a:latin typeface="Times New Roman" pitchFamily="18" charset="0"/>
                </a:rPr>
                <a:t> </a:t>
              </a:r>
              <a:r>
                <a:rPr lang="en-US" altLang="zh-CN" sz="2000">
                  <a:solidFill>
                    <a:schemeClr val="bg2"/>
                  </a:solidFill>
                  <a:latin typeface="Arial" panose="02080604020202020204" pitchFamily="34" charset="0"/>
                </a:rPr>
                <a:t>exp</a:t>
              </a:r>
              <a:endParaRPr lang="zh-CN" altLang="en-US" sz="1000" dirty="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21512" name="Rectangle 9"/>
            <p:cNvSpPr/>
            <p:nvPr/>
          </p:nvSpPr>
          <p:spPr>
            <a:xfrm>
              <a:off x="3510" y="1968"/>
              <a:ext cx="730" cy="27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just" eaLnBrk="0" hangingPunct="0"/>
              <a:r>
                <a:rPr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 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80604020202020204" pitchFamily="34" charset="0"/>
                </a:rPr>
                <a:t>语句1</a:t>
              </a:r>
              <a:endParaRPr lang="en-US" altLang="zh-CN" sz="2000">
                <a:solidFill>
                  <a:schemeClr val="tx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21513" name="Line 10"/>
            <p:cNvSpPr/>
            <p:nvPr/>
          </p:nvSpPr>
          <p:spPr>
            <a:xfrm>
              <a:off x="3888" y="960"/>
              <a:ext cx="0" cy="45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1514" name="Line 11"/>
            <p:cNvSpPr/>
            <p:nvPr/>
          </p:nvSpPr>
          <p:spPr>
            <a:xfrm>
              <a:off x="3887" y="1800"/>
              <a:ext cx="1" cy="1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1515" name="Line 12"/>
            <p:cNvSpPr/>
            <p:nvPr/>
          </p:nvSpPr>
          <p:spPr>
            <a:xfrm>
              <a:off x="3840" y="2208"/>
              <a:ext cx="1" cy="1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1516" name="Line 13"/>
            <p:cNvSpPr/>
            <p:nvPr/>
          </p:nvSpPr>
          <p:spPr>
            <a:xfrm>
              <a:off x="3840" y="2736"/>
              <a:ext cx="1" cy="1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21517" name="Text Box 14"/>
            <p:cNvSpPr txBox="1"/>
            <p:nvPr/>
          </p:nvSpPr>
          <p:spPr>
            <a:xfrm>
              <a:off x="3504" y="2688"/>
              <a:ext cx="19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假</a:t>
              </a:r>
              <a:endParaRPr lang="zh-CN" altLang="en-US" sz="20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1518" name="AutoShape 15"/>
            <p:cNvSpPr/>
            <p:nvPr/>
          </p:nvSpPr>
          <p:spPr>
            <a:xfrm>
              <a:off x="3318" y="2400"/>
              <a:ext cx="1057" cy="350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just" eaLnBrk="0" hangingPunct="0"/>
              <a:r>
                <a:rPr lang="en-US" altLang="zh-CN" sz="1800" err="1">
                  <a:solidFill>
                    <a:srgbClr val="CC0066"/>
                  </a:solidFill>
                  <a:latin typeface="Arial" panose="02080604020202020204" pitchFamily="34" charset="0"/>
                </a:rPr>
                <a:t>expb</a:t>
              </a:r>
              <a:endParaRPr lang="en-US" altLang="zh-CN" sz="1800">
                <a:solidFill>
                  <a:srgbClr val="CC0066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21519" name="Rectangle 16"/>
            <p:cNvSpPr/>
            <p:nvPr/>
          </p:nvSpPr>
          <p:spPr>
            <a:xfrm>
              <a:off x="3552" y="2942"/>
              <a:ext cx="672" cy="27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just" eaLnBrk="0" hangingPunct="0"/>
              <a:r>
                <a:rPr lang="zh-CN" altLang="en-US" sz="900" dirty="0">
                  <a:solidFill>
                    <a:schemeClr val="tx1"/>
                  </a:solidFill>
                  <a:latin typeface="Arial" panose="02080604020202020204" pitchFamily="34" charset="0"/>
                </a:rPr>
                <a:t> 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80604020202020204" pitchFamily="34" charset="0"/>
                </a:rPr>
                <a:t>语 句2</a:t>
              </a:r>
              <a:endParaRPr lang="zh-CN" altLang="en-US" sz="2000" dirty="0">
                <a:solidFill>
                  <a:schemeClr val="tx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21520" name="Text Box 17"/>
            <p:cNvSpPr txBox="1"/>
            <p:nvPr/>
          </p:nvSpPr>
          <p:spPr>
            <a:xfrm>
              <a:off x="4743" y="2160"/>
              <a:ext cx="346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bg2"/>
                  </a:solidFill>
                  <a:latin typeface="Times New Roman" pitchFamily="18" charset="0"/>
                  <a:ea typeface="黑体" pitchFamily="49" charset="-122"/>
                </a:rPr>
                <a:t>循环体</a:t>
              </a:r>
              <a:endParaRPr lang="zh-CN" altLang="en-US" sz="2400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21521" name="Freeform 18"/>
            <p:cNvSpPr/>
            <p:nvPr/>
          </p:nvSpPr>
          <p:spPr>
            <a:xfrm>
              <a:off x="4426" y="2592"/>
              <a:ext cx="240" cy="1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0"/>
                </a:cxn>
                <a:cxn ang="0">
                  <a:pos x="240" y="1200"/>
                </a:cxn>
              </a:cxnLst>
              <a:pathLst>
                <a:path w="240" h="1056">
                  <a:moveTo>
                    <a:pt x="0" y="0"/>
                  </a:moveTo>
                  <a:lnTo>
                    <a:pt x="240" y="0"/>
                  </a:lnTo>
                  <a:lnTo>
                    <a:pt x="240" y="1056"/>
                  </a:lnTo>
                </a:path>
              </a:pathLst>
            </a:custGeom>
            <a:noFill/>
            <a:ln w="28575" cap="flat" cmpd="sng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22" name="Text Box 19"/>
            <p:cNvSpPr txBox="1"/>
            <p:nvPr/>
          </p:nvSpPr>
          <p:spPr>
            <a:xfrm>
              <a:off x="4272" y="2256"/>
              <a:ext cx="444" cy="28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/>
              <a:r>
                <a:rPr lang="zh-CN" altLang="en-US" sz="2000" dirty="0">
                  <a:solidFill>
                    <a:srgbClr val="CC0066"/>
                  </a:solidFill>
                  <a:latin typeface="Times New Roman" pitchFamily="18" charset="0"/>
                </a:rPr>
                <a:t>真</a:t>
              </a:r>
              <a:endParaRPr lang="en-US" altLang="zh-CN" sz="2000">
                <a:solidFill>
                  <a:srgbClr val="CC0066"/>
                </a:solidFill>
                <a:latin typeface="Times New Roman" pitchFamily="18" charset="0"/>
              </a:endParaRPr>
            </a:p>
          </p:txBody>
        </p:sp>
        <p:cxnSp>
          <p:nvCxnSpPr>
            <p:cNvPr id="21523" name="AutoShape 20"/>
            <p:cNvCxnSpPr>
              <a:stCxn id="21519" idx="2"/>
              <a:endCxn id="21511" idx="1"/>
            </p:cNvCxnSpPr>
            <p:nvPr/>
          </p:nvCxnSpPr>
          <p:spPr>
            <a:xfrm rot="-5400000" flipV="1">
              <a:off x="2712" y="2040"/>
              <a:ext cx="1584" cy="768"/>
            </a:xfrm>
            <a:prstGeom prst="bentConnector4">
              <a:avLst>
                <a:gd name="adj1" fmla="val -33333"/>
                <a:gd name="adj2" fmla="val 149866"/>
              </a:avLst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cxnSp>
          <p:nvCxnSpPr>
            <p:cNvPr id="21524" name="AutoShape 21"/>
            <p:cNvCxnSpPr>
              <a:stCxn id="21511" idx="3"/>
              <a:endCxn id="21511" idx="1"/>
            </p:cNvCxnSpPr>
            <p:nvPr/>
          </p:nvCxnSpPr>
          <p:spPr>
            <a:xfrm>
              <a:off x="4608" y="1632"/>
              <a:ext cx="720" cy="2160"/>
            </a:xfrm>
            <a:prstGeom prst="bentConnector2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sp>
          <p:nvSpPr>
            <p:cNvPr id="21525" name="Line 22"/>
            <p:cNvSpPr/>
            <p:nvPr/>
          </p:nvSpPr>
          <p:spPr>
            <a:xfrm flipH="1">
              <a:off x="4320" y="3792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6" name="Line 23"/>
            <p:cNvSpPr/>
            <p:nvPr/>
          </p:nvSpPr>
          <p:spPr>
            <a:xfrm>
              <a:off x="4320" y="3792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1534" name="文本框 3"/>
          <p:cNvSpPr txBox="1"/>
          <p:nvPr/>
        </p:nvSpPr>
        <p:spPr>
          <a:xfrm>
            <a:off x="7524750" y="4225925"/>
            <a:ext cx="7937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800" b="0">
                <a:latin typeface="思源黑体 CN Normal" panose="020B0500000000000000" charset="-122"/>
                <a:ea typeface="思源黑体 CN Normal" panose="020B0500000000000000" charset="-122"/>
                <a:sym typeface="宋体" pitchFamily="2" charset="-122"/>
              </a:rPr>
              <a:t>break</a:t>
            </a:r>
            <a:endParaRPr lang="zh-CN" altLang="en-US" sz="1800" b="0">
              <a:latin typeface="思源黑体 CN Normal" panose="020B0500000000000000" charset="-122"/>
              <a:ea typeface="思源黑体 CN Normal" panose="020B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50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50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950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950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charRg st="12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9507">
                                            <p:txEl>
                                              <p:charRg st="12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9507">
                                            <p:txEl>
                                              <p:charRg st="12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charRg st="19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9507">
                                            <p:txEl>
                                              <p:charRg st="19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9507">
                                            <p:txEl>
                                              <p:charRg st="19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charRg st="4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9507">
                                            <p:txEl>
                                              <p:charRg st="4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9507">
                                            <p:txEl>
                                              <p:charRg st="4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charRg st="47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9507">
                                            <p:txEl>
                                              <p:charRg st="47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9507">
                                            <p:txEl>
                                              <p:charRg st="47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4721225" cy="657225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c</a:t>
            </a: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ontinue</a:t>
            </a: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语句</a:t>
            </a:r>
            <a:endParaRPr lang="en-US" altLang="zh-CN" sz="3555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250825" y="1600200"/>
            <a:ext cx="4105275" cy="3007995"/>
          </a:xfr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/>
          <a:p>
            <a:pPr lvl="1" eaLnBrk="1" hangingPunct="1">
              <a:buFontTx/>
              <a:buNone/>
            </a:pPr>
            <a:r>
              <a:rPr lang="en-US" altLang="zh-CN" err="1"/>
              <a:t>while(</a:t>
            </a:r>
            <a:r>
              <a:rPr lang="en-US" altLang="zh-CN" err="1">
                <a:solidFill>
                  <a:schemeClr val="bg2"/>
                </a:solidFill>
              </a:rPr>
              <a:t>exp</a:t>
            </a:r>
            <a:r>
              <a:rPr lang="en-US" altLang="zh-CN"/>
              <a:t>)</a:t>
            </a:r>
            <a:r>
              <a:rPr lang="zh-CN" altLang="en-US" dirty="0"/>
              <a:t>{</a:t>
            </a:r>
            <a:endParaRPr lang="zh-CN" altLang="en-US" dirty="0"/>
          </a:p>
          <a:p>
            <a:pPr lvl="1" eaLnBrk="1" hangingPunct="1">
              <a:buFontTx/>
              <a:buNone/>
            </a:pPr>
            <a:r>
              <a:rPr lang="zh-CN" altLang="en-US" dirty="0"/>
              <a:t>   语句1</a:t>
            </a:r>
            <a:endParaRPr lang="zh-CN" altLang="en-US" dirty="0"/>
          </a:p>
          <a:p>
            <a:pPr lvl="1" eaLnBrk="1" hangingPunct="1">
              <a:buFontTx/>
              <a:buNone/>
            </a:pPr>
            <a:r>
              <a:rPr lang="zh-CN" altLang="en-US" dirty="0"/>
              <a:t>   </a:t>
            </a:r>
            <a:r>
              <a:rPr lang="en-US" altLang="zh-CN"/>
              <a:t>if (</a:t>
            </a:r>
            <a:r>
              <a:rPr lang="en-US" altLang="zh-CN" err="1">
                <a:solidFill>
                  <a:srgbClr val="CC0066"/>
                </a:solidFill>
              </a:rPr>
              <a:t>expb</a:t>
            </a:r>
            <a:r>
              <a:rPr lang="en-US" altLang="zh-CN"/>
              <a:t>)     	  	  c</a:t>
            </a:r>
            <a:r>
              <a:rPr lang="en-US" altLang="zh-CN" i="1"/>
              <a:t>ontinue</a:t>
            </a:r>
            <a:r>
              <a:rPr lang="en-US" altLang="zh-CN"/>
              <a:t>;</a:t>
            </a:r>
            <a:endParaRPr lang="en-US" altLang="zh-CN"/>
          </a:p>
          <a:p>
            <a:pPr lvl="1" eaLnBrk="1" hangingPunct="1">
              <a:buFontTx/>
              <a:buNone/>
            </a:pPr>
            <a:r>
              <a:rPr lang="en-US" altLang="zh-CN"/>
              <a:t>   </a:t>
            </a:r>
            <a:r>
              <a:rPr lang="zh-CN" altLang="en-US" dirty="0"/>
              <a:t>语句2</a:t>
            </a:r>
            <a:endParaRPr lang="zh-CN" altLang="en-US" dirty="0"/>
          </a:p>
          <a:p>
            <a:pPr lvl="1" eaLnBrk="1" hangingPunct="1">
              <a:buFontTx/>
              <a:buNone/>
            </a:pPr>
            <a:r>
              <a:rPr lang="zh-CN" altLang="en-US" dirty="0"/>
              <a:t>}</a:t>
            </a:r>
            <a:endParaRPr lang="zh-CN" altLang="en-US" dirty="0">
              <a:latin typeface="Times New Roman" pitchFamily="18" charset="0"/>
            </a:endParaRPr>
          </a:p>
        </p:txBody>
      </p:sp>
      <p:grpSp>
        <p:nvGrpSpPr>
          <p:cNvPr id="22531" name="Group 48"/>
          <p:cNvGrpSpPr/>
          <p:nvPr/>
        </p:nvGrpSpPr>
        <p:grpSpPr>
          <a:xfrm>
            <a:off x="4953000" y="304800"/>
            <a:ext cx="3733800" cy="5029200"/>
            <a:chOff x="3072" y="768"/>
            <a:chExt cx="2352" cy="3168"/>
          </a:xfrm>
        </p:grpSpPr>
        <p:grpSp>
          <p:nvGrpSpPr>
            <p:cNvPr id="22532" name="Group 47"/>
            <p:cNvGrpSpPr/>
            <p:nvPr/>
          </p:nvGrpSpPr>
          <p:grpSpPr>
            <a:xfrm>
              <a:off x="3072" y="768"/>
              <a:ext cx="2352" cy="3168"/>
              <a:chOff x="3072" y="768"/>
              <a:chExt cx="2352" cy="3168"/>
            </a:xfrm>
          </p:grpSpPr>
          <p:sp>
            <p:nvSpPr>
              <p:cNvPr id="22533" name="Text Box 27"/>
              <p:cNvSpPr txBox="1"/>
              <p:nvPr/>
            </p:nvSpPr>
            <p:spPr>
              <a:xfrm>
                <a:off x="4320" y="1536"/>
                <a:ext cx="480" cy="2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 anchorCtr="0"/>
              <a:p>
                <a:pPr algn="just" eaLnBrk="0" hangingPunct="0"/>
                <a:r>
                  <a:rPr lang="zh-CN" altLang="en-US" sz="2000" dirty="0">
                    <a:solidFill>
                      <a:schemeClr val="tx1"/>
                    </a:solidFill>
                    <a:latin typeface="Times New Roman" pitchFamily="18" charset="0"/>
                  </a:rPr>
                  <a:t>真</a:t>
                </a:r>
                <a:endParaRPr lang="zh-CN" altLang="en-US" sz="900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2534" name="Rectangle 28"/>
              <p:cNvSpPr/>
              <p:nvPr/>
            </p:nvSpPr>
            <p:spPr>
              <a:xfrm>
                <a:off x="3072" y="1736"/>
                <a:ext cx="2064" cy="1336"/>
              </a:xfrm>
              <a:prstGeom prst="rect">
                <a:avLst/>
              </a:prstGeom>
              <a:solidFill>
                <a:srgbClr val="FFFFFF"/>
              </a:solidFill>
              <a:ln w="9525" cap="rnd" cmpd="sng">
                <a:solidFill>
                  <a:schemeClr val="bg2"/>
                </a:solidFill>
                <a:prstDash val="sysDot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22535" name="Text Box 29"/>
              <p:cNvSpPr txBox="1"/>
              <p:nvPr/>
            </p:nvSpPr>
            <p:spPr>
              <a:xfrm>
                <a:off x="4800" y="1104"/>
                <a:ext cx="336" cy="23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 anchorCtr="0"/>
              <a:p>
                <a:pPr algn="just" eaLnBrk="0" hangingPunct="0"/>
                <a:r>
                  <a:rPr lang="zh-CN" altLang="en-US" sz="2000" dirty="0">
                    <a:solidFill>
                      <a:schemeClr val="tx1"/>
                    </a:solidFill>
                    <a:latin typeface="Times New Roman" pitchFamily="18" charset="0"/>
                  </a:rPr>
                  <a:t>假</a:t>
                </a:r>
                <a:endParaRPr lang="zh-CN" altLang="en-US" sz="900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2536" name="AutoShape 30"/>
              <p:cNvSpPr/>
              <p:nvPr/>
            </p:nvSpPr>
            <p:spPr>
              <a:xfrm>
                <a:off x="3216" y="1248"/>
                <a:ext cx="1488" cy="384"/>
              </a:xfrm>
              <a:prstGeom prst="flowChartDecision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just" eaLnBrk="0" hangingPunct="0"/>
                <a:r>
                  <a:rPr lang="en-US" altLang="zh-CN" sz="2000">
                    <a:solidFill>
                      <a:schemeClr val="tx1"/>
                    </a:solidFill>
                    <a:latin typeface="Times New Roman" pitchFamily="18" charset="0"/>
                  </a:rPr>
                  <a:t>     </a:t>
                </a:r>
                <a:r>
                  <a:rPr lang="en-US" altLang="zh-CN" sz="2000">
                    <a:solidFill>
                      <a:schemeClr val="bg2"/>
                    </a:solidFill>
                    <a:latin typeface="Arial" panose="02080604020202020204" pitchFamily="34" charset="0"/>
                  </a:rPr>
                  <a:t>exp</a:t>
                </a:r>
                <a:endParaRPr lang="zh-CN" altLang="en-US" sz="1000" dirty="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22537" name="Rectangle 31"/>
              <p:cNvSpPr/>
              <p:nvPr/>
            </p:nvSpPr>
            <p:spPr>
              <a:xfrm>
                <a:off x="3600" y="1776"/>
                <a:ext cx="672" cy="27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just" eaLnBrk="0" hangingPunct="0"/>
                <a:r>
                  <a:rPr lang="zh-CN" altLang="en-US" sz="2000" dirty="0">
                    <a:solidFill>
                      <a:schemeClr val="tx1"/>
                    </a:solidFill>
                    <a:latin typeface="Times New Roman" pitchFamily="18" charset="0"/>
                  </a:rPr>
                  <a:t>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Arial" panose="02080604020202020204" pitchFamily="34" charset="0"/>
                  </a:rPr>
                  <a:t>语句1</a:t>
                </a:r>
                <a:endParaRPr lang="en-US" altLang="zh-CN" sz="2000">
                  <a:solidFill>
                    <a:schemeClr val="tx1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22538" name="Line 32"/>
              <p:cNvSpPr/>
              <p:nvPr/>
            </p:nvSpPr>
            <p:spPr>
              <a:xfrm>
                <a:off x="3984" y="768"/>
                <a:ext cx="0" cy="45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2539" name="Line 33"/>
              <p:cNvSpPr/>
              <p:nvPr/>
            </p:nvSpPr>
            <p:spPr>
              <a:xfrm>
                <a:off x="3983" y="1608"/>
                <a:ext cx="1" cy="1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2540" name="Line 34"/>
              <p:cNvSpPr/>
              <p:nvPr/>
            </p:nvSpPr>
            <p:spPr>
              <a:xfrm>
                <a:off x="3936" y="2061"/>
                <a:ext cx="1" cy="1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2541" name="Line 35"/>
              <p:cNvSpPr/>
              <p:nvPr/>
            </p:nvSpPr>
            <p:spPr>
              <a:xfrm>
                <a:off x="3936" y="2544"/>
                <a:ext cx="1" cy="1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2542" name="Text Box 36"/>
              <p:cNvSpPr txBox="1"/>
              <p:nvPr/>
            </p:nvSpPr>
            <p:spPr>
              <a:xfrm>
                <a:off x="3600" y="249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 anchorCtr="0"/>
              <a:p>
                <a:pPr algn="just" eaLnBrk="0" hangingPunct="0"/>
                <a:r>
                  <a:rPr lang="zh-CN" altLang="en-US" sz="2000" dirty="0">
                    <a:solidFill>
                      <a:schemeClr val="tx1"/>
                    </a:solidFill>
                    <a:latin typeface="Times New Roman" pitchFamily="18" charset="0"/>
                  </a:rPr>
                  <a:t>假</a:t>
                </a:r>
                <a:endParaRPr lang="zh-CN" altLang="en-US" sz="2000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2543" name="AutoShape 37"/>
              <p:cNvSpPr/>
              <p:nvPr/>
            </p:nvSpPr>
            <p:spPr>
              <a:xfrm>
                <a:off x="3351" y="2194"/>
                <a:ext cx="1155" cy="350"/>
              </a:xfrm>
              <a:prstGeom prst="flowChartDecision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just" eaLnBrk="0" hangingPunct="0"/>
                <a:r>
                  <a:rPr lang="en-US" altLang="zh-CN" sz="2000" err="1">
                    <a:solidFill>
                      <a:srgbClr val="CC0066"/>
                    </a:solidFill>
                    <a:latin typeface="Arial" panose="02080604020202020204" pitchFamily="34" charset="0"/>
                  </a:rPr>
                  <a:t>expb</a:t>
                </a:r>
                <a:endParaRPr lang="en-US" altLang="zh-CN" sz="2000">
                  <a:solidFill>
                    <a:srgbClr val="CC0066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22544" name="Rectangle 38"/>
              <p:cNvSpPr/>
              <p:nvPr/>
            </p:nvSpPr>
            <p:spPr>
              <a:xfrm>
                <a:off x="3648" y="2750"/>
                <a:ext cx="672" cy="27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just" eaLnBrk="0" hangingPunct="0"/>
                <a:r>
                  <a:rPr lang="zh-CN" altLang="en-US" sz="900" dirty="0">
                    <a:solidFill>
                      <a:schemeClr val="tx1"/>
                    </a:solidFill>
                    <a:latin typeface="Arial" panose="02080604020202020204" pitchFamily="34" charset="0"/>
                  </a:rPr>
                  <a:t>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Arial" panose="02080604020202020204" pitchFamily="34" charset="0"/>
                  </a:rPr>
                  <a:t>语 句2</a:t>
                </a:r>
                <a:endParaRPr lang="zh-CN" altLang="en-US" sz="2000" dirty="0">
                  <a:solidFill>
                    <a:schemeClr val="tx1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22545" name="Text Box 39"/>
              <p:cNvSpPr txBox="1"/>
              <p:nvPr/>
            </p:nvSpPr>
            <p:spPr>
              <a:xfrm>
                <a:off x="4839" y="1968"/>
                <a:ext cx="346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bg2"/>
                    </a:solidFill>
                    <a:latin typeface="Times New Roman" pitchFamily="18" charset="0"/>
                    <a:ea typeface="黑体" pitchFamily="49" charset="-122"/>
                  </a:rPr>
                  <a:t>循环体</a:t>
                </a:r>
                <a:endParaRPr lang="zh-CN" altLang="en-US" sz="2400" dirty="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2546" name="Freeform 40"/>
              <p:cNvSpPr/>
              <p:nvPr/>
            </p:nvSpPr>
            <p:spPr>
              <a:xfrm>
                <a:off x="4510" y="2355"/>
                <a:ext cx="240" cy="1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1104"/>
                  </a:cxn>
                </a:cxnLst>
                <a:pathLst>
                  <a:path w="240" h="1056">
                    <a:moveTo>
                      <a:pt x="0" y="0"/>
                    </a:moveTo>
                    <a:lnTo>
                      <a:pt x="240" y="0"/>
                    </a:lnTo>
                    <a:lnTo>
                      <a:pt x="240" y="1056"/>
                    </a:lnTo>
                  </a:path>
                </a:pathLst>
              </a:custGeom>
              <a:noFill/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47" name="Text Box 41"/>
              <p:cNvSpPr txBox="1"/>
              <p:nvPr/>
            </p:nvSpPr>
            <p:spPr>
              <a:xfrm>
                <a:off x="4368" y="2019"/>
                <a:ext cx="444" cy="28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 anchorCtr="0"/>
              <a:p>
                <a:pPr algn="just" eaLnBrk="0" hangingPunct="0"/>
                <a:r>
                  <a:rPr lang="zh-CN" altLang="en-US" sz="2000" dirty="0">
                    <a:solidFill>
                      <a:srgbClr val="CC0066"/>
                    </a:solidFill>
                    <a:latin typeface="Times New Roman" pitchFamily="18" charset="0"/>
                  </a:rPr>
                  <a:t>真</a:t>
                </a:r>
                <a:endParaRPr lang="en-US" altLang="zh-CN" sz="2000">
                  <a:solidFill>
                    <a:srgbClr val="CC0066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22548" name="AutoShape 42"/>
              <p:cNvCxnSpPr>
                <a:stCxn id="22544" idx="2"/>
                <a:endCxn id="22536" idx="1"/>
              </p:cNvCxnSpPr>
              <p:nvPr/>
            </p:nvCxnSpPr>
            <p:spPr>
              <a:xfrm rot="-5400000" flipV="1">
                <a:off x="2808" y="1848"/>
                <a:ext cx="1584" cy="768"/>
              </a:xfrm>
              <a:prstGeom prst="bentConnector4">
                <a:avLst>
                  <a:gd name="adj1" fmla="val -33333"/>
                  <a:gd name="adj2" fmla="val 149866"/>
                </a:avLst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cxnSp>
          <p:cxnSp>
            <p:nvCxnSpPr>
              <p:cNvPr id="22549" name="AutoShape 43"/>
              <p:cNvCxnSpPr>
                <a:stCxn id="22536" idx="3"/>
                <a:endCxn id="22536" idx="1"/>
              </p:cNvCxnSpPr>
              <p:nvPr/>
            </p:nvCxnSpPr>
            <p:spPr>
              <a:xfrm>
                <a:off x="4704" y="1440"/>
                <a:ext cx="720" cy="2160"/>
              </a:xfrm>
              <a:prstGeom prst="bentConnector2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sp>
            <p:nvSpPr>
              <p:cNvPr id="22550" name="Line 44"/>
              <p:cNvSpPr/>
              <p:nvPr/>
            </p:nvSpPr>
            <p:spPr>
              <a:xfrm flipH="1">
                <a:off x="4416" y="3600"/>
                <a:ext cx="10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1" name="Line 45"/>
              <p:cNvSpPr/>
              <p:nvPr/>
            </p:nvSpPr>
            <p:spPr>
              <a:xfrm>
                <a:off x="4416" y="3600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22552" name="Line 46"/>
            <p:cNvSpPr/>
            <p:nvPr/>
          </p:nvSpPr>
          <p:spPr>
            <a:xfrm flipH="1">
              <a:off x="4029" y="3459"/>
              <a:ext cx="720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53649" name="Rectangle 49"/>
          <p:cNvSpPr/>
          <p:nvPr/>
        </p:nvSpPr>
        <p:spPr>
          <a:xfrm>
            <a:off x="685800" y="5459413"/>
            <a:ext cx="70262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跳过</a:t>
            </a:r>
            <a:r>
              <a:rPr lang="en-US" altLang="zh-CN" sz="2800">
                <a:solidFill>
                  <a:schemeClr val="tx1"/>
                </a:solidFill>
                <a:latin typeface="Arial" panose="02080604020202020204" pitchFamily="34" charset="0"/>
              </a:rPr>
              <a:t>continue</a:t>
            </a: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后面的语句，继续下一次循环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22554" name="文本框 2"/>
          <p:cNvSpPr txBox="1"/>
          <p:nvPr/>
        </p:nvSpPr>
        <p:spPr>
          <a:xfrm>
            <a:off x="6516688" y="4076700"/>
            <a:ext cx="1131887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 b="0">
                <a:latin typeface="思源黑体 CN Normal" panose="020B0500000000000000" charset="-122"/>
                <a:ea typeface="思源黑体 CN Normal" panose="020B0500000000000000" charset="-122"/>
              </a:rPr>
              <a:t>c</a:t>
            </a:r>
            <a:r>
              <a:rPr lang="en-US" altLang="zh-CN" sz="1800" b="0" i="1">
                <a:latin typeface="思源黑体 CN Normal" panose="020B0500000000000000" charset="-122"/>
                <a:ea typeface="思源黑体 CN Normal" panose="020B0500000000000000" charset="-122"/>
              </a:rPr>
              <a:t>ontinue</a:t>
            </a:r>
            <a:endParaRPr lang="zh-CN" altLang="en-US" sz="1800" b="0">
              <a:latin typeface="思源黑体 CN Normal" panose="020B0500000000000000" charset="-122"/>
              <a:ea typeface="思源黑体 CN Normal" panose="020B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6188075" cy="628650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 fontScale="90000"/>
          </a:bodyPr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break </a:t>
            </a: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和 </a:t>
            </a: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continue</a:t>
            </a:r>
            <a:r>
              <a:rPr lang="zh-CN" altLang="en-US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对</a:t>
            </a:r>
            <a:r>
              <a:rPr lang="zh-CN" altLang="en-US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比</a:t>
            </a:r>
            <a:endParaRPr lang="zh-CN" altLang="en-US" sz="3555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461645" y="869315"/>
            <a:ext cx="5823585" cy="5635625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Autofit/>
          </a:bodyPr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#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include "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stdio.h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"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main(void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)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{  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lang="en-US"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char c;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i;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for (i = 0; i &lt; 10; i++) {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c =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getchar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();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if (c == '\n')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break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;      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putchar(c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);    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}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}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3555" name="Rectangle 8"/>
          <p:cNvSpPr/>
          <p:nvPr/>
        </p:nvSpPr>
        <p:spPr>
          <a:xfrm>
            <a:off x="6400800" y="990600"/>
            <a:ext cx="1371600" cy="127317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400" err="1">
                <a:solidFill>
                  <a:srgbClr val="CC0066"/>
                </a:solidFill>
                <a:latin typeface="Arial" panose="02080604020202020204" pitchFamily="34" charset="0"/>
              </a:rPr>
              <a:t>abc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  <a:sym typeface="Symbol" panose="05050102010706020507" pitchFamily="18" charset="2"/>
              </a:rPr>
              <a:t>↙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err="1">
                <a:solidFill>
                  <a:srgbClr val="CC0066"/>
                </a:solidFill>
                <a:latin typeface="Arial" panose="02080604020202020204" pitchFamily="34" charset="0"/>
              </a:rPr>
              <a:t>efgh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 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  <a:sym typeface="Symbol" panose="05050102010706020507" pitchFamily="18" charset="2"/>
              </a:rPr>
              <a:t>↙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123 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  <a:sym typeface="Symbol" panose="05050102010706020507" pitchFamily="18" charset="2"/>
              </a:rPr>
              <a:t>↙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54633" name="Rectangle 9"/>
          <p:cNvSpPr/>
          <p:nvPr/>
        </p:nvSpPr>
        <p:spPr>
          <a:xfrm>
            <a:off x="6400800" y="2460625"/>
            <a:ext cx="1371600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abc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54634" name="Rectangle 10"/>
          <p:cNvSpPr/>
          <p:nvPr/>
        </p:nvSpPr>
        <p:spPr>
          <a:xfrm>
            <a:off x="6400800" y="2997200"/>
            <a:ext cx="1922463" cy="46037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abcefgh1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54635" name="Rectangle 11"/>
          <p:cNvSpPr/>
          <p:nvPr/>
        </p:nvSpPr>
        <p:spPr>
          <a:xfrm>
            <a:off x="3564255" y="4507230"/>
            <a:ext cx="2366645" cy="521970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800" b="0">
                <a:solidFill>
                  <a:schemeClr val="tx1"/>
                </a:solidFill>
                <a:latin typeface="Arial" panose="02080604020202020204" pitchFamily="34" charset="0"/>
              </a:rPr>
              <a:t>continue;</a:t>
            </a:r>
            <a:endParaRPr lang="zh-CN" altLang="en-US" sz="2800" b="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3" grpId="0" bldLvl="0" animBg="1"/>
      <p:bldP spid="154634" grpId="0" bldLvl="0" animBg="1"/>
      <p:bldP spid="154635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899795" y="1628775"/>
            <a:ext cx="6151245" cy="3241675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 lnSpcReduction="20000"/>
          </a:bodyPr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while循环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2. do-while循环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3. break 和 continue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4. 循环嵌套</a:t>
            </a:r>
            <a:endParaRPr lang="en-US" altLang="zh-CN" sz="4000" b="0" dirty="0">
              <a:solidFill>
                <a:srgbClr val="FF0000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5. 循环结构程序设计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457200" y="372110"/>
            <a:ext cx="8229600" cy="627380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 fontScale="90000"/>
          </a:bodyPr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求1! + 2! + …. + 100!</a:t>
            </a:r>
            <a:endParaRPr lang="en-US" altLang="zh-CN" sz="3555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26627" name="Rectangle 1027"/>
          <p:cNvSpPr>
            <a:spLocks noGrp="1"/>
          </p:cNvSpPr>
          <p:nvPr>
            <p:ph idx="1"/>
          </p:nvPr>
        </p:nvSpPr>
        <p:spPr>
          <a:xfrm>
            <a:off x="533400" y="1295400"/>
            <a:ext cx="6453188" cy="205740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Autofit/>
          </a:bodyPr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for (i = 1; i &lt;= 100; i++){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solidFill>
                  <a:srgbClr val="FF000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    </a:t>
            </a:r>
            <a:r>
              <a:rPr sz="2800" b="0" kern="1200">
                <a:solidFill>
                  <a:srgbClr val="FF000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item = i !</a:t>
            </a:r>
            <a:endParaRPr sz="2800" b="0" kern="1200">
              <a:solidFill>
                <a:srgbClr val="FF0000"/>
              </a:solidFill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sum =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sum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+ item;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}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3400" y="3717290"/>
            <a:ext cx="684593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algn="l"/>
            <a:r>
              <a:rPr lang="zh-CN" sz="3200">
                <a:sym typeface="+mn-ea"/>
              </a:rPr>
              <a:t>（</a:t>
            </a:r>
            <a:r>
              <a:rPr lang="en-US" altLang="zh-CN" sz="3200">
                <a:sym typeface="+mn-ea"/>
              </a:rPr>
              <a:t>1</a:t>
            </a:r>
            <a:r>
              <a:rPr lang="zh-CN" sz="3200">
                <a:sym typeface="+mn-ea"/>
              </a:rPr>
              <a:t>）</a:t>
            </a:r>
            <a:r>
              <a:rPr sz="3200">
                <a:sym typeface="+mn-ea"/>
              </a:rPr>
              <a:t>用循环计算 i 的阶乘</a:t>
            </a:r>
            <a:endParaRPr lang="zh-CN" altLang="en-US" sz="3200">
              <a:sym typeface="+mn-ea"/>
            </a:endParaRPr>
          </a:p>
          <a:p>
            <a:pPr marL="0" lvl="1" algn="l"/>
            <a:endParaRPr sz="3200">
              <a:sym typeface="+mn-ea"/>
            </a:endParaRPr>
          </a:p>
          <a:p>
            <a:pPr marL="0" lvl="1" algn="l"/>
            <a:r>
              <a:rPr lang="zh-CN" sz="3200">
                <a:sym typeface="+mn-ea"/>
              </a:rPr>
              <a:t>（</a:t>
            </a:r>
            <a:r>
              <a:rPr lang="en-US" altLang="zh-CN" sz="3200">
                <a:sym typeface="+mn-ea"/>
              </a:rPr>
              <a:t>2</a:t>
            </a:r>
            <a:r>
              <a:rPr lang="zh-CN" sz="3200">
                <a:sym typeface="+mn-ea"/>
              </a:rPr>
              <a:t>）</a:t>
            </a:r>
            <a:r>
              <a:rPr sz="3200">
                <a:sym typeface="+mn-ea"/>
              </a:rPr>
              <a:t>调用函数 fact(i) 计算 i 的阶乘</a:t>
            </a:r>
            <a:endParaRPr lang="zh-CN" altLang="en-US" sz="32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6" name="Text Box 1030"/>
          <p:cNvSpPr/>
          <p:nvPr/>
        </p:nvSpPr>
        <p:spPr>
          <a:xfrm>
            <a:off x="467995" y="1412875"/>
            <a:ext cx="7680325" cy="26593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Autofit/>
          </a:bodyPr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800">
                <a:sym typeface="+mn-ea"/>
              </a:rPr>
              <a:t>for(i</a:t>
            </a:r>
            <a:r>
              <a:rPr sz="2800">
                <a:sym typeface="+mn-ea"/>
              </a:rPr>
              <a:t> = 1; i &lt;= 100; i++) {   </a:t>
            </a:r>
            <a:endParaRPr sz="28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800">
                <a:sym typeface="+mn-ea"/>
              </a:rPr>
              <a:t>    </a:t>
            </a:r>
            <a:r>
              <a:rPr sz="2800">
                <a:solidFill>
                  <a:srgbClr val="FF0000"/>
                </a:solidFill>
                <a:sym typeface="+mn-ea"/>
              </a:rPr>
              <a:t>item = 1;          	</a:t>
            </a:r>
            <a:endParaRPr sz="2800">
              <a:solidFill>
                <a:srgbClr val="FF0000"/>
              </a:solidFill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800">
                <a:solidFill>
                  <a:srgbClr val="FF0000"/>
                </a:solidFill>
                <a:sym typeface="+mn-ea"/>
              </a:rPr>
              <a:t>    </a:t>
            </a:r>
            <a:r>
              <a:rPr sz="2800">
                <a:solidFill>
                  <a:srgbClr val="FF0000"/>
                </a:solidFill>
                <a:sym typeface="+mn-ea"/>
              </a:rPr>
              <a:t>for (j = 1; j &lt;= i; j++) 	item = </a:t>
            </a:r>
            <a:r>
              <a:rPr sz="2800">
                <a:solidFill>
                  <a:srgbClr val="FF0000"/>
                </a:solidFill>
                <a:sym typeface="+mn-ea"/>
              </a:rPr>
              <a:t>item</a:t>
            </a:r>
            <a:r>
              <a:rPr sz="2800">
                <a:solidFill>
                  <a:srgbClr val="FF0000"/>
                </a:solidFill>
                <a:sym typeface="+mn-ea"/>
              </a:rPr>
              <a:t> * j;</a:t>
            </a:r>
            <a:endParaRPr sz="2800">
              <a:solidFill>
                <a:srgbClr val="FF0000"/>
              </a:solidFill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800">
                <a:sym typeface="+mn-ea"/>
              </a:rPr>
              <a:t>    sum = </a:t>
            </a:r>
            <a:r>
              <a:rPr sz="2800">
                <a:sym typeface="+mn-ea"/>
              </a:rPr>
              <a:t>sum</a:t>
            </a:r>
            <a:r>
              <a:rPr sz="2800">
                <a:sym typeface="+mn-ea"/>
              </a:rPr>
              <a:t> + item;  </a:t>
            </a:r>
            <a:endParaRPr sz="28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800">
                <a:sym typeface="+mn-ea"/>
              </a:rPr>
              <a:t>}</a:t>
            </a:r>
            <a:endParaRPr sz="2800">
              <a:sym typeface="+mn-ea"/>
            </a:endParaRPr>
          </a:p>
        </p:txBody>
      </p:sp>
      <p:sp>
        <p:nvSpPr>
          <p:cNvPr id="24578" name="Rectangle 2"/>
          <p:cNvSpPr>
            <a:spLocks noGrp="1"/>
          </p:cNvSpPr>
          <p:nvPr/>
        </p:nvSpPr>
        <p:spPr>
          <a:xfrm>
            <a:off x="457200" y="372110"/>
            <a:ext cx="8229600" cy="6273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 fontScale="9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求1! + 2! + …. + 100!</a:t>
            </a:r>
            <a:endParaRPr lang="en-US" altLang="zh-CN" sz="3555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1645" y="4650105"/>
            <a:ext cx="684593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algn="l"/>
            <a:r>
              <a:rPr lang="zh-CN" sz="3200">
                <a:sym typeface="+mn-ea"/>
              </a:rPr>
              <a:t>（</a:t>
            </a:r>
            <a:r>
              <a:rPr lang="en-US" altLang="zh-CN" sz="3200">
                <a:sym typeface="+mn-ea"/>
              </a:rPr>
              <a:t>1</a:t>
            </a:r>
            <a:r>
              <a:rPr lang="zh-CN" sz="3200">
                <a:sym typeface="+mn-ea"/>
              </a:rPr>
              <a:t>）</a:t>
            </a:r>
            <a:r>
              <a:rPr sz="3200">
                <a:sym typeface="+mn-ea"/>
              </a:rPr>
              <a:t>用循环计算 i 的阶乘</a:t>
            </a:r>
            <a:endParaRPr sz="3200">
              <a:sym typeface="+mn-ea"/>
            </a:endParaRPr>
          </a:p>
          <a:p>
            <a:pPr marL="0" lvl="1" algn="l"/>
            <a:r>
              <a:rPr lang="en-US" altLang="zh-CN" sz="3200">
                <a:sym typeface="+mn-ea"/>
              </a:rPr>
              <a:t> </a:t>
            </a:r>
            <a:r>
              <a:rPr lang="zh-CN" sz="3200">
                <a:sym typeface="+mn-ea"/>
              </a:rPr>
              <a:t>循环嵌套</a:t>
            </a:r>
            <a:endParaRPr lang="zh-CN" sz="32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6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107633" y="977900"/>
            <a:ext cx="8964612" cy="579120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Autofit/>
          </a:bodyPr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#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include &lt;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stdio.h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&gt;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main(void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)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{	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i, j;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double item, sum;            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/*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item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存放阶乘 */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sum = 0;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for(i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= 1; i &lt;= 100; i++) {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item = 1;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         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/* 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每次求阶乘都从1开始 */</a:t>
            </a:r>
            <a:endParaRPr sz="2400" b="0" kern="1200">
              <a:solidFill>
                <a:srgbClr val="00B050"/>
              </a:solidFill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 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for (j = 1; j &lt;= i; j++)</a:t>
            </a:r>
            <a:r>
              <a:rPr lang="en-US"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/*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内层循环算出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item = i! */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       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item =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item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* j;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      sum =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sum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+ item;  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}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printf("1! + 2! + 3! + … + 100! = %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e\n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", sum);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}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4578" name="Rectangle 2"/>
          <p:cNvSpPr>
            <a:spLocks noGrp="1"/>
          </p:cNvSpPr>
          <p:nvPr/>
        </p:nvSpPr>
        <p:spPr>
          <a:xfrm>
            <a:off x="457200" y="372110"/>
            <a:ext cx="8229600" cy="6273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 fontScale="9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求1! + 2! + …. + 100!</a:t>
            </a:r>
            <a:endParaRPr lang="en-US" altLang="zh-CN" sz="3555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228600" y="1236980"/>
            <a:ext cx="5818505" cy="2722245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Autofit/>
          </a:bodyPr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for(i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= 1; i &lt;= 100; i++) {  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</a:t>
            </a:r>
            <a:r>
              <a:rPr sz="2400" b="0" kern="1200">
                <a:solidFill>
                  <a:srgbClr val="FF000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item = 1</a:t>
            </a:r>
            <a:r>
              <a:rPr sz="2400" b="0" kern="1200">
                <a:solidFill>
                  <a:srgbClr val="FF000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;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/*  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内层循环初始化</a:t>
            </a:r>
            <a:r>
              <a:rPr sz="2400" b="0" kern="1200">
                <a:solidFill>
                  <a:srgbClr val="00B05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 */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	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for (j = 1; j &lt;= i; j++)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   	item =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item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* j;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sum = 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sum</a:t>
            </a: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+ item;  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4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}</a:t>
            </a:r>
            <a:endParaRPr sz="24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157700" name="Rectangle 4"/>
          <p:cNvSpPr/>
          <p:nvPr/>
        </p:nvSpPr>
        <p:spPr>
          <a:xfrm>
            <a:off x="107950" y="606425"/>
            <a:ext cx="43465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求1! + 2! + …. + 100!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57701" name="Rectangle 5"/>
          <p:cNvSpPr/>
          <p:nvPr/>
        </p:nvSpPr>
        <p:spPr>
          <a:xfrm>
            <a:off x="3941763" y="3473450"/>
            <a:ext cx="4992687" cy="2598738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Autofit/>
          </a:bodyPr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solidFill>
                  <a:srgbClr val="FF0000"/>
                </a:solidFill>
                <a:sym typeface="+mn-ea"/>
              </a:rPr>
              <a:t>item = 1</a:t>
            </a:r>
            <a:r>
              <a:rPr sz="2400">
                <a:solidFill>
                  <a:srgbClr val="FF0000"/>
                </a:solidFill>
                <a:sym typeface="+mn-ea"/>
              </a:rPr>
              <a:t>;</a:t>
            </a:r>
            <a:endParaRPr sz="2400">
              <a:solidFill>
                <a:srgbClr val="FF0000"/>
              </a:solidFill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sym typeface="+mn-ea"/>
              </a:rPr>
              <a:t>for(i</a:t>
            </a:r>
            <a:r>
              <a:rPr sz="2400">
                <a:sym typeface="+mn-ea"/>
              </a:rPr>
              <a:t> = 1; i &lt;= 100; i++){</a:t>
            </a:r>
            <a:endParaRPr sz="24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sym typeface="+mn-ea"/>
              </a:rPr>
              <a:t>      for (j = 1; j &lt;= i; j++)</a:t>
            </a:r>
            <a:endParaRPr sz="24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sym typeface="+mn-ea"/>
              </a:rPr>
              <a:t>         item = </a:t>
            </a:r>
            <a:r>
              <a:rPr sz="2400">
                <a:sym typeface="+mn-ea"/>
              </a:rPr>
              <a:t>item</a:t>
            </a:r>
            <a:r>
              <a:rPr sz="2400">
                <a:sym typeface="+mn-ea"/>
              </a:rPr>
              <a:t> * j;</a:t>
            </a:r>
            <a:endParaRPr sz="24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sym typeface="+mn-ea"/>
              </a:rPr>
              <a:t>      sum = </a:t>
            </a:r>
            <a:r>
              <a:rPr sz="2400">
                <a:sym typeface="+mn-ea"/>
              </a:rPr>
              <a:t>sum</a:t>
            </a:r>
            <a:r>
              <a:rPr sz="2400">
                <a:sym typeface="+mn-ea"/>
              </a:rPr>
              <a:t> + item; </a:t>
            </a:r>
            <a:endParaRPr sz="24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sym typeface="+mn-ea"/>
              </a:rPr>
              <a:t>}</a:t>
            </a:r>
            <a:endParaRPr sz="2400">
              <a:sym typeface="+mn-ea"/>
            </a:endParaRPr>
          </a:p>
        </p:txBody>
      </p:sp>
      <p:sp>
        <p:nvSpPr>
          <p:cNvPr id="157702" name="Rectangle 6"/>
          <p:cNvSpPr/>
          <p:nvPr/>
        </p:nvSpPr>
        <p:spPr>
          <a:xfrm>
            <a:off x="1565275" y="6091238"/>
            <a:ext cx="7475538" cy="522287"/>
          </a:xfrm>
          <a:prstGeom prst="rect">
            <a:avLst/>
          </a:prstGeom>
          <a:noFill/>
          <a:ln w="9525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求1! + 1!*2! + …… + 1!*2!*……*100! </a:t>
            </a:r>
            <a:endParaRPr lang="zh-CN" altLang="en-US" sz="28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1" grpId="0" bldLvl="0" animBg="1"/>
      <p:bldP spid="157702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6936105" cy="756285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342900" lvl="0" indent="-342900" algn="just" defTabSz="9144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 kern="12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分析嵌套循环的执行过程</a:t>
            </a:r>
            <a:endParaRPr lang="en-US" altLang="zh-CN" sz="3555" b="0" kern="12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533400" y="1295400"/>
            <a:ext cx="5994400" cy="3581400"/>
          </a:xfrm>
          <a:noFill/>
          <a:ln w="28575" cmpd="sng">
            <a:noFill/>
            <a:prstDash val="solid"/>
          </a:ln>
        </p:spPr>
        <p:txBody>
          <a:bodyPr vert="horz" wrap="square" lIns="91440" tIns="45720" rIns="91440" bIns="45720" rtlCol="0" anchor="t" anchorCtr="0">
            <a:noAutofit/>
          </a:bodyPr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for(i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= 1; i &lt;= 100; i++) {   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item = 1;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     	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for (j = 1; j &lt;= i; j++)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   	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item =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item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* j;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sum = 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sum</a:t>
            </a: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+ item;  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2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}</a:t>
            </a:r>
            <a:endParaRPr sz="2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136196" name="Rectangle 4"/>
          <p:cNvSpPr/>
          <p:nvPr/>
        </p:nvSpPr>
        <p:spPr>
          <a:xfrm>
            <a:off x="3419475" y="4149725"/>
            <a:ext cx="5029200" cy="1954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外层循环变量 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i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的每个值</a:t>
            </a:r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内层循环变量 </a:t>
            </a:r>
            <a:r>
              <a:rPr lang="en-US" altLang="zh-CN" sz="2400">
                <a:solidFill>
                  <a:schemeClr val="bg2"/>
                </a:solidFill>
                <a:latin typeface="Arial" panose="02080604020202020204" pitchFamily="34" charset="0"/>
              </a:rPr>
              <a:t>j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变化一个轮次；</a:t>
            </a:r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内外层循环变量不能相同</a:t>
            </a:r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分别用 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i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和 </a:t>
            </a:r>
            <a:r>
              <a:rPr lang="en-US" altLang="zh-CN" sz="2400">
                <a:solidFill>
                  <a:schemeClr val="bg2"/>
                </a:solidFill>
                <a:latin typeface="Arial" panose="02080604020202020204" pitchFamily="34" charset="0"/>
              </a:rPr>
              <a:t>j</a:t>
            </a:r>
            <a:endParaRPr lang="zh-CN" altLang="en-US" sz="2400" dirty="0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  <p:sp>
        <p:nvSpPr>
          <p:cNvPr id="29701" name="Freeform 5"/>
          <p:cNvSpPr/>
          <p:nvPr/>
        </p:nvSpPr>
        <p:spPr>
          <a:xfrm>
            <a:off x="6011863" y="1557338"/>
            <a:ext cx="650875" cy="20970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41959" y="0"/>
              </a:cxn>
              <a:cxn ang="0">
                <a:pos x="650875" y="3014662"/>
              </a:cxn>
              <a:cxn ang="0">
                <a:pos x="222902" y="3014662"/>
              </a:cxn>
            </a:cxnLst>
            <a:pathLst>
              <a:path w="146" h="526">
                <a:moveTo>
                  <a:pt x="0" y="0"/>
                </a:moveTo>
                <a:cubicBezTo>
                  <a:pt x="48" y="0"/>
                  <a:pt x="96" y="0"/>
                  <a:pt x="144" y="0"/>
                </a:cubicBezTo>
                <a:lnTo>
                  <a:pt x="146" y="526"/>
                </a:lnTo>
                <a:lnTo>
                  <a:pt x="50" y="526"/>
                </a:lnTo>
              </a:path>
            </a:pathLst>
          </a:custGeom>
          <a:noFill/>
          <a:ln w="38100" cap="flat" cmpd="sng">
            <a:solidFill>
              <a:srgbClr val="CC0066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702" name="Freeform 7"/>
          <p:cNvSpPr/>
          <p:nvPr/>
        </p:nvSpPr>
        <p:spPr>
          <a:xfrm>
            <a:off x="5508625" y="2565400"/>
            <a:ext cx="398463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93004" y="0"/>
              </a:cxn>
              <a:cxn ang="0">
                <a:pos x="398462" y="876300"/>
              </a:cxn>
              <a:cxn ang="0">
                <a:pos x="136460" y="876300"/>
              </a:cxn>
            </a:cxnLst>
            <a:pathLst>
              <a:path w="146" h="526">
                <a:moveTo>
                  <a:pt x="0" y="0"/>
                </a:moveTo>
                <a:cubicBezTo>
                  <a:pt x="48" y="0"/>
                  <a:pt x="96" y="0"/>
                  <a:pt x="144" y="0"/>
                </a:cubicBezTo>
                <a:lnTo>
                  <a:pt x="146" y="526"/>
                </a:lnTo>
                <a:lnTo>
                  <a:pt x="50" y="526"/>
                </a:lnTo>
              </a:path>
            </a:pathLst>
          </a:custGeom>
          <a:noFill/>
          <a:ln w="254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3" name="Text Box 3"/>
          <p:cNvSpPr/>
          <p:nvPr/>
        </p:nvSpPr>
        <p:spPr>
          <a:xfrm>
            <a:off x="1143000" y="533400"/>
            <a:ext cx="6019800" cy="167386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Autofit/>
          </a:bodyPr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800">
                <a:sym typeface="+mn-ea"/>
              </a:rPr>
              <a:t>for (i = 1; i &lt;= 100; i++)</a:t>
            </a:r>
            <a:endParaRPr sz="28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800">
                <a:sym typeface="+mn-ea"/>
              </a:rPr>
              <a:t>    for (j = 1; j &lt;= i; j++)		</a:t>
            </a:r>
            <a:endParaRPr sz="2800">
              <a:sym typeface="+mn-ea"/>
            </a:endParaRPr>
          </a:p>
          <a:p>
            <a:pPr marL="187325" lvl="0" indent="-187325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800">
                <a:sym typeface="+mn-ea"/>
              </a:rPr>
              <a:t>        </a:t>
            </a:r>
            <a:r>
              <a:rPr sz="2800">
                <a:sym typeface="+mn-ea"/>
              </a:rPr>
              <a:t>printf</a:t>
            </a:r>
            <a:r>
              <a:rPr sz="2800">
                <a:sym typeface="+mn-ea"/>
              </a:rPr>
              <a:t> ("%d %</a:t>
            </a:r>
            <a:r>
              <a:rPr sz="2800">
                <a:sym typeface="+mn-ea"/>
              </a:rPr>
              <a:t>d\n</a:t>
            </a:r>
            <a:r>
              <a:rPr sz="2800">
                <a:sym typeface="+mn-ea"/>
              </a:rPr>
              <a:t>", i, j );</a:t>
            </a:r>
            <a:endParaRPr sz="28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5650" y="2708910"/>
            <a:ext cx="7211695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i = 1	j = 1	输出 1  1 （第1次输出）</a:t>
            </a:r>
            <a:endParaRPr lang="zh-CN" altLang="en-US" sz="2000"/>
          </a:p>
          <a:p>
            <a:r>
              <a:rPr lang="zh-CN" altLang="en-US" sz="2000"/>
              <a:t>i = 2</a:t>
            </a:r>
            <a:endParaRPr lang="zh-CN" altLang="en-US" sz="2000"/>
          </a:p>
          <a:p>
            <a:r>
              <a:rPr lang="zh-CN" altLang="en-US" sz="2000"/>
              <a:t>	j = 1	输出 2  1 （第2次输出）</a:t>
            </a:r>
            <a:endParaRPr lang="zh-CN" altLang="en-US" sz="2000"/>
          </a:p>
          <a:p>
            <a:r>
              <a:rPr lang="zh-CN" altLang="en-US" sz="2000"/>
              <a:t>	j = 2	输出 2  2 （第3次输出）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…………</a:t>
            </a:r>
            <a:endParaRPr lang="zh-CN" altLang="en-US" sz="2000"/>
          </a:p>
          <a:p>
            <a:r>
              <a:rPr lang="zh-CN" altLang="en-US" sz="2000"/>
              <a:t>i = 100</a:t>
            </a:r>
            <a:endParaRPr lang="zh-CN" altLang="en-US" sz="2000"/>
          </a:p>
          <a:p>
            <a:r>
              <a:rPr lang="zh-CN" altLang="en-US" sz="2000"/>
              <a:t>	j = 1	输出 100  1 （第4951次输出）</a:t>
            </a:r>
            <a:endParaRPr lang="zh-CN" altLang="en-US" sz="2000"/>
          </a:p>
          <a:p>
            <a:r>
              <a:rPr lang="zh-CN" altLang="en-US" sz="2000"/>
              <a:t>	j = 2	输出 100  2 （第4952次输出）</a:t>
            </a:r>
            <a:endParaRPr lang="zh-CN" altLang="en-US" sz="2000"/>
          </a:p>
          <a:p>
            <a:r>
              <a:rPr lang="zh-CN" altLang="en-US" sz="2000"/>
              <a:t>	……	</a:t>
            </a:r>
            <a:endParaRPr lang="zh-CN" altLang="en-US" sz="2000"/>
          </a:p>
          <a:p>
            <a:r>
              <a:rPr lang="zh-CN" altLang="en-US" sz="2000"/>
              <a:t>	j = 100	输出 100  100 （第5050次输出）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3"/>
          <p:cNvSpPr>
            <a:spLocks noGrp="1"/>
          </p:cNvSpPr>
          <p:nvPr>
            <p:ph idx="1"/>
          </p:nvPr>
        </p:nvSpPr>
        <p:spPr>
          <a:xfrm>
            <a:off x="253365" y="334645"/>
            <a:ext cx="8754745" cy="632206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noAutofit/>
          </a:bodyPr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#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include &lt;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stdio.h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&gt;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double fact (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n); 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main(void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)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{	 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i;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double sum;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 sum = 0;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for(i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= 1; i &lt;= 100; i++ )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     sum = 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sum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+</a:t>
            </a:r>
            <a:r>
              <a:rPr sz="1800" b="0" kern="1200">
                <a:solidFill>
                  <a:srgbClr val="FF000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 </a:t>
            </a:r>
            <a:r>
              <a:rPr sz="1800" b="0" kern="1200">
                <a:solidFill>
                  <a:srgbClr val="FF000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fact (i)</a:t>
            </a:r>
            <a:r>
              <a:rPr sz="1800" b="0" kern="1200">
                <a:solidFill>
                  <a:srgbClr val="FF0000"/>
                </a:solidFill>
                <a:latin typeface="Arial" panose="02080604020202020204" pitchFamily="34" charset="0"/>
                <a:ea typeface="宋体" pitchFamily="2" charset="-122"/>
                <a:sym typeface="+mn-ea"/>
              </a:rPr>
              <a:t>;</a:t>
            </a:r>
            <a:endParaRPr sz="1800" b="0" kern="1200">
              <a:solidFill>
                <a:srgbClr val="FF0000"/>
              </a:solidFill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printf("1! + 2! + 3! + … + 100! = %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e\n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", sum);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 return 0;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}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double fact (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n)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{   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int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i;			 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double result = 1; 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for (i = 1; i &lt;= n; i++)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	     result = 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result</a:t>
            </a: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* i ;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    return  result ; 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  <a:p>
            <a:pPr marL="187325" lvl="0" indent="-187325" algn="just" eaLnBrk="1" hangingPunct="1">
              <a:buNone/>
            </a:pPr>
            <a:r>
              <a:rPr sz="1800" b="0" kern="1200">
                <a:latin typeface="Arial" panose="02080604020202020204" pitchFamily="34" charset="0"/>
                <a:ea typeface="宋体" pitchFamily="2" charset="-122"/>
                <a:sym typeface="+mn-ea"/>
              </a:rPr>
              <a:t>}</a:t>
            </a:r>
            <a:endParaRPr sz="1800" b="0" kern="1200">
              <a:latin typeface="Arial" panose="02080604020202020204" pitchFamily="34" charset="0"/>
              <a:ea typeface="宋体" pitchFamily="2" charset="-122"/>
              <a:sym typeface="+mn-ea"/>
            </a:endParaRPr>
          </a:p>
        </p:txBody>
      </p:sp>
      <p:sp>
        <p:nvSpPr>
          <p:cNvPr id="24578" name="Rectangle 2"/>
          <p:cNvSpPr>
            <a:spLocks noGrp="1"/>
          </p:cNvSpPr>
          <p:nvPr/>
        </p:nvSpPr>
        <p:spPr>
          <a:xfrm>
            <a:off x="3851910" y="621030"/>
            <a:ext cx="4262120" cy="6273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 fontScale="9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342900" lvl="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3555" b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求1! + 2! + …. + 100!</a:t>
            </a:r>
            <a:endParaRPr lang="en-US" altLang="zh-CN" sz="3555" b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53590" y="1248410"/>
            <a:ext cx="68459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algn="l"/>
            <a:r>
              <a:rPr lang="zh-CN" sz="3200">
                <a:sym typeface="+mn-ea"/>
              </a:rPr>
              <a:t>（</a:t>
            </a:r>
            <a:r>
              <a:rPr lang="en-US" altLang="zh-CN" sz="3200">
                <a:sym typeface="+mn-ea"/>
              </a:rPr>
              <a:t>2</a:t>
            </a:r>
            <a:r>
              <a:rPr lang="zh-CN" sz="3200">
                <a:sym typeface="+mn-ea"/>
              </a:rPr>
              <a:t>）</a:t>
            </a:r>
            <a:r>
              <a:rPr sz="3200">
                <a:sym typeface="+mn-ea"/>
              </a:rPr>
              <a:t>调用函数 fact(i) 计算 i 的阶乘</a:t>
            </a:r>
            <a:endParaRPr lang="zh-CN" altLang="en-US" sz="3200"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899795" y="1628775"/>
            <a:ext cx="6151245" cy="3241675"/>
          </a:xfrm>
          <a:noFill/>
          <a:ln w="9525">
            <a:noFill/>
          </a:ln>
        </p:spPr>
        <p:txBody>
          <a:bodyPr vert="horz" wrap="square" lIns="91440" tIns="45720" rIns="91440" bIns="45720" rtlCol="0" anchor="b" anchorCtr="0">
            <a:normAutofit lnSpcReduction="20000"/>
          </a:bodyPr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while循环</a:t>
            </a:r>
            <a:endParaRPr lang="zh-CN" altLang="en-US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2. do-while循环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3. break 和 continue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4. 循环嵌套</a:t>
            </a:r>
            <a:endParaRPr lang="en-US" altLang="zh-CN" sz="4000" b="0" dirty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5. 循环结构程序设计</a:t>
            </a:r>
            <a:endParaRPr lang="en-US" altLang="zh-CN" sz="4000" b="0" dirty="0">
              <a:solidFill>
                <a:srgbClr val="FF0000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9" name="Rectangle 1027"/>
          <p:cNvSpPr>
            <a:spLocks noGrp="1"/>
          </p:cNvSpPr>
          <p:nvPr>
            <p:ph idx="1"/>
          </p:nvPr>
        </p:nvSpPr>
        <p:spPr>
          <a:xfrm>
            <a:off x="323850" y="981075"/>
            <a:ext cx="8229600" cy="4724400"/>
          </a:xfrm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b="0" dirty="0"/>
              <a:t>循环程序的实现要点：</a:t>
            </a:r>
            <a:endParaRPr lang="zh-CN" altLang="en-US" b="0" dirty="0"/>
          </a:p>
          <a:p>
            <a:pPr lvl="1" algn="just" eaLnBrk="1" hangingPunct="1"/>
            <a:r>
              <a:rPr lang="zh-CN" altLang="en-US" b="0" dirty="0">
                <a:latin typeface="宋体" pitchFamily="2" charset="-122"/>
              </a:rPr>
              <a:t>归纳出</a:t>
            </a:r>
            <a:r>
              <a:rPr lang="zh-CN" altLang="en-US" b="0" dirty="0"/>
              <a:t>哪些操作需要反复执行？</a:t>
            </a:r>
            <a:r>
              <a:rPr lang="zh-CN" altLang="en-US" b="0" dirty="0">
                <a:latin typeface="宋体" pitchFamily="2" charset="-122"/>
              </a:rPr>
              <a:t> </a:t>
            </a:r>
            <a:r>
              <a:rPr lang="zh-CN" altLang="en-US" b="0" dirty="0">
                <a:solidFill>
                  <a:schemeClr val="bg2"/>
                </a:solidFill>
              </a:rPr>
              <a:t>循环体</a:t>
            </a:r>
            <a:endParaRPr lang="zh-CN" altLang="en-US" b="0" dirty="0">
              <a:solidFill>
                <a:schemeClr val="bg2"/>
              </a:solidFill>
            </a:endParaRPr>
          </a:p>
          <a:p>
            <a:pPr lvl="1" algn="just" eaLnBrk="1" hangingPunct="1"/>
            <a:r>
              <a:rPr lang="zh-CN" altLang="en-US" b="0" dirty="0"/>
              <a:t>这些操作在什么情况下重复执行</a:t>
            </a:r>
            <a:r>
              <a:rPr lang="zh-CN" altLang="en-US" b="0" dirty="0">
                <a:latin typeface="宋体" pitchFamily="2" charset="-122"/>
              </a:rPr>
              <a:t>？</a:t>
            </a:r>
            <a:r>
              <a:rPr lang="zh-CN" altLang="en-US" b="0" dirty="0"/>
              <a:t> </a:t>
            </a:r>
            <a:r>
              <a:rPr lang="zh-CN" altLang="en-US" b="0" dirty="0">
                <a:solidFill>
                  <a:srgbClr val="CC0066"/>
                </a:solidFill>
              </a:rPr>
              <a:t>循环条件</a:t>
            </a:r>
            <a:endParaRPr lang="zh-CN" altLang="en-US" b="0" dirty="0">
              <a:solidFill>
                <a:srgbClr val="CC0066"/>
              </a:solidFill>
            </a:endParaRPr>
          </a:p>
          <a:p>
            <a:pPr algn="just" eaLnBrk="1" hangingPunct="1"/>
            <a:r>
              <a:rPr lang="zh-CN" altLang="en-US" b="0" dirty="0"/>
              <a:t>选用合适的循环语句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en-US" altLang="zh-CN" b="0"/>
              <a:t>for  while   do-while</a:t>
            </a:r>
            <a:endParaRPr lang="zh-CN" altLang="en-US" b="0" dirty="0"/>
          </a:p>
          <a:p>
            <a:pPr algn="just" eaLnBrk="1" hangingPunct="1"/>
            <a:r>
              <a:rPr lang="zh-CN" altLang="en-US" b="0" dirty="0">
                <a:latin typeface="宋体" pitchFamily="2" charset="-122"/>
              </a:rPr>
              <a:t>循环具体实现时考虑（循环条件）：</a:t>
            </a:r>
            <a:endParaRPr lang="zh-CN" altLang="en-US" b="0" dirty="0">
              <a:latin typeface="宋体" pitchFamily="2" charset="-122"/>
            </a:endParaRPr>
          </a:p>
          <a:p>
            <a:pPr lvl="1" algn="just" eaLnBrk="1" hangingPunct="1"/>
            <a:r>
              <a:rPr lang="zh-CN" altLang="en-US" b="0" dirty="0">
                <a:latin typeface="宋体" pitchFamily="2" charset="-122"/>
              </a:rPr>
              <a:t>事先给定循环次数，首选</a:t>
            </a:r>
            <a:r>
              <a:rPr lang="en-US" altLang="zh-CN" b="0"/>
              <a:t>for</a:t>
            </a:r>
            <a:endParaRPr lang="zh-CN" altLang="en-US" b="0" dirty="0">
              <a:latin typeface="宋体" pitchFamily="2" charset="-122"/>
            </a:endParaRPr>
          </a:p>
          <a:p>
            <a:pPr lvl="1" algn="just" eaLnBrk="1" hangingPunct="1"/>
            <a:r>
              <a:rPr lang="zh-CN" altLang="en-US" b="0" dirty="0"/>
              <a:t>通过其他条件控制循环，考虑</a:t>
            </a:r>
            <a:r>
              <a:rPr lang="en-US" altLang="zh-CN" b="0"/>
              <a:t>while</a:t>
            </a:r>
            <a:r>
              <a:rPr lang="zh-CN" altLang="en-US" b="0" dirty="0"/>
              <a:t>或</a:t>
            </a:r>
            <a:r>
              <a:rPr lang="en-US" altLang="zh-CN" b="0"/>
              <a:t>do-while</a:t>
            </a:r>
            <a:endParaRPr lang="zh-CN" altLang="zh-CN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1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59">
                                            <p:txEl>
                                              <p:charRg st="1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59">
                                            <p:txEl>
                                              <p:charRg st="1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3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659">
                                            <p:txEl>
                                              <p:charRg st="3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659">
                                            <p:txEl>
                                              <p:charRg st="3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51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0659">
                                            <p:txEl>
                                              <p:charRg st="51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0659">
                                            <p:txEl>
                                              <p:charRg st="51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61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659">
                                            <p:txEl>
                                              <p:charRg st="61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659">
                                            <p:txEl>
                                              <p:charRg st="61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8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59">
                                            <p:txEl>
                                              <p:charRg st="8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59">
                                            <p:txEl>
                                              <p:charRg st="8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100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0659">
                                            <p:txEl>
                                              <p:charRg st="100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0659">
                                            <p:txEl>
                                              <p:charRg st="100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115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0659">
                                            <p:txEl>
                                              <p:charRg st="115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0659">
                                            <p:txEl>
                                              <p:charRg st="115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idx="1"/>
          </p:nvPr>
        </p:nvSpPr>
        <p:spPr>
          <a:xfrm>
            <a:off x="381000" y="1093788"/>
            <a:ext cx="7791450" cy="5503862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80000"/>
              </a:lnSpc>
              <a:buNone/>
            </a:pPr>
            <a:r>
              <a:rPr lang="zh-CN" altLang="en-US" sz="2000" dirty="0"/>
              <a:t>#</a:t>
            </a:r>
            <a:r>
              <a:rPr lang="en-US" altLang="zh-CN" sz="2000"/>
              <a:t>include &lt;</a:t>
            </a:r>
            <a:r>
              <a:rPr lang="en-US" altLang="zh-CN" sz="2000" err="1"/>
              <a:t>stdio.h</a:t>
            </a:r>
            <a:r>
              <a:rPr lang="en-US" altLang="zh-CN" sz="2000"/>
              <a:t>&gt;</a:t>
            </a:r>
            <a:endParaRPr lang="en-US" altLang="zh-CN" sz="200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000" err="1"/>
              <a:t>int</a:t>
            </a:r>
            <a:r>
              <a:rPr lang="en-US" altLang="zh-CN" sz="2000"/>
              <a:t> </a:t>
            </a:r>
            <a:r>
              <a:rPr lang="en-US" altLang="zh-CN" sz="2000" err="1"/>
              <a:t>main(void</a:t>
            </a:r>
            <a:r>
              <a:rPr lang="en-US" altLang="zh-CN" sz="2000"/>
              <a:t>)</a:t>
            </a:r>
            <a:endParaRPr lang="en-US" altLang="zh-CN" sz="200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000"/>
              <a:t>{  </a:t>
            </a:r>
            <a:endParaRPr lang="en-US" altLang="zh-CN" sz="200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000"/>
              <a:t>    </a:t>
            </a:r>
            <a:r>
              <a:rPr lang="en-US" altLang="zh-CN" sz="2000" err="1"/>
              <a:t>int</a:t>
            </a:r>
            <a:r>
              <a:rPr lang="en-US" altLang="zh-CN" sz="2000"/>
              <a:t> i, mark, max, n;  </a:t>
            </a:r>
            <a:endParaRPr lang="zh-CN" altLang="en-US" sz="2000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zh-CN" altLang="zh-CN" sz="2000" dirty="0"/>
              <a:t>    </a:t>
            </a:r>
            <a:r>
              <a:rPr lang="en-US" altLang="zh-CN" sz="2000" err="1"/>
              <a:t>printf("Enter</a:t>
            </a:r>
            <a:r>
              <a:rPr lang="en-US" altLang="zh-CN" sz="2000"/>
              <a:t> n: "); </a:t>
            </a:r>
            <a:r>
              <a:rPr lang="zh-CN" altLang="en-US" sz="2000" dirty="0"/>
              <a:t>   </a:t>
            </a:r>
            <a:r>
              <a:rPr lang="en-US" altLang="zh-CN" sz="2000" err="1"/>
              <a:t>scanf</a:t>
            </a:r>
            <a:r>
              <a:rPr lang="en-US" altLang="zh-CN" sz="2000"/>
              <a:t> ("%d", &amp;n); </a:t>
            </a:r>
            <a:endParaRPr lang="zh-CN" altLang="en-US" sz="2000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000"/>
              <a:t>    </a:t>
            </a:r>
            <a:r>
              <a:rPr lang="en-US" altLang="zh-CN" sz="2000" err="1"/>
              <a:t>printf("Enter</a:t>
            </a:r>
            <a:r>
              <a:rPr lang="en-US" altLang="zh-CN" sz="2000"/>
              <a:t> %d marks: ", n);</a:t>
            </a:r>
            <a:endParaRPr lang="en-US" altLang="zh-CN" sz="200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000"/>
              <a:t>    </a:t>
            </a:r>
            <a:r>
              <a:rPr lang="en-US" altLang="zh-CN" sz="2000" err="1"/>
              <a:t>scanf</a:t>
            </a:r>
            <a:r>
              <a:rPr lang="en-US" altLang="zh-CN" sz="2000"/>
              <a:t> ("%d", &amp;mark);   	         /* </a:t>
            </a:r>
            <a:r>
              <a:rPr lang="zh-CN" altLang="en-US" sz="2000" dirty="0"/>
              <a:t>读入第一个成绩 */</a:t>
            </a:r>
            <a:endParaRPr lang="zh-CN" altLang="en-US" sz="2000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zh-CN" altLang="en-US" sz="2000" dirty="0"/>
              <a:t>    </a:t>
            </a:r>
            <a:r>
              <a:rPr lang="en-US" altLang="zh-CN" sz="2000"/>
              <a:t>max = mark;             /* </a:t>
            </a:r>
            <a:r>
              <a:rPr lang="zh-CN" altLang="en-US" sz="2000" dirty="0"/>
              <a:t>假设第一个成绩是最高分 */</a:t>
            </a:r>
            <a:endParaRPr lang="zh-CN" altLang="en-US" sz="2000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zh-CN" altLang="en-US" sz="2000" dirty="0"/>
              <a:t>    </a:t>
            </a:r>
            <a:r>
              <a:rPr lang="en-US" altLang="zh-CN" sz="2000">
                <a:solidFill>
                  <a:schemeClr val="bg2"/>
                </a:solidFill>
              </a:rPr>
              <a:t>for (i = 1; i </a:t>
            </a:r>
            <a:r>
              <a:rPr lang="en-US" altLang="zh-CN" sz="2000">
                <a:solidFill>
                  <a:srgbClr val="CC0066"/>
                </a:solidFill>
              </a:rPr>
              <a:t>&lt;</a:t>
            </a:r>
            <a:r>
              <a:rPr lang="en-US" altLang="zh-CN" sz="2000">
                <a:solidFill>
                  <a:schemeClr val="bg2"/>
                </a:solidFill>
              </a:rPr>
              <a:t> n; i++ )</a:t>
            </a:r>
            <a:r>
              <a:rPr lang="en-US" altLang="zh-CN" sz="2000"/>
              <a:t>{     </a:t>
            </a:r>
            <a:endParaRPr lang="en-US" altLang="zh-CN" sz="200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zh-CN" altLang="en-US" sz="2000" dirty="0"/>
              <a:t>        </a:t>
            </a:r>
            <a:r>
              <a:rPr lang="en-US" altLang="zh-CN" sz="2000" err="1"/>
              <a:t>scanf</a:t>
            </a:r>
            <a:r>
              <a:rPr lang="en-US" altLang="zh-CN" sz="2000"/>
              <a:t> ("%d", &amp;mark);   </a:t>
            </a:r>
            <a:endParaRPr lang="zh-CN" altLang="en-US" sz="2000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zh-CN" altLang="en-US" sz="2000" dirty="0"/>
              <a:t>        </a:t>
            </a:r>
            <a:r>
              <a:rPr lang="en-US" altLang="zh-CN" sz="2000"/>
              <a:t>if (max &lt; mark)</a:t>
            </a:r>
            <a:endParaRPr lang="zh-CN" altLang="en-US" sz="2000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zh-CN" altLang="en-US" sz="2000" dirty="0"/>
              <a:t>             </a:t>
            </a:r>
            <a:r>
              <a:rPr lang="en-US" altLang="zh-CN" sz="2000"/>
              <a:t>max = mark;</a:t>
            </a:r>
            <a:endParaRPr lang="zh-CN" altLang="en-US" sz="2000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zh-CN" altLang="en-US" sz="2000" dirty="0"/>
              <a:t>    } </a:t>
            </a:r>
            <a:endParaRPr lang="zh-CN" altLang="en-US" sz="2000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zh-CN" altLang="en-US" sz="2000" dirty="0"/>
              <a:t>    </a:t>
            </a:r>
            <a:r>
              <a:rPr lang="en-US" altLang="zh-CN" sz="2000" err="1"/>
              <a:t>printf("Max</a:t>
            </a:r>
            <a:r>
              <a:rPr lang="en-US" altLang="zh-CN" sz="2000"/>
              <a:t> = %</a:t>
            </a:r>
            <a:r>
              <a:rPr lang="en-US" altLang="zh-CN" sz="2000" err="1"/>
              <a:t>d\n</a:t>
            </a:r>
            <a:r>
              <a:rPr lang="en-US" altLang="zh-CN" sz="2000"/>
              <a:t>", max);</a:t>
            </a:r>
            <a:endParaRPr lang="en-US" altLang="zh-CN" sz="200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000"/>
              <a:t>    return 0;</a:t>
            </a:r>
            <a:endParaRPr lang="en-US" altLang="zh-CN" sz="200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000"/>
              <a:t>}</a:t>
            </a:r>
            <a:endParaRPr lang="zh-CN" altLang="en-US" sz="2000" dirty="0"/>
          </a:p>
        </p:txBody>
      </p:sp>
      <p:sp>
        <p:nvSpPr>
          <p:cNvPr id="32771" name="Rectangle 3"/>
          <p:cNvSpPr>
            <a:spLocks noGrp="1"/>
          </p:cNvSpPr>
          <p:nvPr>
            <p:ph type="title"/>
          </p:nvPr>
        </p:nvSpPr>
        <p:spPr>
          <a:xfrm>
            <a:off x="179388" y="363538"/>
            <a:ext cx="8231187" cy="762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/>
              <a:t>例4-7 输入一批学生的成绩，求最高分(</a:t>
            </a:r>
            <a:r>
              <a:rPr lang="en-US" altLang="zh-CN" sz="3200"/>
              <a:t>for)</a:t>
            </a:r>
            <a:endParaRPr lang="en-US" altLang="zh-CN" sz="3200"/>
          </a:p>
        </p:txBody>
      </p:sp>
      <p:grpSp>
        <p:nvGrpSpPr>
          <p:cNvPr id="2" name="Group 11"/>
          <p:cNvGrpSpPr/>
          <p:nvPr/>
        </p:nvGrpSpPr>
        <p:grpSpPr>
          <a:xfrm>
            <a:off x="4508500" y="4343400"/>
            <a:ext cx="2727325" cy="457200"/>
            <a:chOff x="2861" y="2736"/>
            <a:chExt cx="1589" cy="288"/>
          </a:xfrm>
        </p:grpSpPr>
        <p:sp>
          <p:nvSpPr>
            <p:cNvPr id="32773" name="Rectangle 5"/>
            <p:cNvSpPr/>
            <p:nvPr/>
          </p:nvSpPr>
          <p:spPr>
            <a:xfrm>
              <a:off x="2861" y="2736"/>
              <a:ext cx="15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marL="342900" indent="-342900" algn="just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r>
                <a:rPr lang="en-US" altLang="zh-CN" sz="2000">
                  <a:solidFill>
                    <a:schemeClr val="tx1"/>
                  </a:solidFill>
                  <a:latin typeface="Arial" panose="02080604020202020204" pitchFamily="34" charset="0"/>
                  <a:ea typeface="仿宋_GB2312" pitchFamily="49" charset="-122"/>
                </a:rPr>
                <a:t>mark            </a:t>
              </a:r>
              <a:r>
                <a:rPr lang="en-US" altLang="zh-CN" sz="2000">
                  <a:solidFill>
                    <a:schemeClr val="bg2"/>
                  </a:solidFill>
                  <a:latin typeface="Arial" panose="02080604020202020204" pitchFamily="34" charset="0"/>
                  <a:ea typeface="仿宋_GB2312" pitchFamily="49" charset="-122"/>
                </a:rPr>
                <a:t>max</a:t>
              </a:r>
              <a:endParaRPr lang="en-US" altLang="zh-CN" sz="200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32774" name="Line 6"/>
            <p:cNvSpPr/>
            <p:nvPr/>
          </p:nvSpPr>
          <p:spPr>
            <a:xfrm flipH="1">
              <a:off x="3438" y="2880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sp>
        <p:nvSpPr>
          <p:cNvPr id="158727" name="AutoShape 7"/>
          <p:cNvSpPr/>
          <p:nvPr/>
        </p:nvSpPr>
        <p:spPr>
          <a:xfrm>
            <a:off x="7010400" y="4572000"/>
            <a:ext cx="228600" cy="609600"/>
          </a:xfrm>
          <a:prstGeom prst="rightBrace">
            <a:avLst>
              <a:gd name="adj1" fmla="val 2219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158728" name="Rectangle 8"/>
          <p:cNvSpPr/>
          <p:nvPr/>
        </p:nvSpPr>
        <p:spPr>
          <a:xfrm>
            <a:off x="7300913" y="4724400"/>
            <a:ext cx="692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 altLang="zh-CN" sz="200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max</a:t>
            </a:r>
            <a:endParaRPr lang="zh-CN" altLang="en-US" sz="20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158729" name="Rectangle 9"/>
          <p:cNvSpPr/>
          <p:nvPr/>
        </p:nvSpPr>
        <p:spPr>
          <a:xfrm>
            <a:off x="6302375" y="5000625"/>
            <a:ext cx="79057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mark</a:t>
            </a:r>
            <a:endParaRPr lang="zh-CN" altLang="en-US" sz="20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58730" name="Oval 10"/>
          <p:cNvSpPr/>
          <p:nvPr/>
        </p:nvSpPr>
        <p:spPr>
          <a:xfrm>
            <a:off x="6248400" y="4038600"/>
            <a:ext cx="1828800" cy="1600200"/>
          </a:xfrm>
          <a:prstGeom prst="ellipse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158732" name="Rectangle 12"/>
          <p:cNvSpPr/>
          <p:nvPr/>
        </p:nvSpPr>
        <p:spPr>
          <a:xfrm>
            <a:off x="3938588" y="981075"/>
            <a:ext cx="4954587" cy="1198563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n: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5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  <a:ea typeface="Arial Unicode MS" pitchFamily="34" charset="-122"/>
              </a:rPr>
              <a:t>Enter 5 maks: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67 88 73 54 82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Max = 88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158733" name="Rectangle 13"/>
          <p:cNvSpPr/>
          <p:nvPr/>
        </p:nvSpPr>
        <p:spPr>
          <a:xfrm>
            <a:off x="5364163" y="5734050"/>
            <a:ext cx="2055812" cy="798513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n: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0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7" grpId="0" bldLvl="0" animBg="1"/>
      <p:bldP spid="158728" grpId="0"/>
      <p:bldP spid="158729" grpId="0"/>
      <p:bldP spid="158730" grpId="0" bldLvl="0" animBg="1"/>
      <p:bldP spid="158732" grpId="0" bldLvl="0" animBg="1"/>
      <p:bldP spid="158733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idx="1"/>
          </p:nvPr>
        </p:nvSpPr>
        <p:spPr>
          <a:xfrm>
            <a:off x="179388" y="1049338"/>
            <a:ext cx="7215187" cy="583565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dirty="0">
                <a:ea typeface="思源黑体 CN Normal" panose="020B0500000000000000" charset="-122"/>
              </a:rPr>
              <a:t>#</a:t>
            </a:r>
            <a:r>
              <a:rPr lang="en-US" altLang="zh-CN" sz="2000">
                <a:ea typeface="思源黑体 CN Normal" panose="020B0500000000000000" charset="-122"/>
              </a:rPr>
              <a:t>include &lt;</a:t>
            </a:r>
            <a:r>
              <a:rPr lang="en-US" altLang="zh-CN" sz="2000" err="1">
                <a:ea typeface="思源黑体 CN Normal" panose="020B0500000000000000" charset="-122"/>
              </a:rPr>
              <a:t>stdio.h</a:t>
            </a:r>
            <a:r>
              <a:rPr lang="en-US" altLang="zh-CN" sz="2000">
                <a:ea typeface="思源黑体 CN Normal" panose="020B0500000000000000" charset="-122"/>
              </a:rPr>
              <a:t>&gt;</a:t>
            </a:r>
            <a:endParaRPr lang="en-US" altLang="zh-CN" sz="200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 err="1">
                <a:ea typeface="思源黑体 CN Normal" panose="020B0500000000000000" charset="-122"/>
              </a:rPr>
              <a:t>int</a:t>
            </a:r>
            <a:r>
              <a:rPr lang="en-US" altLang="zh-CN" sz="2000">
                <a:ea typeface="思源黑体 CN Normal" panose="020B0500000000000000" charset="-122"/>
              </a:rPr>
              <a:t> </a:t>
            </a:r>
            <a:r>
              <a:rPr lang="en-US" altLang="zh-CN" sz="2000" err="1">
                <a:ea typeface="思源黑体 CN Normal" panose="020B0500000000000000" charset="-122"/>
              </a:rPr>
              <a:t>main(void</a:t>
            </a:r>
            <a:r>
              <a:rPr lang="en-US" altLang="zh-CN" sz="2000">
                <a:ea typeface="思源黑体 CN Normal" panose="020B0500000000000000" charset="-122"/>
              </a:rPr>
              <a:t>)</a:t>
            </a:r>
            <a:endParaRPr lang="en-US" altLang="zh-CN" sz="200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>
                <a:ea typeface="思源黑体 CN Normal" panose="020B0500000000000000" charset="-122"/>
              </a:rPr>
              <a:t>{   </a:t>
            </a:r>
            <a:r>
              <a:rPr lang="en-US" altLang="zh-CN" sz="2000" err="1">
                <a:ea typeface="思源黑体 CN Normal" panose="020B0500000000000000" charset="-122"/>
              </a:rPr>
              <a:t>int</a:t>
            </a:r>
            <a:r>
              <a:rPr lang="en-US" altLang="zh-CN" sz="2000">
                <a:ea typeface="思源黑体 CN Normal" panose="020B0500000000000000" charset="-122"/>
              </a:rPr>
              <a:t> mark, max; </a:t>
            </a:r>
            <a:endParaRPr lang="en-US" altLang="zh-CN" sz="200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>
                <a:ea typeface="思源黑体 CN Normal" panose="020B0500000000000000" charset="-122"/>
              </a:rPr>
              <a:t>    </a:t>
            </a:r>
            <a:r>
              <a:rPr lang="en-US" altLang="zh-CN" sz="2000" err="1">
                <a:ea typeface="思源黑体 CN Normal" panose="020B0500000000000000" charset="-122"/>
              </a:rPr>
              <a:t>printf(“Enter</a:t>
            </a:r>
            <a:r>
              <a:rPr lang="en-US" altLang="zh-CN" sz="2000">
                <a:ea typeface="思源黑体 CN Normal" panose="020B0500000000000000" charset="-122"/>
              </a:rPr>
              <a:t> marks:"); </a:t>
            </a:r>
            <a:endParaRPr lang="zh-CN" altLang="en-US" sz="2000" dirty="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>
                <a:ea typeface="思源黑体 CN Normal" panose="020B0500000000000000" charset="-122"/>
              </a:rPr>
              <a:t>    </a:t>
            </a:r>
            <a:r>
              <a:rPr lang="en-US" altLang="zh-CN" sz="2000" err="1">
                <a:ea typeface="思源黑体 CN Normal" panose="020B0500000000000000" charset="-122"/>
              </a:rPr>
              <a:t>scanf</a:t>
            </a:r>
            <a:r>
              <a:rPr lang="en-US" altLang="zh-CN" sz="2000">
                <a:ea typeface="思源黑体 CN Normal" panose="020B0500000000000000" charset="-122"/>
              </a:rPr>
              <a:t> ("%d", &amp;mark);   /* </a:t>
            </a:r>
            <a:r>
              <a:rPr lang="zh-CN" altLang="en-US" sz="2000" dirty="0">
                <a:ea typeface="思源黑体 CN Normal" panose="020B0500000000000000" charset="-122"/>
              </a:rPr>
              <a:t>读入第一个成绩 */</a:t>
            </a:r>
            <a:endParaRPr lang="zh-CN" altLang="en-US" sz="2000" dirty="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dirty="0">
                <a:ea typeface="思源黑体 CN Normal" panose="020B0500000000000000" charset="-122"/>
              </a:rPr>
              <a:t>    </a:t>
            </a:r>
            <a:r>
              <a:rPr lang="en-US" altLang="zh-CN" sz="2000">
                <a:ea typeface="思源黑体 CN Normal" panose="020B0500000000000000" charset="-122"/>
              </a:rPr>
              <a:t>max = mark;          /* </a:t>
            </a:r>
            <a:r>
              <a:rPr lang="zh-CN" altLang="en-US" sz="2000" dirty="0">
                <a:ea typeface="思源黑体 CN Normal" panose="020B0500000000000000" charset="-122"/>
              </a:rPr>
              <a:t>假设第一个成绩最高分 */</a:t>
            </a:r>
            <a:endParaRPr lang="zh-CN" altLang="en-US" sz="2000" dirty="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>
                <a:solidFill>
                  <a:srgbClr val="FF0000"/>
                </a:solidFill>
                <a:ea typeface="思源黑体 CN Normal" panose="020B0500000000000000" charset="-122"/>
              </a:rPr>
              <a:t>    </a:t>
            </a:r>
            <a:r>
              <a:rPr lang="en-US" altLang="zh-CN" sz="2000">
                <a:solidFill>
                  <a:schemeClr val="bg2"/>
                </a:solidFill>
                <a:ea typeface="思源黑体 CN Normal" panose="020B0500000000000000" charset="-122"/>
              </a:rPr>
              <a:t>while (</a:t>
            </a:r>
            <a:r>
              <a:rPr lang="en-US" altLang="zh-CN" sz="2000">
                <a:solidFill>
                  <a:srgbClr val="CC0066"/>
                </a:solidFill>
                <a:ea typeface="思源黑体 CN Normal" panose="020B0500000000000000" charset="-122"/>
              </a:rPr>
              <a:t>mark &gt;= 0</a:t>
            </a:r>
            <a:r>
              <a:rPr lang="en-US" altLang="zh-CN" sz="2000">
                <a:solidFill>
                  <a:schemeClr val="bg2"/>
                </a:solidFill>
                <a:ea typeface="思源黑体 CN Normal" panose="020B0500000000000000" charset="-122"/>
              </a:rPr>
              <a:t>)</a:t>
            </a:r>
            <a:r>
              <a:rPr lang="en-US" altLang="zh-CN" sz="2000">
                <a:ea typeface="思源黑体 CN Normal" panose="020B0500000000000000" charset="-122"/>
              </a:rPr>
              <a:t>{</a:t>
            </a:r>
            <a:endParaRPr lang="en-US" altLang="zh-CN" sz="200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>
                <a:ea typeface="思源黑体 CN Normal" panose="020B0500000000000000" charset="-122"/>
              </a:rPr>
              <a:t>        </a:t>
            </a:r>
            <a:r>
              <a:rPr lang="en-US" altLang="zh-CN" sz="2000" err="1">
                <a:ea typeface="思源黑体 CN Normal" panose="020B0500000000000000" charset="-122"/>
              </a:rPr>
              <a:t>if(max</a:t>
            </a:r>
            <a:r>
              <a:rPr lang="en-US" altLang="zh-CN" sz="2000">
                <a:ea typeface="思源黑体 CN Normal" panose="020B0500000000000000" charset="-122"/>
              </a:rPr>
              <a:t> &lt; mark)</a:t>
            </a:r>
            <a:r>
              <a:rPr lang="zh-CN" altLang="en-US" sz="2000" dirty="0">
                <a:ea typeface="思源黑体 CN Normal" panose="020B0500000000000000" charset="-122"/>
              </a:rPr>
              <a:t>  </a:t>
            </a:r>
            <a:endParaRPr lang="zh-CN" altLang="en-US" sz="2000" dirty="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dirty="0">
                <a:ea typeface="思源黑体 CN Normal" panose="020B0500000000000000" charset="-122"/>
              </a:rPr>
              <a:t>              </a:t>
            </a:r>
            <a:r>
              <a:rPr lang="en-US" altLang="zh-CN" sz="2000">
                <a:ea typeface="思源黑体 CN Normal" panose="020B0500000000000000" charset="-122"/>
              </a:rPr>
              <a:t>max = mark ; </a:t>
            </a:r>
            <a:endParaRPr lang="zh-CN" altLang="en-US" sz="2000" dirty="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dirty="0">
                <a:ea typeface="思源黑体 CN Normal" panose="020B0500000000000000" charset="-122"/>
              </a:rPr>
              <a:t>        </a:t>
            </a:r>
            <a:r>
              <a:rPr lang="en-US" altLang="zh-CN" sz="2000" err="1">
                <a:ea typeface="思源黑体 CN Normal" panose="020B0500000000000000" charset="-122"/>
              </a:rPr>
              <a:t>scanf</a:t>
            </a:r>
            <a:r>
              <a:rPr lang="en-US" altLang="zh-CN" sz="2000">
                <a:ea typeface="思源黑体 CN Normal" panose="020B0500000000000000" charset="-122"/>
              </a:rPr>
              <a:t> ("%d", &amp;mark );</a:t>
            </a:r>
            <a:endParaRPr lang="zh-CN" altLang="en-US" sz="2000" dirty="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dirty="0">
                <a:ea typeface="思源黑体 CN Normal" panose="020B0500000000000000" charset="-122"/>
              </a:rPr>
              <a:t>    };</a:t>
            </a:r>
            <a:endParaRPr lang="zh-CN" altLang="en-US" sz="2000" dirty="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dirty="0">
                <a:ea typeface="思源黑体 CN Normal" panose="020B0500000000000000" charset="-122"/>
              </a:rPr>
              <a:t>    </a:t>
            </a:r>
            <a:r>
              <a:rPr lang="en-US" altLang="zh-CN" sz="2000" err="1">
                <a:ea typeface="思源黑体 CN Normal" panose="020B0500000000000000" charset="-122"/>
              </a:rPr>
              <a:t>printf("Max</a:t>
            </a:r>
            <a:r>
              <a:rPr lang="en-US" altLang="zh-CN" sz="2000">
                <a:ea typeface="思源黑体 CN Normal" panose="020B0500000000000000" charset="-122"/>
              </a:rPr>
              <a:t> = %</a:t>
            </a:r>
            <a:r>
              <a:rPr lang="en-US" altLang="zh-CN" sz="2000" err="1">
                <a:ea typeface="思源黑体 CN Normal" panose="020B0500000000000000" charset="-122"/>
              </a:rPr>
              <a:t>d\n</a:t>
            </a:r>
            <a:r>
              <a:rPr lang="en-US" altLang="zh-CN" sz="2000">
                <a:ea typeface="思源黑体 CN Normal" panose="020B0500000000000000" charset="-122"/>
              </a:rPr>
              <a:t>", max);</a:t>
            </a:r>
            <a:endParaRPr lang="en-US" altLang="zh-CN" sz="200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>
                <a:ea typeface="思源黑体 CN Normal" panose="020B0500000000000000" charset="-122"/>
              </a:rPr>
              <a:t>    return 0;</a:t>
            </a:r>
            <a:endParaRPr lang="en-US" altLang="zh-CN" sz="2000">
              <a:ea typeface="思源黑体 CN Normal" panose="020B0500000000000000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>
                <a:ea typeface="思源黑体 CN Normal" panose="020B0500000000000000" charset="-122"/>
              </a:rPr>
              <a:t>}</a:t>
            </a:r>
            <a:endParaRPr lang="zh-CN" altLang="en-US" sz="2000" dirty="0">
              <a:ea typeface="思源黑体 CN Normal" panose="020B0500000000000000" charset="-122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type="title"/>
          </p:nvPr>
        </p:nvSpPr>
        <p:spPr>
          <a:xfrm>
            <a:off x="228600" y="290513"/>
            <a:ext cx="8664575" cy="762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/>
              <a:t>例4-7 输入一批学生的成绩，求最高分(</a:t>
            </a:r>
            <a:r>
              <a:rPr lang="en-US" altLang="zh-CN" sz="3200"/>
              <a:t>while)</a:t>
            </a:r>
            <a:endParaRPr lang="en-US" altLang="zh-CN" sz="3200"/>
          </a:p>
        </p:txBody>
      </p:sp>
      <p:sp>
        <p:nvSpPr>
          <p:cNvPr id="159755" name="Rectangle 11"/>
          <p:cNvSpPr/>
          <p:nvPr/>
        </p:nvSpPr>
        <p:spPr>
          <a:xfrm>
            <a:off x="3995738" y="1125538"/>
            <a:ext cx="4608512" cy="798512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marks: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67 88 73 54 82 -1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Max = 88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159756" name="Rectangle 12"/>
          <p:cNvSpPr/>
          <p:nvPr/>
        </p:nvSpPr>
        <p:spPr>
          <a:xfrm>
            <a:off x="5187950" y="3933825"/>
            <a:ext cx="3317875" cy="798513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marks: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-1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5" grpId="0" bldLvl="0" animBg="1"/>
      <p:bldP spid="159756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idx="1"/>
          </p:nvPr>
        </p:nvSpPr>
        <p:spPr>
          <a:xfrm>
            <a:off x="539750" y="1341120"/>
            <a:ext cx="5867400" cy="4685665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2400" dirty="0"/>
              <a:t>#</a:t>
            </a:r>
            <a:r>
              <a:rPr lang="en-US" altLang="zh-CN" sz="2400"/>
              <a:t>include &lt;</a:t>
            </a:r>
            <a:r>
              <a:rPr lang="en-US" altLang="zh-CN" sz="2400" err="1"/>
              <a:t>stdio.h</a:t>
            </a:r>
            <a:r>
              <a:rPr lang="en-US" altLang="zh-CN" sz="2400"/>
              <a:t>&gt;</a:t>
            </a:r>
            <a:endParaRPr lang="en-US" altLang="zh-CN" sz="2400"/>
          </a:p>
          <a:p>
            <a:pPr algn="just" eaLnBrk="1" hangingPunct="1">
              <a:buNone/>
            </a:pPr>
            <a:r>
              <a:rPr lang="en-US" altLang="zh-CN" sz="2400" err="1"/>
              <a:t>int</a:t>
            </a:r>
            <a:r>
              <a:rPr lang="en-US" altLang="zh-CN" sz="2400"/>
              <a:t> </a:t>
            </a:r>
            <a:r>
              <a:rPr lang="en-US" altLang="zh-CN" sz="2400" err="1"/>
              <a:t>main(void</a:t>
            </a:r>
            <a:r>
              <a:rPr lang="en-US" altLang="zh-CN" sz="2400"/>
              <a:t>)</a:t>
            </a:r>
            <a:endParaRPr lang="en-US" altLang="zh-CN" sz="2400"/>
          </a:p>
          <a:p>
            <a:pPr algn="just" eaLnBrk="1" hangingPunct="1">
              <a:buNone/>
            </a:pPr>
            <a:r>
              <a:rPr lang="en-US" altLang="zh-CN" sz="2400"/>
              <a:t>{   </a:t>
            </a:r>
            <a:r>
              <a:rPr lang="en-US" altLang="zh-CN" sz="2400" err="1"/>
              <a:t>int</a:t>
            </a:r>
            <a:r>
              <a:rPr lang="en-US" altLang="zh-CN" sz="2400"/>
              <a:t> mark, max; </a:t>
            </a:r>
            <a:endParaRPr lang="zh-CN" altLang="en-US" sz="2400" dirty="0"/>
          </a:p>
          <a:p>
            <a:pPr algn="just" eaLnBrk="1" hangingPunct="1">
              <a:buNone/>
            </a:pPr>
            <a:r>
              <a:rPr lang="zh-CN" altLang="en-US" sz="2400" dirty="0"/>
              <a:t>    </a:t>
            </a:r>
            <a:r>
              <a:rPr lang="en-US" altLang="zh-CN" sz="2400">
                <a:solidFill>
                  <a:srgbClr val="CC0066"/>
                </a:solidFill>
              </a:rPr>
              <a:t>max = -1</a:t>
            </a:r>
            <a:r>
              <a:rPr lang="en-US" altLang="zh-CN" sz="2400"/>
              <a:t>;        /* </a:t>
            </a:r>
            <a:r>
              <a:rPr lang="zh-CN" altLang="en-US" sz="2400" dirty="0"/>
              <a:t>给</a:t>
            </a:r>
            <a:r>
              <a:rPr lang="en-US" altLang="zh-CN" sz="2400"/>
              <a:t>max</a:t>
            </a:r>
            <a:r>
              <a:rPr lang="zh-CN" altLang="en-US" sz="2400" dirty="0"/>
              <a:t>赋一个小初值 */</a:t>
            </a:r>
            <a:endParaRPr lang="zh-CN" altLang="en-US" sz="2400" dirty="0"/>
          </a:p>
          <a:p>
            <a:pPr algn="just" eaLnBrk="1" hangingPunct="1">
              <a:buNone/>
            </a:pPr>
            <a:r>
              <a:rPr lang="zh-CN" altLang="en-US" sz="2400" dirty="0"/>
              <a:t>    </a:t>
            </a:r>
            <a:r>
              <a:rPr lang="en-US" altLang="zh-CN" sz="2400" err="1"/>
              <a:t>printf(“Enter</a:t>
            </a:r>
            <a:r>
              <a:rPr lang="en-US" altLang="zh-CN" sz="2400"/>
              <a:t> marks: "); </a:t>
            </a:r>
            <a:endParaRPr lang="zh-CN" altLang="en-US" sz="2400" dirty="0"/>
          </a:p>
          <a:p>
            <a:pPr algn="just" eaLnBrk="1" hangingPunct="1">
              <a:buNone/>
            </a:pPr>
            <a:r>
              <a:rPr lang="zh-CN" altLang="en-US" sz="2400" dirty="0"/>
              <a:t>    </a:t>
            </a:r>
            <a:r>
              <a:rPr lang="en-US" altLang="zh-CN" sz="2400">
                <a:solidFill>
                  <a:schemeClr val="bg2"/>
                </a:solidFill>
              </a:rPr>
              <a:t>do</a:t>
            </a:r>
            <a:r>
              <a:rPr lang="en-US" altLang="zh-CN" sz="2400"/>
              <a:t>{ </a:t>
            </a:r>
            <a:endParaRPr lang="en-US" altLang="zh-CN" sz="2400"/>
          </a:p>
          <a:p>
            <a:pPr algn="just" eaLnBrk="1" hangingPunct="1">
              <a:buNone/>
            </a:pPr>
            <a:r>
              <a:rPr lang="en-US" altLang="zh-CN" sz="2400"/>
              <a:t>         </a:t>
            </a:r>
            <a:r>
              <a:rPr lang="en-US" altLang="zh-CN" sz="2400" err="1"/>
              <a:t>scanf</a:t>
            </a:r>
            <a:r>
              <a:rPr lang="en-US" altLang="zh-CN" sz="2400"/>
              <a:t> ("%d", &amp;mark );</a:t>
            </a:r>
            <a:endParaRPr lang="zh-CN" altLang="en-US" sz="2400" dirty="0"/>
          </a:p>
          <a:p>
            <a:pPr algn="just" eaLnBrk="1" hangingPunct="1">
              <a:buNone/>
            </a:pPr>
            <a:r>
              <a:rPr lang="zh-CN" altLang="en-US" sz="2400" dirty="0"/>
              <a:t>         </a:t>
            </a:r>
            <a:r>
              <a:rPr lang="en-US" altLang="zh-CN" sz="2400"/>
              <a:t>if (max &lt; mark) </a:t>
            </a:r>
            <a:endParaRPr lang="zh-CN" altLang="en-US" sz="2400" dirty="0"/>
          </a:p>
          <a:p>
            <a:pPr algn="just" eaLnBrk="1" hangingPunct="1">
              <a:buNone/>
            </a:pPr>
            <a:r>
              <a:rPr lang="zh-CN" altLang="en-US" sz="2400" dirty="0"/>
              <a:t>             </a:t>
            </a:r>
            <a:r>
              <a:rPr lang="en-US" altLang="zh-CN" sz="2400"/>
              <a:t>max = mark; </a:t>
            </a:r>
            <a:endParaRPr lang="zh-CN" altLang="en-US" sz="2400" dirty="0"/>
          </a:p>
          <a:p>
            <a:pPr algn="just" eaLnBrk="1" hangingPunct="1">
              <a:buNone/>
            </a:pPr>
            <a:r>
              <a:rPr lang="zh-CN" altLang="en-US" sz="2400" dirty="0"/>
              <a:t>    } </a:t>
            </a:r>
            <a:r>
              <a:rPr lang="en-US" altLang="zh-CN" sz="2400" err="1">
                <a:solidFill>
                  <a:schemeClr val="bg2"/>
                </a:solidFill>
              </a:rPr>
              <a:t>while</a:t>
            </a:r>
            <a:r>
              <a:rPr lang="en-US" altLang="zh-CN" sz="2400" err="1"/>
              <a:t>(mark</a:t>
            </a:r>
            <a:r>
              <a:rPr lang="en-US" altLang="zh-CN" sz="2400"/>
              <a:t> &gt;= 0);         </a:t>
            </a:r>
            <a:endParaRPr lang="en-US" altLang="zh-CN" sz="2400"/>
          </a:p>
          <a:p>
            <a:pPr algn="just" eaLnBrk="1" hangingPunct="1">
              <a:buNone/>
            </a:pPr>
            <a:r>
              <a:rPr lang="en-US" altLang="zh-CN" sz="2400"/>
              <a:t>   </a:t>
            </a:r>
            <a:r>
              <a:rPr lang="en-US" altLang="zh-CN" sz="2400" err="1"/>
              <a:t>printf("Max</a:t>
            </a:r>
            <a:r>
              <a:rPr lang="en-US" altLang="zh-CN" sz="2400"/>
              <a:t> = %</a:t>
            </a:r>
            <a:r>
              <a:rPr lang="en-US" altLang="zh-CN" sz="2400" err="1"/>
              <a:t>d\n</a:t>
            </a:r>
            <a:r>
              <a:rPr lang="en-US" altLang="zh-CN" sz="2400"/>
              <a:t>", max);</a:t>
            </a:r>
            <a:endParaRPr lang="en-US" altLang="zh-CN" sz="2400"/>
          </a:p>
          <a:p>
            <a:pPr algn="just" eaLnBrk="1" hangingPunct="1">
              <a:buNone/>
            </a:pPr>
            <a:r>
              <a:rPr lang="en-US" altLang="zh-CN" sz="2400"/>
              <a:t>}</a:t>
            </a:r>
            <a:endParaRPr lang="zh-CN" altLang="en-US" sz="2400" dirty="0"/>
          </a:p>
        </p:txBody>
      </p:sp>
      <p:sp>
        <p:nvSpPr>
          <p:cNvPr id="34819" name="Rectangle 3"/>
          <p:cNvSpPr>
            <a:spLocks noGrp="1"/>
          </p:cNvSpPr>
          <p:nvPr>
            <p:ph type="title"/>
          </p:nvPr>
        </p:nvSpPr>
        <p:spPr>
          <a:xfrm>
            <a:off x="228600" y="434975"/>
            <a:ext cx="8915400" cy="762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/>
              <a:t>例4-7 输入一批学生的成绩，求最高分(</a:t>
            </a:r>
            <a:r>
              <a:rPr lang="en-US" altLang="zh-CN" sz="3200"/>
              <a:t>do-while)</a:t>
            </a:r>
            <a:endParaRPr lang="en-US" altLang="zh-CN" sz="3200"/>
          </a:p>
        </p:txBody>
      </p:sp>
      <p:sp>
        <p:nvSpPr>
          <p:cNvPr id="160772" name="Rectangle 4"/>
          <p:cNvSpPr/>
          <p:nvPr/>
        </p:nvSpPr>
        <p:spPr>
          <a:xfrm>
            <a:off x="4068763" y="1485900"/>
            <a:ext cx="4732337" cy="798513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marks: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67 88 73 54 82 -1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Max = 88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160773" name="Rectangle 5"/>
          <p:cNvSpPr/>
          <p:nvPr/>
        </p:nvSpPr>
        <p:spPr>
          <a:xfrm>
            <a:off x="5651500" y="3500438"/>
            <a:ext cx="3295650" cy="798512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 anchor="t" anchorCtr="0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Enter marks: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  <a:ea typeface="Arial Unicode MS" pitchFamily="34" charset="-122"/>
              </a:rPr>
              <a:t>-1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  <a:ea typeface="Arial Unicode MS" pitchFamily="34" charset="-122"/>
            </a:endParaRPr>
          </a:p>
          <a:p>
            <a:pPr>
              <a:spcBef>
                <a:spcPct val="30000"/>
              </a:spcBef>
            </a:pPr>
            <a:endParaRPr lang="en-US" altLang="zh-CN" sz="2000">
              <a:solidFill>
                <a:srgbClr val="D02CC0"/>
              </a:solidFill>
              <a:latin typeface="Arial" panose="02080604020202020204" pitchFamily="34" charset="0"/>
              <a:ea typeface="Arial Unicode MS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 bldLvl="0" animBg="1"/>
      <p:bldP spid="160773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6626225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例4-8</a:t>
            </a:r>
            <a:r>
              <a:rPr lang="en-US" altLang="zh-CN" sz="3600"/>
              <a:t>  </a:t>
            </a:r>
            <a:r>
              <a:rPr lang="zh-CN" altLang="en-US" sz="3600" dirty="0"/>
              <a:t>将一个正整数逆序输出</a:t>
            </a:r>
            <a:endParaRPr lang="zh-CN" altLang="en-US" dirty="0"/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457200" y="914400"/>
            <a:ext cx="6553200" cy="5334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2800" dirty="0">
                <a:latin typeface="Times New Roman" pitchFamily="18" charset="0"/>
              </a:rPr>
              <a:t>确定：</a:t>
            </a:r>
            <a:r>
              <a:rPr lang="zh-CN" altLang="en-US" sz="2800" dirty="0">
                <a:solidFill>
                  <a:srgbClr val="CC0066"/>
                </a:solidFill>
                <a:latin typeface="Times New Roman" pitchFamily="18" charset="0"/>
              </a:rPr>
              <a:t>循环条件</a:t>
            </a:r>
            <a:r>
              <a:rPr lang="zh-CN" altLang="en-US" sz="2800" dirty="0">
                <a:latin typeface="Times New Roman" pitchFamily="18" charset="0"/>
              </a:rPr>
              <a:t>和</a:t>
            </a:r>
            <a:r>
              <a:rPr lang="zh-CN" altLang="en-US" sz="2800" dirty="0">
                <a:solidFill>
                  <a:srgbClr val="CC0066"/>
                </a:solidFill>
                <a:latin typeface="Times New Roman" pitchFamily="18" charset="0"/>
              </a:rPr>
              <a:t>循环体(循环不变式</a:t>
            </a:r>
            <a:r>
              <a:rPr lang="en-US" altLang="zh-CN" sz="2800">
                <a:solidFill>
                  <a:srgbClr val="CC0066"/>
                </a:solidFill>
                <a:latin typeface="Times New Roman" pitchFamily="18" charset="0"/>
              </a:rPr>
              <a:t>)</a:t>
            </a:r>
            <a:endParaRPr lang="zh-CN" altLang="zh-CN" sz="2800" dirty="0">
              <a:solidFill>
                <a:srgbClr val="CC0066"/>
              </a:solidFill>
              <a:latin typeface="Times New Roman" pitchFamily="18" charset="0"/>
            </a:endParaRPr>
          </a:p>
        </p:txBody>
      </p:sp>
      <p:sp>
        <p:nvSpPr>
          <p:cNvPr id="161796" name="Text Box 4"/>
          <p:cNvSpPr txBox="1"/>
          <p:nvPr/>
        </p:nvSpPr>
        <p:spPr>
          <a:xfrm>
            <a:off x="304800" y="1524000"/>
            <a:ext cx="8478838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0" hangingPunct="0"/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         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12345    5   4   3   2   1</a:t>
            </a:r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0" hangingPunct="0"/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0" hangingPunct="0"/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12345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%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10 = 5      12345 /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10 =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1234</a:t>
            </a:r>
            <a:endParaRPr lang="zh-CN" altLang="zh-CN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0" hangingPunct="0"/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1234 %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10 = 4     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1234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10 =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123</a:t>
            </a:r>
            <a:endParaRPr lang="zh-CN" altLang="zh-CN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0" hangingPunct="0"/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  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123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%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10 = 3        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123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10 =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12</a:t>
            </a:r>
            <a:endParaRPr lang="zh-CN" altLang="zh-CN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0" hangingPunct="0"/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    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12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%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10 = 2     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    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12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10 =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lvl="1" indent="0" eaLnBrk="0" hangingPunct="0"/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      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%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=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   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        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=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</a:t>
            </a:r>
            <a:r>
              <a:rPr lang="zh-CN" altLang="zh-CN" sz="2400" dirty="0">
                <a:solidFill>
                  <a:schemeClr val="tx1"/>
                </a:solidFill>
                <a:latin typeface="Arial" panose="02080604020202020204" pitchFamily="34" charset="0"/>
              </a:rPr>
              <a:t>0 </a:t>
            </a:r>
            <a:r>
              <a:rPr lang="zh-CN" altLang="zh-CN" sz="2400" dirty="0">
                <a:solidFill>
                  <a:schemeClr val="bg2"/>
                </a:solidFill>
                <a:latin typeface="Arial" panose="02080604020202020204" pitchFamily="34" charset="0"/>
              </a:rPr>
              <a:t>结束</a:t>
            </a:r>
            <a:endParaRPr lang="zh-CN" altLang="en-US" sz="2400" dirty="0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  <p:sp>
        <p:nvSpPr>
          <p:cNvPr id="161797" name="Text Box 5"/>
          <p:cNvSpPr txBox="1"/>
          <p:nvPr/>
        </p:nvSpPr>
        <p:spPr>
          <a:xfrm>
            <a:off x="323850" y="4151313"/>
            <a:ext cx="6770688" cy="717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循环不变式     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x%10      x=x/10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循环结束条件  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x==0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61798" name="Text Box 6"/>
          <p:cNvSpPr txBox="1"/>
          <p:nvPr/>
        </p:nvSpPr>
        <p:spPr>
          <a:xfrm>
            <a:off x="4356100" y="4479925"/>
            <a:ext cx="4311650" cy="2306638"/>
          </a:xfrm>
          <a:prstGeom prst="rect">
            <a:avLst/>
          </a:prstGeom>
          <a:noFill/>
          <a:ln w="127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scanf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( “%d”, &amp;x);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while (x != 0){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 digit = x %10;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 x = x/10 ;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 </a:t>
            </a:r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printf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( "%d  ", digit);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}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61799" name="Rectangle 7"/>
          <p:cNvSpPr/>
          <p:nvPr/>
        </p:nvSpPr>
        <p:spPr>
          <a:xfrm>
            <a:off x="6229350" y="1555750"/>
            <a:ext cx="2630488" cy="46037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do-while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实现？</a:t>
            </a:r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6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6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charRg st="3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1796">
                                            <p:txEl>
                                              <p:charRg st="3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1796">
                                            <p:txEl>
                                              <p:charRg st="3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charRg st="76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1796">
                                            <p:txEl>
                                              <p:charRg st="76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1796">
                                            <p:txEl>
                                              <p:charRg st="76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charRg st="115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1796">
                                            <p:txEl>
                                              <p:charRg st="115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1796">
                                            <p:txEl>
                                              <p:charRg st="115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charRg st="155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1796">
                                            <p:txEl>
                                              <p:charRg st="155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1796">
                                            <p:txEl>
                                              <p:charRg st="155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charRg st="196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796">
                                            <p:txEl>
                                              <p:charRg st="196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796">
                                            <p:txEl>
                                              <p:charRg st="196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 bldLvl="2" build="p"/>
      <p:bldP spid="161797" grpId="0"/>
      <p:bldP spid="161798" grpId="0" bldLvl="0" animBg="1"/>
      <p:bldP spid="161799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/>
          </p:cNvSpPr>
          <p:nvPr>
            <p:ph type="title"/>
          </p:nvPr>
        </p:nvSpPr>
        <p:spPr>
          <a:xfrm>
            <a:off x="0" y="152400"/>
            <a:ext cx="8945563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/>
              <a:t>例4-9 求500以内的全部素数，每行输出10个</a:t>
            </a:r>
            <a:endParaRPr lang="zh-CN" altLang="en-US" sz="3200" dirty="0"/>
          </a:p>
        </p:txBody>
      </p:sp>
      <p:sp>
        <p:nvSpPr>
          <p:cNvPr id="36866" name="Rectangle 3"/>
          <p:cNvSpPr>
            <a:spLocks noGrp="1"/>
          </p:cNvSpPr>
          <p:nvPr>
            <p:ph idx="1"/>
          </p:nvPr>
        </p:nvSpPr>
        <p:spPr>
          <a:xfrm>
            <a:off x="457200" y="914400"/>
            <a:ext cx="6635750" cy="11430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/>
              <a:t>for (m = 2; m &lt;= 500; m++)</a:t>
            </a:r>
            <a:endParaRPr lang="en-US" altLang="zh-CN" sz="280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/>
              <a:t>    if (</a:t>
            </a:r>
            <a:r>
              <a:rPr lang="en-US" altLang="zh-CN" sz="2800">
                <a:solidFill>
                  <a:srgbClr val="CC0066"/>
                </a:solidFill>
              </a:rPr>
              <a:t>m</a:t>
            </a:r>
            <a:r>
              <a:rPr lang="zh-CN" altLang="en-US" sz="2800" dirty="0">
                <a:solidFill>
                  <a:srgbClr val="CC0066"/>
                </a:solidFill>
              </a:rPr>
              <a:t>是素数</a:t>
            </a:r>
            <a:r>
              <a:rPr lang="zh-CN" altLang="en-US" sz="2800" dirty="0"/>
              <a:t>)  </a:t>
            </a:r>
            <a:r>
              <a:rPr lang="en-US" altLang="zh-CN" sz="2800" err="1"/>
              <a:t>printf</a:t>
            </a:r>
            <a:r>
              <a:rPr lang="en-US" altLang="zh-CN" sz="2800"/>
              <a:t>( "%d", m);</a:t>
            </a:r>
            <a:endParaRPr lang="zh-CN" altLang="zh-CN" sz="2800" dirty="0"/>
          </a:p>
        </p:txBody>
      </p:sp>
      <p:sp>
        <p:nvSpPr>
          <p:cNvPr id="165898" name="Rectangle 10"/>
          <p:cNvSpPr/>
          <p:nvPr/>
        </p:nvSpPr>
        <p:spPr>
          <a:xfrm>
            <a:off x="900113" y="2349500"/>
            <a:ext cx="5424487" cy="3897313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/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for (m = 2; m &lt;= 500; m++){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n=</a:t>
            </a:r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sqrt(m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);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</a:t>
            </a:r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for(i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= 2; i &lt;= n; i++)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     </a:t>
            </a:r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if(m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% i == 0)  break;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</a:t>
            </a:r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if(i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&gt; n) </a:t>
            </a:r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printf("%d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", m);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}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>
          <a:xfrm>
            <a:off x="5148263" y="404813"/>
            <a:ext cx="3587750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例4-9  源程序</a:t>
            </a:r>
            <a:endParaRPr lang="zh-CN" altLang="en-US" dirty="0"/>
          </a:p>
        </p:txBody>
      </p:sp>
      <p:sp>
        <p:nvSpPr>
          <p:cNvPr id="37890" name="Rectangle 3"/>
          <p:cNvSpPr>
            <a:spLocks noGrp="1"/>
          </p:cNvSpPr>
          <p:nvPr>
            <p:ph idx="1"/>
          </p:nvPr>
        </p:nvSpPr>
        <p:spPr>
          <a:xfrm>
            <a:off x="228600" y="304800"/>
            <a:ext cx="7696200" cy="65532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dirty="0"/>
              <a:t>#</a:t>
            </a:r>
            <a:r>
              <a:rPr lang="en-US" altLang="zh-CN" sz="2400"/>
              <a:t>include &lt;</a:t>
            </a:r>
            <a:r>
              <a:rPr lang="en-US" altLang="zh-CN" sz="2400" err="1"/>
              <a:t>stdio.h</a:t>
            </a:r>
            <a:r>
              <a:rPr lang="en-US" altLang="zh-CN" sz="2400"/>
              <a:t>&gt;</a:t>
            </a:r>
            <a:endParaRPr lang="en-US" altLang="zh-CN" sz="240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/>
              <a:t>#include &lt;</a:t>
            </a:r>
            <a:r>
              <a:rPr lang="en-US" altLang="zh-CN" sz="2400" err="1"/>
              <a:t>math.h</a:t>
            </a:r>
            <a:r>
              <a:rPr lang="en-US" altLang="zh-CN" sz="2400"/>
              <a:t>&gt;   </a:t>
            </a:r>
            <a:endParaRPr lang="en-US" altLang="zh-CN" sz="240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err="1"/>
              <a:t>int</a:t>
            </a:r>
            <a:r>
              <a:rPr lang="en-US" altLang="zh-CN" sz="2400"/>
              <a:t> </a:t>
            </a:r>
            <a:r>
              <a:rPr lang="en-US" altLang="zh-CN" sz="2400" err="1"/>
              <a:t>main(void</a:t>
            </a:r>
            <a:r>
              <a:rPr lang="en-US" altLang="zh-CN" sz="2400"/>
              <a:t>)</a:t>
            </a:r>
            <a:endParaRPr lang="en-US" altLang="zh-CN" sz="240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/>
              <a:t>{   </a:t>
            </a:r>
            <a:r>
              <a:rPr lang="en-US" altLang="zh-CN" sz="2400" err="1"/>
              <a:t>int</a:t>
            </a:r>
            <a:r>
              <a:rPr lang="en-US" altLang="zh-CN" sz="2400"/>
              <a:t> count, i, m, n;   </a:t>
            </a:r>
            <a:endParaRPr lang="en-US" altLang="zh-CN" sz="240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/>
              <a:t>    count = 0; 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dirty="0"/>
              <a:t>    </a:t>
            </a:r>
            <a:r>
              <a:rPr lang="en-US" altLang="zh-CN" sz="2400">
                <a:solidFill>
                  <a:schemeClr val="bg2"/>
                </a:solidFill>
              </a:rPr>
              <a:t>for (m = 2; m &lt;= 500; m++)</a:t>
            </a:r>
            <a:r>
              <a:rPr lang="en-US" altLang="zh-CN" sz="2400"/>
              <a:t>{</a:t>
            </a:r>
            <a:endParaRPr lang="en-US" altLang="zh-CN" sz="240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/>
              <a:t>        n = </a:t>
            </a:r>
            <a:r>
              <a:rPr lang="en-US" altLang="zh-CN" sz="2400" err="1"/>
              <a:t>sqrt(m</a:t>
            </a:r>
            <a:r>
              <a:rPr lang="en-US" altLang="zh-CN" sz="2400"/>
              <a:t>);</a:t>
            </a:r>
            <a:endParaRPr lang="en-US" altLang="zh-CN" sz="240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/>
              <a:t>        </a:t>
            </a:r>
            <a:r>
              <a:rPr lang="en-US" altLang="zh-CN" sz="2400">
                <a:solidFill>
                  <a:srgbClr val="CC0066"/>
                </a:solidFill>
              </a:rPr>
              <a:t>for (i = 2; i &lt;= n; i++)</a:t>
            </a:r>
            <a:endParaRPr lang="zh-CN" altLang="en-US" sz="2400" dirty="0">
              <a:solidFill>
                <a:srgbClr val="CC0066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dirty="0"/>
              <a:t>            </a:t>
            </a:r>
            <a:r>
              <a:rPr lang="en-US" altLang="zh-CN" sz="2400" err="1"/>
              <a:t>if(m</a:t>
            </a:r>
            <a:r>
              <a:rPr lang="en-US" altLang="zh-CN" sz="2400"/>
              <a:t> % i == 0)  break;</a:t>
            </a:r>
            <a:endParaRPr lang="en-US" altLang="zh-CN" sz="240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/>
              <a:t>        </a:t>
            </a:r>
            <a:r>
              <a:rPr lang="en-US" altLang="zh-CN" sz="2400" err="1"/>
              <a:t>if(i</a:t>
            </a:r>
            <a:r>
              <a:rPr lang="en-US" altLang="zh-CN" sz="2400"/>
              <a:t> &gt; n){   		/* </a:t>
            </a:r>
            <a:r>
              <a:rPr lang="zh-CN" altLang="en-US" sz="2400" dirty="0"/>
              <a:t>如果</a:t>
            </a:r>
            <a:r>
              <a:rPr lang="en-US" altLang="zh-CN" sz="2400"/>
              <a:t>m</a:t>
            </a:r>
            <a:r>
              <a:rPr lang="zh-CN" altLang="en-US" sz="2400" dirty="0"/>
              <a:t>是素数 */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dirty="0"/>
              <a:t>            </a:t>
            </a:r>
            <a:r>
              <a:rPr lang="en-US" altLang="zh-CN" sz="2400"/>
              <a:t>printf("%6d", m); </a:t>
            </a:r>
            <a:endParaRPr lang="en-US" altLang="zh-CN" sz="240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/>
              <a:t>            count++;     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dirty="0"/>
              <a:t>            </a:t>
            </a:r>
            <a:r>
              <a:rPr lang="en-US" altLang="zh-CN" sz="2400"/>
              <a:t>if (count %10 == 0)  </a:t>
            </a:r>
            <a:r>
              <a:rPr lang="en-US" altLang="zh-CN" sz="2400" err="1"/>
              <a:t>printf(“\n</a:t>
            </a:r>
            <a:r>
              <a:rPr lang="en-US" altLang="zh-CN" sz="2400"/>
              <a:t>”); 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dirty="0"/>
              <a:t>       }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dirty="0"/>
              <a:t>    }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/>
              <a:t>}</a:t>
            </a:r>
            <a:endParaRPr lang="en-US" altLang="zh-CN" sz="240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>
          <a:xfrm>
            <a:off x="0" y="115888"/>
            <a:ext cx="9144000" cy="823912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例4-10 求</a:t>
            </a:r>
            <a:r>
              <a:rPr lang="en-US" altLang="zh-CN" sz="3600"/>
              <a:t>Fibonacci</a:t>
            </a:r>
            <a:r>
              <a:rPr lang="zh-CN" altLang="en-US" sz="3600" dirty="0"/>
              <a:t>序列：1</a:t>
            </a:r>
            <a:r>
              <a:rPr lang="en-US" altLang="zh-CN" sz="3600"/>
              <a:t>,</a:t>
            </a:r>
            <a:r>
              <a:rPr lang="zh-CN" altLang="en-US" sz="3600" dirty="0"/>
              <a:t>1</a:t>
            </a:r>
            <a:r>
              <a:rPr lang="en-US" altLang="zh-CN" sz="3600"/>
              <a:t>,</a:t>
            </a:r>
            <a:r>
              <a:rPr lang="zh-CN" altLang="en-US" sz="3600" dirty="0"/>
              <a:t>2</a:t>
            </a:r>
            <a:r>
              <a:rPr lang="en-US" altLang="zh-CN" sz="3600"/>
              <a:t>,</a:t>
            </a:r>
            <a:r>
              <a:rPr lang="zh-CN" altLang="en-US" sz="3600" dirty="0"/>
              <a:t>3</a:t>
            </a:r>
            <a:r>
              <a:rPr lang="en-US" altLang="zh-CN" sz="3600"/>
              <a:t>,</a:t>
            </a:r>
            <a:r>
              <a:rPr lang="zh-CN" altLang="en-US" sz="3600" dirty="0"/>
              <a:t>5</a:t>
            </a:r>
            <a:r>
              <a:rPr lang="en-US" altLang="zh-CN" sz="3600"/>
              <a:t>,</a:t>
            </a:r>
            <a:r>
              <a:rPr lang="zh-CN" altLang="en-US" sz="3600" dirty="0"/>
              <a:t>8</a:t>
            </a:r>
            <a:r>
              <a:rPr lang="en-US" altLang="zh-CN" sz="3600"/>
              <a:t>,13,… </a:t>
            </a:r>
            <a:endParaRPr lang="en-US" altLang="zh-CN" sz="3600"/>
          </a:p>
        </p:txBody>
      </p:sp>
      <p:sp>
        <p:nvSpPr>
          <p:cNvPr id="174083" name="Rectangle 3"/>
          <p:cNvSpPr>
            <a:spLocks noGrp="1"/>
          </p:cNvSpPr>
          <p:nvPr>
            <p:ph idx="1"/>
          </p:nvPr>
        </p:nvSpPr>
        <p:spPr>
          <a:xfrm>
            <a:off x="395288" y="1125538"/>
            <a:ext cx="7769225" cy="1582737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2800" dirty="0"/>
              <a:t>1,   1,   2,   3,   5,   8, </a:t>
            </a:r>
            <a:r>
              <a:rPr lang="en-US" altLang="zh-CN" sz="2800"/>
              <a:t>13, ……</a:t>
            </a:r>
            <a:endParaRPr lang="en-US" altLang="zh-CN" sz="2800"/>
          </a:p>
          <a:p>
            <a:pPr algn="just" eaLnBrk="1" hangingPunct="1">
              <a:buNone/>
            </a:pPr>
            <a:r>
              <a:rPr lang="en-US" altLang="zh-CN" sz="2800"/>
              <a:t>x1  x2   x</a:t>
            </a:r>
            <a:endParaRPr lang="en-US" altLang="zh-CN" sz="2800"/>
          </a:p>
          <a:p>
            <a:pPr algn="just" eaLnBrk="1" hangingPunct="1">
              <a:buNone/>
            </a:pPr>
            <a:r>
              <a:rPr lang="zh-CN" altLang="en-US" sz="2800" dirty="0"/>
              <a:t>      </a:t>
            </a:r>
            <a:r>
              <a:rPr lang="en-US" altLang="zh-CN" sz="2800"/>
              <a:t>x1  x2   x</a:t>
            </a:r>
            <a:endParaRPr lang="en-US" altLang="zh-CN" sz="2800"/>
          </a:p>
        </p:txBody>
      </p:sp>
      <p:sp>
        <p:nvSpPr>
          <p:cNvPr id="174086" name="Rectangle 6"/>
          <p:cNvSpPr/>
          <p:nvPr/>
        </p:nvSpPr>
        <p:spPr>
          <a:xfrm>
            <a:off x="6153150" y="908050"/>
            <a:ext cx="2667000" cy="22860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/>
          <a:p>
            <a:pPr marL="342900" indent="-342900" algn="just">
              <a:spcBef>
                <a:spcPct val="5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x1 = </a:t>
            </a:r>
            <a:r>
              <a:rPr lang="en-US" altLang="zh-CN" sz="2800">
                <a:solidFill>
                  <a:schemeClr val="tx1"/>
                </a:solidFill>
                <a:latin typeface="Arial" panose="02080604020202020204" pitchFamily="34" charset="0"/>
              </a:rPr>
              <a:t>x2 = 1;</a:t>
            </a:r>
            <a:endParaRPr lang="en-US" altLang="zh-CN" sz="28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spcBef>
                <a:spcPct val="5000"/>
              </a:spcBef>
            </a:pPr>
            <a:endParaRPr lang="en-US" altLang="zh-CN" sz="28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spcBef>
                <a:spcPct val="5000"/>
              </a:spcBef>
            </a:pPr>
            <a:r>
              <a:rPr lang="en-US" altLang="zh-CN" sz="2800">
                <a:solidFill>
                  <a:schemeClr val="tx1"/>
                </a:solidFill>
                <a:latin typeface="Arial" panose="02080604020202020204" pitchFamily="34" charset="0"/>
              </a:rPr>
              <a:t>x = x1 + x2;</a:t>
            </a:r>
            <a:endParaRPr lang="en-US" altLang="zh-CN" sz="28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spcBef>
                <a:spcPct val="5000"/>
              </a:spcBef>
            </a:pPr>
            <a:r>
              <a:rPr lang="en-US" altLang="zh-CN" sz="2800">
                <a:solidFill>
                  <a:schemeClr val="tx1"/>
                </a:solidFill>
                <a:latin typeface="Arial" panose="02080604020202020204" pitchFamily="34" charset="0"/>
              </a:rPr>
              <a:t>x1 = x2;</a:t>
            </a:r>
            <a:endParaRPr lang="en-US" altLang="zh-CN" sz="28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spcBef>
                <a:spcPct val="5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Arial" panose="02080604020202020204" pitchFamily="34" charset="0"/>
              </a:rPr>
              <a:t>x2 = </a:t>
            </a:r>
            <a:r>
              <a:rPr lang="en-US" altLang="zh-CN" sz="2800">
                <a:solidFill>
                  <a:schemeClr val="tx1"/>
                </a:solidFill>
                <a:latin typeface="Arial" panose="02080604020202020204" pitchFamily="34" charset="0"/>
              </a:rPr>
              <a:t>x;</a:t>
            </a:r>
            <a:endParaRPr lang="zh-CN" altLang="zh-CN" sz="2800" dirty="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74087" name="Rectangle 7"/>
          <p:cNvSpPr/>
          <p:nvPr/>
        </p:nvSpPr>
        <p:spPr>
          <a:xfrm>
            <a:off x="192088" y="3092450"/>
            <a:ext cx="8850312" cy="3505200"/>
          </a:xfrm>
          <a:prstGeom prst="rect">
            <a:avLst/>
          </a:prstGeom>
          <a:noFill/>
          <a:ln w="127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lIns="90488" tIns="44450" rIns="90488" bIns="44450" anchor="t" anchorCtr="0"/>
          <a:p>
            <a:pPr marL="342900" indent="-342900" algn="just">
              <a:spcBef>
                <a:spcPct val="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x1 = 1;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spcBef>
                <a:spcPct val="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x2 = 1;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printf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("%6d%6d", x1, x2 );      /*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输出头两项 */</a:t>
            </a:r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for (i = 1; i &lt;= 8; i++){            /*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循环输出后8项 */</a:t>
            </a:r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       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x = x1 + x2;                      /*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计算新项 */</a:t>
            </a:r>
            <a:endParaRPr lang="zh-CN" altLang="en-US" sz="2400" dirty="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        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printf("%6d", x); 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    x1 = x2;                            /* 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更新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x1</a:t>
            </a:r>
            <a:r>
              <a:rPr lang="zh-CN" altLang="en-US" sz="2400" dirty="0">
                <a:solidFill>
                  <a:schemeClr val="tx1"/>
                </a:solidFill>
                <a:latin typeface="Arial" panose="02080604020202020204" pitchFamily="34" charset="0"/>
              </a:rPr>
              <a:t>和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x2 */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    x2 = x;    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}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3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3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charRg st="35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3">
                                            <p:txEl>
                                              <p:charRg st="35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3">
                                            <p:txEl>
                                              <p:charRg st="35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charRg st="46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083">
                                            <p:txEl>
                                              <p:charRg st="46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083">
                                            <p:txEl>
                                              <p:charRg st="46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08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08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086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086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>
                                            <p:txEl>
                                              <p:charRg st="2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4086">
                                            <p:txEl>
                                              <p:charRg st="2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4086">
                                            <p:txEl>
                                              <p:charRg st="2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>
                                            <p:txEl>
                                              <p:charRg st="36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086">
                                            <p:txEl>
                                              <p:charRg st="36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086">
                                            <p:txEl>
                                              <p:charRg st="36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bldLvl="2" build="p"/>
      <p:bldP spid="174086" grpId="0" bldLvl="2" build="p"/>
      <p:bldP spid="174087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304800" y="692150"/>
            <a:ext cx="6715125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例4-11古典算术问题－搬砖头</a:t>
            </a:r>
            <a:endParaRPr lang="zh-CN" altLang="en-US" sz="3600" dirty="0"/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323850" y="1557338"/>
            <a:ext cx="8229600" cy="1524000"/>
          </a:xfrm>
        </p:spPr>
        <p:txBody>
          <a:bodyPr vert="horz" wrap="square" lIns="91440" tIns="45720" rIns="91440" bIns="45720" anchor="t" anchorCtr="0"/>
          <a:p>
            <a:pPr lvl="1">
              <a:spcBef>
                <a:spcPct val="0"/>
              </a:spcBef>
              <a:buFontTx/>
              <a:buNone/>
            </a:pPr>
            <a:r>
              <a:rPr lang="zh-CN" altLang="en-US" dirty="0"/>
              <a:t>亲子搬砖游戏，已知男人一人搬3块，女人一人搬2块，小孩两人搬一块。</a:t>
            </a:r>
            <a:endParaRPr lang="zh-CN" altLang="en-US" dirty="0"/>
          </a:p>
          <a:p>
            <a:pPr lvl="1">
              <a:spcBef>
                <a:spcPct val="0"/>
              </a:spcBef>
              <a:buFontTx/>
              <a:buNone/>
            </a:pPr>
            <a:r>
              <a:rPr lang="zh-CN" altLang="en-US" dirty="0"/>
              <a:t>问用45人正好搬45块砖，有多少种搬法？</a:t>
            </a:r>
            <a:endParaRPr lang="en-US" altLang="zh-CN"/>
          </a:p>
        </p:txBody>
      </p:sp>
      <p:sp>
        <p:nvSpPr>
          <p:cNvPr id="39940" name="Rectangle 6"/>
          <p:cNvSpPr/>
          <p:nvPr/>
        </p:nvSpPr>
        <p:spPr>
          <a:xfrm>
            <a:off x="157163" y="3213100"/>
            <a:ext cx="8915400" cy="2743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for (men = 0; men &lt;= 45; men++)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for (women = 0; women &lt;= 45; women++)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  for (child = 0; child &lt;= 45; child++)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       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if ((</a:t>
            </a:r>
            <a:r>
              <a:rPr lang="en-US" altLang="zh-CN" sz="2400" err="1">
                <a:solidFill>
                  <a:srgbClr val="CC0066"/>
                </a:solidFill>
                <a:latin typeface="Arial" panose="02080604020202020204" pitchFamily="34" charset="0"/>
              </a:rPr>
              <a:t>men+women+child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==45) &amp;&amp; (men*3+women*2+child*0.5==45))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                </a:t>
            </a:r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printf("men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=%d  women=%d  child=%</a:t>
            </a:r>
            <a:r>
              <a:rPr lang="en-US" altLang="zh-CN" sz="2400" err="1">
                <a:solidFill>
                  <a:schemeClr val="tx1"/>
                </a:solidFill>
                <a:latin typeface="Arial" panose="02080604020202020204" pitchFamily="34" charset="0"/>
              </a:rPr>
              <a:t>d\n</a:t>
            </a: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", men, women, child);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400">
                <a:solidFill>
                  <a:schemeClr val="tx1"/>
                </a:solidFill>
                <a:latin typeface="Arial" panose="02080604020202020204" pitchFamily="34" charset="0"/>
              </a:rPr>
              <a:t>}</a:t>
            </a:r>
            <a:endParaRPr lang="en-US" altLang="zh-CN" sz="240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0962" name="Rectangle 2050"/>
          <p:cNvSpPr>
            <a:spLocks noGrp="1"/>
          </p:cNvSpPr>
          <p:nvPr>
            <p:ph type="title"/>
          </p:nvPr>
        </p:nvSpPr>
        <p:spPr>
          <a:xfrm>
            <a:off x="3792538" y="46038"/>
            <a:ext cx="5027612" cy="762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例4-11 源程序(2)</a:t>
            </a:r>
            <a:endParaRPr lang="zh-CN" altLang="en-US" sz="3600" dirty="0"/>
          </a:p>
        </p:txBody>
      </p:sp>
      <p:sp>
        <p:nvSpPr>
          <p:cNvPr id="40963" name="Rectangle 2051"/>
          <p:cNvSpPr>
            <a:spLocks noGrp="1"/>
          </p:cNvSpPr>
          <p:nvPr>
            <p:ph idx="1"/>
          </p:nvPr>
        </p:nvSpPr>
        <p:spPr>
          <a:xfrm>
            <a:off x="0" y="836613"/>
            <a:ext cx="9144000" cy="3001962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sz="2400"/>
              <a:t>for (men = 0; men &lt;= 15; men++)</a:t>
            </a:r>
            <a:endParaRPr lang="en-US" altLang="zh-CN" sz="2400"/>
          </a:p>
          <a:p>
            <a:pPr lvl="1" algn="just" eaLnBrk="1" hangingPunct="1">
              <a:buNone/>
            </a:pPr>
            <a:r>
              <a:rPr lang="en-US" altLang="zh-CN" sz="2400"/>
              <a:t>for (women = 0; women &lt;= 22; women++){</a:t>
            </a:r>
            <a:endParaRPr lang="en-US" altLang="zh-CN" sz="2400"/>
          </a:p>
          <a:p>
            <a:pPr algn="just" eaLnBrk="1" hangingPunct="1">
              <a:buNone/>
            </a:pPr>
            <a:r>
              <a:rPr lang="en-US" altLang="zh-CN" sz="2400"/>
              <a:t>         </a:t>
            </a:r>
            <a:r>
              <a:rPr lang="en-US" altLang="zh-CN" sz="2400">
                <a:solidFill>
                  <a:srgbClr val="CC0066"/>
                </a:solidFill>
              </a:rPr>
              <a:t>child = 45 – women – men;</a:t>
            </a:r>
            <a:r>
              <a:rPr lang="en-US" altLang="zh-CN" sz="2400"/>
              <a:t> </a:t>
            </a:r>
            <a:endParaRPr lang="en-US" altLang="zh-CN" sz="2400"/>
          </a:p>
          <a:p>
            <a:pPr algn="just" eaLnBrk="1" hangingPunct="1">
              <a:buNone/>
            </a:pPr>
            <a:r>
              <a:rPr lang="en-US" altLang="zh-CN" sz="2400"/>
              <a:t>         if (men * 3 + women * 2 + child * 0.5 == 45)</a:t>
            </a:r>
            <a:endParaRPr lang="en-US" altLang="zh-CN" sz="2400"/>
          </a:p>
          <a:p>
            <a:pPr algn="just" eaLnBrk="1" hangingPunct="1">
              <a:buNone/>
            </a:pPr>
            <a:r>
              <a:rPr lang="en-US" altLang="zh-CN" sz="2400"/>
              <a:t>               </a:t>
            </a:r>
            <a:r>
              <a:rPr lang="en-US" altLang="zh-CN" sz="2400" err="1"/>
              <a:t>printf("men</a:t>
            </a:r>
            <a:r>
              <a:rPr lang="en-US" altLang="zh-CN" sz="2400"/>
              <a:t>=%d  women=%d  child=%</a:t>
            </a:r>
            <a:r>
              <a:rPr lang="en-US" altLang="zh-CN" sz="2400" err="1"/>
              <a:t>d\n</a:t>
            </a:r>
            <a:r>
              <a:rPr lang="en-US" altLang="zh-CN" sz="2400"/>
              <a:t>", men, women, child);</a:t>
            </a:r>
            <a:endParaRPr lang="en-US" altLang="zh-CN" sz="2400"/>
          </a:p>
          <a:p>
            <a:pPr lvl="1" algn="just" eaLnBrk="1" hangingPunct="1">
              <a:buNone/>
            </a:pPr>
            <a:r>
              <a:rPr lang="en-US" altLang="zh-CN" sz="2400"/>
              <a:t>}</a:t>
            </a:r>
            <a:endParaRPr lang="en-US" altLang="zh-CN" sz="2400"/>
          </a:p>
        </p:txBody>
      </p:sp>
      <p:sp>
        <p:nvSpPr>
          <p:cNvPr id="100358" name="Rectangle 2054"/>
          <p:cNvSpPr/>
          <p:nvPr/>
        </p:nvSpPr>
        <p:spPr>
          <a:xfrm>
            <a:off x="1619250" y="3860800"/>
            <a:ext cx="7175500" cy="251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for (men = 0; men &lt;= 45; men++)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   for (women = 0; women &lt;= 45; women++)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      for (child = 0; child &lt;= 45; child++)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         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if ((</a:t>
            </a:r>
            <a:r>
              <a:rPr lang="en-US" altLang="zh-CN" sz="2000" err="1">
                <a:solidFill>
                  <a:srgbClr val="CC0066"/>
                </a:solidFill>
                <a:latin typeface="Arial" panose="02080604020202020204" pitchFamily="34" charset="0"/>
              </a:rPr>
              <a:t>men+women+child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==45) &amp;&amp; (men*3+women*2+child*0.5==45))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               </a:t>
            </a:r>
            <a:r>
              <a:rPr lang="en-US" altLang="zh-CN" sz="2000" err="1">
                <a:solidFill>
                  <a:schemeClr val="tx1"/>
                </a:solidFill>
                <a:latin typeface="Arial" panose="02080604020202020204" pitchFamily="34" charset="0"/>
              </a:rPr>
              <a:t>printf("men</a:t>
            </a: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=%d  women=%d  child=%</a:t>
            </a:r>
            <a:r>
              <a:rPr lang="en-US" altLang="zh-CN" sz="2000" err="1">
                <a:solidFill>
                  <a:schemeClr val="tx1"/>
                </a:solidFill>
                <a:latin typeface="Arial" panose="02080604020202020204" pitchFamily="34" charset="0"/>
              </a:rPr>
              <a:t>d\n</a:t>
            </a: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", men, women, child);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</a:pPr>
            <a:r>
              <a:rPr lang="en-US" altLang="zh-CN" sz="2000">
                <a:solidFill>
                  <a:schemeClr val="tx1"/>
                </a:solidFill>
                <a:latin typeface="Arial" panose="02080604020202020204" pitchFamily="34" charset="0"/>
              </a:rPr>
              <a:t>}</a:t>
            </a:r>
            <a:endParaRPr lang="en-US" altLang="zh-CN" sz="2000">
              <a:solidFill>
                <a:schemeClr val="tx1"/>
              </a:solidFill>
              <a:latin typeface="Arial" panose="02080604020202020204" pitchFamily="34" charset="0"/>
            </a:endParaRPr>
          </a:p>
        </p:txBody>
      </p:sp>
      <p:sp>
        <p:nvSpPr>
          <p:cNvPr id="100359" name="Rectangle 2055"/>
          <p:cNvSpPr/>
          <p:nvPr/>
        </p:nvSpPr>
        <p:spPr>
          <a:xfrm>
            <a:off x="6227763" y="3211513"/>
            <a:ext cx="23272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比较循环次数</a:t>
            </a:r>
            <a:endParaRPr lang="zh-CN" altLang="en-US" sz="28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8" grpId="0"/>
      <p:bldP spid="100359" grpId="0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9783</Words>
  <Application>WPS 演示</Application>
  <PresentationFormat>全屏显示(4:3)</PresentationFormat>
  <Paragraphs>745</Paragraphs>
  <Slides>43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3" baseType="lpstr">
      <vt:lpstr>Arial</vt:lpstr>
      <vt:lpstr>宋体</vt:lpstr>
      <vt:lpstr>Wingdings</vt:lpstr>
      <vt:lpstr>DejaVu Sans</vt:lpstr>
      <vt:lpstr>文泉驿微米黑</vt:lpstr>
      <vt:lpstr>Arial Black</vt:lpstr>
      <vt:lpstr>Times New Roman</vt:lpstr>
      <vt:lpstr>仿宋_GB2312</vt:lpstr>
      <vt:lpstr>Arial Unicode MS</vt:lpstr>
      <vt:lpstr>黑体</vt:lpstr>
      <vt:lpstr>思源黑体 CN Normal</vt:lpstr>
      <vt:lpstr>Symbol</vt:lpstr>
      <vt:lpstr>Monotype Sorts</vt:lpstr>
      <vt:lpstr>Wingdings</vt:lpstr>
      <vt:lpstr>微软雅黑</vt:lpstr>
      <vt:lpstr>宋体</vt:lpstr>
      <vt:lpstr>Arial Unicode MS</vt:lpstr>
      <vt:lpstr>Noto Sans Symbols2</vt:lpstr>
      <vt:lpstr>Pixel</vt:lpstr>
      <vt:lpstr>Equation.DSMT4</vt:lpstr>
      <vt:lpstr>Chap 4  循环结构</vt:lpstr>
      <vt:lpstr>PowerPoint 演示文稿</vt:lpstr>
      <vt:lpstr>源程序－求 1+2+……+100</vt:lpstr>
      <vt:lpstr>源程序－求 1+2+……+100</vt:lpstr>
      <vt:lpstr>求 1+1/2+1/3+……+ 1/100</vt:lpstr>
      <vt:lpstr>PowerPoint 演示文稿</vt:lpstr>
      <vt:lpstr>PowerPoint 演示文稿</vt:lpstr>
      <vt:lpstr>PowerPoint 演示文稿</vt:lpstr>
      <vt:lpstr>用格里高利公式求π的近似值</vt:lpstr>
      <vt:lpstr>PowerPoint 演示文稿</vt:lpstr>
      <vt:lpstr>统计输入的一批学生的平均成绩</vt:lpstr>
      <vt:lpstr>PowerPoint 演示文稿</vt:lpstr>
      <vt:lpstr>PowerPoint 演示文稿</vt:lpstr>
      <vt:lpstr>源程序－求 1+2+……+100</vt:lpstr>
      <vt:lpstr>do - while 语句</vt:lpstr>
      <vt:lpstr>while 和 do-while 的比较</vt:lpstr>
      <vt:lpstr>统计一个整数的位数</vt:lpstr>
      <vt:lpstr>循环语句的选择</vt:lpstr>
      <vt:lpstr>PowerPoint 演示文稿</vt:lpstr>
      <vt:lpstr>判断素数</vt:lpstr>
      <vt:lpstr>源程序－判断素数</vt:lpstr>
      <vt:lpstr>break 语句</vt:lpstr>
      <vt:lpstr>continue 语句</vt:lpstr>
      <vt:lpstr>break 和 continue对比</vt:lpstr>
      <vt:lpstr>PowerPoint 演示文稿</vt:lpstr>
      <vt:lpstr>求1! + 2! + …. + 100!</vt:lpstr>
      <vt:lpstr>PowerPoint 演示文稿</vt:lpstr>
      <vt:lpstr>PowerPoint 演示文稿</vt:lpstr>
      <vt:lpstr>PowerPoint 演示文稿</vt:lpstr>
      <vt:lpstr>分析嵌套循环的执行过程</vt:lpstr>
      <vt:lpstr>PowerPoint 演示文稿</vt:lpstr>
      <vt:lpstr>PowerPoint 演示文稿</vt:lpstr>
      <vt:lpstr>PowerPoint 演示文稿</vt:lpstr>
      <vt:lpstr>PowerPoint 演示文稿</vt:lpstr>
      <vt:lpstr>例4-7 输入一批学生的成绩，求最高分(for)</vt:lpstr>
      <vt:lpstr>例4-7 输入一批学生的成绩，求最高分(while)</vt:lpstr>
      <vt:lpstr>例4-7 输入一批学生的成绩，求最高分(do-while)</vt:lpstr>
      <vt:lpstr>例4-8  将一个正整数逆序输出</vt:lpstr>
      <vt:lpstr>例4-9 求500以内的全部素数，每行输出10个</vt:lpstr>
      <vt:lpstr>例4-9  源程序</vt:lpstr>
      <vt:lpstr>例4-10 求Fibonacci序列：1,1,2,3,5,8,13,… </vt:lpstr>
      <vt:lpstr>例4-11古典算术问题－搬砖头</vt:lpstr>
      <vt:lpstr>例4-11 源程序(2)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huxy</cp:lastModifiedBy>
  <cp:revision>1256</cp:revision>
  <dcterms:created xsi:type="dcterms:W3CDTF">2023-10-13T01:40:20Z</dcterms:created>
  <dcterms:modified xsi:type="dcterms:W3CDTF">2023-10-13T01:40:20Z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2052-11.1.0.10920</vt:lpwstr>
  </property>
</Properties>
</file>