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95"/>
  </p:handoutMasterIdLst>
  <p:sldIdLst>
    <p:sldId id="778" r:id="rId3"/>
    <p:sldId id="779" r:id="rId4"/>
    <p:sldId id="780" r:id="rId5"/>
    <p:sldId id="781" r:id="rId6"/>
    <p:sldId id="782" r:id="rId7"/>
    <p:sldId id="783" r:id="rId8"/>
    <p:sldId id="784" r:id="rId9"/>
    <p:sldId id="785" r:id="rId10"/>
    <p:sldId id="786" r:id="rId11"/>
    <p:sldId id="787" r:id="rId12"/>
    <p:sldId id="788" r:id="rId13"/>
    <p:sldId id="789" r:id="rId14"/>
    <p:sldId id="790" r:id="rId15"/>
    <p:sldId id="791" r:id="rId16"/>
    <p:sldId id="792" r:id="rId17"/>
    <p:sldId id="865" r:id="rId18"/>
    <p:sldId id="793" r:id="rId19"/>
    <p:sldId id="794" r:id="rId21"/>
    <p:sldId id="795" r:id="rId22"/>
    <p:sldId id="796" r:id="rId23"/>
    <p:sldId id="797" r:id="rId24"/>
    <p:sldId id="798" r:id="rId25"/>
    <p:sldId id="799" r:id="rId26"/>
    <p:sldId id="800" r:id="rId27"/>
    <p:sldId id="801" r:id="rId28"/>
    <p:sldId id="802" r:id="rId29"/>
    <p:sldId id="803" r:id="rId30"/>
    <p:sldId id="804" r:id="rId31"/>
    <p:sldId id="805" r:id="rId32"/>
    <p:sldId id="806" r:id="rId33"/>
    <p:sldId id="866" r:id="rId34"/>
    <p:sldId id="807" r:id="rId35"/>
    <p:sldId id="808" r:id="rId36"/>
    <p:sldId id="809" r:id="rId37"/>
    <p:sldId id="810" r:id="rId38"/>
    <p:sldId id="811" r:id="rId39"/>
    <p:sldId id="812" r:id="rId40"/>
    <p:sldId id="813" r:id="rId41"/>
    <p:sldId id="814" r:id="rId42"/>
    <p:sldId id="815" r:id="rId43"/>
    <p:sldId id="816" r:id="rId44"/>
    <p:sldId id="817" r:id="rId45"/>
    <p:sldId id="818" r:id="rId46"/>
    <p:sldId id="819" r:id="rId47"/>
    <p:sldId id="867" r:id="rId48"/>
    <p:sldId id="820" r:id="rId49"/>
    <p:sldId id="821" r:id="rId50"/>
    <p:sldId id="822" r:id="rId51"/>
    <p:sldId id="823" r:id="rId52"/>
    <p:sldId id="824" r:id="rId53"/>
    <p:sldId id="825" r:id="rId54"/>
    <p:sldId id="868" r:id="rId55"/>
    <p:sldId id="826" r:id="rId56"/>
    <p:sldId id="827" r:id="rId57"/>
    <p:sldId id="828" r:id="rId58"/>
    <p:sldId id="829" r:id="rId59"/>
    <p:sldId id="830" r:id="rId60"/>
    <p:sldId id="831" r:id="rId61"/>
    <p:sldId id="832" r:id="rId62"/>
    <p:sldId id="833" r:id="rId63"/>
    <p:sldId id="834" r:id="rId64"/>
    <p:sldId id="835" r:id="rId65"/>
    <p:sldId id="836" r:id="rId66"/>
    <p:sldId id="837" r:id="rId67"/>
    <p:sldId id="838" r:id="rId68"/>
    <p:sldId id="839" r:id="rId69"/>
    <p:sldId id="840" r:id="rId70"/>
    <p:sldId id="841" r:id="rId71"/>
    <p:sldId id="842" r:id="rId72"/>
    <p:sldId id="843" r:id="rId73"/>
    <p:sldId id="844" r:id="rId74"/>
    <p:sldId id="845" r:id="rId75"/>
    <p:sldId id="846" r:id="rId76"/>
    <p:sldId id="847" r:id="rId77"/>
    <p:sldId id="848" r:id="rId78"/>
    <p:sldId id="849" r:id="rId79"/>
    <p:sldId id="850" r:id="rId80"/>
    <p:sldId id="851" r:id="rId81"/>
    <p:sldId id="870" r:id="rId82"/>
    <p:sldId id="853" r:id="rId83"/>
    <p:sldId id="854" r:id="rId84"/>
    <p:sldId id="855" r:id="rId85"/>
    <p:sldId id="856" r:id="rId86"/>
    <p:sldId id="857" r:id="rId87"/>
    <p:sldId id="858" r:id="rId88"/>
    <p:sldId id="859" r:id="rId89"/>
    <p:sldId id="860" r:id="rId90"/>
    <p:sldId id="861" r:id="rId91"/>
    <p:sldId id="862" r:id="rId92"/>
    <p:sldId id="863" r:id="rId93"/>
    <p:sldId id="864" r:id="rId94"/>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008080"/>
    <a:srgbClr val="FF3300"/>
    <a:srgbClr val="FF9966"/>
    <a:srgbClr val="FF9933"/>
    <a:srgbClr val="FFFF00"/>
    <a:srgbClr val="757E30"/>
    <a:srgbClr val="33CCCC"/>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5655"/>
    <p:restoredTop sz="87587"/>
  </p:normalViewPr>
  <p:slideViewPr>
    <p:cSldViewPr showGuides="1">
      <p:cViewPr varScale="1">
        <p:scale>
          <a:sx n="96" d="100"/>
          <a:sy n="96" d="100"/>
        </p:scale>
        <p:origin x="392" y="48"/>
      </p:cViewPr>
      <p:guideLst>
        <p:guide orient="horz" pos="2161"/>
        <p:guide pos="282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handoutMaster" Target="handoutMasters/handoutMaster1.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512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512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DC051A7-3587-483F-9A84-19A57A54D702}" type="slidenum">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fld>
            <a:endParaRPr kumimoji="1" lang="en-US" altLang="zh-CN"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3076" name="Rectangle 4"/>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59EBB9F-ED3F-4095-BBB0-A0D8AB781BF8}" type="slidenum">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fld>
            <a:endParaRPr kumimoji="1" lang="en-US" altLang="zh-CN"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23554" name="Rectangle 2"/>
          <p:cNvSpPr>
            <a:spLocks noTextEdit="1"/>
          </p:cNvSpPr>
          <p:nvPr>
            <p:ph type="sldImg"/>
          </p:nvPr>
        </p:nvSpPr>
        <p:spPr>
          <a:solidFill>
            <a:srgbClr val="FFFFFF"/>
          </a:solidFill>
        </p:spPr>
      </p:sp>
      <p:sp>
        <p:nvSpPr>
          <p:cNvPr id="23555"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38914" name="Rectangle 2"/>
          <p:cNvSpPr>
            <a:spLocks noTextEdit="1"/>
          </p:cNvSpPr>
          <p:nvPr>
            <p:ph type="sldImg"/>
          </p:nvPr>
        </p:nvSpPr>
        <p:spPr>
          <a:solidFill>
            <a:srgbClr val="FFFFFF"/>
          </a:solidFill>
        </p:spPr>
      </p:sp>
      <p:sp>
        <p:nvSpPr>
          <p:cNvPr id="38915"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53250" name="Rectangle 2"/>
          <p:cNvSpPr>
            <a:spLocks noTextEdit="1"/>
          </p:cNvSpPr>
          <p:nvPr>
            <p:ph type="sldImg"/>
          </p:nvPr>
        </p:nvSpPr>
        <p:spPr>
          <a:solidFill>
            <a:srgbClr val="FFFFFF"/>
          </a:solidFill>
        </p:spPr>
      </p:sp>
      <p:sp>
        <p:nvSpPr>
          <p:cNvPr id="53251"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60418" name="Rectangle 2"/>
          <p:cNvSpPr>
            <a:spLocks noTextEdit="1"/>
          </p:cNvSpPr>
          <p:nvPr>
            <p:ph type="sldImg"/>
          </p:nvPr>
        </p:nvSpPr>
        <p:spPr>
          <a:solidFill>
            <a:srgbClr val="FFFFFF"/>
          </a:solidFill>
        </p:spPr>
      </p:sp>
      <p:sp>
        <p:nvSpPr>
          <p:cNvPr id="60419"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79874" name="Rectangle 2"/>
          <p:cNvSpPr>
            <a:spLocks noTextEdit="1"/>
          </p:cNvSpPr>
          <p:nvPr>
            <p:ph type="sldImg"/>
          </p:nvPr>
        </p:nvSpPr>
        <p:spPr>
          <a:solidFill>
            <a:srgbClr val="FFFFFF"/>
          </a:solidFill>
        </p:spPr>
      </p:sp>
      <p:sp>
        <p:nvSpPr>
          <p:cNvPr id="79875"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81922" name="Rectangle 2"/>
          <p:cNvSpPr>
            <a:spLocks noTextEdit="1"/>
          </p:cNvSpPr>
          <p:nvPr>
            <p:ph type="sldImg"/>
          </p:nvPr>
        </p:nvSpPr>
        <p:spPr/>
      </p:sp>
      <p:sp>
        <p:nvSpPr>
          <p:cNvPr id="81923"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83970" name="Rectangle 2"/>
          <p:cNvSpPr>
            <a:spLocks noTextEdit="1"/>
          </p:cNvSpPr>
          <p:nvPr>
            <p:ph type="sldImg"/>
          </p:nvPr>
        </p:nvSpPr>
        <p:spPr/>
      </p:sp>
      <p:sp>
        <p:nvSpPr>
          <p:cNvPr id="83971"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86018" name="Rectangle 2"/>
          <p:cNvSpPr>
            <a:spLocks noTextEdit="1"/>
          </p:cNvSpPr>
          <p:nvPr>
            <p:ph type="sldImg"/>
          </p:nvPr>
        </p:nvSpPr>
        <p:spPr/>
      </p:sp>
      <p:sp>
        <p:nvSpPr>
          <p:cNvPr id="86019"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88066" name="Rectangle 2"/>
          <p:cNvSpPr>
            <a:spLocks noTextEdit="1"/>
          </p:cNvSpPr>
          <p:nvPr>
            <p:ph type="sldImg"/>
          </p:nvPr>
        </p:nvSpPr>
        <p:spPr/>
      </p:sp>
      <p:sp>
        <p:nvSpPr>
          <p:cNvPr id="88067" name="Rectangle 3"/>
          <p:cNvSpPr>
            <a:spLocks noGrp="1"/>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34920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34920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lvl1pPr algn="r">
              <a:defRPr sz="1200">
                <a:latin typeface="Arial Black"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800D6FC-F8F6-4751-AF76-C915BE71AE02}" type="slidenum">
              <a:rPr kumimoji="0" lang="zh-CN" altLang="en-US" sz="1200" b="0" i="0" u="none" strike="noStrike" kern="1200" cap="none" spc="0" normalizeH="0" baseline="0" noProof="0" smtClean="0">
                <a:ln>
                  <a:noFill/>
                </a:ln>
                <a:solidFill>
                  <a:schemeClr val="tx1"/>
                </a:solidFill>
                <a:effectLst/>
                <a:uLnTx/>
                <a:uFillTx/>
                <a:latin typeface="Arial Black" pitchFamily="34" charset="0"/>
                <a:ea typeface="宋体"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Black"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灯片编号占位符 5"/>
          <p:cNvSpPr>
            <a:spLocks noGrp="1"/>
          </p:cNvSpPr>
          <p:nvPr>
            <p:ph type="sldNum" sz="quarter" idx="11"/>
          </p:nvPr>
        </p:nvSpPr>
        <p:spPr>
          <a:xfrm>
            <a:off x="6553200" y="6248400"/>
            <a:ext cx="2133600" cy="457200"/>
          </a:xfrm>
        </p:spPr>
        <p:txBody>
          <a:bodyPr/>
          <a:p>
            <a:pPr marL="0" marR="0" lvl="0" indent="0" algn="r" defTabSz="914400" rtl="0" eaLnBrk="1" fontAlgn="base" latinLnBrk="0" hangingPunct="1">
              <a:lnSpc>
                <a:spcPct val="100000"/>
              </a:lnSpc>
              <a:spcBef>
                <a:spcPct val="0"/>
              </a:spcBef>
              <a:spcAft>
                <a:spcPct val="0"/>
              </a:spcAft>
              <a:buClrTx/>
              <a:buSzTx/>
              <a:buFontTx/>
              <a:buNone/>
              <a:defRPr/>
            </a:pPr>
            <a:fld id="{E54AC981-3895-42EE-8AD4-27665A5AED61}" type="slidenum">
              <a:rPr kumimoji="0" lang="zh-CN" altLang="en-US" sz="1200" b="0" i="0" u="none" strike="noStrike" kern="1200" cap="none" spc="0" normalizeH="0" baseline="0" noProof="0" smtClean="0">
                <a:ln>
                  <a:noFill/>
                </a:ln>
                <a:solidFill>
                  <a:schemeClr val="tx1"/>
                </a:solidFill>
                <a:effectLst/>
                <a:uLnTx/>
                <a:uFillTx/>
                <a:latin typeface="Arial Black" pitchFamily="34" charset="0"/>
                <a:ea typeface="宋体"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Black" pitchFamily="34" charset="0"/>
              <a:ea typeface="宋体" pitchFamily="2" charset="-122"/>
              <a:cs typeface="+mn-cs"/>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4816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a:latin typeface="Arial" panose="0208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1028"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9"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4817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8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48177" name="Text Box 17"/>
          <p:cNvSpPr txBox="1">
            <a:spLocks noChangeArrowheads="1"/>
          </p:cNvSpPr>
          <p:nvPr/>
        </p:nvSpPr>
        <p:spPr bwMode="auto">
          <a:xfrm>
            <a:off x="8532813" y="6308725"/>
            <a:ext cx="503238" cy="366713"/>
          </a:xfrm>
          <a:prstGeom prst="rect">
            <a:avLst/>
          </a:prstGeom>
          <a:noFill/>
          <a:ln w="9525">
            <a:noFill/>
            <a:miter lim="800000"/>
          </a:ln>
          <a:effectLst/>
        </p:spPr>
        <p:txBody>
          <a:bodyPr lIns="92075" tIns="46038" rIns="92075" bIns="46038">
            <a:spAutoFit/>
          </a:bodyPr>
          <a:lstStyle>
            <a:lvl1pPr eaLnBrk="0" hangingPunct="0">
              <a:defRPr>
                <a:solidFill>
                  <a:schemeClr val="tx1"/>
                </a:solidFill>
                <a:latin typeface="Arial" panose="02080604020202020204" pitchFamily="34" charset="0"/>
                <a:ea typeface="宋体" pitchFamily="2" charset="-122"/>
              </a:defRPr>
            </a:lvl1pPr>
            <a:lvl2pPr marL="742950" indent="-285750" eaLnBrk="0" hangingPunct="0">
              <a:defRPr>
                <a:solidFill>
                  <a:schemeClr val="tx1"/>
                </a:solidFill>
                <a:latin typeface="Arial" panose="02080604020202020204" pitchFamily="34" charset="0"/>
                <a:ea typeface="宋体" pitchFamily="2" charset="-122"/>
              </a:defRPr>
            </a:lvl2pPr>
            <a:lvl3pPr marL="1143000" indent="-228600" eaLnBrk="0" hangingPunct="0">
              <a:defRPr>
                <a:solidFill>
                  <a:schemeClr val="tx1"/>
                </a:solidFill>
                <a:latin typeface="Arial" panose="02080604020202020204" pitchFamily="34" charset="0"/>
                <a:ea typeface="宋体" pitchFamily="2" charset="-122"/>
              </a:defRPr>
            </a:lvl3pPr>
            <a:lvl4pPr marL="1600200" indent="-228600" eaLnBrk="0" hangingPunct="0">
              <a:defRPr>
                <a:solidFill>
                  <a:schemeClr val="tx1"/>
                </a:solidFill>
                <a:latin typeface="Arial" panose="02080604020202020204" pitchFamily="34" charset="0"/>
                <a:ea typeface="宋体" pitchFamily="2" charset="-122"/>
              </a:defRPr>
            </a:lvl4pPr>
            <a:lvl5pPr marL="2057400" indent="-228600" eaLnBrk="0" hangingPunct="0">
              <a:defRPr>
                <a:solidFill>
                  <a:schemeClr val="tx1"/>
                </a:solidFill>
                <a:latin typeface="Arial" panose="0208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8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8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8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80604020202020204"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fld id="{06D9E139-8418-4926-8889-64399745B40F}" type="slidenum">
              <a:rPr kumimoji="0" lang="zh-CN" altLang="en-US" sz="18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8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4400" b="1">
          <a:solidFill>
            <a:schemeClr val="hlink"/>
          </a:solidFill>
          <a:latin typeface="+mj-lt"/>
          <a:ea typeface="+mj-ea"/>
          <a:cs typeface="+mj-cs"/>
        </a:defRPr>
      </a:lvl1pPr>
      <a:lvl2pPr algn="l" rtl="0" eaLnBrk="0" fontAlgn="base" hangingPunct="0">
        <a:spcBef>
          <a:spcPct val="0"/>
        </a:spcBef>
        <a:spcAft>
          <a:spcPct val="0"/>
        </a:spcAft>
        <a:defRPr sz="4400" b="1">
          <a:solidFill>
            <a:schemeClr val="hlink"/>
          </a:solidFill>
          <a:latin typeface="Arial" panose="02080604020202020204" pitchFamily="34" charset="0"/>
          <a:ea typeface="宋体" pitchFamily="2" charset="-122"/>
        </a:defRPr>
      </a:lvl2pPr>
      <a:lvl3pPr algn="l" rtl="0" eaLnBrk="0" fontAlgn="base" hangingPunct="0">
        <a:spcBef>
          <a:spcPct val="0"/>
        </a:spcBef>
        <a:spcAft>
          <a:spcPct val="0"/>
        </a:spcAft>
        <a:defRPr sz="4400" b="1">
          <a:solidFill>
            <a:schemeClr val="hlink"/>
          </a:solidFill>
          <a:latin typeface="Arial" panose="02080604020202020204" pitchFamily="34" charset="0"/>
          <a:ea typeface="宋体" pitchFamily="2" charset="-122"/>
        </a:defRPr>
      </a:lvl3pPr>
      <a:lvl4pPr algn="l" rtl="0" eaLnBrk="0" fontAlgn="base" hangingPunct="0">
        <a:spcBef>
          <a:spcPct val="0"/>
        </a:spcBef>
        <a:spcAft>
          <a:spcPct val="0"/>
        </a:spcAft>
        <a:defRPr sz="4400" b="1">
          <a:solidFill>
            <a:schemeClr val="hlink"/>
          </a:solidFill>
          <a:latin typeface="Arial" panose="02080604020202020204" pitchFamily="34" charset="0"/>
          <a:ea typeface="宋体" pitchFamily="2" charset="-122"/>
        </a:defRPr>
      </a:lvl4pPr>
      <a:lvl5pPr algn="l" rtl="0" eaLnBrk="0" fontAlgn="base" hangingPunct="0">
        <a:spcBef>
          <a:spcPct val="0"/>
        </a:spcBef>
        <a:spcAft>
          <a:spcPct val="0"/>
        </a:spcAft>
        <a:defRPr sz="4400" b="1">
          <a:solidFill>
            <a:schemeClr val="hlink"/>
          </a:solidFill>
          <a:latin typeface="Arial" panose="02080604020202020204" pitchFamily="34" charset="0"/>
          <a:ea typeface="宋体" pitchFamily="2" charset="-122"/>
        </a:defRPr>
      </a:lvl5pPr>
      <a:lvl6pPr marL="457200" algn="l" rtl="0" fontAlgn="base">
        <a:spcBef>
          <a:spcPct val="0"/>
        </a:spcBef>
        <a:spcAft>
          <a:spcPct val="0"/>
        </a:spcAft>
        <a:defRPr sz="4400" b="1">
          <a:solidFill>
            <a:schemeClr val="hlink"/>
          </a:solidFill>
          <a:latin typeface="Arial" panose="02080604020202020204" pitchFamily="34" charset="0"/>
          <a:ea typeface="宋体" pitchFamily="2" charset="-122"/>
        </a:defRPr>
      </a:lvl6pPr>
      <a:lvl7pPr marL="914400" algn="l" rtl="0" fontAlgn="base">
        <a:spcBef>
          <a:spcPct val="0"/>
        </a:spcBef>
        <a:spcAft>
          <a:spcPct val="0"/>
        </a:spcAft>
        <a:defRPr sz="4400" b="1">
          <a:solidFill>
            <a:schemeClr val="hlink"/>
          </a:solidFill>
          <a:latin typeface="Arial" panose="02080604020202020204" pitchFamily="34" charset="0"/>
          <a:ea typeface="宋体" pitchFamily="2" charset="-122"/>
        </a:defRPr>
      </a:lvl7pPr>
      <a:lvl8pPr marL="1371600" algn="l" rtl="0" fontAlgn="base">
        <a:spcBef>
          <a:spcPct val="0"/>
        </a:spcBef>
        <a:spcAft>
          <a:spcPct val="0"/>
        </a:spcAft>
        <a:defRPr sz="4400" b="1">
          <a:solidFill>
            <a:schemeClr val="hlink"/>
          </a:solidFill>
          <a:latin typeface="Arial" panose="02080604020202020204" pitchFamily="34" charset="0"/>
          <a:ea typeface="宋体" pitchFamily="2" charset="-122"/>
        </a:defRPr>
      </a:lvl8pPr>
      <a:lvl9pPr marL="1828800" algn="l" rtl="0" fontAlgn="base">
        <a:spcBef>
          <a:spcPct val="0"/>
        </a:spcBef>
        <a:spcAft>
          <a:spcPct val="0"/>
        </a:spcAft>
        <a:defRPr sz="4400" b="1">
          <a:solidFill>
            <a:schemeClr val="hlink"/>
          </a:solidFill>
          <a:latin typeface="Arial" panose="02080604020202020204"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noFill/>
          <a:ln w="9525">
            <a:noFill/>
          </a:ln>
        </p:spPr>
        <p:txBody>
          <a:bodyPr vert="horz" wrap="square" lIns="91440" tIns="45720" rIns="91440" bIns="45720" rtlCol="0" anchor="ctr" anchorCtr="0">
            <a:normAutofit/>
          </a:bodyPr>
          <a:p>
            <a:pPr lvl="0" algn="l" eaLnBrk="1" hangingPunct="1">
              <a:buClrTx/>
              <a:buSzTx/>
              <a:buFontTx/>
            </a:pPr>
            <a:r>
              <a:rPr lang="en-US" altLang="zh-CN" dirty="0">
                <a:latin typeface="宋体" pitchFamily="2" charset="-122"/>
                <a:sym typeface="+mn-ea"/>
              </a:rPr>
              <a:t>Chap</a:t>
            </a:r>
            <a:r>
              <a:rPr lang="en-US" altLang="zh-CN" dirty="0">
                <a:latin typeface="宋体" pitchFamily="2" charset="-122"/>
                <a:sym typeface="+mn-ea"/>
              </a:rPr>
              <a:t> </a:t>
            </a:r>
            <a:r>
              <a:rPr lang="en-US" altLang="zh-CN" dirty="0">
                <a:latin typeface="宋体" pitchFamily="2" charset="-122"/>
                <a:sym typeface="+mn-ea"/>
              </a:rPr>
              <a:t>6  </a:t>
            </a:r>
            <a:r>
              <a:rPr lang="en-US" altLang="zh-CN" dirty="0">
                <a:latin typeface="宋体" pitchFamily="2" charset="-122"/>
                <a:sym typeface="+mn-ea"/>
              </a:rPr>
              <a:t>数据类型和表达式 </a:t>
            </a:r>
            <a:endParaRPr lang="en-US" altLang="zh-CN" dirty="0">
              <a:latin typeface="宋体" pitchFamily="2" charset="-122"/>
              <a:sym typeface="+mn-ea"/>
            </a:endParaRPr>
          </a:p>
        </p:txBody>
      </p:sp>
      <p:sp>
        <p:nvSpPr>
          <p:cNvPr id="7171" name="Rectangle 3"/>
          <p:cNvSpPr>
            <a:spLocks noGrp="1"/>
          </p:cNvSpPr>
          <p:nvPr>
            <p:ph idx="1"/>
          </p:nvPr>
        </p:nvSpPr>
        <p:spPr>
          <a:xfrm>
            <a:off x="900113" y="2133600"/>
            <a:ext cx="7200900" cy="3743325"/>
          </a:xfrm>
        </p:spPr>
        <p:txBody>
          <a:bodyPr vert="horz" wrap="square" lIns="91440" tIns="45720" rIns="91440" bIns="45720" anchor="t" anchorCtr="0"/>
          <a:p>
            <a:pPr marL="476250" indent="-476250" eaLnBrk="1" hangingPunct="1">
              <a:spcBef>
                <a:spcPct val="40000"/>
              </a:spcBef>
              <a:buNone/>
            </a:pPr>
            <a:r>
              <a:rPr lang="en-US" altLang="zh-CN" b="0">
                <a:solidFill>
                  <a:srgbClr val="FF0000"/>
                </a:solidFill>
              </a:rPr>
              <a:t>6.1  </a:t>
            </a:r>
            <a:r>
              <a:rPr lang="zh-CN" altLang="en-US" b="0" dirty="0">
                <a:solidFill>
                  <a:srgbClr val="FF0000"/>
                </a:solidFill>
                <a:latin typeface="宋体" pitchFamily="2" charset="-122"/>
              </a:rPr>
              <a:t>数据的存储和基本数据类型</a:t>
            </a:r>
            <a:r>
              <a:rPr lang="zh-CN" altLang="en-US" b="0" dirty="0"/>
              <a:t> </a:t>
            </a:r>
            <a:endParaRPr lang="en-US" altLang="zh-CN" b="0"/>
          </a:p>
          <a:p>
            <a:pPr marL="476250" indent="-476250" eaLnBrk="1" hangingPunct="1">
              <a:spcBef>
                <a:spcPct val="40000"/>
              </a:spcBef>
              <a:buNone/>
            </a:pPr>
            <a:r>
              <a:rPr lang="en-US" altLang="zh-CN" b="0"/>
              <a:t>6.2  </a:t>
            </a:r>
            <a:r>
              <a:rPr lang="zh-CN" altLang="en-US" b="0" dirty="0">
                <a:latin typeface="宋体" pitchFamily="2" charset="-122"/>
              </a:rPr>
              <a:t>常量和变量</a:t>
            </a:r>
            <a:r>
              <a:rPr lang="zh-CN" altLang="en-US" b="0" dirty="0"/>
              <a:t> </a:t>
            </a:r>
            <a:endParaRPr lang="zh-CN" altLang="en-US" b="0" dirty="0"/>
          </a:p>
          <a:p>
            <a:pPr marL="476250" indent="-476250" eaLnBrk="1" hangingPunct="1">
              <a:spcBef>
                <a:spcPct val="40000"/>
              </a:spcBef>
              <a:buNone/>
            </a:pPr>
            <a:r>
              <a:rPr lang="en-US" altLang="zh-CN" b="0"/>
              <a:t>6.3  </a:t>
            </a:r>
            <a:r>
              <a:rPr lang="zh-CN" altLang="en-US" b="0" dirty="0">
                <a:latin typeface="宋体" pitchFamily="2" charset="-122"/>
              </a:rPr>
              <a:t>数据的输入和输出</a:t>
            </a:r>
            <a:endParaRPr lang="zh-CN" altLang="en-US" b="0" dirty="0"/>
          </a:p>
          <a:p>
            <a:pPr marL="476250" indent="-476250" eaLnBrk="1" hangingPunct="1">
              <a:spcBef>
                <a:spcPct val="40000"/>
              </a:spcBef>
              <a:buNone/>
            </a:pPr>
            <a:r>
              <a:rPr lang="en-US" altLang="zh-CN" b="0"/>
              <a:t>6.4  </a:t>
            </a:r>
            <a:r>
              <a:rPr lang="zh-CN" altLang="en-US" b="0" dirty="0">
                <a:latin typeface="宋体" pitchFamily="2" charset="-122"/>
              </a:rPr>
              <a:t>类型转换</a:t>
            </a:r>
            <a:endParaRPr lang="zh-CN" altLang="en-US" b="0" dirty="0"/>
          </a:p>
          <a:p>
            <a:pPr marL="476250" indent="-476250" eaLnBrk="1" hangingPunct="1">
              <a:spcBef>
                <a:spcPct val="40000"/>
              </a:spcBef>
              <a:buNone/>
            </a:pPr>
            <a:r>
              <a:rPr lang="en-US" altLang="zh-CN" b="0"/>
              <a:t>6.5  </a:t>
            </a:r>
            <a:r>
              <a:rPr lang="zh-CN" altLang="en-US" b="0" dirty="0">
                <a:latin typeface="宋体" pitchFamily="2" charset="-122"/>
              </a:rPr>
              <a:t>表达式</a:t>
            </a:r>
            <a:endParaRPr lang="zh-CN" altLang="en-US"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457200" y="457200"/>
            <a:ext cx="7138988" cy="1100138"/>
          </a:xfrm>
        </p:spPr>
        <p:txBody>
          <a:bodyPr vert="horz" wrap="square" lIns="91440" tIns="45720" rIns="91440" bIns="45720" anchor="ctr" anchorCtr="0"/>
          <a:p>
            <a:pPr eaLnBrk="1" hangingPunct="1"/>
            <a:r>
              <a:rPr lang="zh-CN" altLang="en-US" dirty="0"/>
              <a:t>数据类型和表达式</a:t>
            </a:r>
            <a:endParaRPr lang="zh-CN" altLang="en-US" dirty="0"/>
          </a:p>
        </p:txBody>
      </p:sp>
      <p:sp>
        <p:nvSpPr>
          <p:cNvPr id="8195" name="Rectangle 3"/>
          <p:cNvSpPr>
            <a:spLocks noGrp="1"/>
          </p:cNvSpPr>
          <p:nvPr>
            <p:ph idx="1"/>
          </p:nvPr>
        </p:nvSpPr>
        <p:spPr>
          <a:xfrm>
            <a:off x="611188" y="1484313"/>
            <a:ext cx="8077200" cy="4800600"/>
          </a:xfrm>
        </p:spPr>
        <p:txBody>
          <a:bodyPr vert="horz" wrap="square" lIns="91440" tIns="45720" rIns="91440" bIns="45720" anchor="t" anchorCtr="0"/>
          <a:p>
            <a:pPr marL="476250" indent="-476250" eaLnBrk="1" hangingPunct="1"/>
            <a:r>
              <a:rPr lang="zh-CN" altLang="en-US" sz="2800" b="0" dirty="0"/>
              <a:t>数据类型</a:t>
            </a:r>
            <a:endParaRPr lang="zh-CN" altLang="en-US" sz="2800" b="0" dirty="0"/>
          </a:p>
          <a:p>
            <a:pPr marL="952500" lvl="1" eaLnBrk="1" hangingPunct="1"/>
            <a:r>
              <a:rPr lang="zh-CN" altLang="en-US" sz="2400" b="0" dirty="0"/>
              <a:t>基本数据类型</a:t>
            </a:r>
            <a:endParaRPr lang="zh-CN" altLang="en-US" sz="2400" b="0" dirty="0"/>
          </a:p>
          <a:p>
            <a:pPr marL="1371600" lvl="2" eaLnBrk="1" hangingPunct="1"/>
            <a:r>
              <a:rPr lang="zh-CN" altLang="en-US" sz="2000" b="0" dirty="0"/>
              <a:t>整型</a:t>
            </a:r>
            <a:r>
              <a:rPr lang="en-US" altLang="zh-CN" sz="2000" b="0" err="1"/>
              <a:t>int</a:t>
            </a:r>
            <a:endParaRPr lang="en-US" altLang="zh-CN" sz="2000" b="0"/>
          </a:p>
          <a:p>
            <a:pPr marL="1371600" lvl="2" eaLnBrk="1" hangingPunct="1"/>
            <a:r>
              <a:rPr lang="zh-CN" altLang="en-US" sz="2000" b="0" dirty="0"/>
              <a:t>实型（浮点型）</a:t>
            </a:r>
            <a:r>
              <a:rPr lang="en-US" altLang="zh-CN" sz="2000" b="0"/>
              <a:t>float   double</a:t>
            </a:r>
            <a:endParaRPr lang="en-US" altLang="zh-CN" sz="2000" b="0"/>
          </a:p>
          <a:p>
            <a:pPr marL="1371600" lvl="2" eaLnBrk="1" hangingPunct="1"/>
            <a:r>
              <a:rPr lang="zh-CN" altLang="en-US" sz="2000" b="0" dirty="0"/>
              <a:t>字符型</a:t>
            </a:r>
            <a:r>
              <a:rPr lang="en-US" altLang="zh-CN" sz="2000" b="0"/>
              <a:t>char</a:t>
            </a:r>
            <a:endParaRPr lang="en-US" altLang="zh-CN" sz="2000" b="0"/>
          </a:p>
          <a:p>
            <a:pPr marL="952500" lvl="1" eaLnBrk="1" hangingPunct="1"/>
            <a:r>
              <a:rPr lang="zh-CN" altLang="en-US" sz="2400" b="0" dirty="0"/>
              <a:t>构造数据类型</a:t>
            </a:r>
            <a:endParaRPr lang="zh-CN" altLang="en-US" sz="2400" b="0" dirty="0"/>
          </a:p>
          <a:p>
            <a:pPr marL="1371600" lvl="2" eaLnBrk="1" hangingPunct="1">
              <a:buNone/>
            </a:pPr>
            <a:r>
              <a:rPr lang="zh-CN" altLang="en-US" sz="2000" b="0" dirty="0"/>
              <a:t>数组、结构、联合、枚举</a:t>
            </a:r>
            <a:endParaRPr lang="zh-CN" altLang="en-US" sz="2000" b="0" dirty="0"/>
          </a:p>
          <a:p>
            <a:pPr marL="952500" lvl="1" eaLnBrk="1" hangingPunct="1"/>
            <a:r>
              <a:rPr lang="zh-CN" altLang="en-US" sz="2400" b="0" dirty="0"/>
              <a:t>指针类型</a:t>
            </a:r>
            <a:endParaRPr lang="zh-CN" altLang="en-US" sz="2400" b="0" dirty="0"/>
          </a:p>
          <a:p>
            <a:pPr marL="952500" lvl="1" eaLnBrk="1" hangingPunct="1"/>
            <a:r>
              <a:rPr lang="zh-CN" altLang="en-US" sz="2400" b="0" dirty="0"/>
              <a:t>空类型</a:t>
            </a:r>
            <a:endParaRPr lang="zh-CN" altLang="en-US" sz="2400" b="0" dirty="0"/>
          </a:p>
          <a:p>
            <a:pPr marL="476250" indent="-476250" eaLnBrk="1" hangingPunct="1"/>
            <a:r>
              <a:rPr lang="zh-CN" altLang="en-US" sz="2800" b="0" dirty="0"/>
              <a:t>运算：对数据的操作</a:t>
            </a:r>
            <a:endParaRPr lang="zh-CN" altLang="en-US" sz="2800" b="0" dirty="0"/>
          </a:p>
          <a:p>
            <a:pPr marL="952500" lvl="1" eaLnBrk="1" hangingPunct="1">
              <a:buNone/>
            </a:pPr>
            <a:r>
              <a:rPr lang="zh-CN" altLang="en-US" sz="2400" b="0" dirty="0"/>
              <a:t>运算符＋数据 </a:t>
            </a:r>
            <a:r>
              <a:rPr lang="en-US" altLang="zh-CN" sz="2400" b="0">
                <a:sym typeface="Wingdings" panose="05000000000000000000" pitchFamily="2" charset="2"/>
              </a:rPr>
              <a:t> </a:t>
            </a:r>
            <a:r>
              <a:rPr lang="zh-CN" altLang="en-US" sz="2400" b="0" dirty="0"/>
              <a:t>表达式</a:t>
            </a:r>
            <a:endParaRPr lang="zh-CN" altLang="en-US" sz="2400" b="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p:txBody>
          <a:bodyPr vert="horz" wrap="square" lIns="91440" tIns="45720" rIns="91440" bIns="45720" anchor="ctr" anchorCtr="0"/>
          <a:p>
            <a:pPr eaLnBrk="1" hangingPunct="1"/>
            <a:r>
              <a:rPr lang="en-US" altLang="zh-CN" b="0">
                <a:latin typeface="+mn-ea"/>
                <a:cs typeface="+mn-ea"/>
              </a:rPr>
              <a:t>6.1 </a:t>
            </a:r>
            <a:r>
              <a:rPr lang="zh-CN" altLang="en-US" b="0" dirty="0">
                <a:latin typeface="+mn-ea"/>
                <a:cs typeface="+mn-ea"/>
              </a:rPr>
              <a:t>数据的存储和基本数据类型</a:t>
            </a:r>
            <a:endParaRPr lang="zh-CN" altLang="en-US" b="0" dirty="0">
              <a:latin typeface="+mn-ea"/>
              <a:cs typeface="+mn-ea"/>
            </a:endParaRPr>
          </a:p>
        </p:txBody>
      </p:sp>
      <p:sp>
        <p:nvSpPr>
          <p:cNvPr id="9219" name="Rectangle 3"/>
          <p:cNvSpPr>
            <a:spLocks noGrp="1"/>
          </p:cNvSpPr>
          <p:nvPr>
            <p:ph idx="1"/>
          </p:nvPr>
        </p:nvSpPr>
        <p:spPr>
          <a:xfrm>
            <a:off x="684213" y="2205038"/>
            <a:ext cx="7343775" cy="2455862"/>
          </a:xfrm>
        </p:spPr>
        <p:txBody>
          <a:bodyPr vert="horz" wrap="square" lIns="91440" tIns="45720" rIns="91440" bIns="45720" anchor="t" anchorCtr="0"/>
          <a:p>
            <a:pPr algn="just" eaLnBrk="1" hangingPunct="1">
              <a:buClr>
                <a:schemeClr val="tx2"/>
              </a:buClr>
              <a:buFontTx/>
              <a:buNone/>
            </a:pPr>
            <a:r>
              <a:rPr lang="en-US" altLang="zh-CN" b="0"/>
              <a:t>6.1.1  </a:t>
            </a:r>
            <a:r>
              <a:rPr lang="zh-CN" altLang="en-US" b="0" dirty="0">
                <a:latin typeface="宋体" pitchFamily="2" charset="-122"/>
              </a:rPr>
              <a:t>数据的存储</a:t>
            </a:r>
            <a:endParaRPr lang="zh-CN" altLang="en-US" b="0" dirty="0">
              <a:latin typeface="宋体" pitchFamily="2" charset="-122"/>
            </a:endParaRPr>
          </a:p>
          <a:p>
            <a:pPr lvl="1" eaLnBrk="1" hangingPunct="1">
              <a:buNone/>
            </a:pPr>
            <a:r>
              <a:rPr lang="zh-CN" altLang="en-US" b="0" dirty="0">
                <a:latin typeface="宋体" pitchFamily="2" charset="-122"/>
              </a:rPr>
              <a:t>整型、实型、字符型数据的存储</a:t>
            </a:r>
            <a:endParaRPr lang="zh-CN" altLang="en-US" b="0" dirty="0">
              <a:latin typeface="宋体" pitchFamily="2" charset="-122"/>
            </a:endParaRPr>
          </a:p>
          <a:p>
            <a:pPr eaLnBrk="1" hangingPunct="1">
              <a:buNone/>
            </a:pPr>
            <a:r>
              <a:rPr lang="en-US" altLang="zh-CN" b="0"/>
              <a:t>6.1.2  </a:t>
            </a:r>
            <a:r>
              <a:rPr lang="zh-CN" altLang="en-US" b="0" dirty="0">
                <a:latin typeface="宋体" pitchFamily="2" charset="-122"/>
              </a:rPr>
              <a:t>基本数据类型</a:t>
            </a:r>
            <a:endParaRPr lang="zh-CN" altLang="en-US" b="0" dirty="0">
              <a:latin typeface="宋体" pitchFamily="2" charset="-122"/>
            </a:endParaRPr>
          </a:p>
          <a:p>
            <a:pPr lvl="1" eaLnBrk="1" hangingPunct="1">
              <a:buNone/>
            </a:pPr>
            <a:r>
              <a:rPr lang="zh-CN" altLang="en-US" b="0" dirty="0">
                <a:latin typeface="宋体" pitchFamily="2" charset="-122"/>
              </a:rPr>
              <a:t>整型、实型、字符型</a:t>
            </a:r>
            <a:endParaRPr lang="zh-CN" altLang="en-US" b="0" dirty="0">
              <a:latin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468313" y="333375"/>
            <a:ext cx="8135937" cy="1079500"/>
          </a:xfrm>
        </p:spPr>
        <p:txBody>
          <a:bodyPr vert="horz" wrap="square" lIns="91440" tIns="45720" rIns="91440" bIns="45720" anchor="ctr" anchorCtr="0"/>
          <a:p>
            <a:pPr eaLnBrk="1" hangingPunct="1"/>
            <a:r>
              <a:rPr lang="en-US" altLang="zh-CN" b="0"/>
              <a:t>6.1.1 </a:t>
            </a:r>
            <a:r>
              <a:rPr lang="zh-CN" altLang="en-US" b="0" dirty="0">
                <a:latin typeface="宋体" pitchFamily="2" charset="-122"/>
              </a:rPr>
              <a:t>数据的存储－整型数据</a:t>
            </a:r>
            <a:endParaRPr lang="zh-CN" altLang="en-US" b="0" dirty="0"/>
          </a:p>
        </p:txBody>
      </p:sp>
      <p:sp>
        <p:nvSpPr>
          <p:cNvPr id="299011" name="Rectangle 3"/>
          <p:cNvSpPr>
            <a:spLocks noGrp="1"/>
          </p:cNvSpPr>
          <p:nvPr>
            <p:ph idx="1"/>
          </p:nvPr>
        </p:nvSpPr>
        <p:spPr>
          <a:xfrm>
            <a:off x="539750" y="1341438"/>
            <a:ext cx="7924800" cy="1676400"/>
          </a:xfrm>
        </p:spPr>
        <p:txBody>
          <a:bodyPr vert="horz" wrap="square" lIns="91440" tIns="45720" rIns="91440" bIns="45720" anchor="t" anchorCtr="0"/>
          <a:p>
            <a:pPr algn="just" eaLnBrk="1" hangingPunct="1">
              <a:buNone/>
            </a:pPr>
            <a:r>
              <a:rPr lang="zh-CN" altLang="en-US" b="0" dirty="0"/>
              <a:t>设整数在内存中用2个字节存储</a:t>
            </a:r>
            <a:endParaRPr lang="zh-CN" altLang="en-US" b="0" dirty="0"/>
          </a:p>
          <a:p>
            <a:pPr lvl="1" algn="just" eaLnBrk="1" hangingPunct="1">
              <a:buNone/>
            </a:pPr>
            <a:r>
              <a:rPr lang="zh-CN" altLang="en-US" b="0" dirty="0">
                <a:solidFill>
                  <a:srgbClr val="CC0066"/>
                </a:solidFill>
              </a:rPr>
              <a:t>1</a:t>
            </a:r>
            <a:r>
              <a:rPr lang="zh-CN" altLang="en-US" b="0" dirty="0"/>
              <a:t> 000 0001 1000 0001</a:t>
            </a:r>
            <a:endParaRPr lang="zh-CN" altLang="en-US" b="0" dirty="0"/>
          </a:p>
          <a:p>
            <a:pPr lvl="1" algn="just" eaLnBrk="1" hangingPunct="1">
              <a:buNone/>
            </a:pPr>
            <a:r>
              <a:rPr lang="zh-CN" altLang="en-US" b="0" dirty="0">
                <a:solidFill>
                  <a:srgbClr val="CC0066"/>
                </a:solidFill>
              </a:rPr>
              <a:t>0</a:t>
            </a:r>
            <a:r>
              <a:rPr lang="zh-CN" altLang="en-US" b="0" dirty="0"/>
              <a:t> 000 0001 1000 0001</a:t>
            </a:r>
            <a:endParaRPr lang="zh-CN" altLang="en-US" b="0" dirty="0"/>
          </a:p>
        </p:txBody>
      </p:sp>
      <p:sp>
        <p:nvSpPr>
          <p:cNvPr id="299018" name="Rectangle 10"/>
          <p:cNvSpPr/>
          <p:nvPr/>
        </p:nvSpPr>
        <p:spPr>
          <a:xfrm>
            <a:off x="990600" y="1933575"/>
            <a:ext cx="381000" cy="990600"/>
          </a:xfrm>
          <a:prstGeom prst="rect">
            <a:avLst/>
          </a:prstGeom>
          <a:noFill/>
          <a:ln w="12700" cap="sq" cmpd="sng">
            <a:solidFill>
              <a:schemeClr val="accent1"/>
            </a:solidFill>
            <a:prstDash val="solid"/>
            <a:miter/>
            <a:headEnd type="none" w="sm" len="sm"/>
            <a:tailEnd type="none" w="sm" len="sm"/>
          </a:ln>
        </p:spPr>
        <p:txBody>
          <a:bodyPr wrap="none" anchor="ctr" anchorCtr="0">
            <a:spAutoFit/>
          </a:bodyPr>
          <a:p>
            <a:endParaRPr lang="zh-CN" altLang="en-US" dirty="0">
              <a:latin typeface="Arial" panose="02080604020202020204" pitchFamily="34" charset="0"/>
            </a:endParaRPr>
          </a:p>
        </p:txBody>
      </p:sp>
      <p:sp>
        <p:nvSpPr>
          <p:cNvPr id="299019" name="Text Box 11"/>
          <p:cNvSpPr txBox="1"/>
          <p:nvPr/>
        </p:nvSpPr>
        <p:spPr>
          <a:xfrm>
            <a:off x="539750" y="3860800"/>
            <a:ext cx="1600200" cy="1296035"/>
          </a:xfrm>
          <a:prstGeom prst="rect">
            <a:avLst/>
          </a:prstGeom>
          <a:noFill/>
          <a:ln w="12700">
            <a:noFill/>
          </a:ln>
        </p:spPr>
        <p:txBody>
          <a:bodyPr anchor="t" anchorCtr="0">
            <a:spAutoFit/>
          </a:bodyPr>
          <a:p>
            <a:pPr>
              <a:lnSpc>
                <a:spcPct val="80000"/>
              </a:lnSpc>
              <a:spcBef>
                <a:spcPct val="20000"/>
              </a:spcBef>
              <a:buClr>
                <a:srgbClr val="33CCCC"/>
              </a:buClr>
              <a:buSzPct val="80000"/>
              <a:buFont typeface="Wingdings" panose="05000000000000000000" pitchFamily="2" charset="2"/>
            </a:pPr>
            <a:r>
              <a:rPr lang="zh-CN" altLang="en-US" sz="2800" dirty="0">
                <a:solidFill>
                  <a:schemeClr val="bg2"/>
                </a:solidFill>
                <a:latin typeface="Arial" panose="02080604020202020204" pitchFamily="34" charset="0"/>
                <a:ea typeface="仿宋_GB2312" pitchFamily="49" charset="-122"/>
              </a:rPr>
              <a:t>符号位</a:t>
            </a:r>
            <a:endParaRPr lang="zh-CN" altLang="en-US" sz="2800" dirty="0">
              <a:solidFill>
                <a:schemeClr val="bg2"/>
              </a:solidFill>
              <a:latin typeface="Arial" panose="02080604020202020204" pitchFamily="34" charset="0"/>
              <a:ea typeface="仿宋_GB2312" pitchFamily="49" charset="-122"/>
            </a:endParaRPr>
          </a:p>
          <a:p>
            <a:pPr>
              <a:lnSpc>
                <a:spcPct val="80000"/>
              </a:lnSpc>
              <a:spcBef>
                <a:spcPct val="20000"/>
              </a:spcBef>
              <a:buClr>
                <a:srgbClr val="33CCCC"/>
              </a:buClr>
              <a:buSzPct val="80000"/>
              <a:buFont typeface="Wingdings" panose="05000000000000000000" pitchFamily="2" charset="2"/>
            </a:pPr>
            <a:r>
              <a:rPr lang="zh-CN" altLang="en-US" sz="2800" dirty="0">
                <a:solidFill>
                  <a:srgbClr val="CC0066"/>
                </a:solidFill>
                <a:latin typeface="Arial" panose="02080604020202020204" pitchFamily="34" charset="0"/>
              </a:rPr>
              <a:t>1</a:t>
            </a:r>
            <a:r>
              <a:rPr lang="zh-CN" altLang="en-US" sz="2800" dirty="0">
                <a:latin typeface="Arial" panose="02080604020202020204" pitchFamily="34" charset="0"/>
              </a:rPr>
              <a:t>：负数</a:t>
            </a:r>
            <a:endParaRPr lang="zh-CN" altLang="en-US" sz="2800" dirty="0">
              <a:latin typeface="Arial" panose="02080604020202020204" pitchFamily="34" charset="0"/>
            </a:endParaRPr>
          </a:p>
          <a:p>
            <a:pPr>
              <a:lnSpc>
                <a:spcPct val="80000"/>
              </a:lnSpc>
              <a:spcBef>
                <a:spcPct val="20000"/>
              </a:spcBef>
              <a:buClr>
                <a:srgbClr val="33CCCC"/>
              </a:buClr>
              <a:buSzPct val="80000"/>
              <a:buFont typeface="Wingdings" panose="05000000000000000000" pitchFamily="2" charset="2"/>
            </a:pPr>
            <a:r>
              <a:rPr lang="zh-CN" altLang="en-US" sz="2800" dirty="0">
                <a:solidFill>
                  <a:srgbClr val="CC0066"/>
                </a:solidFill>
                <a:latin typeface="Arial" panose="02080604020202020204" pitchFamily="34" charset="0"/>
              </a:rPr>
              <a:t>0</a:t>
            </a:r>
            <a:r>
              <a:rPr lang="zh-CN" altLang="en-US" sz="2800" dirty="0">
                <a:latin typeface="Arial" panose="02080604020202020204" pitchFamily="34" charset="0"/>
              </a:rPr>
              <a:t>：正数</a:t>
            </a:r>
            <a:endParaRPr lang="zh-CN" altLang="zh-CN" sz="2800" dirty="0">
              <a:latin typeface="Arial" panose="02080604020202020204" pitchFamily="34" charset="0"/>
            </a:endParaRPr>
          </a:p>
        </p:txBody>
      </p:sp>
      <p:sp>
        <p:nvSpPr>
          <p:cNvPr id="299023" name="Line 15"/>
          <p:cNvSpPr/>
          <p:nvPr/>
        </p:nvSpPr>
        <p:spPr>
          <a:xfrm flipH="1">
            <a:off x="1187450" y="2924175"/>
            <a:ext cx="0" cy="936625"/>
          </a:xfrm>
          <a:prstGeom prst="line">
            <a:avLst/>
          </a:prstGeom>
          <a:ln w="38100" cap="flat" cmpd="sng">
            <a:solidFill>
              <a:schemeClr val="bg2"/>
            </a:solidFill>
            <a:prstDash val="solid"/>
            <a:round/>
            <a:headEnd type="triangl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9011">
                                            <p:txEl>
                                              <p:charRg st="0" end="15"/>
                                            </p:txEl>
                                          </p:spTgt>
                                        </p:tgtEl>
                                        <p:attrNameLst>
                                          <p:attrName>style.visibility</p:attrName>
                                        </p:attrNameLst>
                                      </p:cBhvr>
                                      <p:to>
                                        <p:strVal val="visible"/>
                                      </p:to>
                                    </p:set>
                                    <p:anim calcmode="lin" valueType="num">
                                      <p:cBhvr additive="base">
                                        <p:cTn id="7" dur="500" fill="hold"/>
                                        <p:tgtEl>
                                          <p:spTgt spid="299011">
                                            <p:txEl>
                                              <p:charRg st="0" end="1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9011">
                                            <p:txEl>
                                              <p:charRg st="0" end="15"/>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99011">
                                            <p:txEl>
                                              <p:charRg st="15" end="36"/>
                                            </p:txEl>
                                          </p:spTgt>
                                        </p:tgtEl>
                                        <p:attrNameLst>
                                          <p:attrName>style.visibility</p:attrName>
                                        </p:attrNameLst>
                                      </p:cBhvr>
                                      <p:to>
                                        <p:strVal val="visible"/>
                                      </p:to>
                                    </p:set>
                                    <p:anim calcmode="lin" valueType="num">
                                      <p:cBhvr additive="base">
                                        <p:cTn id="11" dur="500" fill="hold"/>
                                        <p:tgtEl>
                                          <p:spTgt spid="299011">
                                            <p:txEl>
                                              <p:charRg st="15" end="36"/>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99011">
                                            <p:txEl>
                                              <p:charRg st="15" end="36"/>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99011">
                                            <p:txEl>
                                              <p:charRg st="36" end="57"/>
                                            </p:txEl>
                                          </p:spTgt>
                                        </p:tgtEl>
                                        <p:attrNameLst>
                                          <p:attrName>style.visibility</p:attrName>
                                        </p:attrNameLst>
                                      </p:cBhvr>
                                      <p:to>
                                        <p:strVal val="visible"/>
                                      </p:to>
                                    </p:set>
                                    <p:anim calcmode="lin" valueType="num">
                                      <p:cBhvr additive="base">
                                        <p:cTn id="15" dur="500" fill="hold"/>
                                        <p:tgtEl>
                                          <p:spTgt spid="299011">
                                            <p:txEl>
                                              <p:charRg st="36" end="57"/>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99011">
                                            <p:txEl>
                                              <p:charRg st="36" end="57"/>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99018"/>
                                        </p:tgtEl>
                                        <p:attrNameLst>
                                          <p:attrName>style.visibility</p:attrName>
                                        </p:attrNameLst>
                                      </p:cBhvr>
                                      <p:to>
                                        <p:strVal val="visible"/>
                                      </p:to>
                                    </p:set>
                                    <p:anim calcmode="lin" valueType="num">
                                      <p:cBhvr additive="base">
                                        <p:cTn id="21" dur="500" fill="hold"/>
                                        <p:tgtEl>
                                          <p:spTgt spid="299018"/>
                                        </p:tgtEl>
                                        <p:attrNameLst>
                                          <p:attrName>ppt_x</p:attrName>
                                        </p:attrNameLst>
                                      </p:cBhvr>
                                      <p:tavLst>
                                        <p:tav tm="0">
                                          <p:val>
                                            <p:strVal val="0-#ppt_w/2"/>
                                          </p:val>
                                        </p:tav>
                                        <p:tav tm="100000">
                                          <p:val>
                                            <p:strVal val="#ppt_x"/>
                                          </p:val>
                                        </p:tav>
                                      </p:tavLst>
                                    </p:anim>
                                    <p:anim calcmode="lin" valueType="num">
                                      <p:cBhvr additive="base">
                                        <p:cTn id="22" dur="500" fill="hold"/>
                                        <p:tgtEl>
                                          <p:spTgt spid="299018"/>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2" presetClass="entr" presetSubtype="8" fill="hold" nodeType="afterEffect">
                                  <p:stCondLst>
                                    <p:cond delay="0"/>
                                  </p:stCondLst>
                                  <p:childTnLst>
                                    <p:set>
                                      <p:cBhvr>
                                        <p:cTn id="25" dur="1" fill="hold">
                                          <p:stCondLst>
                                            <p:cond delay="0"/>
                                          </p:stCondLst>
                                        </p:cTn>
                                        <p:tgtEl>
                                          <p:spTgt spid="299023"/>
                                        </p:tgtEl>
                                        <p:attrNameLst>
                                          <p:attrName>style.visibility</p:attrName>
                                        </p:attrNameLst>
                                      </p:cBhvr>
                                      <p:to>
                                        <p:strVal val="visible"/>
                                      </p:to>
                                    </p:set>
                                    <p:anim calcmode="lin" valueType="num">
                                      <p:cBhvr additive="base">
                                        <p:cTn id="26" dur="500" fill="hold"/>
                                        <p:tgtEl>
                                          <p:spTgt spid="299023"/>
                                        </p:tgtEl>
                                        <p:attrNameLst>
                                          <p:attrName>ppt_x</p:attrName>
                                        </p:attrNameLst>
                                      </p:cBhvr>
                                      <p:tavLst>
                                        <p:tav tm="0">
                                          <p:val>
                                            <p:strVal val="0-#ppt_w/2"/>
                                          </p:val>
                                        </p:tav>
                                        <p:tav tm="100000">
                                          <p:val>
                                            <p:strVal val="#ppt_x"/>
                                          </p:val>
                                        </p:tav>
                                      </p:tavLst>
                                    </p:anim>
                                    <p:anim calcmode="lin" valueType="num">
                                      <p:cBhvr additive="base">
                                        <p:cTn id="27" dur="500" fill="hold"/>
                                        <p:tgtEl>
                                          <p:spTgt spid="299023"/>
                                        </p:tgtEl>
                                        <p:attrNameLst>
                                          <p:attrName>ppt_y</p:attrName>
                                        </p:attrNameLst>
                                      </p:cBhvr>
                                      <p:tavLst>
                                        <p:tav tm="0">
                                          <p:val>
                                            <p:strVal val="#ppt_y"/>
                                          </p:val>
                                        </p:tav>
                                        <p:tav tm="100000">
                                          <p:val>
                                            <p:strVal val="#ppt_y"/>
                                          </p:val>
                                        </p:tav>
                                      </p:tavLst>
                                    </p:anim>
                                  </p:childTnLst>
                                </p:cTn>
                              </p:par>
                            </p:childTnLst>
                          </p:cTn>
                        </p:par>
                        <p:par>
                          <p:cTn id="28" fill="hold">
                            <p:stCondLst>
                              <p:cond delay="1000"/>
                            </p:stCondLst>
                            <p:childTnLst>
                              <p:par>
                                <p:cTn id="29" presetID="22" presetClass="entr" presetSubtype="4" fill="hold" grpId="0" nodeType="afterEffect">
                                  <p:stCondLst>
                                    <p:cond delay="0"/>
                                  </p:stCondLst>
                                  <p:childTnLst>
                                    <p:set>
                                      <p:cBhvr>
                                        <p:cTn id="30" dur="1" fill="hold">
                                          <p:stCondLst>
                                            <p:cond delay="0"/>
                                          </p:stCondLst>
                                        </p:cTn>
                                        <p:tgtEl>
                                          <p:spTgt spid="299019"/>
                                        </p:tgtEl>
                                        <p:attrNameLst>
                                          <p:attrName>style.visibility</p:attrName>
                                        </p:attrNameLst>
                                      </p:cBhvr>
                                      <p:to>
                                        <p:strVal val="visible"/>
                                      </p:to>
                                    </p:set>
                                    <p:animEffect transition="in" filter="wipe(down)">
                                      <p:cBhvr>
                                        <p:cTn id="31" dur="500"/>
                                        <p:tgtEl>
                                          <p:spTgt spid="299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p:bldP spid="299018" grpId="0" bldLvl="0" animBg="1"/>
      <p:bldP spid="2990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179388" y="404813"/>
            <a:ext cx="8686800" cy="838200"/>
          </a:xfrm>
        </p:spPr>
        <p:txBody>
          <a:bodyPr vert="horz" wrap="square" lIns="91440" tIns="45720" rIns="91440" bIns="45720" anchor="ctr" anchorCtr="0"/>
          <a:p>
            <a:pPr eaLnBrk="1" hangingPunct="1"/>
            <a:r>
              <a:rPr lang="zh-CN" altLang="en-US" b="0" dirty="0"/>
              <a:t>数值的表示方法－原码 反码 补码</a:t>
            </a:r>
            <a:endParaRPr lang="zh-CN" altLang="en-US" b="0" dirty="0"/>
          </a:p>
        </p:txBody>
      </p:sp>
      <p:sp>
        <p:nvSpPr>
          <p:cNvPr id="300035" name="Rectangle 3"/>
          <p:cNvSpPr>
            <a:spLocks noGrp="1"/>
          </p:cNvSpPr>
          <p:nvPr>
            <p:ph idx="1"/>
          </p:nvPr>
        </p:nvSpPr>
        <p:spPr>
          <a:xfrm>
            <a:off x="533400" y="1219200"/>
            <a:ext cx="8001000" cy="4876800"/>
          </a:xfrm>
        </p:spPr>
        <p:txBody>
          <a:bodyPr vert="horz" wrap="square" lIns="91440" tIns="45720" rIns="91440" bIns="45720" anchor="t" anchorCtr="0"/>
          <a:p>
            <a:pPr marL="457200" indent="-457200" eaLnBrk="1" hangingPunct="1">
              <a:lnSpc>
                <a:spcPct val="90000"/>
              </a:lnSpc>
            </a:pPr>
            <a:r>
              <a:rPr lang="zh-CN" altLang="en-US" sz="2800" b="0" dirty="0">
                <a:solidFill>
                  <a:schemeClr val="bg2"/>
                </a:solidFill>
              </a:rPr>
              <a:t>正数</a:t>
            </a:r>
            <a:r>
              <a:rPr lang="zh-CN" altLang="en-US" sz="2800" b="0" dirty="0"/>
              <a:t>的原码、反码和补码相同</a:t>
            </a:r>
            <a:endParaRPr lang="zh-CN" altLang="en-US" sz="2800" b="0" dirty="0"/>
          </a:p>
          <a:p>
            <a:pPr marL="914400" lvl="1" indent="-457200" algn="just" eaLnBrk="1" hangingPunct="1">
              <a:lnSpc>
                <a:spcPct val="90000"/>
              </a:lnSpc>
              <a:buNone/>
            </a:pPr>
            <a:r>
              <a:rPr lang="zh-CN" altLang="en-US" sz="2400" b="0" dirty="0">
                <a:solidFill>
                  <a:schemeClr val="bg2"/>
                </a:solidFill>
              </a:rPr>
              <a:t>1</a:t>
            </a:r>
            <a:r>
              <a:rPr lang="zh-CN" altLang="en-US" sz="2400" b="0" dirty="0"/>
              <a:t> 的补码            </a:t>
            </a:r>
            <a:r>
              <a:rPr lang="zh-CN" altLang="en-US" sz="2400" b="0" dirty="0">
                <a:solidFill>
                  <a:srgbClr val="CC0066"/>
                </a:solidFill>
              </a:rPr>
              <a:t>0</a:t>
            </a:r>
            <a:r>
              <a:rPr lang="zh-CN" altLang="en-US" sz="2400" b="0" dirty="0"/>
              <a:t> 000 0000 0000 0001</a:t>
            </a:r>
            <a:endParaRPr lang="zh-CN" altLang="en-US" sz="2400" b="0" dirty="0"/>
          </a:p>
          <a:p>
            <a:pPr marL="914400" lvl="1" indent="-457200" algn="just" eaLnBrk="1" hangingPunct="1">
              <a:lnSpc>
                <a:spcPct val="90000"/>
              </a:lnSpc>
              <a:buNone/>
            </a:pPr>
            <a:r>
              <a:rPr lang="zh-CN" altLang="en-US" sz="2400" b="0" dirty="0"/>
              <a:t>……</a:t>
            </a:r>
            <a:endParaRPr lang="zh-CN" altLang="en-US" sz="2400" b="0" dirty="0"/>
          </a:p>
          <a:p>
            <a:pPr marL="914400" lvl="1" indent="-457200" algn="just" eaLnBrk="1" hangingPunct="1">
              <a:lnSpc>
                <a:spcPct val="90000"/>
              </a:lnSpc>
              <a:buNone/>
            </a:pPr>
            <a:r>
              <a:rPr lang="zh-CN" altLang="en-US" sz="2400" b="0" dirty="0">
                <a:solidFill>
                  <a:schemeClr val="bg2"/>
                </a:solidFill>
              </a:rPr>
              <a:t>32767</a:t>
            </a:r>
            <a:r>
              <a:rPr lang="zh-CN" altLang="en-US" sz="2400" b="0" dirty="0"/>
              <a:t> 的补码    </a:t>
            </a:r>
            <a:r>
              <a:rPr lang="zh-CN" altLang="en-US" sz="2400" b="0" dirty="0">
                <a:solidFill>
                  <a:srgbClr val="CC0066"/>
                </a:solidFill>
              </a:rPr>
              <a:t>0</a:t>
            </a:r>
            <a:r>
              <a:rPr lang="zh-CN" altLang="en-US" sz="2400" b="0" dirty="0"/>
              <a:t> 111 1111 1111 1111</a:t>
            </a:r>
            <a:endParaRPr lang="zh-CN" altLang="en-US" sz="2400" b="0" dirty="0"/>
          </a:p>
          <a:p>
            <a:pPr marL="914400" lvl="1" indent="-457200" algn="just" eaLnBrk="1" hangingPunct="1">
              <a:lnSpc>
                <a:spcPct val="90000"/>
              </a:lnSpc>
              <a:buNone/>
            </a:pPr>
            <a:r>
              <a:rPr lang="zh-CN" altLang="en-US" sz="2400" b="0" dirty="0"/>
              <a:t>(2</a:t>
            </a:r>
            <a:r>
              <a:rPr lang="zh-CN" altLang="en-US" sz="2400" b="0" baseline="30000" dirty="0"/>
              <a:t>15</a:t>
            </a:r>
            <a:r>
              <a:rPr lang="zh-CN" altLang="en-US" sz="2400" b="0" dirty="0"/>
              <a:t>-1，2个字节的存储单元能表示的最大正数)</a:t>
            </a:r>
            <a:endParaRPr lang="zh-CN" altLang="en-US" sz="2400" b="0" dirty="0"/>
          </a:p>
          <a:p>
            <a:pPr marL="1295400" lvl="2" indent="-381000" algn="just" eaLnBrk="1" hangingPunct="1">
              <a:lnSpc>
                <a:spcPct val="90000"/>
              </a:lnSpc>
              <a:buNone/>
            </a:pPr>
            <a:endParaRPr lang="zh-CN" altLang="en-US" sz="2000" b="0" dirty="0"/>
          </a:p>
          <a:p>
            <a:pPr marL="457200" indent="-457200" algn="just" eaLnBrk="1" hangingPunct="1">
              <a:lnSpc>
                <a:spcPct val="90000"/>
              </a:lnSpc>
            </a:pPr>
            <a:r>
              <a:rPr lang="zh-CN" altLang="en-US" sz="2800" b="0" dirty="0">
                <a:solidFill>
                  <a:schemeClr val="bg2"/>
                </a:solidFill>
              </a:rPr>
              <a:t>负数</a:t>
            </a:r>
            <a:r>
              <a:rPr lang="zh-CN" altLang="en-US" sz="2800" b="0" dirty="0"/>
              <a:t>的原码、反码和补码不同 </a:t>
            </a:r>
            <a:endParaRPr lang="zh-CN" altLang="en-US" sz="2800" b="0" dirty="0"/>
          </a:p>
          <a:p>
            <a:pPr marL="914400" lvl="1" indent="-457200" algn="just" eaLnBrk="1" hangingPunct="1">
              <a:lnSpc>
                <a:spcPct val="90000"/>
              </a:lnSpc>
              <a:buNone/>
            </a:pPr>
            <a:r>
              <a:rPr lang="zh-CN" altLang="en-US" sz="2400" b="0" dirty="0">
                <a:solidFill>
                  <a:schemeClr val="bg2"/>
                </a:solidFill>
              </a:rPr>
              <a:t>-1</a:t>
            </a:r>
            <a:endParaRPr lang="zh-CN" altLang="en-US" sz="2400" b="0" dirty="0">
              <a:solidFill>
                <a:schemeClr val="bg2"/>
              </a:solidFill>
            </a:endParaRPr>
          </a:p>
          <a:p>
            <a:pPr marL="914400" lvl="1" indent="-457200" algn="just" eaLnBrk="1" hangingPunct="1">
              <a:lnSpc>
                <a:spcPct val="90000"/>
              </a:lnSpc>
            </a:pPr>
            <a:r>
              <a:rPr lang="zh-CN" altLang="en-US" sz="2400" b="0" dirty="0"/>
              <a:t>原码   </a:t>
            </a:r>
            <a:r>
              <a:rPr lang="zh-CN" altLang="en-US" sz="2400" b="0" dirty="0">
                <a:solidFill>
                  <a:srgbClr val="CC0066"/>
                </a:solidFill>
              </a:rPr>
              <a:t>1</a:t>
            </a:r>
            <a:r>
              <a:rPr lang="zh-CN" altLang="en-US" sz="2400" b="0" dirty="0"/>
              <a:t> 000 0000 0000 0001 </a:t>
            </a:r>
            <a:endParaRPr lang="zh-CN" altLang="en-US" sz="2400" b="0" dirty="0"/>
          </a:p>
          <a:p>
            <a:pPr marL="914400" lvl="1" indent="-457200" algn="just" eaLnBrk="1" hangingPunct="1">
              <a:lnSpc>
                <a:spcPct val="90000"/>
              </a:lnSpc>
            </a:pPr>
            <a:r>
              <a:rPr lang="zh-CN" altLang="en-US" sz="2400" b="0" dirty="0"/>
              <a:t>反码   </a:t>
            </a:r>
            <a:r>
              <a:rPr lang="zh-CN" altLang="en-US" sz="2400" b="0" dirty="0">
                <a:solidFill>
                  <a:srgbClr val="CC0066"/>
                </a:solidFill>
              </a:rPr>
              <a:t>1</a:t>
            </a:r>
            <a:r>
              <a:rPr lang="zh-CN" altLang="en-US" sz="2400" b="0" dirty="0"/>
              <a:t> 111 1111 1111 1110     原码取反</a:t>
            </a:r>
            <a:endParaRPr lang="zh-CN" altLang="en-US" sz="2400" b="0" dirty="0"/>
          </a:p>
          <a:p>
            <a:pPr marL="914400" lvl="1" indent="-457200" algn="just" eaLnBrk="1" hangingPunct="1">
              <a:lnSpc>
                <a:spcPct val="90000"/>
              </a:lnSpc>
            </a:pPr>
            <a:r>
              <a:rPr lang="zh-CN" altLang="en-US" sz="2400" b="0" dirty="0"/>
              <a:t>补码   </a:t>
            </a:r>
            <a:r>
              <a:rPr lang="zh-CN" altLang="en-US" sz="2400" b="0" dirty="0">
                <a:solidFill>
                  <a:srgbClr val="CC0066"/>
                </a:solidFill>
              </a:rPr>
              <a:t>1</a:t>
            </a:r>
            <a:r>
              <a:rPr lang="zh-CN" altLang="en-US" sz="2400" b="0" dirty="0"/>
              <a:t> 111 1111 1111 111</a:t>
            </a:r>
            <a:r>
              <a:rPr lang="zh-CN" altLang="en-US" sz="2400" b="0" dirty="0">
                <a:solidFill>
                  <a:schemeClr val="bg2"/>
                </a:solidFill>
              </a:rPr>
              <a:t>1</a:t>
            </a:r>
            <a:r>
              <a:rPr lang="zh-CN" altLang="en-US" sz="2400" b="0" dirty="0"/>
              <a:t>     反码＋1</a:t>
            </a:r>
            <a:endParaRPr lang="zh-CN" altLang="en-US" sz="24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0035">
                                            <p:txEl>
                                              <p:charRg st="0" end="14"/>
                                            </p:txEl>
                                          </p:spTgt>
                                        </p:tgtEl>
                                        <p:attrNameLst>
                                          <p:attrName>style.visibility</p:attrName>
                                        </p:attrNameLst>
                                      </p:cBhvr>
                                      <p:to>
                                        <p:strVal val="visible"/>
                                      </p:to>
                                    </p:set>
                                    <p:anim calcmode="lin" valueType="num">
                                      <p:cBhvr additive="base">
                                        <p:cTn id="7" dur="500" fill="hold"/>
                                        <p:tgtEl>
                                          <p:spTgt spid="300035">
                                            <p:txEl>
                                              <p:charRg st="0" end="1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0035">
                                            <p:txEl>
                                              <p:charRg st="0" end="14"/>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0035">
                                            <p:txEl>
                                              <p:charRg st="14" end="52"/>
                                            </p:txEl>
                                          </p:spTgt>
                                        </p:tgtEl>
                                        <p:attrNameLst>
                                          <p:attrName>style.visibility</p:attrName>
                                        </p:attrNameLst>
                                      </p:cBhvr>
                                      <p:to>
                                        <p:strVal val="visible"/>
                                      </p:to>
                                    </p:set>
                                    <p:anim calcmode="lin" valueType="num">
                                      <p:cBhvr additive="base">
                                        <p:cTn id="13" dur="500" fill="hold"/>
                                        <p:tgtEl>
                                          <p:spTgt spid="300035">
                                            <p:txEl>
                                              <p:charRg st="14" end="5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0035">
                                            <p:txEl>
                                              <p:charRg st="14" end="5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0035">
                                            <p:txEl>
                                              <p:charRg st="52" end="55"/>
                                            </p:txEl>
                                          </p:spTgt>
                                        </p:tgtEl>
                                        <p:attrNameLst>
                                          <p:attrName>style.visibility</p:attrName>
                                        </p:attrNameLst>
                                      </p:cBhvr>
                                      <p:to>
                                        <p:strVal val="visible"/>
                                      </p:to>
                                    </p:set>
                                    <p:anim calcmode="lin" valueType="num">
                                      <p:cBhvr additive="base">
                                        <p:cTn id="19" dur="500" fill="hold"/>
                                        <p:tgtEl>
                                          <p:spTgt spid="300035">
                                            <p:txEl>
                                              <p:charRg st="52" end="5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0035">
                                            <p:txEl>
                                              <p:charRg st="52" end="5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0035">
                                            <p:txEl>
                                              <p:charRg st="55" end="89"/>
                                            </p:txEl>
                                          </p:spTgt>
                                        </p:tgtEl>
                                        <p:attrNameLst>
                                          <p:attrName>style.visibility</p:attrName>
                                        </p:attrNameLst>
                                      </p:cBhvr>
                                      <p:to>
                                        <p:strVal val="visible"/>
                                      </p:to>
                                    </p:set>
                                    <p:anim calcmode="lin" valueType="num">
                                      <p:cBhvr additive="base">
                                        <p:cTn id="25" dur="500" fill="hold"/>
                                        <p:tgtEl>
                                          <p:spTgt spid="300035">
                                            <p:txEl>
                                              <p:charRg st="55" end="8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0035">
                                            <p:txEl>
                                              <p:charRg st="55" end="89"/>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0035">
                                            <p:txEl>
                                              <p:charRg st="89" end="115"/>
                                            </p:txEl>
                                          </p:spTgt>
                                        </p:tgtEl>
                                        <p:attrNameLst>
                                          <p:attrName>style.visibility</p:attrName>
                                        </p:attrNameLst>
                                      </p:cBhvr>
                                      <p:to>
                                        <p:strVal val="visible"/>
                                      </p:to>
                                    </p:set>
                                    <p:anim calcmode="lin" valueType="num">
                                      <p:cBhvr additive="base">
                                        <p:cTn id="31" dur="500" fill="hold"/>
                                        <p:tgtEl>
                                          <p:spTgt spid="300035">
                                            <p:txEl>
                                              <p:charRg st="89" end="11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0035">
                                            <p:txEl>
                                              <p:charRg st="89" end="11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00035">
                                            <p:txEl>
                                              <p:charRg st="116" end="131"/>
                                            </p:txEl>
                                          </p:spTgt>
                                        </p:tgtEl>
                                        <p:attrNameLst>
                                          <p:attrName>style.visibility</p:attrName>
                                        </p:attrNameLst>
                                      </p:cBhvr>
                                      <p:to>
                                        <p:strVal val="visible"/>
                                      </p:to>
                                    </p:set>
                                    <p:anim calcmode="lin" valueType="num">
                                      <p:cBhvr additive="base">
                                        <p:cTn id="37" dur="500" fill="hold"/>
                                        <p:tgtEl>
                                          <p:spTgt spid="300035">
                                            <p:txEl>
                                              <p:charRg st="116" end="13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00035">
                                            <p:txEl>
                                              <p:charRg st="116" end="131"/>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00035">
                                            <p:txEl>
                                              <p:charRg st="131" end="134"/>
                                            </p:txEl>
                                          </p:spTgt>
                                        </p:tgtEl>
                                        <p:attrNameLst>
                                          <p:attrName>style.visibility</p:attrName>
                                        </p:attrNameLst>
                                      </p:cBhvr>
                                      <p:to>
                                        <p:strVal val="visible"/>
                                      </p:to>
                                    </p:set>
                                    <p:anim calcmode="lin" valueType="num">
                                      <p:cBhvr additive="base">
                                        <p:cTn id="43" dur="500" fill="hold"/>
                                        <p:tgtEl>
                                          <p:spTgt spid="300035">
                                            <p:txEl>
                                              <p:charRg st="131" end="134"/>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00035">
                                            <p:txEl>
                                              <p:charRg st="131" end="134"/>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00035">
                                            <p:txEl>
                                              <p:charRg st="134" end="161"/>
                                            </p:txEl>
                                          </p:spTgt>
                                        </p:tgtEl>
                                        <p:attrNameLst>
                                          <p:attrName>style.visibility</p:attrName>
                                        </p:attrNameLst>
                                      </p:cBhvr>
                                      <p:to>
                                        <p:strVal val="visible"/>
                                      </p:to>
                                    </p:set>
                                    <p:anim calcmode="lin" valueType="num">
                                      <p:cBhvr additive="base">
                                        <p:cTn id="49" dur="500" fill="hold"/>
                                        <p:tgtEl>
                                          <p:spTgt spid="300035">
                                            <p:txEl>
                                              <p:charRg st="134" end="161"/>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00035">
                                            <p:txEl>
                                              <p:charRg st="134" end="161"/>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00035">
                                            <p:txEl>
                                              <p:charRg st="161" end="196"/>
                                            </p:txEl>
                                          </p:spTgt>
                                        </p:tgtEl>
                                        <p:attrNameLst>
                                          <p:attrName>style.visibility</p:attrName>
                                        </p:attrNameLst>
                                      </p:cBhvr>
                                      <p:to>
                                        <p:strVal val="visible"/>
                                      </p:to>
                                    </p:set>
                                    <p:anim calcmode="lin" valueType="num">
                                      <p:cBhvr additive="base">
                                        <p:cTn id="55" dur="500" fill="hold"/>
                                        <p:tgtEl>
                                          <p:spTgt spid="300035">
                                            <p:txEl>
                                              <p:charRg st="161" end="196"/>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00035">
                                            <p:txEl>
                                              <p:charRg st="161" end="196"/>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00035">
                                            <p:txEl>
                                              <p:charRg st="196" end="231"/>
                                            </p:txEl>
                                          </p:spTgt>
                                        </p:tgtEl>
                                        <p:attrNameLst>
                                          <p:attrName>style.visibility</p:attrName>
                                        </p:attrNameLst>
                                      </p:cBhvr>
                                      <p:to>
                                        <p:strVal val="visible"/>
                                      </p:to>
                                    </p:set>
                                    <p:anim calcmode="lin" valueType="num">
                                      <p:cBhvr additive="base">
                                        <p:cTn id="61" dur="500" fill="hold"/>
                                        <p:tgtEl>
                                          <p:spTgt spid="300035">
                                            <p:txEl>
                                              <p:charRg st="196" end="231"/>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00035">
                                            <p:txEl>
                                              <p:charRg st="196" end="23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bldLvl="3"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4643438" y="476250"/>
            <a:ext cx="4114800" cy="955675"/>
          </a:xfrm>
        </p:spPr>
        <p:txBody>
          <a:bodyPr vert="horz" wrap="square" lIns="91440" tIns="45720" rIns="91440" bIns="45720" anchor="ctr" anchorCtr="0"/>
          <a:p>
            <a:pPr eaLnBrk="1" hangingPunct="1"/>
            <a:r>
              <a:rPr lang="zh-CN" altLang="en-US" b="0" dirty="0"/>
              <a:t>原码 反码 补码</a:t>
            </a:r>
            <a:endParaRPr lang="zh-CN" altLang="en-US" b="0" dirty="0"/>
          </a:p>
        </p:txBody>
      </p:sp>
      <p:sp>
        <p:nvSpPr>
          <p:cNvPr id="301059" name="Rectangle 3"/>
          <p:cNvSpPr>
            <a:spLocks noGrp="1"/>
          </p:cNvSpPr>
          <p:nvPr>
            <p:ph idx="1"/>
          </p:nvPr>
        </p:nvSpPr>
        <p:spPr>
          <a:xfrm>
            <a:off x="533400" y="1219200"/>
            <a:ext cx="8305800" cy="4800600"/>
          </a:xfrm>
        </p:spPr>
        <p:txBody>
          <a:bodyPr vert="horz" wrap="square" lIns="91440" tIns="45720" rIns="91440" bIns="45720" anchor="t" anchorCtr="0"/>
          <a:p>
            <a:pPr marL="914400" lvl="1" indent="-457200" algn="just" eaLnBrk="1" hangingPunct="1">
              <a:lnSpc>
                <a:spcPct val="90000"/>
              </a:lnSpc>
              <a:buNone/>
            </a:pPr>
            <a:r>
              <a:rPr lang="zh-CN" altLang="en-US" b="0" dirty="0">
                <a:solidFill>
                  <a:schemeClr val="bg2"/>
                </a:solidFill>
              </a:rPr>
              <a:t>32767</a:t>
            </a:r>
            <a:endParaRPr lang="zh-CN" altLang="en-US" b="0" dirty="0">
              <a:solidFill>
                <a:schemeClr val="bg2"/>
              </a:solidFill>
            </a:endParaRPr>
          </a:p>
          <a:p>
            <a:pPr marL="1295400" lvl="2" indent="-381000" algn="just" eaLnBrk="1" hangingPunct="1">
              <a:lnSpc>
                <a:spcPct val="90000"/>
              </a:lnSpc>
            </a:pPr>
            <a:r>
              <a:rPr lang="zh-CN" altLang="en-US" b="0" dirty="0"/>
              <a:t>补码    </a:t>
            </a:r>
            <a:r>
              <a:rPr lang="zh-CN" altLang="en-US" b="0" dirty="0">
                <a:solidFill>
                  <a:srgbClr val="CC0066"/>
                </a:solidFill>
              </a:rPr>
              <a:t>0</a:t>
            </a:r>
            <a:r>
              <a:rPr lang="zh-CN" altLang="en-US" b="0" dirty="0"/>
              <a:t> 111 1111 1111 1111</a:t>
            </a:r>
            <a:endParaRPr lang="zh-CN" altLang="en-US" b="0" dirty="0"/>
          </a:p>
          <a:p>
            <a:pPr marL="1295400" lvl="2" indent="-381000" algn="just" eaLnBrk="1" hangingPunct="1">
              <a:lnSpc>
                <a:spcPct val="90000"/>
              </a:lnSpc>
              <a:buNone/>
            </a:pPr>
            <a:endParaRPr lang="zh-CN" altLang="en-US" b="0" dirty="0"/>
          </a:p>
          <a:p>
            <a:pPr marL="914400" lvl="1" indent="-457200" algn="just" eaLnBrk="1" hangingPunct="1">
              <a:lnSpc>
                <a:spcPct val="90000"/>
              </a:lnSpc>
              <a:buNone/>
            </a:pPr>
            <a:r>
              <a:rPr lang="zh-CN" altLang="en-US" b="0" dirty="0">
                <a:solidFill>
                  <a:schemeClr val="bg2"/>
                </a:solidFill>
              </a:rPr>
              <a:t>-32767</a:t>
            </a:r>
            <a:endParaRPr lang="zh-CN" altLang="en-US" b="0" dirty="0">
              <a:solidFill>
                <a:schemeClr val="bg2"/>
              </a:solidFill>
            </a:endParaRPr>
          </a:p>
          <a:p>
            <a:pPr marL="1295400" lvl="2" indent="-381000" algn="just" eaLnBrk="1" hangingPunct="1">
              <a:lnSpc>
                <a:spcPct val="90000"/>
              </a:lnSpc>
            </a:pPr>
            <a:r>
              <a:rPr lang="zh-CN" altLang="en-US" b="0" dirty="0"/>
              <a:t>原码   </a:t>
            </a:r>
            <a:r>
              <a:rPr lang="zh-CN" altLang="en-US" b="0" dirty="0">
                <a:solidFill>
                  <a:srgbClr val="CC0066"/>
                </a:solidFill>
              </a:rPr>
              <a:t>1</a:t>
            </a:r>
            <a:r>
              <a:rPr lang="zh-CN" altLang="en-US" b="0" dirty="0"/>
              <a:t> 111 1111 1111 1111</a:t>
            </a:r>
            <a:endParaRPr lang="zh-CN" altLang="en-US" b="0" dirty="0"/>
          </a:p>
          <a:p>
            <a:pPr marL="1295400" lvl="2" indent="-381000" algn="just" eaLnBrk="1" hangingPunct="1">
              <a:lnSpc>
                <a:spcPct val="90000"/>
              </a:lnSpc>
            </a:pPr>
            <a:r>
              <a:rPr lang="zh-CN" altLang="en-US" b="0" dirty="0"/>
              <a:t>反码   </a:t>
            </a:r>
            <a:r>
              <a:rPr lang="zh-CN" altLang="en-US" b="0" dirty="0">
                <a:solidFill>
                  <a:srgbClr val="CC0066"/>
                </a:solidFill>
              </a:rPr>
              <a:t>1</a:t>
            </a:r>
            <a:r>
              <a:rPr lang="zh-CN" altLang="en-US" b="0" dirty="0"/>
              <a:t> 000 0000 0000 0000     原码取反</a:t>
            </a:r>
            <a:endParaRPr lang="zh-CN" altLang="en-US" b="0" dirty="0"/>
          </a:p>
          <a:p>
            <a:pPr marL="1295400" lvl="2" indent="-381000" algn="just" eaLnBrk="1" hangingPunct="1">
              <a:lnSpc>
                <a:spcPct val="90000"/>
              </a:lnSpc>
            </a:pPr>
            <a:r>
              <a:rPr lang="zh-CN" altLang="en-US" b="0" dirty="0"/>
              <a:t>补码   </a:t>
            </a:r>
            <a:r>
              <a:rPr lang="zh-CN" altLang="en-US" b="0" dirty="0">
                <a:solidFill>
                  <a:srgbClr val="CC0066"/>
                </a:solidFill>
              </a:rPr>
              <a:t>1</a:t>
            </a:r>
            <a:r>
              <a:rPr lang="zh-CN" altLang="en-US" b="0" dirty="0"/>
              <a:t> 000 0000 0000 000</a:t>
            </a:r>
            <a:r>
              <a:rPr lang="zh-CN" altLang="en-US" b="0" dirty="0">
                <a:solidFill>
                  <a:schemeClr val="bg2"/>
                </a:solidFill>
              </a:rPr>
              <a:t>1</a:t>
            </a:r>
            <a:r>
              <a:rPr lang="zh-CN" altLang="en-US" b="0" dirty="0"/>
              <a:t>     反码＋1</a:t>
            </a:r>
            <a:endParaRPr lang="zh-CN" altLang="en-US" b="0" dirty="0"/>
          </a:p>
          <a:p>
            <a:pPr marL="1295400" lvl="2" indent="-381000" algn="just" eaLnBrk="1" hangingPunct="1">
              <a:lnSpc>
                <a:spcPct val="90000"/>
              </a:lnSpc>
            </a:pPr>
            <a:endParaRPr lang="zh-CN" altLang="en-US" b="0" dirty="0"/>
          </a:p>
          <a:p>
            <a:pPr marL="914400" lvl="1" indent="-457200" algn="just" eaLnBrk="1" hangingPunct="1">
              <a:lnSpc>
                <a:spcPct val="90000"/>
              </a:lnSpc>
              <a:buNone/>
            </a:pPr>
            <a:r>
              <a:rPr lang="zh-CN" altLang="en-US" b="0" dirty="0">
                <a:solidFill>
                  <a:schemeClr val="bg2"/>
                </a:solidFill>
              </a:rPr>
              <a:t>-32768</a:t>
            </a:r>
            <a:r>
              <a:rPr lang="zh-CN" altLang="en-US" b="0" dirty="0"/>
              <a:t> = -32767-1</a:t>
            </a:r>
            <a:endParaRPr lang="zh-CN" altLang="en-US" b="0" dirty="0"/>
          </a:p>
          <a:p>
            <a:pPr marL="1295400" lvl="2" indent="-381000" algn="just" eaLnBrk="1" hangingPunct="1">
              <a:lnSpc>
                <a:spcPct val="90000"/>
              </a:lnSpc>
            </a:pPr>
            <a:r>
              <a:rPr lang="zh-CN" altLang="en-US" b="0" dirty="0"/>
              <a:t>补码   </a:t>
            </a:r>
            <a:r>
              <a:rPr lang="zh-CN" altLang="en-US" b="0" dirty="0">
                <a:solidFill>
                  <a:schemeClr val="bg2"/>
                </a:solidFill>
              </a:rPr>
              <a:t>1</a:t>
            </a:r>
            <a:r>
              <a:rPr lang="zh-CN" altLang="en-US" b="0" dirty="0"/>
              <a:t> 000 0000 0000 0000</a:t>
            </a:r>
            <a:endParaRPr lang="zh-CN" altLang="en-US" b="0" dirty="0"/>
          </a:p>
          <a:p>
            <a:pPr marL="1295400" lvl="2" indent="-381000" algn="just" eaLnBrk="1" hangingPunct="1">
              <a:lnSpc>
                <a:spcPct val="90000"/>
              </a:lnSpc>
              <a:buNone/>
            </a:pPr>
            <a:r>
              <a:rPr lang="zh-CN" altLang="en-US" b="0" dirty="0"/>
              <a:t>(2个字节的存储单元能表示的最小负数)</a:t>
            </a:r>
            <a:endParaRPr lang="zh-CN" altLang="en-US"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1059">
                                            <p:txEl>
                                              <p:charRg st="0" end="6"/>
                                            </p:txEl>
                                          </p:spTgt>
                                        </p:tgtEl>
                                        <p:attrNameLst>
                                          <p:attrName>style.visibility</p:attrName>
                                        </p:attrNameLst>
                                      </p:cBhvr>
                                      <p:to>
                                        <p:strVal val="visible"/>
                                      </p:to>
                                    </p:set>
                                    <p:anim calcmode="lin" valueType="num">
                                      <p:cBhvr additive="base">
                                        <p:cTn id="7" dur="500" fill="hold"/>
                                        <p:tgtEl>
                                          <p:spTgt spid="301059">
                                            <p:txEl>
                                              <p:charRg st="0" end="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1059">
                                            <p:txEl>
                                              <p:charRg st="0" end="6"/>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1059">
                                            <p:txEl>
                                              <p:charRg st="6" end="33"/>
                                            </p:txEl>
                                          </p:spTgt>
                                        </p:tgtEl>
                                        <p:attrNameLst>
                                          <p:attrName>style.visibility</p:attrName>
                                        </p:attrNameLst>
                                      </p:cBhvr>
                                      <p:to>
                                        <p:strVal val="visible"/>
                                      </p:to>
                                    </p:set>
                                    <p:anim calcmode="lin" valueType="num">
                                      <p:cBhvr additive="base">
                                        <p:cTn id="13" dur="500" fill="hold"/>
                                        <p:tgtEl>
                                          <p:spTgt spid="301059">
                                            <p:txEl>
                                              <p:charRg st="6" end="3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1059">
                                            <p:txEl>
                                              <p:charRg st="6" end="3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1059">
                                            <p:txEl>
                                              <p:charRg st="34" end="41"/>
                                            </p:txEl>
                                          </p:spTgt>
                                        </p:tgtEl>
                                        <p:attrNameLst>
                                          <p:attrName>style.visibility</p:attrName>
                                        </p:attrNameLst>
                                      </p:cBhvr>
                                      <p:to>
                                        <p:strVal val="visible"/>
                                      </p:to>
                                    </p:set>
                                    <p:anim calcmode="lin" valueType="num">
                                      <p:cBhvr additive="base">
                                        <p:cTn id="19" dur="500" fill="hold"/>
                                        <p:tgtEl>
                                          <p:spTgt spid="301059">
                                            <p:txEl>
                                              <p:charRg st="34" end="4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1059">
                                            <p:txEl>
                                              <p:charRg st="34" end="4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1059">
                                            <p:txEl>
                                              <p:charRg st="41" end="67"/>
                                            </p:txEl>
                                          </p:spTgt>
                                        </p:tgtEl>
                                        <p:attrNameLst>
                                          <p:attrName>style.visibility</p:attrName>
                                        </p:attrNameLst>
                                      </p:cBhvr>
                                      <p:to>
                                        <p:strVal val="visible"/>
                                      </p:to>
                                    </p:set>
                                    <p:anim calcmode="lin" valueType="num">
                                      <p:cBhvr additive="base">
                                        <p:cTn id="25" dur="500" fill="hold"/>
                                        <p:tgtEl>
                                          <p:spTgt spid="301059">
                                            <p:txEl>
                                              <p:charRg st="41" end="67"/>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1059">
                                            <p:txEl>
                                              <p:charRg st="41" end="67"/>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1059">
                                            <p:txEl>
                                              <p:charRg st="67" end="102"/>
                                            </p:txEl>
                                          </p:spTgt>
                                        </p:tgtEl>
                                        <p:attrNameLst>
                                          <p:attrName>style.visibility</p:attrName>
                                        </p:attrNameLst>
                                      </p:cBhvr>
                                      <p:to>
                                        <p:strVal val="visible"/>
                                      </p:to>
                                    </p:set>
                                    <p:anim calcmode="lin" valueType="num">
                                      <p:cBhvr additive="base">
                                        <p:cTn id="31" dur="500" fill="hold"/>
                                        <p:tgtEl>
                                          <p:spTgt spid="301059">
                                            <p:txEl>
                                              <p:charRg st="67" end="10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1059">
                                            <p:txEl>
                                              <p:charRg st="67" end="102"/>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01059">
                                            <p:txEl>
                                              <p:charRg st="102" end="137"/>
                                            </p:txEl>
                                          </p:spTgt>
                                        </p:tgtEl>
                                        <p:attrNameLst>
                                          <p:attrName>style.visibility</p:attrName>
                                        </p:attrNameLst>
                                      </p:cBhvr>
                                      <p:to>
                                        <p:strVal val="visible"/>
                                      </p:to>
                                    </p:set>
                                    <p:anim calcmode="lin" valueType="num">
                                      <p:cBhvr additive="base">
                                        <p:cTn id="37" dur="500" fill="hold"/>
                                        <p:tgtEl>
                                          <p:spTgt spid="301059">
                                            <p:txEl>
                                              <p:charRg st="102" end="13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01059">
                                            <p:txEl>
                                              <p:charRg st="102" end="137"/>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01059">
                                            <p:txEl>
                                              <p:charRg st="138" end="156"/>
                                            </p:txEl>
                                          </p:spTgt>
                                        </p:tgtEl>
                                        <p:attrNameLst>
                                          <p:attrName>style.visibility</p:attrName>
                                        </p:attrNameLst>
                                      </p:cBhvr>
                                      <p:to>
                                        <p:strVal val="visible"/>
                                      </p:to>
                                    </p:set>
                                    <p:anim calcmode="lin" valueType="num">
                                      <p:cBhvr additive="base">
                                        <p:cTn id="43" dur="500" fill="hold"/>
                                        <p:tgtEl>
                                          <p:spTgt spid="301059">
                                            <p:txEl>
                                              <p:charRg st="138" end="15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01059">
                                            <p:txEl>
                                              <p:charRg st="138" end="15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01059">
                                            <p:txEl>
                                              <p:charRg st="156" end="182"/>
                                            </p:txEl>
                                          </p:spTgt>
                                        </p:tgtEl>
                                        <p:attrNameLst>
                                          <p:attrName>style.visibility</p:attrName>
                                        </p:attrNameLst>
                                      </p:cBhvr>
                                      <p:to>
                                        <p:strVal val="visible"/>
                                      </p:to>
                                    </p:set>
                                    <p:anim calcmode="lin" valueType="num">
                                      <p:cBhvr additive="base">
                                        <p:cTn id="49" dur="500" fill="hold"/>
                                        <p:tgtEl>
                                          <p:spTgt spid="301059">
                                            <p:txEl>
                                              <p:charRg st="156" end="182"/>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01059">
                                            <p:txEl>
                                              <p:charRg st="156" end="182"/>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01059">
                                            <p:txEl>
                                              <p:charRg st="182" end="202"/>
                                            </p:txEl>
                                          </p:spTgt>
                                        </p:tgtEl>
                                        <p:attrNameLst>
                                          <p:attrName>style.visibility</p:attrName>
                                        </p:attrNameLst>
                                      </p:cBhvr>
                                      <p:to>
                                        <p:strVal val="visible"/>
                                      </p:to>
                                    </p:set>
                                    <p:anim calcmode="lin" valueType="num">
                                      <p:cBhvr additive="base">
                                        <p:cTn id="55" dur="500" fill="hold"/>
                                        <p:tgtEl>
                                          <p:spTgt spid="301059">
                                            <p:txEl>
                                              <p:charRg st="182" end="20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01059">
                                            <p:txEl>
                                              <p:charRg st="182" end="20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bldLvl="3"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idx="1"/>
          </p:nvPr>
        </p:nvSpPr>
        <p:spPr>
          <a:xfrm>
            <a:off x="835025" y="371475"/>
            <a:ext cx="8142288" cy="533400"/>
          </a:xfrm>
        </p:spPr>
        <p:txBody>
          <a:bodyPr vert="horz" wrap="square" lIns="91440" tIns="45720" rIns="91440" bIns="45720" anchor="t" anchorCtr="0"/>
          <a:p>
            <a:pPr lvl="1" eaLnBrk="1" hangingPunct="1">
              <a:buNone/>
            </a:pPr>
            <a:r>
              <a:rPr lang="zh-CN" altLang="zh-CN" dirty="0">
                <a:solidFill>
                  <a:srgbClr val="CC0066"/>
                </a:solidFill>
                <a:sym typeface="Symbol" panose="05050102010706020507" pitchFamily="18" charset="2"/>
              </a:rPr>
              <a:t>  </a:t>
            </a:r>
            <a:r>
              <a:rPr lang="zh-CN" altLang="zh-CN" sz="2400" dirty="0">
                <a:solidFill>
                  <a:srgbClr val="CC0066"/>
                </a:solidFill>
                <a:sym typeface="Symbol" panose="05050102010706020507" pitchFamily="18" charset="2"/>
              </a:rPr>
              <a:t>-32768                -1  0  1                   32767 </a:t>
            </a:r>
            <a:endParaRPr lang="zh-CN" altLang="en-US" sz="2400" dirty="0">
              <a:solidFill>
                <a:srgbClr val="CC0066"/>
              </a:solidFill>
              <a:sym typeface="Symbol" panose="05050102010706020507" pitchFamily="18" charset="2"/>
            </a:endParaRPr>
          </a:p>
        </p:txBody>
      </p:sp>
      <p:grpSp>
        <p:nvGrpSpPr>
          <p:cNvPr id="13314" name="Group 3"/>
          <p:cNvGrpSpPr/>
          <p:nvPr/>
        </p:nvGrpSpPr>
        <p:grpSpPr>
          <a:xfrm>
            <a:off x="2020888" y="762000"/>
            <a:ext cx="6205537" cy="990600"/>
            <a:chOff x="624" y="1200"/>
            <a:chExt cx="4656" cy="624"/>
          </a:xfrm>
        </p:grpSpPr>
        <p:sp>
          <p:nvSpPr>
            <p:cNvPr id="13315" name="Line 4"/>
            <p:cNvSpPr/>
            <p:nvPr/>
          </p:nvSpPr>
          <p:spPr>
            <a:xfrm>
              <a:off x="960" y="1344"/>
              <a:ext cx="3936" cy="0"/>
            </a:xfrm>
            <a:prstGeom prst="line">
              <a:avLst/>
            </a:prstGeom>
            <a:ln w="28575" cap="sq" cmpd="sng">
              <a:solidFill>
                <a:schemeClr val="tx1"/>
              </a:solidFill>
              <a:prstDash val="solid"/>
              <a:round/>
              <a:headEnd type="none" w="sm" len="sm"/>
              <a:tailEnd type="none" w="sm" len="sm"/>
            </a:ln>
          </p:spPr>
        </p:sp>
        <p:sp>
          <p:nvSpPr>
            <p:cNvPr id="13316" name="Line 5"/>
            <p:cNvSpPr/>
            <p:nvPr/>
          </p:nvSpPr>
          <p:spPr>
            <a:xfrm>
              <a:off x="949" y="1200"/>
              <a:ext cx="0" cy="144"/>
            </a:xfrm>
            <a:prstGeom prst="line">
              <a:avLst/>
            </a:prstGeom>
            <a:ln w="12700" cap="sq" cmpd="sng">
              <a:solidFill>
                <a:schemeClr val="tx1"/>
              </a:solidFill>
              <a:prstDash val="solid"/>
              <a:round/>
              <a:headEnd type="none" w="sm" len="sm"/>
              <a:tailEnd type="none" w="sm" len="sm"/>
            </a:ln>
          </p:spPr>
        </p:sp>
        <p:sp>
          <p:nvSpPr>
            <p:cNvPr id="13317" name="Line 6"/>
            <p:cNvSpPr/>
            <p:nvPr/>
          </p:nvSpPr>
          <p:spPr>
            <a:xfrm>
              <a:off x="2592" y="1200"/>
              <a:ext cx="0" cy="144"/>
            </a:xfrm>
            <a:prstGeom prst="line">
              <a:avLst/>
            </a:prstGeom>
            <a:ln w="12700" cap="sq" cmpd="sng">
              <a:solidFill>
                <a:schemeClr val="tx1"/>
              </a:solidFill>
              <a:prstDash val="solid"/>
              <a:round/>
              <a:headEnd type="none" w="sm" len="sm"/>
              <a:tailEnd type="none" w="sm" len="sm"/>
            </a:ln>
          </p:spPr>
        </p:sp>
        <p:sp>
          <p:nvSpPr>
            <p:cNvPr id="13318" name="Line 7"/>
            <p:cNvSpPr/>
            <p:nvPr/>
          </p:nvSpPr>
          <p:spPr>
            <a:xfrm>
              <a:off x="2880" y="1200"/>
              <a:ext cx="0" cy="144"/>
            </a:xfrm>
            <a:prstGeom prst="line">
              <a:avLst/>
            </a:prstGeom>
            <a:ln w="38100" cap="sq" cmpd="sng">
              <a:solidFill>
                <a:schemeClr val="bg2"/>
              </a:solidFill>
              <a:prstDash val="solid"/>
              <a:round/>
              <a:headEnd type="none" w="sm" len="sm"/>
              <a:tailEnd type="none" w="sm" len="sm"/>
            </a:ln>
          </p:spPr>
        </p:sp>
        <p:sp>
          <p:nvSpPr>
            <p:cNvPr id="13319" name="Line 8"/>
            <p:cNvSpPr/>
            <p:nvPr/>
          </p:nvSpPr>
          <p:spPr>
            <a:xfrm>
              <a:off x="3142" y="1200"/>
              <a:ext cx="0" cy="144"/>
            </a:xfrm>
            <a:prstGeom prst="line">
              <a:avLst/>
            </a:prstGeom>
            <a:ln w="12700" cap="sq" cmpd="sng">
              <a:solidFill>
                <a:schemeClr val="tx1"/>
              </a:solidFill>
              <a:prstDash val="solid"/>
              <a:round/>
              <a:headEnd type="none" w="sm" len="sm"/>
              <a:tailEnd type="none" w="sm" len="sm"/>
            </a:ln>
          </p:spPr>
        </p:sp>
        <p:sp>
          <p:nvSpPr>
            <p:cNvPr id="13320" name="Line 9"/>
            <p:cNvSpPr/>
            <p:nvPr/>
          </p:nvSpPr>
          <p:spPr>
            <a:xfrm>
              <a:off x="4900" y="1200"/>
              <a:ext cx="0" cy="144"/>
            </a:xfrm>
            <a:prstGeom prst="line">
              <a:avLst/>
            </a:prstGeom>
            <a:ln w="12700" cap="sq" cmpd="sng">
              <a:solidFill>
                <a:schemeClr val="tx1"/>
              </a:solidFill>
              <a:prstDash val="solid"/>
              <a:round/>
              <a:headEnd type="none" w="sm" len="sm"/>
              <a:tailEnd type="none" w="sm" len="sm"/>
            </a:ln>
          </p:spPr>
        </p:sp>
        <p:sp>
          <p:nvSpPr>
            <p:cNvPr id="13321" name="Line 10"/>
            <p:cNvSpPr/>
            <p:nvPr/>
          </p:nvSpPr>
          <p:spPr>
            <a:xfrm>
              <a:off x="4944" y="1248"/>
              <a:ext cx="336" cy="0"/>
            </a:xfrm>
            <a:prstGeom prst="line">
              <a:avLst/>
            </a:prstGeom>
            <a:ln w="28575" cap="sq" cmpd="sng">
              <a:solidFill>
                <a:schemeClr val="bg2"/>
              </a:solidFill>
              <a:prstDash val="solid"/>
              <a:round/>
              <a:headEnd type="triangle" w="med" len="med"/>
              <a:tailEnd type="triangle" w="med" len="med"/>
            </a:ln>
          </p:spPr>
        </p:sp>
        <p:sp>
          <p:nvSpPr>
            <p:cNvPr id="13322" name="Freeform 11"/>
            <p:cNvSpPr/>
            <p:nvPr/>
          </p:nvSpPr>
          <p:spPr>
            <a:xfrm>
              <a:off x="672" y="1248"/>
              <a:ext cx="4560" cy="576"/>
            </a:xfrm>
            <a:custGeom>
              <a:avLst/>
              <a:gdLst/>
              <a:ahLst/>
              <a:cxnLst>
                <a:cxn ang="0">
                  <a:pos x="4416" y="0"/>
                </a:cxn>
                <a:cxn ang="0">
                  <a:pos x="4272" y="480"/>
                </a:cxn>
                <a:cxn ang="0">
                  <a:pos x="3840" y="624"/>
                </a:cxn>
                <a:cxn ang="0">
                  <a:pos x="2160" y="768"/>
                </a:cxn>
                <a:cxn ang="0">
                  <a:pos x="384" y="624"/>
                </a:cxn>
                <a:cxn ang="0">
                  <a:pos x="0" y="48"/>
                </a:cxn>
              </a:cxnLst>
              <a:pathLst>
                <a:path w="4416" h="768">
                  <a:moveTo>
                    <a:pt x="4416" y="0"/>
                  </a:moveTo>
                  <a:cubicBezTo>
                    <a:pt x="4392" y="188"/>
                    <a:pt x="4368" y="376"/>
                    <a:pt x="4272" y="480"/>
                  </a:cubicBezTo>
                  <a:cubicBezTo>
                    <a:pt x="4176" y="584"/>
                    <a:pt x="4192" y="576"/>
                    <a:pt x="3840" y="624"/>
                  </a:cubicBezTo>
                  <a:cubicBezTo>
                    <a:pt x="3488" y="672"/>
                    <a:pt x="2736" y="768"/>
                    <a:pt x="2160" y="768"/>
                  </a:cubicBezTo>
                  <a:cubicBezTo>
                    <a:pt x="1584" y="768"/>
                    <a:pt x="744" y="744"/>
                    <a:pt x="384" y="624"/>
                  </a:cubicBezTo>
                  <a:cubicBezTo>
                    <a:pt x="24" y="504"/>
                    <a:pt x="40" y="136"/>
                    <a:pt x="0" y="48"/>
                  </a:cubicBezTo>
                </a:path>
              </a:pathLst>
            </a:custGeom>
            <a:noFill/>
            <a:ln w="12700" cap="sq" cmpd="sng">
              <a:solidFill>
                <a:schemeClr val="bg2"/>
              </a:solidFill>
              <a:prstDash val="solid"/>
              <a:round/>
              <a:headEnd type="none" w="sm" len="sm"/>
              <a:tailEnd type="none" w="sm" len="sm"/>
            </a:ln>
          </p:spPr>
          <p:txBody>
            <a:bodyPr/>
            <a:p>
              <a:endParaRPr lang="zh-CN" altLang="en-US"/>
            </a:p>
          </p:txBody>
        </p:sp>
        <p:sp>
          <p:nvSpPr>
            <p:cNvPr id="13323" name="Line 12"/>
            <p:cNvSpPr/>
            <p:nvPr/>
          </p:nvSpPr>
          <p:spPr>
            <a:xfrm>
              <a:off x="624" y="1248"/>
              <a:ext cx="336" cy="0"/>
            </a:xfrm>
            <a:prstGeom prst="line">
              <a:avLst/>
            </a:prstGeom>
            <a:ln w="28575" cap="sq" cmpd="sng">
              <a:solidFill>
                <a:schemeClr val="bg2"/>
              </a:solidFill>
              <a:prstDash val="solid"/>
              <a:round/>
              <a:headEnd type="triangle" w="med" len="med"/>
              <a:tailEnd type="triangle" w="med" len="med"/>
            </a:ln>
          </p:spPr>
        </p:sp>
      </p:grpSp>
      <p:sp>
        <p:nvSpPr>
          <p:cNvPr id="302093" name="Rectangle 13"/>
          <p:cNvSpPr/>
          <p:nvPr/>
        </p:nvSpPr>
        <p:spPr>
          <a:xfrm>
            <a:off x="228600" y="2720975"/>
            <a:ext cx="5135563" cy="3429000"/>
          </a:xfrm>
          <a:prstGeom prst="rect">
            <a:avLst/>
          </a:prstGeom>
          <a:noFill/>
          <a:ln w="9525">
            <a:noFill/>
          </a:ln>
        </p:spPr>
        <p:txBody>
          <a:bodyPr lIns="92075" tIns="46038" rIns="92075" bIns="46038" anchor="t" anchorCtr="0"/>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solidFill>
                  <a:schemeClr val="bg2"/>
                </a:solidFill>
                <a:latin typeface="Arial" panose="02080604020202020204" pitchFamily="34" charset="0"/>
                <a:sym typeface="Symbol" panose="05050102010706020507" pitchFamily="18" charset="2"/>
              </a:rPr>
              <a:t>32767</a:t>
            </a: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latin typeface="Arial" panose="02080604020202020204" pitchFamily="34" charset="0"/>
                <a:sym typeface="Symbol" panose="05050102010706020507" pitchFamily="18" charset="2"/>
              </a:rPr>
              <a:t>0111 1111 1111 1111</a:t>
            </a:r>
            <a:endParaRPr lang="zh-CN" altLang="en-US" sz="2000" dirty="0">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solidFill>
                  <a:schemeClr val="bg2"/>
                </a:solidFill>
                <a:latin typeface="Arial" panose="02080604020202020204" pitchFamily="34" charset="0"/>
                <a:sym typeface="Symbol" panose="05050102010706020507" pitchFamily="18" charset="2"/>
              </a:rPr>
              <a:t>……</a:t>
            </a:r>
            <a:endParaRPr lang="zh-CN" altLang="en-US" sz="2000" dirty="0">
              <a:solidFill>
                <a:schemeClr val="bg2"/>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          1</a:t>
            </a: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latin typeface="Arial" panose="02080604020202020204" pitchFamily="34" charset="0"/>
                <a:sym typeface="Symbol" panose="05050102010706020507" pitchFamily="18" charset="2"/>
              </a:rPr>
              <a:t>0000 0000 0000 0001</a:t>
            </a:r>
            <a:endParaRPr lang="zh-CN" altLang="en-US" sz="2000" dirty="0">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          0</a:t>
            </a: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latin typeface="Arial" panose="02080604020202020204" pitchFamily="34" charset="0"/>
                <a:sym typeface="Symbol" panose="05050102010706020507" pitchFamily="18" charset="2"/>
              </a:rPr>
              <a:t>0000 0000 0000 0000</a:t>
            </a: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         -1</a:t>
            </a: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latin typeface="Arial" panose="02080604020202020204" pitchFamily="34" charset="0"/>
                <a:sym typeface="Symbol" panose="05050102010706020507" pitchFamily="18" charset="2"/>
              </a:rPr>
              <a:t>1111 1111 1111 1111</a:t>
            </a:r>
            <a:endParaRPr lang="zh-CN" altLang="en-US" sz="2000" dirty="0">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         -2</a:t>
            </a: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latin typeface="Arial" panose="02080604020202020204" pitchFamily="34" charset="0"/>
                <a:sym typeface="Symbol" panose="05050102010706020507" pitchFamily="18" charset="2"/>
              </a:rPr>
              <a:t>1111 1111 1111 1110</a:t>
            </a:r>
            <a:endParaRPr lang="zh-CN" altLang="en-US" sz="2000" dirty="0">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     ……</a:t>
            </a:r>
            <a:r>
              <a:rPr lang="zh-CN" altLang="en-US" sz="2000" dirty="0">
                <a:solidFill>
                  <a:srgbClr val="FFFF00"/>
                </a:solidFill>
                <a:latin typeface="Arial" panose="02080604020202020204" pitchFamily="34" charset="0"/>
                <a:sym typeface="Symbol" panose="05050102010706020507" pitchFamily="18" charset="2"/>
              </a:rPr>
              <a:t>  </a:t>
            </a: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  -32767</a:t>
            </a: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latin typeface="Arial" panose="02080604020202020204" pitchFamily="34" charset="0"/>
                <a:sym typeface="Symbol" panose="05050102010706020507" pitchFamily="18" charset="2"/>
              </a:rPr>
              <a:t>1000 0000 0000 0001</a:t>
            </a:r>
            <a:endParaRPr lang="zh-CN" altLang="en-US" sz="2000" dirty="0">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  -32768</a:t>
            </a:r>
            <a:r>
              <a:rPr lang="zh-CN" altLang="en-US" sz="2000" dirty="0">
                <a:solidFill>
                  <a:srgbClr val="FFFF00"/>
                </a:solidFill>
                <a:latin typeface="Arial" panose="02080604020202020204" pitchFamily="34" charset="0"/>
                <a:sym typeface="Symbol" panose="05050102010706020507" pitchFamily="18" charset="2"/>
              </a:rPr>
              <a:t>  </a:t>
            </a:r>
            <a:r>
              <a:rPr lang="zh-CN" altLang="en-US" sz="2000" dirty="0">
                <a:latin typeface="Arial" panose="02080604020202020204" pitchFamily="34" charset="0"/>
                <a:sym typeface="Symbol" panose="05050102010706020507" pitchFamily="18" charset="2"/>
              </a:rPr>
              <a:t>1000 0000 0000 0000</a:t>
            </a:r>
            <a:endParaRPr lang="zh-CN" altLang="zh-CN" sz="2000" dirty="0">
              <a:latin typeface="Arial" panose="02080604020202020204" pitchFamily="34" charset="0"/>
              <a:sym typeface="Symbol" panose="05050102010706020507" pitchFamily="18" charset="2"/>
            </a:endParaRPr>
          </a:p>
        </p:txBody>
      </p:sp>
      <p:sp>
        <p:nvSpPr>
          <p:cNvPr id="302094" name="Rectangle 14"/>
          <p:cNvSpPr/>
          <p:nvPr/>
        </p:nvSpPr>
        <p:spPr>
          <a:xfrm>
            <a:off x="3851275" y="2060575"/>
            <a:ext cx="5173663" cy="4419600"/>
          </a:xfrm>
          <a:prstGeom prst="rect">
            <a:avLst/>
          </a:prstGeom>
          <a:noFill/>
          <a:ln w="9525">
            <a:noFill/>
          </a:ln>
        </p:spPr>
        <p:txBody>
          <a:bodyPr lIns="92075" tIns="46038" rIns="92075" bIns="46038" anchor="t" anchorCtr="0"/>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32767</a:t>
            </a:r>
            <a:r>
              <a:rPr lang="zh-CN" altLang="en-US" sz="2000" dirty="0">
                <a:solidFill>
                  <a:schemeClr val="accent1"/>
                </a:solidFill>
                <a:latin typeface="Arial" panose="02080604020202020204" pitchFamily="34" charset="0"/>
                <a:sym typeface="Symbol" panose="05050102010706020507" pitchFamily="18" charset="2"/>
              </a:rPr>
              <a:t> </a:t>
            </a:r>
            <a:r>
              <a:rPr lang="zh-CN" altLang="en-US" sz="2000" dirty="0">
                <a:solidFill>
                  <a:srgbClr val="CC0066"/>
                </a:solidFill>
                <a:latin typeface="Arial" panose="02080604020202020204" pitchFamily="34" charset="0"/>
                <a:sym typeface="Symbol" panose="05050102010706020507" pitchFamily="18" charset="2"/>
              </a:rPr>
              <a:t>+ 1 </a:t>
            </a:r>
            <a:r>
              <a:rPr lang="zh-CN" altLang="en-US" sz="2000" dirty="0">
                <a:latin typeface="Arial" panose="02080604020202020204" pitchFamily="34" charset="0"/>
                <a:sym typeface="Symbol" panose="05050102010706020507" pitchFamily="18" charset="2"/>
              </a:rPr>
              <a:t>=</a:t>
            </a:r>
            <a:r>
              <a:rPr lang="zh-CN" altLang="en-US" sz="2000" dirty="0">
                <a:solidFill>
                  <a:srgbClr val="CC0066"/>
                </a:solidFill>
                <a:latin typeface="Arial" panose="02080604020202020204" pitchFamily="34" charset="0"/>
                <a:sym typeface="Symbol" panose="05050102010706020507" pitchFamily="18" charset="2"/>
              </a:rPr>
              <a:t> 32768 ?</a:t>
            </a:r>
            <a:endParaRPr lang="zh-CN" altLang="en-US" sz="2000" dirty="0">
              <a:solidFill>
                <a:srgbClr val="CC0066"/>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latin typeface="Arial" panose="02080604020202020204" pitchFamily="34" charset="0"/>
                <a:sym typeface="Symbol" panose="05050102010706020507" pitchFamily="18" charset="2"/>
              </a:rPr>
              <a:t>1000 0000 0000 000 =</a:t>
            </a:r>
            <a:r>
              <a:rPr lang="zh-CN" altLang="en-US" sz="2000" dirty="0">
                <a:solidFill>
                  <a:srgbClr val="CC0066"/>
                </a:solidFill>
                <a:latin typeface="Arial" panose="02080604020202020204" pitchFamily="34" charset="0"/>
                <a:sym typeface="Symbol" panose="05050102010706020507" pitchFamily="18" charset="2"/>
              </a:rPr>
              <a:t> -32768</a:t>
            </a:r>
            <a:endParaRPr lang="zh-CN" altLang="en-US" sz="2000" dirty="0">
              <a:solidFill>
                <a:srgbClr val="CC0066"/>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endParaRPr lang="zh-CN" altLang="en-US" sz="2000" dirty="0">
              <a:solidFill>
                <a:srgbClr val="FFFF00"/>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solidFill>
                  <a:schemeClr val="bg2"/>
                </a:solidFill>
                <a:latin typeface="Arial" panose="02080604020202020204" pitchFamily="34" charset="0"/>
                <a:sym typeface="Symbol" panose="05050102010706020507" pitchFamily="18" charset="2"/>
              </a:rPr>
              <a:t>-32768</a:t>
            </a:r>
            <a:r>
              <a:rPr lang="zh-CN" altLang="en-US" sz="2000" dirty="0">
                <a:solidFill>
                  <a:schemeClr val="accent1"/>
                </a:solidFill>
                <a:latin typeface="Arial" panose="02080604020202020204" pitchFamily="34" charset="0"/>
                <a:sym typeface="Symbol" panose="05050102010706020507" pitchFamily="18" charset="2"/>
              </a:rPr>
              <a:t> </a:t>
            </a:r>
            <a:r>
              <a:rPr lang="zh-CN" altLang="en-US" sz="2000" dirty="0">
                <a:solidFill>
                  <a:srgbClr val="CC0066"/>
                </a:solidFill>
                <a:latin typeface="Arial" panose="02080604020202020204" pitchFamily="34" charset="0"/>
                <a:sym typeface="Symbol" panose="05050102010706020507" pitchFamily="18" charset="2"/>
              </a:rPr>
              <a:t>- 1 </a:t>
            </a:r>
            <a:r>
              <a:rPr lang="zh-CN" altLang="en-US" sz="2000" dirty="0">
                <a:latin typeface="Arial" panose="02080604020202020204" pitchFamily="34" charset="0"/>
                <a:sym typeface="Symbol" panose="05050102010706020507" pitchFamily="18" charset="2"/>
              </a:rPr>
              <a:t>=</a:t>
            </a:r>
            <a:r>
              <a:rPr lang="zh-CN" altLang="en-US" sz="2000" dirty="0">
                <a:solidFill>
                  <a:srgbClr val="CC0066"/>
                </a:solidFill>
                <a:latin typeface="Arial" panose="02080604020202020204" pitchFamily="34" charset="0"/>
                <a:sym typeface="Symbol" panose="05050102010706020507" pitchFamily="18" charset="2"/>
              </a:rPr>
              <a:t> -32769 ?</a:t>
            </a:r>
            <a:endParaRPr lang="zh-CN" altLang="en-US" sz="2000" dirty="0">
              <a:solidFill>
                <a:srgbClr val="CC0066"/>
              </a:solidFill>
              <a:latin typeface="Arial" panose="02080604020202020204" pitchFamily="34" charset="0"/>
              <a:sym typeface="Symbol" panose="05050102010706020507" pitchFamily="18" charset="2"/>
            </a:endParaRPr>
          </a:p>
          <a:p>
            <a:pPr marL="342900" indent="-342900">
              <a:lnSpc>
                <a:spcPct val="90000"/>
              </a:lnSpc>
              <a:spcBef>
                <a:spcPct val="20000"/>
              </a:spcBef>
              <a:buClr>
                <a:srgbClr val="33CCCC"/>
              </a:buClr>
              <a:buSzPct val="80000"/>
              <a:buFont typeface="Wingdings" panose="05000000000000000000" pitchFamily="2" charset="2"/>
            </a:pPr>
            <a:r>
              <a:rPr lang="zh-CN" altLang="en-US" sz="2000" dirty="0">
                <a:latin typeface="Arial" panose="02080604020202020204" pitchFamily="34" charset="0"/>
                <a:sym typeface="Symbol" panose="05050102010706020507" pitchFamily="18" charset="2"/>
              </a:rPr>
              <a:t>0111 1111 1111 1111 =</a:t>
            </a:r>
            <a:r>
              <a:rPr lang="zh-CN" altLang="en-US" sz="2000" dirty="0">
                <a:solidFill>
                  <a:srgbClr val="CC0066"/>
                </a:solidFill>
                <a:latin typeface="Arial" panose="02080604020202020204" pitchFamily="34" charset="0"/>
                <a:sym typeface="Symbol" panose="05050102010706020507" pitchFamily="18" charset="2"/>
              </a:rPr>
              <a:t> 32767</a:t>
            </a:r>
            <a:endParaRPr lang="zh-CN" altLang="zh-CN" sz="2000" dirty="0">
              <a:solidFill>
                <a:srgbClr val="CC0066"/>
              </a:solidFill>
              <a:latin typeface="Arial" panose="02080604020202020204" pitchFamily="34"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2093"/>
                                        </p:tgtEl>
                                        <p:attrNameLst>
                                          <p:attrName>style.visibility</p:attrName>
                                        </p:attrNameLst>
                                      </p:cBhvr>
                                      <p:to>
                                        <p:strVal val="visible"/>
                                      </p:to>
                                    </p:set>
                                    <p:anim calcmode="lin" valueType="num">
                                      <p:cBhvr additive="base">
                                        <p:cTn id="7" dur="500" fill="hold"/>
                                        <p:tgtEl>
                                          <p:spTgt spid="302093"/>
                                        </p:tgtEl>
                                        <p:attrNameLst>
                                          <p:attrName>ppt_x</p:attrName>
                                        </p:attrNameLst>
                                      </p:cBhvr>
                                      <p:tavLst>
                                        <p:tav tm="0">
                                          <p:val>
                                            <p:strVal val="0-#ppt_w/2"/>
                                          </p:val>
                                        </p:tav>
                                        <p:tav tm="100000">
                                          <p:val>
                                            <p:strVal val="#ppt_x"/>
                                          </p:val>
                                        </p:tav>
                                      </p:tavLst>
                                    </p:anim>
                                    <p:anim calcmode="lin" valueType="num">
                                      <p:cBhvr additive="base">
                                        <p:cTn id="8" dur="500" fill="hold"/>
                                        <p:tgtEl>
                                          <p:spTgt spid="30209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2094">
                                            <p:txEl>
                                              <p:charRg st="0" end="20"/>
                                            </p:txEl>
                                          </p:spTgt>
                                        </p:tgtEl>
                                        <p:attrNameLst>
                                          <p:attrName>style.visibility</p:attrName>
                                        </p:attrNameLst>
                                      </p:cBhvr>
                                      <p:to>
                                        <p:strVal val="visible"/>
                                      </p:to>
                                    </p:set>
                                    <p:anim calcmode="lin" valueType="num">
                                      <p:cBhvr additive="base">
                                        <p:cTn id="13" dur="500" fill="hold"/>
                                        <p:tgtEl>
                                          <p:spTgt spid="302094">
                                            <p:txEl>
                                              <p:charRg st="0" end="2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2094">
                                            <p:txEl>
                                              <p:charRg st="0" end="2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2094">
                                            <p:txEl>
                                              <p:charRg st="20" end="48"/>
                                            </p:txEl>
                                          </p:spTgt>
                                        </p:tgtEl>
                                        <p:attrNameLst>
                                          <p:attrName>style.visibility</p:attrName>
                                        </p:attrNameLst>
                                      </p:cBhvr>
                                      <p:to>
                                        <p:strVal val="visible"/>
                                      </p:to>
                                    </p:set>
                                    <p:anim calcmode="lin" valueType="num">
                                      <p:cBhvr additive="base">
                                        <p:cTn id="19" dur="500" fill="hold"/>
                                        <p:tgtEl>
                                          <p:spTgt spid="302094">
                                            <p:txEl>
                                              <p:charRg st="20" end="48"/>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2094">
                                            <p:txEl>
                                              <p:charRg st="20" end="48"/>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2094">
                                            <p:txEl>
                                              <p:charRg st="57" end="79"/>
                                            </p:txEl>
                                          </p:spTgt>
                                        </p:tgtEl>
                                        <p:attrNameLst>
                                          <p:attrName>style.visibility</p:attrName>
                                        </p:attrNameLst>
                                      </p:cBhvr>
                                      <p:to>
                                        <p:strVal val="visible"/>
                                      </p:to>
                                    </p:set>
                                    <p:anim calcmode="lin" valueType="num">
                                      <p:cBhvr additive="base">
                                        <p:cTn id="25" dur="500" fill="hold"/>
                                        <p:tgtEl>
                                          <p:spTgt spid="302094">
                                            <p:txEl>
                                              <p:charRg st="57" end="7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2094">
                                            <p:txEl>
                                              <p:charRg st="57" end="79"/>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2094">
                                            <p:txEl>
                                              <p:charRg st="79" end="107"/>
                                            </p:txEl>
                                          </p:spTgt>
                                        </p:tgtEl>
                                        <p:attrNameLst>
                                          <p:attrName>style.visibility</p:attrName>
                                        </p:attrNameLst>
                                      </p:cBhvr>
                                      <p:to>
                                        <p:strVal val="visible"/>
                                      </p:to>
                                    </p:set>
                                    <p:anim calcmode="lin" valueType="num">
                                      <p:cBhvr additive="base">
                                        <p:cTn id="31" dur="500" fill="hold"/>
                                        <p:tgtEl>
                                          <p:spTgt spid="302094">
                                            <p:txEl>
                                              <p:charRg st="79" end="10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2094">
                                            <p:txEl>
                                              <p:charRg st="79" end="10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93" grpId="0"/>
      <p:bldP spid="30209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457200" y="457200"/>
            <a:ext cx="7786688" cy="8112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实型和字符型数据的存储</a:t>
            </a:r>
            <a:endParaRPr lang="zh-CN" altLang="en-US" b="0" dirty="0">
              <a:sym typeface="+mn-ea"/>
            </a:endParaRPr>
          </a:p>
        </p:txBody>
      </p:sp>
      <p:sp>
        <p:nvSpPr>
          <p:cNvPr id="310275" name="Rectangle 3"/>
          <p:cNvSpPr>
            <a:spLocks noGrp="1"/>
          </p:cNvSpPr>
          <p:nvPr>
            <p:ph idx="1"/>
          </p:nvPr>
        </p:nvSpPr>
        <p:spPr>
          <a:xfrm>
            <a:off x="457200" y="1524000"/>
            <a:ext cx="8153400" cy="3429000"/>
          </a:xfrm>
        </p:spPr>
        <p:txBody>
          <a:bodyPr vert="horz" wrap="square" lIns="91440" tIns="45720" rIns="91440" bIns="45720" anchor="t" anchorCtr="0"/>
          <a:p>
            <a:pPr eaLnBrk="1" hangingPunct="1"/>
            <a:r>
              <a:rPr lang="zh-CN" altLang="en-US" b="0" dirty="0">
                <a:latin typeface="宋体" pitchFamily="2" charset="-122"/>
              </a:rPr>
              <a:t>实型数据的存储</a:t>
            </a:r>
            <a:endParaRPr lang="zh-CN" altLang="en-US" b="0" dirty="0">
              <a:latin typeface="宋体" pitchFamily="2" charset="-122"/>
            </a:endParaRPr>
          </a:p>
          <a:p>
            <a:pPr lvl="1" algn="just" eaLnBrk="1" hangingPunct="1">
              <a:buNone/>
            </a:pPr>
            <a:r>
              <a:rPr lang="x-none" altLang="zh-CN" b="0" dirty="0"/>
              <a:t>        </a:t>
            </a:r>
            <a:r>
              <a:rPr lang="zh-CN" altLang="en-US" b="0" dirty="0"/>
              <a:t>-</a:t>
            </a:r>
            <a:r>
              <a:rPr lang="zh-CN" altLang="en-US" b="0" dirty="0">
                <a:solidFill>
                  <a:srgbClr val="CC0066"/>
                </a:solidFill>
              </a:rPr>
              <a:t>1.2345</a:t>
            </a:r>
            <a:r>
              <a:rPr lang="en-US" altLang="zh-CN" b="0">
                <a:solidFill>
                  <a:srgbClr val="CC0066"/>
                </a:solidFill>
              </a:rPr>
              <a:t>e</a:t>
            </a:r>
            <a:r>
              <a:rPr lang="en-US" altLang="zh-CN" b="0"/>
              <a:t>+</a:t>
            </a:r>
            <a:r>
              <a:rPr lang="en-US" altLang="zh-CN" b="0">
                <a:solidFill>
                  <a:schemeClr val="bg2"/>
                </a:solidFill>
              </a:rPr>
              <a:t>02</a:t>
            </a:r>
            <a:endParaRPr lang="en-US" altLang="zh-CN" b="0">
              <a:solidFill>
                <a:schemeClr val="bg2"/>
              </a:solidFill>
            </a:endParaRPr>
          </a:p>
          <a:p>
            <a:pPr lvl="1" algn="just" eaLnBrk="1" hangingPunct="1">
              <a:buNone/>
            </a:pPr>
            <a:r>
              <a:rPr lang="zh-CN" altLang="en-US" b="0" dirty="0"/>
              <a:t>符号位  </a:t>
            </a:r>
            <a:r>
              <a:rPr lang="zh-CN" altLang="en-US" b="0" dirty="0">
                <a:solidFill>
                  <a:schemeClr val="bg2"/>
                </a:solidFill>
              </a:rPr>
              <a:t>阶码</a:t>
            </a:r>
            <a:r>
              <a:rPr lang="zh-CN" altLang="en-US" b="0" dirty="0"/>
              <a:t>  </a:t>
            </a:r>
            <a:r>
              <a:rPr lang="zh-CN" altLang="en-US" b="0" dirty="0">
                <a:solidFill>
                  <a:srgbClr val="CC0066"/>
                </a:solidFill>
              </a:rPr>
              <a:t>尾数</a:t>
            </a:r>
            <a:endParaRPr lang="zh-CN" altLang="en-US" b="0" dirty="0">
              <a:solidFill>
                <a:srgbClr val="CC0066"/>
              </a:solidFill>
            </a:endParaRPr>
          </a:p>
          <a:p>
            <a:pPr lvl="1" algn="just" eaLnBrk="1" hangingPunct="1">
              <a:buNone/>
            </a:pPr>
            <a:endParaRPr lang="zh-CN" altLang="en-US" b="0" dirty="0">
              <a:solidFill>
                <a:srgbClr val="FFFF00"/>
              </a:solidFill>
            </a:endParaRPr>
          </a:p>
          <a:p>
            <a:pPr eaLnBrk="1" hangingPunct="1"/>
            <a:r>
              <a:rPr lang="zh-CN" altLang="en-US" b="0" dirty="0">
                <a:latin typeface="宋体" pitchFamily="2" charset="-122"/>
              </a:rPr>
              <a:t>字符型数据的存储</a:t>
            </a:r>
            <a:endParaRPr lang="zh-CN" altLang="en-US" b="0" dirty="0">
              <a:latin typeface="宋体" pitchFamily="2" charset="-122"/>
            </a:endParaRPr>
          </a:p>
          <a:p>
            <a:pPr lvl="1" algn="just" eaLnBrk="1" hangingPunct="1">
              <a:buNone/>
            </a:pPr>
            <a:r>
              <a:rPr lang="zh-CN" altLang="en-US" b="0" dirty="0"/>
              <a:t>一个字节存储</a:t>
            </a:r>
            <a:r>
              <a:rPr lang="en-US" altLang="zh-CN" b="0"/>
              <a:t>ASCII</a:t>
            </a:r>
            <a:r>
              <a:rPr lang="zh-CN" altLang="en-US" b="0" dirty="0"/>
              <a:t>码</a:t>
            </a:r>
            <a:endParaRPr lang="zh-CN" altLang="en-US" b="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0275">
                                            <p:txEl>
                                              <p:charRg st="0" end="8"/>
                                            </p:txEl>
                                          </p:spTgt>
                                        </p:tgtEl>
                                        <p:attrNameLst>
                                          <p:attrName>style.visibility</p:attrName>
                                        </p:attrNameLst>
                                      </p:cBhvr>
                                      <p:to>
                                        <p:strVal val="visible"/>
                                      </p:to>
                                    </p:set>
                                    <p:anim calcmode="lin" valueType="num">
                                      <p:cBhvr additive="base">
                                        <p:cTn id="7" dur="500" fill="hold"/>
                                        <p:tgtEl>
                                          <p:spTgt spid="310275">
                                            <p:txEl>
                                              <p:charRg st="0" end="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0275">
                                            <p:txEl>
                                              <p:charRg st="0" end="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0275">
                                            <p:txEl>
                                              <p:charRg st="8" end="20"/>
                                            </p:txEl>
                                          </p:spTgt>
                                        </p:tgtEl>
                                        <p:attrNameLst>
                                          <p:attrName>style.visibility</p:attrName>
                                        </p:attrNameLst>
                                      </p:cBhvr>
                                      <p:to>
                                        <p:strVal val="visible"/>
                                      </p:to>
                                    </p:set>
                                    <p:anim calcmode="lin" valueType="num">
                                      <p:cBhvr additive="base">
                                        <p:cTn id="13" dur="500" fill="hold"/>
                                        <p:tgtEl>
                                          <p:spTgt spid="310275">
                                            <p:txEl>
                                              <p:charRg st="8" end="2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0275">
                                            <p:txEl>
                                              <p:charRg st="8" end="2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0275">
                                            <p:txEl>
                                              <p:charRg st="20" end="32"/>
                                            </p:txEl>
                                          </p:spTgt>
                                        </p:tgtEl>
                                        <p:attrNameLst>
                                          <p:attrName>style.visibility</p:attrName>
                                        </p:attrNameLst>
                                      </p:cBhvr>
                                      <p:to>
                                        <p:strVal val="visible"/>
                                      </p:to>
                                    </p:set>
                                    <p:anim calcmode="lin" valueType="num">
                                      <p:cBhvr additive="base">
                                        <p:cTn id="19" dur="500" fill="hold"/>
                                        <p:tgtEl>
                                          <p:spTgt spid="310275">
                                            <p:txEl>
                                              <p:charRg st="20" end="3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0275">
                                            <p:txEl>
                                              <p:charRg st="20" end="3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0275">
                                            <p:txEl>
                                              <p:charRg st="33" end="42"/>
                                            </p:txEl>
                                          </p:spTgt>
                                        </p:tgtEl>
                                        <p:attrNameLst>
                                          <p:attrName>style.visibility</p:attrName>
                                        </p:attrNameLst>
                                      </p:cBhvr>
                                      <p:to>
                                        <p:strVal val="visible"/>
                                      </p:to>
                                    </p:set>
                                    <p:anim calcmode="lin" valueType="num">
                                      <p:cBhvr additive="base">
                                        <p:cTn id="25" dur="500" fill="hold"/>
                                        <p:tgtEl>
                                          <p:spTgt spid="310275">
                                            <p:txEl>
                                              <p:charRg st="33" end="4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10275">
                                            <p:txEl>
                                              <p:charRg st="33" end="4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10275">
                                            <p:txEl>
                                              <p:charRg st="42" end="55"/>
                                            </p:txEl>
                                          </p:spTgt>
                                        </p:tgtEl>
                                        <p:attrNameLst>
                                          <p:attrName>style.visibility</p:attrName>
                                        </p:attrNameLst>
                                      </p:cBhvr>
                                      <p:to>
                                        <p:strVal val="visible"/>
                                      </p:to>
                                    </p:set>
                                    <p:anim calcmode="lin" valueType="num">
                                      <p:cBhvr additive="base">
                                        <p:cTn id="31" dur="500" fill="hold"/>
                                        <p:tgtEl>
                                          <p:spTgt spid="310275">
                                            <p:txEl>
                                              <p:charRg st="42" end="5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10275">
                                            <p:txEl>
                                              <p:charRg st="42" end="5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5" grpId="0" bldLvl="2"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457200" y="457200"/>
            <a:ext cx="7786688" cy="8112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5.1.2 基本</a:t>
            </a:r>
            <a:r>
              <a:rPr lang="zh-CN" altLang="en-US" b="0" dirty="0">
                <a:sym typeface="+mn-ea"/>
              </a:rPr>
              <a:t>数据类型</a:t>
            </a:r>
            <a:endParaRPr lang="zh-CN" altLang="en-US" b="0" dirty="0">
              <a:sym typeface="+mn-ea"/>
            </a:endParaRPr>
          </a:p>
        </p:txBody>
      </p:sp>
      <p:sp>
        <p:nvSpPr>
          <p:cNvPr id="439299" name="Rectangle 3"/>
          <p:cNvSpPr>
            <a:spLocks noGrp="1"/>
          </p:cNvSpPr>
          <p:nvPr>
            <p:ph idx="1"/>
          </p:nvPr>
        </p:nvSpPr>
        <p:spPr>
          <a:xfrm>
            <a:off x="539750" y="1412875"/>
            <a:ext cx="8375650" cy="4681538"/>
          </a:xfrm>
        </p:spPr>
        <p:txBody>
          <a:bodyPr vert="horz" wrap="square" lIns="91440" tIns="45720" rIns="91440" bIns="45720" anchor="t" anchorCtr="0"/>
          <a:p>
            <a:pPr eaLnBrk="1" hangingPunct="1"/>
            <a:r>
              <a:rPr lang="zh-CN" altLang="en-US" sz="2800" b="0" dirty="0"/>
              <a:t>整型</a:t>
            </a:r>
            <a:endParaRPr lang="zh-CN" altLang="en-US" sz="2800" b="0" dirty="0">
              <a:latin typeface="宋体" pitchFamily="2" charset="-122"/>
            </a:endParaRPr>
          </a:p>
          <a:p>
            <a:pPr lvl="1" algn="just" eaLnBrk="1" hangingPunct="1">
              <a:buNone/>
            </a:pPr>
            <a:r>
              <a:rPr lang="zh-CN" altLang="en-US" sz="2400" b="0" dirty="0"/>
              <a:t>有符号整型     无符号整型                </a:t>
            </a:r>
            <a:r>
              <a:rPr lang="zh-CN" altLang="zh-CN" sz="2400" b="0" dirty="0"/>
              <a:t>  </a:t>
            </a:r>
            <a:r>
              <a:rPr lang="zh-CN" altLang="en-US" sz="2400" b="0" dirty="0"/>
              <a:t>数据长度</a:t>
            </a:r>
            <a:endParaRPr lang="zh-CN" altLang="en-US" sz="2400" b="0" dirty="0"/>
          </a:p>
          <a:p>
            <a:pPr lvl="1" algn="just" eaLnBrk="1" hangingPunct="1">
              <a:buNone/>
            </a:pPr>
            <a:r>
              <a:rPr lang="en-US" altLang="zh-CN" sz="2400" b="0" err="1">
                <a:solidFill>
                  <a:schemeClr val="bg2"/>
                </a:solidFill>
              </a:rPr>
              <a:t>int</a:t>
            </a:r>
            <a:r>
              <a:rPr lang="en-US" altLang="zh-CN" sz="2400" b="0"/>
              <a:t>                </a:t>
            </a:r>
            <a:r>
              <a:rPr lang="en-US" altLang="zh-CN" sz="2400" b="0">
                <a:solidFill>
                  <a:srgbClr val="CC0066"/>
                </a:solidFill>
              </a:rPr>
              <a:t>unsigned</a:t>
            </a:r>
            <a:r>
              <a:rPr lang="en-US" altLang="zh-CN" sz="2400" b="0"/>
              <a:t> [</a:t>
            </a:r>
            <a:r>
              <a:rPr lang="en-US" altLang="zh-CN" sz="2400" b="0" err="1"/>
              <a:t>int</a:t>
            </a:r>
            <a:r>
              <a:rPr lang="en-US" altLang="zh-CN" sz="2400" b="0"/>
              <a:t>]             </a:t>
            </a:r>
            <a:r>
              <a:rPr lang="zh-CN" altLang="en-US" sz="2400" b="0" dirty="0"/>
              <a:t>32位</a:t>
            </a:r>
            <a:r>
              <a:rPr lang="zh-CN" altLang="zh-CN" sz="2400" b="0" dirty="0"/>
              <a:t>4字节</a:t>
            </a:r>
            <a:endParaRPr lang="zh-CN" altLang="zh-CN" sz="2400" b="0" dirty="0"/>
          </a:p>
          <a:p>
            <a:pPr lvl="1" algn="just" eaLnBrk="1" hangingPunct="1">
              <a:buNone/>
            </a:pPr>
            <a:r>
              <a:rPr lang="en-US" altLang="zh-CN" sz="2400" b="0">
                <a:solidFill>
                  <a:srgbClr val="CC0066"/>
                </a:solidFill>
              </a:rPr>
              <a:t>short</a:t>
            </a:r>
            <a:r>
              <a:rPr lang="en-US" altLang="zh-CN" sz="2400" b="0"/>
              <a:t> [</a:t>
            </a:r>
            <a:r>
              <a:rPr lang="en-US" altLang="zh-CN" sz="2400" b="0" err="1"/>
              <a:t>int</a:t>
            </a:r>
            <a:r>
              <a:rPr lang="en-US" altLang="zh-CN" sz="2400" b="0"/>
              <a:t>]   </a:t>
            </a:r>
            <a:r>
              <a:rPr lang="zh-CN" altLang="en-US" sz="2400" b="0"/>
              <a:t> </a:t>
            </a:r>
            <a:r>
              <a:rPr lang="en-US" altLang="zh-CN" sz="2400" b="0">
                <a:solidFill>
                  <a:srgbClr val="CC0066"/>
                </a:solidFill>
              </a:rPr>
              <a:t>unsigned short</a:t>
            </a:r>
            <a:r>
              <a:rPr lang="en-US" altLang="zh-CN" sz="2400" b="0"/>
              <a:t> [</a:t>
            </a:r>
            <a:r>
              <a:rPr lang="en-US" altLang="zh-CN" sz="2400" b="0" err="1"/>
              <a:t>int</a:t>
            </a:r>
            <a:r>
              <a:rPr lang="en-US" altLang="zh-CN" sz="2400" b="0"/>
              <a:t>]    16</a:t>
            </a:r>
            <a:r>
              <a:rPr lang="zh-CN" altLang="en-US" sz="2400" b="0" dirty="0"/>
              <a:t>位</a:t>
            </a:r>
            <a:r>
              <a:rPr lang="en-US" altLang="zh-CN" sz="2400" b="0" dirty="0"/>
              <a:t>2</a:t>
            </a:r>
            <a:r>
              <a:rPr lang="zh-CN" altLang="en-US" sz="2400" b="0" dirty="0"/>
              <a:t>字节</a:t>
            </a:r>
            <a:endParaRPr lang="zh-CN" altLang="en-US" sz="2400" b="0" dirty="0"/>
          </a:p>
          <a:p>
            <a:pPr lvl="1" algn="just" eaLnBrk="1" hangingPunct="1">
              <a:buNone/>
            </a:pPr>
            <a:r>
              <a:rPr lang="en-US" altLang="zh-CN" sz="2400" b="0">
                <a:solidFill>
                  <a:srgbClr val="CC0066"/>
                </a:solidFill>
              </a:rPr>
              <a:t>long</a:t>
            </a:r>
            <a:r>
              <a:rPr lang="en-US" altLang="zh-CN" sz="2400" b="0"/>
              <a:t> [</a:t>
            </a:r>
            <a:r>
              <a:rPr lang="en-US" altLang="zh-CN" sz="2400" b="0" err="1"/>
              <a:t>int</a:t>
            </a:r>
            <a:r>
              <a:rPr lang="en-US" altLang="zh-CN" sz="2400" b="0"/>
              <a:t>]     </a:t>
            </a:r>
            <a:r>
              <a:rPr lang="en-US" altLang="zh-CN" sz="2400" b="0">
                <a:solidFill>
                  <a:srgbClr val="CC0066"/>
                </a:solidFill>
              </a:rPr>
              <a:t>unsigned long</a:t>
            </a:r>
            <a:r>
              <a:rPr lang="en-US" altLang="zh-CN" sz="2400" b="0"/>
              <a:t> [</a:t>
            </a:r>
            <a:r>
              <a:rPr lang="en-US" altLang="zh-CN" sz="2400" b="0" err="1"/>
              <a:t>int</a:t>
            </a:r>
            <a:r>
              <a:rPr lang="en-US" altLang="zh-CN" sz="2400" b="0"/>
              <a:t>]      32</a:t>
            </a:r>
            <a:r>
              <a:rPr lang="zh-CN" altLang="en-US" sz="2400" b="0" dirty="0"/>
              <a:t>位</a:t>
            </a:r>
            <a:r>
              <a:rPr lang="en-US" altLang="zh-CN" sz="2400" b="0" dirty="0"/>
              <a:t>4</a:t>
            </a:r>
            <a:r>
              <a:rPr lang="zh-CN" altLang="en-US" sz="2400" b="0" dirty="0"/>
              <a:t>字节</a:t>
            </a:r>
            <a:endParaRPr lang="zh-CN" altLang="en-US" sz="2400" b="0" dirty="0">
              <a:solidFill>
                <a:srgbClr val="FFFF00"/>
              </a:solidFill>
            </a:endParaRPr>
          </a:p>
          <a:p>
            <a:pPr eaLnBrk="1" hangingPunct="1"/>
            <a:r>
              <a:rPr lang="zh-CN" altLang="en-US" sz="2800" b="0" dirty="0"/>
              <a:t>字符型</a:t>
            </a:r>
            <a:endParaRPr lang="zh-CN" altLang="en-US" sz="2800" b="0" dirty="0">
              <a:latin typeface="宋体" pitchFamily="2" charset="-122"/>
            </a:endParaRPr>
          </a:p>
          <a:p>
            <a:pPr lvl="1" algn="just" eaLnBrk="1" hangingPunct="1">
              <a:buNone/>
            </a:pPr>
            <a:r>
              <a:rPr lang="en-US" altLang="zh-CN" sz="2400" b="0">
                <a:solidFill>
                  <a:schemeClr val="bg2"/>
                </a:solidFill>
              </a:rPr>
              <a:t>char</a:t>
            </a:r>
            <a:r>
              <a:rPr lang="en-US" altLang="zh-CN" sz="2400" b="0"/>
              <a:t>      8</a:t>
            </a:r>
            <a:r>
              <a:rPr lang="zh-CN" altLang="en-US" sz="2400" b="0" dirty="0"/>
              <a:t>位</a:t>
            </a:r>
            <a:endParaRPr lang="zh-CN" altLang="en-US" sz="2400" b="0" dirty="0"/>
          </a:p>
          <a:p>
            <a:pPr algn="just" eaLnBrk="1" hangingPunct="1"/>
            <a:r>
              <a:rPr lang="zh-CN" altLang="en-US" sz="2800" b="0" dirty="0"/>
              <a:t>实型（浮点型）</a:t>
            </a:r>
            <a:endParaRPr lang="zh-CN" altLang="en-US" sz="2800" b="0" dirty="0"/>
          </a:p>
          <a:p>
            <a:pPr lvl="1" algn="just" eaLnBrk="1" hangingPunct="1">
              <a:buNone/>
            </a:pPr>
            <a:r>
              <a:rPr lang="zh-CN" altLang="en-US" sz="2400" b="0" dirty="0"/>
              <a:t>单精度浮点型   </a:t>
            </a:r>
            <a:r>
              <a:rPr lang="en-US" altLang="zh-CN" sz="2400" b="0">
                <a:solidFill>
                  <a:schemeClr val="bg2"/>
                </a:solidFill>
              </a:rPr>
              <a:t>float</a:t>
            </a:r>
            <a:r>
              <a:rPr lang="en-US" altLang="zh-CN" sz="2400" b="0"/>
              <a:t>      </a:t>
            </a:r>
            <a:r>
              <a:rPr lang="zh-CN" altLang="en-US" sz="2400" b="0"/>
              <a:t>    </a:t>
            </a:r>
            <a:r>
              <a:rPr lang="en-US" altLang="zh-CN" sz="2400" b="0"/>
              <a:t>32</a:t>
            </a:r>
            <a:r>
              <a:rPr lang="zh-CN" altLang="en-US" sz="2400" b="0" dirty="0"/>
              <a:t>位</a:t>
            </a:r>
            <a:r>
              <a:rPr lang="en-US" altLang="zh-CN" sz="2400" b="0" dirty="0"/>
              <a:t>  4</a:t>
            </a:r>
            <a:r>
              <a:rPr lang="zh-CN" altLang="en-US" sz="2400" b="0" dirty="0"/>
              <a:t>字节</a:t>
            </a:r>
            <a:endParaRPr lang="zh-CN" altLang="en-US" sz="2400" b="0" dirty="0"/>
          </a:p>
          <a:p>
            <a:pPr lvl="1" algn="just" eaLnBrk="1" hangingPunct="1">
              <a:buNone/>
            </a:pPr>
            <a:r>
              <a:rPr lang="zh-CN" altLang="en-US" sz="2400" b="0" dirty="0"/>
              <a:t>双精度浮点型   </a:t>
            </a:r>
            <a:r>
              <a:rPr lang="en-US" altLang="zh-CN" sz="2400" b="0">
                <a:solidFill>
                  <a:schemeClr val="bg2"/>
                </a:solidFill>
              </a:rPr>
              <a:t>double</a:t>
            </a:r>
            <a:r>
              <a:rPr lang="en-US" altLang="zh-CN" sz="2400" b="0"/>
              <a:t>  </a:t>
            </a:r>
            <a:r>
              <a:rPr lang="zh-CN" altLang="en-US" sz="2400" b="0"/>
              <a:t>    </a:t>
            </a:r>
            <a:r>
              <a:rPr lang="en-US" altLang="zh-CN" sz="2400" b="0"/>
              <a:t>64</a:t>
            </a:r>
            <a:r>
              <a:rPr lang="zh-CN" altLang="en-US" sz="2400" b="0" dirty="0"/>
              <a:t>位</a:t>
            </a:r>
            <a:r>
              <a:rPr lang="en-US" altLang="zh-CN" sz="2400" b="0" dirty="0"/>
              <a:t>   8</a:t>
            </a:r>
            <a:r>
              <a:rPr lang="zh-CN" altLang="en-US" sz="2400" b="0" dirty="0"/>
              <a:t>字节</a:t>
            </a:r>
            <a:endParaRPr lang="zh-CN" altLang="en-US" sz="24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9299">
                                            <p:txEl>
                                              <p:charRg st="0" end="3"/>
                                            </p:txEl>
                                          </p:spTgt>
                                        </p:tgtEl>
                                        <p:attrNameLst>
                                          <p:attrName>style.visibility</p:attrName>
                                        </p:attrNameLst>
                                      </p:cBhvr>
                                      <p:to>
                                        <p:strVal val="visible"/>
                                      </p:to>
                                    </p:set>
                                    <p:anim calcmode="lin" valueType="num">
                                      <p:cBhvr additive="base">
                                        <p:cTn id="7" dur="500" fill="hold"/>
                                        <p:tgtEl>
                                          <p:spTgt spid="439299">
                                            <p:txEl>
                                              <p:charRg st="0"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9299">
                                            <p:txEl>
                                              <p:charRg st="0" end="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9299">
                                            <p:txEl>
                                              <p:charRg st="3" end="41"/>
                                            </p:txEl>
                                          </p:spTgt>
                                        </p:tgtEl>
                                        <p:attrNameLst>
                                          <p:attrName>style.visibility</p:attrName>
                                        </p:attrNameLst>
                                      </p:cBhvr>
                                      <p:to>
                                        <p:strVal val="visible"/>
                                      </p:to>
                                    </p:set>
                                    <p:anim calcmode="lin" valueType="num">
                                      <p:cBhvr additive="base">
                                        <p:cTn id="13" dur="500" fill="hold"/>
                                        <p:tgtEl>
                                          <p:spTgt spid="439299">
                                            <p:txEl>
                                              <p:charRg st="3" end="4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9299">
                                            <p:txEl>
                                              <p:charRg st="3" end="4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9299">
                                            <p:txEl>
                                              <p:charRg st="41" end="96"/>
                                            </p:txEl>
                                          </p:spTgt>
                                        </p:tgtEl>
                                        <p:attrNameLst>
                                          <p:attrName>style.visibility</p:attrName>
                                        </p:attrNameLst>
                                      </p:cBhvr>
                                      <p:to>
                                        <p:strVal val="visible"/>
                                      </p:to>
                                    </p:set>
                                    <p:anim calcmode="lin" valueType="num">
                                      <p:cBhvr additive="base">
                                        <p:cTn id="19" dur="500" fill="hold"/>
                                        <p:tgtEl>
                                          <p:spTgt spid="439299">
                                            <p:txEl>
                                              <p:charRg st="41" end="9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39299">
                                            <p:txEl>
                                              <p:charRg st="41" end="9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9" grpId="0" bldLvl="2"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457200" y="457200"/>
            <a:ext cx="7067550" cy="739775"/>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基本</a:t>
            </a:r>
            <a:r>
              <a:rPr lang="zh-CN" altLang="en-US" b="0" dirty="0">
                <a:sym typeface="+mn-ea"/>
              </a:rPr>
              <a:t>数据类型</a:t>
            </a:r>
            <a:r>
              <a:rPr lang="zh-CN" altLang="en-US" b="0" dirty="0">
                <a:sym typeface="+mn-ea"/>
              </a:rPr>
              <a:t>－整型</a:t>
            </a:r>
            <a:endParaRPr lang="zh-CN" altLang="en-US" b="0" dirty="0">
              <a:sym typeface="+mn-ea"/>
            </a:endParaRPr>
          </a:p>
        </p:txBody>
      </p:sp>
      <p:sp>
        <p:nvSpPr>
          <p:cNvPr id="16387" name="Rectangle 3"/>
          <p:cNvSpPr>
            <a:spLocks noGrp="1"/>
          </p:cNvSpPr>
          <p:nvPr>
            <p:ph idx="1"/>
          </p:nvPr>
        </p:nvSpPr>
        <p:spPr>
          <a:xfrm>
            <a:off x="107950" y="1412875"/>
            <a:ext cx="9040813" cy="1998663"/>
          </a:xfrm>
        </p:spPr>
        <p:txBody>
          <a:bodyPr vert="horz" wrap="square" lIns="91440" tIns="45720" rIns="91440" bIns="45720" anchor="t" anchorCtr="0"/>
          <a:p>
            <a:pPr algn="just" eaLnBrk="1" hangingPunct="1">
              <a:lnSpc>
                <a:spcPct val="80000"/>
              </a:lnSpc>
              <a:buNone/>
            </a:pPr>
            <a:r>
              <a:rPr lang="zh-CN" altLang="en-US" sz="2800" b="0" dirty="0"/>
              <a:t>扩展的整数类型：</a:t>
            </a:r>
            <a:r>
              <a:rPr lang="en-US" altLang="zh-CN" sz="2800" b="0">
                <a:solidFill>
                  <a:srgbClr val="CC0066"/>
                </a:solidFill>
              </a:rPr>
              <a:t>short   long  unsigned</a:t>
            </a:r>
            <a:r>
              <a:rPr lang="en-US" altLang="zh-CN" sz="2800" b="0">
                <a:solidFill>
                  <a:srgbClr val="FFFF00"/>
                </a:solidFill>
              </a:rPr>
              <a:t> </a:t>
            </a:r>
            <a:r>
              <a:rPr lang="en-US" altLang="zh-CN" sz="2800" b="0"/>
              <a:t> [</a:t>
            </a:r>
            <a:r>
              <a:rPr lang="en-US" altLang="zh-CN" sz="2800" b="0" err="1"/>
              <a:t>int</a:t>
            </a:r>
            <a:r>
              <a:rPr lang="en-US" altLang="zh-CN" sz="2800" b="0"/>
              <a:t>]</a:t>
            </a:r>
            <a:endParaRPr lang="zh-CN" altLang="en-US" sz="2800" b="0" dirty="0"/>
          </a:p>
          <a:p>
            <a:pPr lvl="1" algn="just" eaLnBrk="1" hangingPunct="1">
              <a:lnSpc>
                <a:spcPct val="80000"/>
              </a:lnSpc>
              <a:buNone/>
            </a:pPr>
            <a:r>
              <a:rPr lang="zh-CN" altLang="en-US" sz="2400" b="0" dirty="0"/>
              <a:t>有符号整型      无符号整型             </a:t>
            </a:r>
            <a:r>
              <a:rPr lang="x-none" altLang="zh-CN" sz="2400" b="0" dirty="0"/>
              <a:t>         </a:t>
            </a:r>
            <a:r>
              <a:rPr lang="zh-CN" altLang="en-US" sz="2400" b="0" dirty="0"/>
              <a:t>数据长度</a:t>
            </a:r>
            <a:endParaRPr lang="zh-CN" altLang="en-US" sz="2400" b="0" dirty="0"/>
          </a:p>
          <a:p>
            <a:pPr lvl="1" algn="just" eaLnBrk="1" hangingPunct="1">
              <a:lnSpc>
                <a:spcPct val="80000"/>
              </a:lnSpc>
              <a:buNone/>
            </a:pPr>
            <a:r>
              <a:rPr lang="en-US" altLang="zh-CN" sz="2400" b="0" err="1">
                <a:solidFill>
                  <a:schemeClr val="bg2"/>
                </a:solidFill>
              </a:rPr>
              <a:t>int</a:t>
            </a:r>
            <a:r>
              <a:rPr lang="en-US" altLang="zh-CN" sz="2400" b="0"/>
              <a:t>                  </a:t>
            </a:r>
            <a:r>
              <a:rPr lang="en-US" altLang="zh-CN" sz="2400" b="0">
                <a:solidFill>
                  <a:srgbClr val="CC0066"/>
                </a:solidFill>
              </a:rPr>
              <a:t>unsigned</a:t>
            </a:r>
            <a:r>
              <a:rPr lang="en-US" altLang="zh-CN" sz="2400" b="0"/>
              <a:t> [</a:t>
            </a:r>
            <a:r>
              <a:rPr lang="en-US" altLang="zh-CN" sz="2400" b="0" err="1"/>
              <a:t>int</a:t>
            </a:r>
            <a:r>
              <a:rPr lang="en-US" altLang="zh-CN" sz="2400" b="0"/>
              <a:t>]               16</a:t>
            </a:r>
            <a:r>
              <a:rPr lang="zh-CN" altLang="en-US" sz="2400" b="0" dirty="0"/>
              <a:t>或32位</a:t>
            </a:r>
            <a:endParaRPr lang="zh-CN" altLang="en-US" sz="2400" b="0" dirty="0"/>
          </a:p>
          <a:p>
            <a:pPr lvl="1" algn="just" eaLnBrk="1" hangingPunct="1">
              <a:lnSpc>
                <a:spcPct val="80000"/>
              </a:lnSpc>
              <a:buNone/>
            </a:pPr>
            <a:r>
              <a:rPr lang="en-US" altLang="zh-CN" sz="2400" b="0">
                <a:solidFill>
                  <a:srgbClr val="CC0066"/>
                </a:solidFill>
              </a:rPr>
              <a:t>short</a:t>
            </a:r>
            <a:r>
              <a:rPr lang="en-US" altLang="zh-CN" sz="2400" b="0"/>
              <a:t> [</a:t>
            </a:r>
            <a:r>
              <a:rPr lang="en-US" altLang="zh-CN" sz="2400" b="0" err="1"/>
              <a:t>int</a:t>
            </a:r>
            <a:r>
              <a:rPr lang="en-US" altLang="zh-CN" sz="2400" b="0"/>
              <a:t>]      </a:t>
            </a:r>
            <a:r>
              <a:rPr lang="x-none" altLang="en-US" sz="2400" b="0"/>
              <a:t> </a:t>
            </a:r>
            <a:r>
              <a:rPr lang="en-US" altLang="zh-CN" sz="2400" b="0">
                <a:solidFill>
                  <a:srgbClr val="CC0066"/>
                </a:solidFill>
              </a:rPr>
              <a:t>unsigned short</a:t>
            </a:r>
            <a:r>
              <a:rPr lang="en-US" altLang="zh-CN" sz="2400" b="0"/>
              <a:t> [</a:t>
            </a:r>
            <a:r>
              <a:rPr lang="en-US" altLang="zh-CN" sz="2400" b="0" err="1"/>
              <a:t>int</a:t>
            </a:r>
            <a:r>
              <a:rPr lang="en-US" altLang="zh-CN" sz="2400" b="0"/>
              <a:t>]     </a:t>
            </a:r>
            <a:r>
              <a:rPr lang="x-none" altLang="en-US" sz="2400" b="0"/>
              <a:t> </a:t>
            </a:r>
            <a:r>
              <a:rPr lang="en-US" altLang="zh-CN" sz="2400" b="0"/>
              <a:t>16</a:t>
            </a:r>
            <a:r>
              <a:rPr lang="zh-CN" altLang="en-US" sz="2400" b="0" dirty="0"/>
              <a:t>位</a:t>
            </a:r>
            <a:endParaRPr lang="zh-CN" altLang="en-US" sz="2400" b="0" dirty="0"/>
          </a:p>
          <a:p>
            <a:pPr lvl="1" algn="just" eaLnBrk="1" hangingPunct="1">
              <a:lnSpc>
                <a:spcPct val="80000"/>
              </a:lnSpc>
              <a:buNone/>
            </a:pPr>
            <a:r>
              <a:rPr lang="en-US" altLang="zh-CN" sz="2400" b="0">
                <a:solidFill>
                  <a:srgbClr val="CC0066"/>
                </a:solidFill>
              </a:rPr>
              <a:t>long</a:t>
            </a:r>
            <a:r>
              <a:rPr lang="en-US" altLang="zh-CN" sz="2400" b="0"/>
              <a:t> [</a:t>
            </a:r>
            <a:r>
              <a:rPr lang="en-US" altLang="zh-CN" sz="2400" b="0" err="1"/>
              <a:t>int</a:t>
            </a:r>
            <a:r>
              <a:rPr lang="en-US" altLang="zh-CN" sz="2400" b="0"/>
              <a:t>]       </a:t>
            </a:r>
            <a:r>
              <a:rPr lang="x-none" altLang="en-US" sz="2400" b="0"/>
              <a:t> </a:t>
            </a:r>
            <a:r>
              <a:rPr lang="en-US" altLang="zh-CN" sz="2400" b="0">
                <a:solidFill>
                  <a:srgbClr val="CC0066"/>
                </a:solidFill>
              </a:rPr>
              <a:t>unsigned long</a:t>
            </a:r>
            <a:r>
              <a:rPr lang="en-US" altLang="zh-CN" sz="2400" b="0"/>
              <a:t> [</a:t>
            </a:r>
            <a:r>
              <a:rPr lang="en-US" altLang="zh-CN" sz="2400" b="0" err="1"/>
              <a:t>int</a:t>
            </a:r>
            <a:r>
              <a:rPr lang="en-US" altLang="zh-CN" sz="2400" b="0"/>
              <a:t>]        32</a:t>
            </a:r>
            <a:r>
              <a:rPr lang="zh-CN" altLang="en-US" sz="2400" b="0" dirty="0"/>
              <a:t>位</a:t>
            </a:r>
            <a:endParaRPr lang="zh-CN" altLang="en-US" sz="2400" b="0" dirty="0"/>
          </a:p>
        </p:txBody>
      </p:sp>
      <p:sp>
        <p:nvSpPr>
          <p:cNvPr id="304132" name="Rectangle 4"/>
          <p:cNvSpPr/>
          <p:nvPr/>
        </p:nvSpPr>
        <p:spPr>
          <a:xfrm>
            <a:off x="539750" y="3500438"/>
            <a:ext cx="7783513" cy="3100387"/>
          </a:xfrm>
          <a:prstGeom prst="rect">
            <a:avLst/>
          </a:prstGeom>
          <a:noFill/>
          <a:ln w="9525">
            <a:noFill/>
          </a:ln>
        </p:spPr>
        <p:txBody>
          <a:bodyPr lIns="92075" tIns="46038" rIns="92075" bIns="46038" anchor="t" anchorCtr="0"/>
          <a:p>
            <a:pPr marL="742950" lvl="1" indent="-285750" algn="just" eaLnBrk="1" hangingPunct="1">
              <a:spcBef>
                <a:spcPct val="20000"/>
              </a:spcBef>
              <a:buClr>
                <a:srgbClr val="33CCCC"/>
              </a:buClr>
              <a:buSzPct val="110000"/>
            </a:pPr>
            <a:r>
              <a:rPr lang="zh-CN" altLang="en-US" sz="2400" dirty="0">
                <a:latin typeface="Arial" panose="02080604020202020204" pitchFamily="34" charset="0"/>
              </a:rPr>
              <a:t>有符号 </a:t>
            </a:r>
            <a:r>
              <a:rPr lang="en-US" altLang="zh-CN" sz="2400">
                <a:solidFill>
                  <a:schemeClr val="bg2"/>
                </a:solidFill>
                <a:latin typeface="Arial" panose="02080604020202020204" pitchFamily="34" charset="0"/>
              </a:rPr>
              <a:t>short</a:t>
            </a:r>
            <a:r>
              <a:rPr lang="en-US" altLang="zh-CN" sz="2400">
                <a:solidFill>
                  <a:schemeClr val="accent1"/>
                </a:solidFill>
                <a:latin typeface="Arial" panose="02080604020202020204" pitchFamily="34" charset="0"/>
              </a:rPr>
              <a:t>  </a:t>
            </a:r>
            <a:endParaRPr lang="en-US" altLang="zh-CN" sz="2400">
              <a:solidFill>
                <a:schemeClr val="accent1"/>
              </a:solidFill>
              <a:latin typeface="Arial" panose="02080604020202020204" pitchFamily="34" charset="0"/>
            </a:endParaRPr>
          </a:p>
          <a:p>
            <a:pPr marL="1143000" lvl="2" indent="-228600" algn="just" eaLnBrk="1" hangingPunct="1">
              <a:spcBef>
                <a:spcPct val="20000"/>
              </a:spcBef>
              <a:buClr>
                <a:srgbClr val="33CCCC"/>
              </a:buClr>
              <a:buSzPct val="110000"/>
            </a:pPr>
            <a:r>
              <a:rPr lang="zh-CN" altLang="en-US" sz="2400" dirty="0">
                <a:solidFill>
                  <a:srgbClr val="CC0066"/>
                </a:solidFill>
                <a:latin typeface="Arial" panose="02080604020202020204" pitchFamily="34" charset="0"/>
              </a:rPr>
              <a:t>1</a:t>
            </a:r>
            <a:r>
              <a:rPr lang="zh-CN" altLang="en-US" sz="2400" dirty="0">
                <a:latin typeface="Arial" panose="02080604020202020204" pitchFamily="34" charset="0"/>
              </a:rPr>
              <a:t> 000 0000 0000 0000  </a:t>
            </a:r>
            <a:r>
              <a:rPr lang="zh-CN" altLang="en-US" sz="2400" dirty="0">
                <a:solidFill>
                  <a:srgbClr val="CC0066"/>
                </a:solidFill>
                <a:latin typeface="Arial" panose="02080604020202020204" pitchFamily="34" charset="0"/>
              </a:rPr>
              <a:t>-32768</a:t>
            </a:r>
            <a:r>
              <a:rPr lang="zh-CN" altLang="en-US" sz="2400" dirty="0">
                <a:solidFill>
                  <a:srgbClr val="FFFF00"/>
                </a:solidFill>
                <a:latin typeface="Arial" panose="02080604020202020204" pitchFamily="34" charset="0"/>
              </a:rPr>
              <a:t>  </a:t>
            </a:r>
            <a:r>
              <a:rPr lang="zh-CN" altLang="en-US" sz="2400" dirty="0">
                <a:solidFill>
                  <a:schemeClr val="bg2"/>
                </a:solidFill>
                <a:latin typeface="Arial" panose="02080604020202020204" pitchFamily="34" charset="0"/>
              </a:rPr>
              <a:t>-2</a:t>
            </a:r>
            <a:r>
              <a:rPr lang="zh-CN" altLang="en-US" sz="2400" baseline="30000" dirty="0">
                <a:solidFill>
                  <a:schemeClr val="bg2"/>
                </a:solidFill>
                <a:latin typeface="Arial" panose="02080604020202020204" pitchFamily="34" charset="0"/>
              </a:rPr>
              <a:t>15</a:t>
            </a:r>
            <a:endParaRPr lang="zh-CN" altLang="en-US" sz="2400" dirty="0">
              <a:solidFill>
                <a:schemeClr val="bg2"/>
              </a:solidFill>
              <a:latin typeface="Arial" panose="02080604020202020204" pitchFamily="34" charset="0"/>
            </a:endParaRPr>
          </a:p>
          <a:p>
            <a:pPr marL="1143000" lvl="2" indent="-228600" algn="just" eaLnBrk="1" hangingPunct="1">
              <a:spcBef>
                <a:spcPct val="20000"/>
              </a:spcBef>
              <a:buClr>
                <a:srgbClr val="33CCCC"/>
              </a:buClr>
              <a:buSzPct val="110000"/>
            </a:pPr>
            <a:r>
              <a:rPr lang="zh-CN" altLang="en-US" sz="2400" dirty="0">
                <a:solidFill>
                  <a:srgbClr val="CC0066"/>
                </a:solidFill>
                <a:latin typeface="Arial" panose="02080604020202020204" pitchFamily="34" charset="0"/>
              </a:rPr>
              <a:t>0</a:t>
            </a:r>
            <a:r>
              <a:rPr lang="zh-CN" altLang="en-US" sz="2400" dirty="0">
                <a:latin typeface="Arial" panose="02080604020202020204" pitchFamily="34" charset="0"/>
              </a:rPr>
              <a:t> 111 1111 1111 1111   </a:t>
            </a:r>
            <a:r>
              <a:rPr lang="zh-CN" altLang="en-US" sz="2400" dirty="0">
                <a:solidFill>
                  <a:srgbClr val="CC0066"/>
                </a:solidFill>
                <a:latin typeface="Arial" panose="02080604020202020204" pitchFamily="34" charset="0"/>
              </a:rPr>
              <a:t>32767</a:t>
            </a:r>
            <a:r>
              <a:rPr lang="zh-CN" altLang="en-US" sz="2400" dirty="0">
                <a:solidFill>
                  <a:srgbClr val="FFFF00"/>
                </a:solidFill>
                <a:latin typeface="Arial" panose="02080604020202020204" pitchFamily="34" charset="0"/>
              </a:rPr>
              <a:t>  </a:t>
            </a:r>
            <a:r>
              <a:rPr lang="zh-CN" altLang="en-US" sz="2400" dirty="0">
                <a:solidFill>
                  <a:schemeClr val="bg2"/>
                </a:solidFill>
                <a:latin typeface="Arial" panose="02080604020202020204" pitchFamily="34" charset="0"/>
              </a:rPr>
              <a:t>2</a:t>
            </a:r>
            <a:r>
              <a:rPr lang="zh-CN" altLang="en-US" sz="2400" baseline="30000" dirty="0">
                <a:solidFill>
                  <a:schemeClr val="bg2"/>
                </a:solidFill>
                <a:latin typeface="Arial" panose="02080604020202020204" pitchFamily="34" charset="0"/>
              </a:rPr>
              <a:t>15</a:t>
            </a:r>
            <a:r>
              <a:rPr lang="zh-CN" altLang="en-US" sz="2400" dirty="0">
                <a:solidFill>
                  <a:schemeClr val="bg2"/>
                </a:solidFill>
                <a:latin typeface="Arial" panose="02080604020202020204" pitchFamily="34" charset="0"/>
              </a:rPr>
              <a:t>-1</a:t>
            </a:r>
            <a:endParaRPr lang="zh-CN" altLang="en-US" sz="2400" dirty="0">
              <a:solidFill>
                <a:schemeClr val="bg2"/>
              </a:solidFill>
              <a:latin typeface="Arial" panose="02080604020202020204" pitchFamily="34" charset="0"/>
            </a:endParaRPr>
          </a:p>
          <a:p>
            <a:pPr marL="742950" lvl="1" indent="-285750" algn="just" eaLnBrk="1" hangingPunct="1">
              <a:spcBef>
                <a:spcPct val="20000"/>
              </a:spcBef>
              <a:buClr>
                <a:srgbClr val="33CCCC"/>
              </a:buClr>
              <a:buSzPct val="110000"/>
            </a:pPr>
            <a:r>
              <a:rPr lang="zh-CN" altLang="en-US" sz="2400" dirty="0">
                <a:latin typeface="Arial" panose="02080604020202020204" pitchFamily="34" charset="0"/>
              </a:rPr>
              <a:t>无符号 </a:t>
            </a:r>
            <a:r>
              <a:rPr lang="en-US" altLang="zh-CN" sz="2400">
                <a:solidFill>
                  <a:schemeClr val="bg2"/>
                </a:solidFill>
                <a:latin typeface="Arial" panose="02080604020202020204" pitchFamily="34" charset="0"/>
              </a:rPr>
              <a:t>unsigned short</a:t>
            </a:r>
            <a:endParaRPr lang="en-US" altLang="zh-CN" sz="2400">
              <a:solidFill>
                <a:schemeClr val="bg2"/>
              </a:solidFill>
              <a:latin typeface="Arial" panose="02080604020202020204" pitchFamily="34" charset="0"/>
            </a:endParaRPr>
          </a:p>
          <a:p>
            <a:pPr marL="1143000" lvl="2" indent="-228600" algn="just" eaLnBrk="1" hangingPunct="1">
              <a:spcBef>
                <a:spcPct val="20000"/>
              </a:spcBef>
              <a:buClr>
                <a:srgbClr val="33CCCC"/>
              </a:buClr>
              <a:buSzPct val="110000"/>
            </a:pPr>
            <a:r>
              <a:rPr lang="zh-CN" altLang="en-US" sz="2400" dirty="0">
                <a:latin typeface="Arial" panose="02080604020202020204" pitchFamily="34" charset="0"/>
              </a:rPr>
              <a:t>0000 0000 0000 0000        </a:t>
            </a:r>
            <a:r>
              <a:rPr lang="zh-CN" altLang="en-US" sz="2400" dirty="0">
                <a:solidFill>
                  <a:srgbClr val="CC0066"/>
                </a:solidFill>
                <a:latin typeface="Arial" panose="02080604020202020204" pitchFamily="34" charset="0"/>
              </a:rPr>
              <a:t>0</a:t>
            </a:r>
            <a:endParaRPr lang="zh-CN" altLang="en-US" sz="2400" dirty="0">
              <a:solidFill>
                <a:srgbClr val="CC0066"/>
              </a:solidFill>
              <a:latin typeface="Arial" panose="02080604020202020204" pitchFamily="34" charset="0"/>
            </a:endParaRPr>
          </a:p>
          <a:p>
            <a:pPr marL="1143000" lvl="2" indent="-228600" algn="just" eaLnBrk="1" hangingPunct="1">
              <a:spcBef>
                <a:spcPct val="20000"/>
              </a:spcBef>
              <a:buClr>
                <a:srgbClr val="33CCCC"/>
              </a:buClr>
              <a:buSzPct val="110000"/>
            </a:pPr>
            <a:r>
              <a:rPr lang="zh-CN" altLang="en-US" sz="2400" dirty="0">
                <a:latin typeface="Arial" panose="02080604020202020204" pitchFamily="34" charset="0"/>
              </a:rPr>
              <a:t>1111 1111 1111 1111    </a:t>
            </a:r>
            <a:r>
              <a:rPr lang="zh-CN" altLang="en-US" sz="2400" dirty="0">
                <a:solidFill>
                  <a:srgbClr val="CC0066"/>
                </a:solidFill>
                <a:latin typeface="Arial" panose="02080604020202020204" pitchFamily="34" charset="0"/>
              </a:rPr>
              <a:t>65535</a:t>
            </a:r>
            <a:r>
              <a:rPr lang="zh-CN" altLang="en-US" sz="2400" dirty="0">
                <a:solidFill>
                  <a:srgbClr val="FFFF00"/>
                </a:solidFill>
                <a:latin typeface="Arial" panose="02080604020202020204" pitchFamily="34" charset="0"/>
              </a:rPr>
              <a:t>  </a:t>
            </a:r>
            <a:r>
              <a:rPr lang="zh-CN" altLang="en-US" sz="2400" dirty="0">
                <a:solidFill>
                  <a:schemeClr val="bg2"/>
                </a:solidFill>
                <a:latin typeface="Arial" panose="02080604020202020204" pitchFamily="34" charset="0"/>
              </a:rPr>
              <a:t>2</a:t>
            </a:r>
            <a:r>
              <a:rPr lang="zh-CN" altLang="en-US" sz="2400" baseline="30000" dirty="0">
                <a:solidFill>
                  <a:schemeClr val="bg2"/>
                </a:solidFill>
                <a:latin typeface="Arial" panose="02080604020202020204" pitchFamily="34" charset="0"/>
              </a:rPr>
              <a:t>16</a:t>
            </a:r>
            <a:r>
              <a:rPr lang="zh-CN" altLang="en-US" sz="2400" dirty="0">
                <a:solidFill>
                  <a:schemeClr val="bg2"/>
                </a:solidFill>
                <a:latin typeface="Arial" panose="02080604020202020204" pitchFamily="34" charset="0"/>
              </a:rPr>
              <a:t>-1</a:t>
            </a:r>
            <a:endParaRPr lang="en-US" altLang="zh-CN" sz="2400">
              <a:solidFill>
                <a:schemeClr val="bg2"/>
              </a:solidFill>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4132">
                                            <p:txEl>
                                              <p:charRg st="0" end="12"/>
                                            </p:txEl>
                                          </p:spTgt>
                                        </p:tgtEl>
                                        <p:attrNameLst>
                                          <p:attrName>style.visibility</p:attrName>
                                        </p:attrNameLst>
                                      </p:cBhvr>
                                      <p:to>
                                        <p:strVal val="visible"/>
                                      </p:to>
                                    </p:set>
                                    <p:anim calcmode="lin" valueType="num">
                                      <p:cBhvr additive="base">
                                        <p:cTn id="7" dur="500" fill="hold"/>
                                        <p:tgtEl>
                                          <p:spTgt spid="304132">
                                            <p:txEl>
                                              <p:charRg st="0" end="1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4132">
                                            <p:txEl>
                                              <p:charRg st="0" end="12"/>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04132">
                                            <p:txEl>
                                              <p:charRg st="12" end="47"/>
                                            </p:txEl>
                                          </p:spTgt>
                                        </p:tgtEl>
                                        <p:attrNameLst>
                                          <p:attrName>style.visibility</p:attrName>
                                        </p:attrNameLst>
                                      </p:cBhvr>
                                      <p:to>
                                        <p:strVal val="visible"/>
                                      </p:to>
                                    </p:set>
                                    <p:anim calcmode="lin" valueType="num">
                                      <p:cBhvr additive="base">
                                        <p:cTn id="11" dur="500" fill="hold"/>
                                        <p:tgtEl>
                                          <p:spTgt spid="304132">
                                            <p:txEl>
                                              <p:charRg st="12" end="47"/>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04132">
                                            <p:txEl>
                                              <p:charRg st="12" end="47"/>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04132">
                                            <p:txEl>
                                              <p:charRg st="47" end="83"/>
                                            </p:txEl>
                                          </p:spTgt>
                                        </p:tgtEl>
                                        <p:attrNameLst>
                                          <p:attrName>style.visibility</p:attrName>
                                        </p:attrNameLst>
                                      </p:cBhvr>
                                      <p:to>
                                        <p:strVal val="visible"/>
                                      </p:to>
                                    </p:set>
                                    <p:anim calcmode="lin" valueType="num">
                                      <p:cBhvr additive="base">
                                        <p:cTn id="15" dur="500" fill="hold"/>
                                        <p:tgtEl>
                                          <p:spTgt spid="304132">
                                            <p:txEl>
                                              <p:charRg st="47" end="8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04132">
                                            <p:txEl>
                                              <p:charRg st="47" end="83"/>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04132">
                                            <p:txEl>
                                              <p:charRg st="83" end="102"/>
                                            </p:txEl>
                                          </p:spTgt>
                                        </p:tgtEl>
                                        <p:attrNameLst>
                                          <p:attrName>style.visibility</p:attrName>
                                        </p:attrNameLst>
                                      </p:cBhvr>
                                      <p:to>
                                        <p:strVal val="visible"/>
                                      </p:to>
                                    </p:set>
                                    <p:anim calcmode="lin" valueType="num">
                                      <p:cBhvr additive="base">
                                        <p:cTn id="21" dur="500" fill="hold"/>
                                        <p:tgtEl>
                                          <p:spTgt spid="304132">
                                            <p:txEl>
                                              <p:charRg st="83" end="10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04132">
                                            <p:txEl>
                                              <p:charRg st="83" end="102"/>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04132">
                                            <p:txEl>
                                              <p:charRg st="102" end="131"/>
                                            </p:txEl>
                                          </p:spTgt>
                                        </p:tgtEl>
                                        <p:attrNameLst>
                                          <p:attrName>style.visibility</p:attrName>
                                        </p:attrNameLst>
                                      </p:cBhvr>
                                      <p:to>
                                        <p:strVal val="visible"/>
                                      </p:to>
                                    </p:set>
                                    <p:anim calcmode="lin" valueType="num">
                                      <p:cBhvr additive="base">
                                        <p:cTn id="25" dur="500" fill="hold"/>
                                        <p:tgtEl>
                                          <p:spTgt spid="304132">
                                            <p:txEl>
                                              <p:charRg st="102" end="13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4132">
                                            <p:txEl>
                                              <p:charRg st="102" end="131"/>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04132">
                                            <p:txEl>
                                              <p:charRg st="131" end="167"/>
                                            </p:txEl>
                                          </p:spTgt>
                                        </p:tgtEl>
                                        <p:attrNameLst>
                                          <p:attrName>style.visibility</p:attrName>
                                        </p:attrNameLst>
                                      </p:cBhvr>
                                      <p:to>
                                        <p:strVal val="visible"/>
                                      </p:to>
                                    </p:set>
                                    <p:anim calcmode="lin" valueType="num">
                                      <p:cBhvr additive="base">
                                        <p:cTn id="29" dur="500" fill="hold"/>
                                        <p:tgtEl>
                                          <p:spTgt spid="304132">
                                            <p:txEl>
                                              <p:charRg st="131" end="167"/>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04132">
                                            <p:txEl>
                                              <p:charRg st="131" end="16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2" grpId="0" bldLvl="2"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457200" y="457200"/>
            <a:ext cx="7067550" cy="1100138"/>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整数类型的取值范围</a:t>
            </a:r>
            <a:endParaRPr lang="zh-CN" altLang="en-US" b="0" dirty="0">
              <a:sym typeface="+mn-ea"/>
            </a:endParaRPr>
          </a:p>
        </p:txBody>
      </p:sp>
      <p:sp>
        <p:nvSpPr>
          <p:cNvPr id="17411" name="Rectangle 3"/>
          <p:cNvSpPr>
            <a:spLocks noGrp="1"/>
          </p:cNvSpPr>
          <p:nvPr>
            <p:ph idx="1"/>
          </p:nvPr>
        </p:nvSpPr>
        <p:spPr>
          <a:xfrm>
            <a:off x="123190" y="1676400"/>
            <a:ext cx="8874760" cy="3352800"/>
          </a:xfrm>
        </p:spPr>
        <p:txBody>
          <a:bodyPr vert="horz" wrap="square" lIns="91440" tIns="45720" rIns="91440" bIns="45720" anchor="t" anchorCtr="0"/>
          <a:p>
            <a:pPr algn="just" eaLnBrk="1" hangingPunct="1">
              <a:lnSpc>
                <a:spcPct val="90000"/>
              </a:lnSpc>
              <a:buNone/>
            </a:pPr>
            <a:r>
              <a:rPr lang="en-US" altLang="zh-CN" sz="2400" b="0" err="1"/>
              <a:t>int</a:t>
            </a:r>
            <a:r>
              <a:rPr lang="en-US" altLang="zh-CN" sz="2400" b="0"/>
              <a:t>  </a:t>
            </a:r>
            <a:r>
              <a:rPr lang="en-US" altLang="zh-CN" sz="2400" b="0">
                <a:solidFill>
                  <a:schemeClr val="bg2"/>
                </a:solidFill>
              </a:rPr>
              <a:t>32</a:t>
            </a:r>
            <a:r>
              <a:rPr lang="zh-CN" altLang="en-US" sz="2400" b="0" dirty="0"/>
              <a:t>位   </a:t>
            </a:r>
            <a:r>
              <a:rPr lang="zh-CN" altLang="en-US" sz="2400" b="0" dirty="0">
                <a:solidFill>
                  <a:srgbClr val="CC0066"/>
                </a:solidFill>
              </a:rPr>
              <a:t>-2147483648 ~ 2147483647</a:t>
            </a:r>
            <a:r>
              <a:rPr lang="zh-CN" altLang="en-US" sz="2400" b="0" dirty="0">
                <a:solidFill>
                  <a:srgbClr val="FFFF00"/>
                </a:solidFill>
              </a:rPr>
              <a:t> </a:t>
            </a:r>
            <a:r>
              <a:rPr lang="zh-CN" altLang="en-US" sz="2400" b="0" dirty="0">
                <a:solidFill>
                  <a:schemeClr val="bg2"/>
                </a:solidFill>
              </a:rPr>
              <a:t>-2</a:t>
            </a:r>
            <a:r>
              <a:rPr lang="zh-CN" altLang="en-US" sz="2400" b="0" baseline="30000" dirty="0">
                <a:solidFill>
                  <a:schemeClr val="bg2"/>
                </a:solidFill>
              </a:rPr>
              <a:t>31 </a:t>
            </a:r>
            <a:r>
              <a:rPr lang="zh-CN" altLang="en-US" sz="2400" b="0" dirty="0">
                <a:solidFill>
                  <a:schemeClr val="bg2"/>
                </a:solidFill>
              </a:rPr>
              <a:t>~ 2</a:t>
            </a:r>
            <a:r>
              <a:rPr lang="zh-CN" altLang="en-US" sz="2400" b="0" baseline="30000" dirty="0">
                <a:solidFill>
                  <a:schemeClr val="bg2"/>
                </a:solidFill>
              </a:rPr>
              <a:t>31</a:t>
            </a:r>
            <a:r>
              <a:rPr lang="zh-CN" altLang="en-US" sz="2400" b="0" dirty="0">
                <a:solidFill>
                  <a:schemeClr val="bg2"/>
                </a:solidFill>
              </a:rPr>
              <a:t>-1</a:t>
            </a:r>
            <a:endParaRPr lang="en-US" altLang="zh-CN" sz="2400" b="0">
              <a:solidFill>
                <a:schemeClr val="bg2"/>
              </a:solidFill>
            </a:endParaRPr>
          </a:p>
          <a:p>
            <a:pPr algn="just" eaLnBrk="1" hangingPunct="1">
              <a:lnSpc>
                <a:spcPct val="90000"/>
              </a:lnSpc>
              <a:buNone/>
            </a:pPr>
            <a:r>
              <a:rPr lang="en-US" altLang="zh-CN" sz="2400" b="0"/>
              <a:t>short [</a:t>
            </a:r>
            <a:r>
              <a:rPr lang="en-US" altLang="zh-CN" sz="2400" b="0" err="1"/>
              <a:t>int</a:t>
            </a:r>
            <a:r>
              <a:rPr lang="en-US" altLang="zh-CN" sz="2400" b="0"/>
              <a:t>] </a:t>
            </a:r>
            <a:r>
              <a:rPr lang="en-US" altLang="zh-CN" sz="2400" b="0">
                <a:solidFill>
                  <a:schemeClr val="bg2"/>
                </a:solidFill>
              </a:rPr>
              <a:t>16</a:t>
            </a:r>
            <a:r>
              <a:rPr lang="zh-CN" altLang="en-US" sz="2400" b="0" dirty="0"/>
              <a:t>位   </a:t>
            </a:r>
            <a:r>
              <a:rPr lang="zh-CN" altLang="en-US" sz="2400" b="0" dirty="0">
                <a:solidFill>
                  <a:srgbClr val="CC0066"/>
                </a:solidFill>
              </a:rPr>
              <a:t>-32768 ~ 32767</a:t>
            </a:r>
            <a:r>
              <a:rPr lang="zh-CN" altLang="en-US" sz="2400" b="0" dirty="0">
                <a:solidFill>
                  <a:srgbClr val="FFFF00"/>
                </a:solidFill>
              </a:rPr>
              <a:t>   </a:t>
            </a:r>
            <a:r>
              <a:rPr lang="en-US" altLang="zh-CN" sz="2400" b="0" dirty="0">
                <a:solidFill>
                  <a:srgbClr val="FFFF00"/>
                </a:solidFill>
              </a:rPr>
              <a:t>   </a:t>
            </a:r>
            <a:r>
              <a:rPr lang="zh-CN" altLang="en-US" sz="2400" b="0" dirty="0">
                <a:solidFill>
                  <a:srgbClr val="FFFF00"/>
                </a:solidFill>
              </a:rPr>
              <a:t>    </a:t>
            </a:r>
            <a:r>
              <a:rPr lang="zh-CN" altLang="en-US" sz="2400" b="0" dirty="0">
                <a:solidFill>
                  <a:schemeClr val="bg2"/>
                </a:solidFill>
              </a:rPr>
              <a:t>-2</a:t>
            </a:r>
            <a:r>
              <a:rPr lang="zh-CN" altLang="en-US" sz="2400" b="0" baseline="30000" dirty="0">
                <a:solidFill>
                  <a:schemeClr val="bg2"/>
                </a:solidFill>
              </a:rPr>
              <a:t>15 </a:t>
            </a:r>
            <a:r>
              <a:rPr lang="zh-CN" altLang="en-US" sz="2400" b="0" dirty="0">
                <a:solidFill>
                  <a:schemeClr val="bg2"/>
                </a:solidFill>
              </a:rPr>
              <a:t>~ 2</a:t>
            </a:r>
            <a:r>
              <a:rPr lang="zh-CN" altLang="en-US" sz="2400" b="0" baseline="30000" dirty="0">
                <a:solidFill>
                  <a:schemeClr val="bg2"/>
                </a:solidFill>
              </a:rPr>
              <a:t>15</a:t>
            </a:r>
            <a:r>
              <a:rPr lang="zh-CN" altLang="en-US" sz="2400" b="0" dirty="0">
                <a:solidFill>
                  <a:schemeClr val="bg2"/>
                </a:solidFill>
              </a:rPr>
              <a:t>-1</a:t>
            </a:r>
            <a:endParaRPr lang="en-US" altLang="zh-CN" sz="2400" b="0">
              <a:solidFill>
                <a:schemeClr val="bg2"/>
              </a:solidFill>
            </a:endParaRPr>
          </a:p>
          <a:p>
            <a:pPr algn="just" eaLnBrk="1" hangingPunct="1">
              <a:lnSpc>
                <a:spcPct val="90000"/>
              </a:lnSpc>
              <a:buNone/>
            </a:pPr>
            <a:r>
              <a:rPr lang="en-US" altLang="zh-CN" sz="2400" b="0"/>
              <a:t>long [</a:t>
            </a:r>
            <a:r>
              <a:rPr lang="en-US" altLang="zh-CN" sz="2400" b="0" err="1"/>
              <a:t>int</a:t>
            </a:r>
            <a:r>
              <a:rPr lang="en-US" altLang="zh-CN" sz="2400" b="0"/>
              <a:t>] 64</a:t>
            </a:r>
            <a:r>
              <a:rPr lang="zh-CN" altLang="en-US" sz="2400" b="0" dirty="0"/>
              <a:t>位 </a:t>
            </a:r>
            <a:r>
              <a:rPr lang="zh-CN" altLang="en-US" sz="2400" b="0" dirty="0">
                <a:solidFill>
                  <a:srgbClr val="CC0066"/>
                </a:solidFill>
              </a:rPr>
              <a:t>-2147483648 ~ 2147483647</a:t>
            </a:r>
            <a:r>
              <a:rPr lang="zh-CN" altLang="en-US" sz="2400" b="0" dirty="0">
                <a:solidFill>
                  <a:srgbClr val="FFFF00"/>
                </a:solidFill>
              </a:rPr>
              <a:t>  </a:t>
            </a:r>
            <a:r>
              <a:rPr lang="zh-CN" altLang="en-US" sz="2400" b="0" dirty="0">
                <a:solidFill>
                  <a:schemeClr val="bg2"/>
                </a:solidFill>
              </a:rPr>
              <a:t>-2</a:t>
            </a:r>
            <a:r>
              <a:rPr lang="zh-CN" altLang="en-US" sz="2400" b="0" baseline="30000" dirty="0">
                <a:solidFill>
                  <a:schemeClr val="bg2"/>
                </a:solidFill>
              </a:rPr>
              <a:t>31 </a:t>
            </a:r>
            <a:r>
              <a:rPr lang="zh-CN" altLang="en-US" sz="2400" b="0" dirty="0">
                <a:solidFill>
                  <a:schemeClr val="bg2"/>
                </a:solidFill>
              </a:rPr>
              <a:t>~ 2</a:t>
            </a:r>
            <a:r>
              <a:rPr lang="zh-CN" altLang="en-US" sz="2400" b="0" baseline="30000" dirty="0">
                <a:solidFill>
                  <a:schemeClr val="bg2"/>
                </a:solidFill>
              </a:rPr>
              <a:t>31</a:t>
            </a:r>
            <a:r>
              <a:rPr lang="zh-CN" altLang="en-US" sz="2400" b="0" dirty="0">
                <a:solidFill>
                  <a:schemeClr val="bg2"/>
                </a:solidFill>
              </a:rPr>
              <a:t>-1</a:t>
            </a:r>
            <a:endParaRPr lang="zh-CN" altLang="en-US" sz="2400" b="0" dirty="0">
              <a:solidFill>
                <a:schemeClr val="bg2"/>
              </a:solidFill>
            </a:endParaRPr>
          </a:p>
          <a:p>
            <a:pPr algn="just" eaLnBrk="1" hangingPunct="1">
              <a:lnSpc>
                <a:spcPct val="90000"/>
              </a:lnSpc>
              <a:buNone/>
            </a:pPr>
            <a:r>
              <a:rPr lang="en-US" altLang="zh-CN" sz="2400" b="0"/>
              <a:t>unsigned [</a:t>
            </a:r>
            <a:r>
              <a:rPr lang="en-US" altLang="zh-CN" sz="2400" b="0" err="1"/>
              <a:t>int</a:t>
            </a:r>
            <a:r>
              <a:rPr lang="en-US" altLang="zh-CN" sz="2400" b="0"/>
              <a:t>] </a:t>
            </a:r>
            <a:r>
              <a:rPr lang="en-US" altLang="zh-CN" sz="2400" b="0">
                <a:solidFill>
                  <a:schemeClr val="bg2"/>
                </a:solidFill>
              </a:rPr>
              <a:t>32</a:t>
            </a:r>
            <a:r>
              <a:rPr lang="zh-CN" altLang="en-US" sz="2400" b="0" dirty="0"/>
              <a:t>位          </a:t>
            </a:r>
            <a:r>
              <a:rPr lang="zh-CN" altLang="en-US" sz="2400" b="0" dirty="0">
                <a:solidFill>
                  <a:srgbClr val="CC0066"/>
                </a:solidFill>
              </a:rPr>
              <a:t>0 ~ 4294967295</a:t>
            </a:r>
            <a:r>
              <a:rPr lang="zh-CN" altLang="en-US" sz="2400" b="0" dirty="0">
                <a:solidFill>
                  <a:srgbClr val="FFFF00"/>
                </a:solidFill>
              </a:rPr>
              <a:t>    </a:t>
            </a:r>
            <a:r>
              <a:rPr lang="en-US" altLang="zh-CN" sz="2400" b="0"/>
              <a:t> </a:t>
            </a:r>
            <a:r>
              <a:rPr lang="zh-CN" altLang="en-US" sz="2400" b="0" dirty="0">
                <a:solidFill>
                  <a:schemeClr val="bg2"/>
                </a:solidFill>
              </a:rPr>
              <a:t>0</a:t>
            </a:r>
            <a:r>
              <a:rPr lang="zh-CN" altLang="en-US" sz="2400" b="0" baseline="30000" dirty="0">
                <a:solidFill>
                  <a:schemeClr val="bg2"/>
                </a:solidFill>
              </a:rPr>
              <a:t> </a:t>
            </a:r>
            <a:r>
              <a:rPr lang="zh-CN" altLang="en-US" sz="2400" b="0" dirty="0">
                <a:solidFill>
                  <a:schemeClr val="bg2"/>
                </a:solidFill>
              </a:rPr>
              <a:t>~ 2</a:t>
            </a:r>
            <a:r>
              <a:rPr lang="zh-CN" altLang="en-US" sz="2400" b="0" baseline="30000" dirty="0">
                <a:solidFill>
                  <a:schemeClr val="bg2"/>
                </a:solidFill>
              </a:rPr>
              <a:t>32</a:t>
            </a:r>
            <a:r>
              <a:rPr lang="zh-CN" altLang="en-US" sz="2400" b="0" dirty="0">
                <a:solidFill>
                  <a:schemeClr val="bg2"/>
                </a:solidFill>
              </a:rPr>
              <a:t>-1</a:t>
            </a:r>
            <a:endParaRPr lang="en-US" altLang="zh-CN" sz="2400" b="0">
              <a:solidFill>
                <a:schemeClr val="bg2"/>
              </a:solidFill>
            </a:endParaRPr>
          </a:p>
          <a:p>
            <a:pPr algn="just" eaLnBrk="1" hangingPunct="1">
              <a:lnSpc>
                <a:spcPct val="90000"/>
              </a:lnSpc>
              <a:buNone/>
            </a:pPr>
            <a:r>
              <a:rPr lang="en-US" altLang="zh-CN" sz="2400" b="0"/>
              <a:t>unsigned short [</a:t>
            </a:r>
            <a:r>
              <a:rPr lang="en-US" altLang="zh-CN" sz="2400" b="0" err="1"/>
              <a:t>int</a:t>
            </a:r>
            <a:r>
              <a:rPr lang="en-US" altLang="zh-CN" sz="2400" b="0"/>
              <a:t>] </a:t>
            </a:r>
            <a:r>
              <a:rPr lang="en-US" altLang="zh-CN" sz="2400" b="0">
                <a:solidFill>
                  <a:schemeClr val="bg2"/>
                </a:solidFill>
              </a:rPr>
              <a:t>16</a:t>
            </a:r>
            <a:r>
              <a:rPr lang="zh-CN" altLang="en-US" sz="2400" b="0" dirty="0"/>
              <a:t>位 </a:t>
            </a:r>
            <a:r>
              <a:rPr lang="zh-CN" altLang="en-US" sz="2400" b="0" dirty="0">
                <a:solidFill>
                  <a:srgbClr val="CC0066"/>
                </a:solidFill>
              </a:rPr>
              <a:t>0 ~ 65535</a:t>
            </a:r>
            <a:r>
              <a:rPr lang="zh-CN" altLang="en-US" sz="2400" b="0" dirty="0">
                <a:solidFill>
                  <a:srgbClr val="FFFF00"/>
                </a:solidFill>
              </a:rPr>
              <a:t>             </a:t>
            </a:r>
            <a:r>
              <a:rPr lang="zh-CN" altLang="en-US" sz="2400" b="0" dirty="0">
                <a:solidFill>
                  <a:schemeClr val="bg2"/>
                </a:solidFill>
              </a:rPr>
              <a:t>0</a:t>
            </a:r>
            <a:r>
              <a:rPr lang="zh-CN" altLang="en-US" sz="2400" b="0" baseline="30000" dirty="0">
                <a:solidFill>
                  <a:schemeClr val="bg2"/>
                </a:solidFill>
              </a:rPr>
              <a:t> </a:t>
            </a:r>
            <a:r>
              <a:rPr lang="zh-CN" altLang="en-US" sz="2400" b="0" dirty="0">
                <a:solidFill>
                  <a:schemeClr val="bg2"/>
                </a:solidFill>
              </a:rPr>
              <a:t>~ 2</a:t>
            </a:r>
            <a:r>
              <a:rPr lang="zh-CN" altLang="en-US" sz="2400" b="0" baseline="30000" dirty="0">
                <a:solidFill>
                  <a:schemeClr val="bg2"/>
                </a:solidFill>
              </a:rPr>
              <a:t>16</a:t>
            </a:r>
            <a:r>
              <a:rPr lang="zh-CN" altLang="en-US" sz="2400" b="0" dirty="0">
                <a:solidFill>
                  <a:schemeClr val="bg2"/>
                </a:solidFill>
              </a:rPr>
              <a:t>-1</a:t>
            </a:r>
            <a:endParaRPr lang="en-US" altLang="zh-CN" sz="2400" b="0">
              <a:solidFill>
                <a:schemeClr val="bg2"/>
              </a:solidFill>
            </a:endParaRPr>
          </a:p>
          <a:p>
            <a:pPr algn="just" eaLnBrk="1" hangingPunct="1">
              <a:lnSpc>
                <a:spcPct val="90000"/>
              </a:lnSpc>
              <a:buNone/>
            </a:pPr>
            <a:r>
              <a:rPr lang="en-US" altLang="zh-CN" sz="2400" b="0"/>
              <a:t>unsigned long [</a:t>
            </a:r>
            <a:r>
              <a:rPr lang="en-US" altLang="zh-CN" sz="2400" b="0" err="1"/>
              <a:t>int</a:t>
            </a:r>
            <a:r>
              <a:rPr lang="en-US" altLang="zh-CN" sz="2400" b="0"/>
              <a:t>]  </a:t>
            </a:r>
            <a:r>
              <a:rPr lang="en-US" altLang="zh-CN" sz="2400" b="0">
                <a:solidFill>
                  <a:schemeClr val="bg2"/>
                </a:solidFill>
              </a:rPr>
              <a:t>32</a:t>
            </a:r>
            <a:r>
              <a:rPr lang="zh-CN" altLang="en-US" sz="2400" b="0" dirty="0"/>
              <a:t>位 </a:t>
            </a:r>
            <a:r>
              <a:rPr lang="zh-CN" altLang="en-US" sz="2400" b="0" dirty="0">
                <a:solidFill>
                  <a:srgbClr val="CC0066"/>
                </a:solidFill>
              </a:rPr>
              <a:t>0 ~ 4294967295</a:t>
            </a:r>
            <a:r>
              <a:rPr lang="zh-CN" altLang="en-US" sz="2400" b="0" dirty="0">
                <a:solidFill>
                  <a:srgbClr val="FFFF00"/>
                </a:solidFill>
              </a:rPr>
              <a:t> </a:t>
            </a:r>
            <a:r>
              <a:rPr lang="en-US" altLang="zh-CN" sz="2400" b="0">
                <a:solidFill>
                  <a:schemeClr val="accent1"/>
                </a:solidFill>
              </a:rPr>
              <a:t>    </a:t>
            </a:r>
            <a:r>
              <a:rPr lang="zh-CN" altLang="en-US" sz="2400" b="0" dirty="0">
                <a:solidFill>
                  <a:schemeClr val="bg2"/>
                </a:solidFill>
              </a:rPr>
              <a:t>0</a:t>
            </a:r>
            <a:r>
              <a:rPr lang="zh-CN" altLang="en-US" sz="2400" b="0" baseline="30000" dirty="0">
                <a:solidFill>
                  <a:schemeClr val="bg2"/>
                </a:solidFill>
              </a:rPr>
              <a:t> </a:t>
            </a:r>
            <a:r>
              <a:rPr lang="zh-CN" altLang="en-US" sz="2400" b="0" dirty="0">
                <a:solidFill>
                  <a:schemeClr val="bg2"/>
                </a:solidFill>
              </a:rPr>
              <a:t>~ 2</a:t>
            </a:r>
            <a:r>
              <a:rPr lang="zh-CN" altLang="en-US" sz="2400" b="0" baseline="30000" dirty="0">
                <a:solidFill>
                  <a:schemeClr val="bg2"/>
                </a:solidFill>
              </a:rPr>
              <a:t>32</a:t>
            </a:r>
            <a:r>
              <a:rPr lang="zh-CN" altLang="en-US" sz="2400" b="0" dirty="0">
                <a:solidFill>
                  <a:schemeClr val="bg2"/>
                </a:solidFill>
              </a:rPr>
              <a:t>-1</a:t>
            </a:r>
            <a:endParaRPr lang="en-US" altLang="zh-CN" sz="2400" b="0">
              <a:solidFill>
                <a:schemeClr val="bg2"/>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3"/>
          <p:cNvSpPr txBox="1"/>
          <p:nvPr/>
        </p:nvSpPr>
        <p:spPr>
          <a:xfrm>
            <a:off x="539750" y="1341438"/>
            <a:ext cx="5395913" cy="368300"/>
          </a:xfrm>
          <a:prstGeom prst="rect">
            <a:avLst/>
          </a:prstGeom>
          <a:noFill/>
          <a:ln w="9525">
            <a:noFill/>
          </a:ln>
        </p:spPr>
        <p:txBody>
          <a:bodyPr wrap="square" anchor="t" anchorCtr="0">
            <a:spAutoFit/>
          </a:bodyPr>
          <a:p>
            <a:r>
              <a:rPr lang="zh-CN" altLang="en-US">
                <a:latin typeface="Arial" panose="02080604020202020204" pitchFamily="34" charset="0"/>
              </a:rPr>
              <a:t>    printf("long int : %d\n", sizeof(long));</a:t>
            </a:r>
            <a:endParaRPr lang="zh-CN" altLang="en-US">
              <a:latin typeface="Arial" panose="02080604020202020204" pitchFamily="34" charset="0"/>
            </a:endParaRPr>
          </a:p>
        </p:txBody>
      </p:sp>
      <p:pic>
        <p:nvPicPr>
          <p:cNvPr id="18434" name="图片 4"/>
          <p:cNvPicPr>
            <a:picLocks noChangeAspect="1"/>
          </p:cNvPicPr>
          <p:nvPr/>
        </p:nvPicPr>
        <p:blipFill>
          <a:blip r:embed="rId1"/>
          <a:stretch>
            <a:fillRect/>
          </a:stretch>
        </p:blipFill>
        <p:spPr>
          <a:xfrm>
            <a:off x="1403350" y="1700530"/>
            <a:ext cx="6062663" cy="5118100"/>
          </a:xfrm>
          <a:prstGeom prst="rect">
            <a:avLst/>
          </a:prstGeom>
          <a:noFill/>
          <a:ln w="9525">
            <a:noFill/>
          </a:ln>
        </p:spPr>
      </p:pic>
      <p:sp>
        <p:nvSpPr>
          <p:cNvPr id="18435" name="Rectangle 2"/>
          <p:cNvSpPr>
            <a:spLocks noGrp="1"/>
          </p:cNvSpPr>
          <p:nvPr>
            <p:ph type="title"/>
          </p:nvPr>
        </p:nvSpPr>
        <p:spPr>
          <a:xfrm>
            <a:off x="457200" y="457200"/>
            <a:ext cx="7067550" cy="1100138"/>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整数类型的取值范围</a:t>
            </a:r>
            <a:endParaRPr lang="zh-CN" altLang="en-US" b="0" dirty="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611188" y="479425"/>
            <a:ext cx="6267450" cy="717550"/>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基本</a:t>
            </a:r>
            <a:r>
              <a:rPr lang="zh-CN" altLang="en-US" b="0" dirty="0">
                <a:sym typeface="+mn-ea"/>
              </a:rPr>
              <a:t>数据类型</a:t>
            </a:r>
            <a:r>
              <a:rPr lang="zh-CN" altLang="en-US" b="0" dirty="0">
                <a:sym typeface="+mn-ea"/>
              </a:rPr>
              <a:t>－</a:t>
            </a:r>
            <a:r>
              <a:rPr lang="zh-CN" altLang="en-US" b="0" dirty="0">
                <a:sym typeface="+mn-ea"/>
              </a:rPr>
              <a:t>字符型</a:t>
            </a:r>
            <a:endParaRPr lang="zh-CN" altLang="en-US" b="0" dirty="0">
              <a:sym typeface="+mn-ea"/>
            </a:endParaRPr>
          </a:p>
        </p:txBody>
      </p:sp>
      <p:sp>
        <p:nvSpPr>
          <p:cNvPr id="311299" name="Rectangle 3"/>
          <p:cNvSpPr>
            <a:spLocks noGrp="1"/>
          </p:cNvSpPr>
          <p:nvPr>
            <p:ph idx="1"/>
          </p:nvPr>
        </p:nvSpPr>
        <p:spPr>
          <a:xfrm>
            <a:off x="395288" y="1557338"/>
            <a:ext cx="8280400" cy="4392612"/>
          </a:xfrm>
        </p:spPr>
        <p:txBody>
          <a:bodyPr vert="horz" wrap="square" lIns="91440" tIns="45720" rIns="91440" bIns="45720" anchor="t" anchorCtr="0"/>
          <a:p>
            <a:pPr algn="just" eaLnBrk="1" hangingPunct="1">
              <a:lnSpc>
                <a:spcPct val="75000"/>
              </a:lnSpc>
            </a:pPr>
            <a:r>
              <a:rPr lang="zh-CN" altLang="en-US" b="0" dirty="0"/>
              <a:t>字符具有数值特征</a:t>
            </a:r>
            <a:endParaRPr lang="zh-CN" altLang="en-US" b="0" dirty="0"/>
          </a:p>
          <a:p>
            <a:pPr lvl="1" algn="just" eaLnBrk="1" hangingPunct="1">
              <a:lnSpc>
                <a:spcPct val="75000"/>
              </a:lnSpc>
              <a:buNone/>
            </a:pPr>
            <a:r>
              <a:rPr lang="en-US" altLang="zh-CN" b="0"/>
              <a:t>'A'              65              0100 0001 </a:t>
            </a:r>
            <a:endParaRPr lang="en-US" altLang="zh-CN" b="0"/>
          </a:p>
          <a:p>
            <a:pPr lvl="1" algn="just" eaLnBrk="1" hangingPunct="1">
              <a:lnSpc>
                <a:spcPct val="75000"/>
              </a:lnSpc>
              <a:buNone/>
            </a:pPr>
            <a:endParaRPr lang="en-US" altLang="zh-CN" sz="3600" b="0"/>
          </a:p>
          <a:p>
            <a:pPr algn="just" eaLnBrk="1" hangingPunct="1">
              <a:lnSpc>
                <a:spcPct val="75000"/>
              </a:lnSpc>
            </a:pPr>
            <a:r>
              <a:rPr lang="zh-CN" altLang="en-US" b="0" dirty="0"/>
              <a:t>整型变量和字符变量的定义和赋值可以互换</a:t>
            </a:r>
            <a:endParaRPr lang="zh-CN" altLang="en-US" b="0" dirty="0"/>
          </a:p>
          <a:p>
            <a:pPr algn="just" eaLnBrk="1" hangingPunct="1">
              <a:lnSpc>
                <a:spcPct val="75000"/>
              </a:lnSpc>
              <a:buClr>
                <a:schemeClr val="tx1"/>
              </a:buClr>
              <a:buFontTx/>
              <a:buChar char=" "/>
            </a:pPr>
            <a:r>
              <a:rPr lang="zh-CN" altLang="en-US" sz="2800" b="0" dirty="0">
                <a:ea typeface="华文仿宋" pitchFamily="2" charset="-122"/>
              </a:rPr>
              <a:t>【 </a:t>
            </a:r>
            <a:r>
              <a:rPr lang="en-US" altLang="zh-CN" sz="2800" b="0"/>
              <a:t>ASCII</a:t>
            </a:r>
            <a:r>
              <a:rPr lang="zh-CN" altLang="en-US" sz="2800" b="0" dirty="0"/>
              <a:t>码</a:t>
            </a:r>
            <a:r>
              <a:rPr lang="zh-CN" altLang="en-US" sz="2800" b="0" dirty="0">
                <a:ea typeface="华文仿宋" pitchFamily="2" charset="-122"/>
              </a:rPr>
              <a:t>范围】</a:t>
            </a:r>
            <a:endParaRPr lang="zh-CN" altLang="en-US" sz="2800" b="0" dirty="0">
              <a:ea typeface="华文仿宋" pitchFamily="2" charset="-122"/>
            </a:endParaRPr>
          </a:p>
          <a:p>
            <a:pPr lvl="1" algn="just" eaLnBrk="1" hangingPunct="1">
              <a:lnSpc>
                <a:spcPct val="75000"/>
              </a:lnSpc>
              <a:buClr>
                <a:schemeClr val="tx1"/>
              </a:buClr>
              <a:buFontTx/>
              <a:buChar char=" "/>
            </a:pPr>
            <a:r>
              <a:rPr lang="en-US" altLang="zh-CN" b="0">
                <a:solidFill>
                  <a:srgbClr val="CC0066"/>
                </a:solidFill>
              </a:rPr>
              <a:t>char</a:t>
            </a:r>
            <a:r>
              <a:rPr lang="en-US" altLang="zh-CN" b="0"/>
              <a:t>  c;</a:t>
            </a:r>
            <a:endParaRPr lang="en-US" altLang="zh-CN" b="0"/>
          </a:p>
          <a:p>
            <a:pPr lvl="1" algn="just" eaLnBrk="1" hangingPunct="1">
              <a:lnSpc>
                <a:spcPct val="75000"/>
              </a:lnSpc>
              <a:buClr>
                <a:schemeClr val="tx1"/>
              </a:buClr>
              <a:buFontTx/>
              <a:buChar char=" "/>
            </a:pPr>
            <a:r>
              <a:rPr lang="en-US" altLang="zh-CN" b="0"/>
              <a:t>c = 'A';</a:t>
            </a:r>
            <a:endParaRPr lang="en-US" altLang="zh-CN" b="0"/>
          </a:p>
          <a:p>
            <a:pPr lvl="1" algn="just" eaLnBrk="1" hangingPunct="1">
              <a:lnSpc>
                <a:spcPct val="75000"/>
              </a:lnSpc>
              <a:buClr>
                <a:schemeClr val="tx1"/>
              </a:buClr>
              <a:buFontTx/>
              <a:buChar char=" "/>
            </a:pPr>
            <a:r>
              <a:rPr lang="zh-CN" altLang="en-US" b="0" dirty="0"/>
              <a:t>或</a:t>
            </a:r>
            <a:endParaRPr lang="zh-CN" altLang="en-US" b="0" dirty="0"/>
          </a:p>
          <a:p>
            <a:pPr lvl="1" algn="just" eaLnBrk="1" hangingPunct="1">
              <a:lnSpc>
                <a:spcPct val="75000"/>
              </a:lnSpc>
              <a:buClr>
                <a:schemeClr val="tx1"/>
              </a:buClr>
              <a:buFontTx/>
              <a:buChar char=" "/>
            </a:pPr>
            <a:r>
              <a:rPr lang="en-US" altLang="zh-CN" b="0"/>
              <a:t>c = 65;</a:t>
            </a:r>
            <a:endParaRPr lang="zh-CN" altLang="en-US" b="0" dirty="0"/>
          </a:p>
        </p:txBody>
      </p:sp>
      <p:sp>
        <p:nvSpPr>
          <p:cNvPr id="311300" name="Rectangle 4"/>
          <p:cNvSpPr/>
          <p:nvPr/>
        </p:nvSpPr>
        <p:spPr>
          <a:xfrm>
            <a:off x="4284663" y="3573463"/>
            <a:ext cx="2590800" cy="1905000"/>
          </a:xfrm>
          <a:prstGeom prst="rect">
            <a:avLst/>
          </a:prstGeom>
          <a:noFill/>
          <a:ln w="9525">
            <a:noFill/>
          </a:ln>
        </p:spPr>
        <p:txBody>
          <a:bodyPr lIns="92075" tIns="46038" rIns="92075" bIns="46038" anchor="t" anchorCtr="0"/>
          <a:p>
            <a:pPr marL="342900" indent="-342900" algn="just">
              <a:lnSpc>
                <a:spcPct val="75000"/>
              </a:lnSpc>
              <a:spcBef>
                <a:spcPct val="20000"/>
              </a:spcBef>
              <a:buClr>
                <a:schemeClr val="tx1"/>
              </a:buClr>
              <a:buSzPct val="80000"/>
              <a:buChar char=" "/>
            </a:pPr>
            <a:r>
              <a:rPr lang="en-US" altLang="zh-CN" sz="2800" err="1">
                <a:solidFill>
                  <a:srgbClr val="CC0066"/>
                </a:solidFill>
                <a:latin typeface="Arial" panose="02080604020202020204" pitchFamily="34" charset="0"/>
              </a:rPr>
              <a:t>int</a:t>
            </a:r>
            <a:r>
              <a:rPr lang="en-US" altLang="zh-CN" sz="2800">
                <a:solidFill>
                  <a:schemeClr val="accent1"/>
                </a:solidFill>
                <a:latin typeface="Arial" panose="02080604020202020204" pitchFamily="34" charset="0"/>
              </a:rPr>
              <a:t> </a:t>
            </a:r>
            <a:r>
              <a:rPr lang="en-US" altLang="zh-CN" sz="2800">
                <a:latin typeface="Arial" panose="02080604020202020204" pitchFamily="34" charset="0"/>
              </a:rPr>
              <a:t>  i;</a:t>
            </a:r>
            <a:endParaRPr lang="en-US" altLang="zh-CN" sz="2800">
              <a:latin typeface="Arial" panose="02080604020202020204" pitchFamily="34" charset="0"/>
            </a:endParaRPr>
          </a:p>
          <a:p>
            <a:pPr marL="342900" indent="-342900" algn="just">
              <a:lnSpc>
                <a:spcPct val="75000"/>
              </a:lnSpc>
              <a:spcBef>
                <a:spcPct val="20000"/>
              </a:spcBef>
              <a:buClr>
                <a:schemeClr val="tx1"/>
              </a:buClr>
              <a:buSzPct val="80000"/>
              <a:buChar char=" "/>
            </a:pPr>
            <a:r>
              <a:rPr lang="en-US" altLang="zh-CN" sz="2800">
                <a:latin typeface="Arial" panose="02080604020202020204" pitchFamily="34" charset="0"/>
                <a:ea typeface="华文仿宋" pitchFamily="2" charset="-122"/>
              </a:rPr>
              <a:t>i = 65;</a:t>
            </a:r>
            <a:endParaRPr lang="en-US" altLang="zh-CN" sz="2800">
              <a:latin typeface="Arial" panose="02080604020202020204" pitchFamily="34" charset="0"/>
              <a:ea typeface="华文仿宋" pitchFamily="2" charset="-122"/>
            </a:endParaRPr>
          </a:p>
          <a:p>
            <a:pPr marL="342900" indent="-342900" algn="just">
              <a:lnSpc>
                <a:spcPct val="75000"/>
              </a:lnSpc>
              <a:spcBef>
                <a:spcPct val="20000"/>
              </a:spcBef>
              <a:buClr>
                <a:schemeClr val="tx1"/>
              </a:buClr>
              <a:buSzPct val="80000"/>
              <a:buChar char=" "/>
            </a:pPr>
            <a:r>
              <a:rPr lang="zh-CN" altLang="en-US" sz="2800" dirty="0">
                <a:latin typeface="Arial" panose="02080604020202020204" pitchFamily="34" charset="0"/>
                <a:ea typeface="华文仿宋" pitchFamily="2" charset="-122"/>
              </a:rPr>
              <a:t>或</a:t>
            </a:r>
            <a:endParaRPr lang="zh-CN" altLang="en-US" sz="2800" dirty="0">
              <a:latin typeface="Arial" panose="02080604020202020204" pitchFamily="34" charset="0"/>
              <a:ea typeface="华文仿宋" pitchFamily="2" charset="-122"/>
            </a:endParaRPr>
          </a:p>
          <a:p>
            <a:pPr marL="342900" indent="-342900" algn="just">
              <a:lnSpc>
                <a:spcPct val="75000"/>
              </a:lnSpc>
              <a:spcBef>
                <a:spcPct val="20000"/>
              </a:spcBef>
              <a:buClr>
                <a:schemeClr val="tx1"/>
              </a:buClr>
              <a:buSzPct val="80000"/>
              <a:buChar char=" "/>
            </a:pPr>
            <a:r>
              <a:rPr lang="en-US" altLang="zh-CN" sz="2800">
                <a:latin typeface="Arial" panose="02080604020202020204" pitchFamily="34" charset="0"/>
                <a:ea typeface="华文仿宋" pitchFamily="2" charset="-122"/>
              </a:rPr>
              <a:t>i = 'A';</a:t>
            </a:r>
            <a:endParaRPr lang="en-US" altLang="zh-CN" sz="2800">
              <a:latin typeface="Arial" panose="02080604020202020204" pitchFamily="34" charset="0"/>
              <a:ea typeface="华文仿宋"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1299">
                                            <p:txEl>
                                              <p:charRg st="0" end="9"/>
                                            </p:txEl>
                                          </p:spTgt>
                                        </p:tgtEl>
                                        <p:attrNameLst>
                                          <p:attrName>style.visibility</p:attrName>
                                        </p:attrNameLst>
                                      </p:cBhvr>
                                      <p:to>
                                        <p:strVal val="visible"/>
                                      </p:to>
                                    </p:set>
                                    <p:anim calcmode="lin" valueType="num">
                                      <p:cBhvr additive="base">
                                        <p:cTn id="7" dur="500" fill="hold"/>
                                        <p:tgtEl>
                                          <p:spTgt spid="311299">
                                            <p:txEl>
                                              <p:charRg st="0" end="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1299">
                                            <p:txEl>
                                              <p:charRg st="0" end="9"/>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11299">
                                            <p:txEl>
                                              <p:charRg st="9" end="53"/>
                                            </p:txEl>
                                          </p:spTgt>
                                        </p:tgtEl>
                                        <p:attrNameLst>
                                          <p:attrName>style.visibility</p:attrName>
                                        </p:attrNameLst>
                                      </p:cBhvr>
                                      <p:to>
                                        <p:strVal val="visible"/>
                                      </p:to>
                                    </p:set>
                                    <p:anim calcmode="lin" valueType="num">
                                      <p:cBhvr additive="base">
                                        <p:cTn id="11" dur="500" fill="hold"/>
                                        <p:tgtEl>
                                          <p:spTgt spid="311299">
                                            <p:txEl>
                                              <p:charRg st="9" end="53"/>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11299">
                                            <p:txEl>
                                              <p:charRg st="9" end="53"/>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11299">
                                            <p:txEl>
                                              <p:charRg st="54" end="74"/>
                                            </p:txEl>
                                          </p:spTgt>
                                        </p:tgtEl>
                                        <p:attrNameLst>
                                          <p:attrName>style.visibility</p:attrName>
                                        </p:attrNameLst>
                                      </p:cBhvr>
                                      <p:to>
                                        <p:strVal val="visible"/>
                                      </p:to>
                                    </p:set>
                                    <p:anim calcmode="lin" valueType="num">
                                      <p:cBhvr additive="base">
                                        <p:cTn id="17" dur="500" fill="hold"/>
                                        <p:tgtEl>
                                          <p:spTgt spid="311299">
                                            <p:txEl>
                                              <p:charRg st="54" end="74"/>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11299">
                                            <p:txEl>
                                              <p:charRg st="54" end="74"/>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11299">
                                            <p:txEl>
                                              <p:charRg st="74" end="86"/>
                                            </p:txEl>
                                          </p:spTgt>
                                        </p:tgtEl>
                                        <p:attrNameLst>
                                          <p:attrName>style.visibility</p:attrName>
                                        </p:attrNameLst>
                                      </p:cBhvr>
                                      <p:to>
                                        <p:strVal val="visible"/>
                                      </p:to>
                                    </p:set>
                                    <p:anim calcmode="lin" valueType="num">
                                      <p:cBhvr additive="base">
                                        <p:cTn id="23" dur="500" fill="hold"/>
                                        <p:tgtEl>
                                          <p:spTgt spid="311299">
                                            <p:txEl>
                                              <p:charRg st="74" end="86"/>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11299">
                                            <p:txEl>
                                              <p:charRg st="74" end="86"/>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11299">
                                            <p:txEl>
                                              <p:charRg st="86" end="95"/>
                                            </p:txEl>
                                          </p:spTgt>
                                        </p:tgtEl>
                                        <p:attrNameLst>
                                          <p:attrName>style.visibility</p:attrName>
                                        </p:attrNameLst>
                                      </p:cBhvr>
                                      <p:to>
                                        <p:strVal val="visible"/>
                                      </p:to>
                                    </p:set>
                                    <p:anim calcmode="lin" valueType="num">
                                      <p:cBhvr additive="base">
                                        <p:cTn id="27" dur="500" fill="hold"/>
                                        <p:tgtEl>
                                          <p:spTgt spid="311299">
                                            <p:txEl>
                                              <p:charRg st="86" end="9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11299">
                                            <p:txEl>
                                              <p:charRg st="86" end="95"/>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11299">
                                            <p:txEl>
                                              <p:charRg st="95" end="104"/>
                                            </p:txEl>
                                          </p:spTgt>
                                        </p:tgtEl>
                                        <p:attrNameLst>
                                          <p:attrName>style.visibility</p:attrName>
                                        </p:attrNameLst>
                                      </p:cBhvr>
                                      <p:to>
                                        <p:strVal val="visible"/>
                                      </p:to>
                                    </p:set>
                                    <p:anim calcmode="lin" valueType="num">
                                      <p:cBhvr additive="base">
                                        <p:cTn id="31" dur="500" fill="hold"/>
                                        <p:tgtEl>
                                          <p:spTgt spid="311299">
                                            <p:txEl>
                                              <p:charRg st="95" end="10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11299">
                                            <p:txEl>
                                              <p:charRg st="95" end="104"/>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11299">
                                            <p:txEl>
                                              <p:charRg st="104" end="106"/>
                                            </p:txEl>
                                          </p:spTgt>
                                        </p:tgtEl>
                                        <p:attrNameLst>
                                          <p:attrName>style.visibility</p:attrName>
                                        </p:attrNameLst>
                                      </p:cBhvr>
                                      <p:to>
                                        <p:strVal val="visible"/>
                                      </p:to>
                                    </p:set>
                                    <p:anim calcmode="lin" valueType="num">
                                      <p:cBhvr additive="base">
                                        <p:cTn id="35" dur="500" fill="hold"/>
                                        <p:tgtEl>
                                          <p:spTgt spid="311299">
                                            <p:txEl>
                                              <p:charRg st="104" end="10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11299">
                                            <p:txEl>
                                              <p:charRg st="104" end="106"/>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311299">
                                            <p:txEl>
                                              <p:charRg st="106" end="114"/>
                                            </p:txEl>
                                          </p:spTgt>
                                        </p:tgtEl>
                                        <p:attrNameLst>
                                          <p:attrName>style.visibility</p:attrName>
                                        </p:attrNameLst>
                                      </p:cBhvr>
                                      <p:to>
                                        <p:strVal val="visible"/>
                                      </p:to>
                                    </p:set>
                                    <p:anim calcmode="lin" valueType="num">
                                      <p:cBhvr additive="base">
                                        <p:cTn id="39" dur="500" fill="hold"/>
                                        <p:tgtEl>
                                          <p:spTgt spid="311299">
                                            <p:txEl>
                                              <p:charRg st="106" end="114"/>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311299">
                                            <p:txEl>
                                              <p:charRg st="106" end="114"/>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311300"/>
                                        </p:tgtEl>
                                        <p:attrNameLst>
                                          <p:attrName>style.visibility</p:attrName>
                                        </p:attrNameLst>
                                      </p:cBhvr>
                                      <p:to>
                                        <p:strVal val="visible"/>
                                      </p:to>
                                    </p:set>
                                    <p:anim calcmode="lin" valueType="num">
                                      <p:cBhvr additive="base">
                                        <p:cTn id="45" dur="500" fill="hold"/>
                                        <p:tgtEl>
                                          <p:spTgt spid="311300"/>
                                        </p:tgtEl>
                                        <p:attrNameLst>
                                          <p:attrName>ppt_x</p:attrName>
                                        </p:attrNameLst>
                                      </p:cBhvr>
                                      <p:tavLst>
                                        <p:tav tm="0">
                                          <p:val>
                                            <p:strVal val="0-#ppt_w/2"/>
                                          </p:val>
                                        </p:tav>
                                        <p:tav tm="100000">
                                          <p:val>
                                            <p:strVal val="#ppt_x"/>
                                          </p:val>
                                        </p:tav>
                                      </p:tavLst>
                                    </p:anim>
                                    <p:anim calcmode="lin" valueType="num">
                                      <p:cBhvr additive="base">
                                        <p:cTn id="46" dur="500" fill="hold"/>
                                        <p:tgtEl>
                                          <p:spTgt spid="3113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build="p"/>
      <p:bldP spid="31130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457200" y="457200"/>
            <a:ext cx="5770563" cy="9556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基本</a:t>
            </a:r>
            <a:r>
              <a:rPr lang="zh-CN" altLang="en-US" b="0" dirty="0">
                <a:sym typeface="+mn-ea"/>
              </a:rPr>
              <a:t>数据类型</a:t>
            </a:r>
            <a:r>
              <a:rPr lang="zh-CN" altLang="en-US" b="0" dirty="0">
                <a:sym typeface="+mn-ea"/>
              </a:rPr>
              <a:t>－</a:t>
            </a:r>
            <a:r>
              <a:rPr lang="zh-CN" altLang="en-US" b="0" dirty="0">
                <a:sym typeface="+mn-ea"/>
              </a:rPr>
              <a:t>实型</a:t>
            </a:r>
            <a:endParaRPr lang="zh-CN" altLang="en-US" b="0" dirty="0">
              <a:sym typeface="+mn-ea"/>
            </a:endParaRPr>
          </a:p>
        </p:txBody>
      </p:sp>
      <p:sp>
        <p:nvSpPr>
          <p:cNvPr id="307203" name="Rectangle 3"/>
          <p:cNvSpPr>
            <a:spLocks noGrp="1"/>
          </p:cNvSpPr>
          <p:nvPr>
            <p:ph idx="1"/>
          </p:nvPr>
        </p:nvSpPr>
        <p:spPr>
          <a:xfrm>
            <a:off x="457200" y="1447800"/>
            <a:ext cx="8147050" cy="4267200"/>
          </a:xfrm>
        </p:spPr>
        <p:txBody>
          <a:bodyPr vert="horz" wrap="square" lIns="91440" tIns="45720" rIns="91440" bIns="45720" anchor="t" anchorCtr="0"/>
          <a:p>
            <a:pPr algn="just" eaLnBrk="1" hangingPunct="1">
              <a:lnSpc>
                <a:spcPct val="85000"/>
              </a:lnSpc>
              <a:buNone/>
            </a:pPr>
            <a:r>
              <a:rPr lang="zh-CN" altLang="en-US" sz="2400" b="0" dirty="0"/>
              <a:t>实型（浮点型）数据</a:t>
            </a:r>
            <a:endParaRPr lang="zh-CN" altLang="en-US" sz="2400" b="0" dirty="0"/>
          </a:p>
          <a:p>
            <a:pPr algn="just" eaLnBrk="1" hangingPunct="1">
              <a:lnSpc>
                <a:spcPct val="85000"/>
              </a:lnSpc>
            </a:pPr>
            <a:r>
              <a:rPr lang="zh-CN" altLang="en-US" sz="2400" b="0" dirty="0"/>
              <a:t>单精度浮点型</a:t>
            </a:r>
            <a:r>
              <a:rPr lang="zh-CN" altLang="en-US" sz="2400" b="0" dirty="0">
                <a:solidFill>
                  <a:schemeClr val="accent1"/>
                </a:solidFill>
              </a:rPr>
              <a:t> </a:t>
            </a:r>
            <a:r>
              <a:rPr lang="en-US" altLang="zh-CN" sz="2400" b="0">
                <a:solidFill>
                  <a:schemeClr val="bg2"/>
                </a:solidFill>
              </a:rPr>
              <a:t>float</a:t>
            </a:r>
            <a:endParaRPr lang="en-US" altLang="zh-CN" sz="2400" b="0">
              <a:solidFill>
                <a:schemeClr val="bg2"/>
              </a:solidFill>
            </a:endParaRPr>
          </a:p>
          <a:p>
            <a:pPr algn="just" eaLnBrk="1" hangingPunct="1">
              <a:lnSpc>
                <a:spcPct val="85000"/>
              </a:lnSpc>
            </a:pPr>
            <a:r>
              <a:rPr lang="zh-CN" altLang="en-US" sz="2400" b="0" dirty="0"/>
              <a:t>双精度浮点型 </a:t>
            </a:r>
            <a:r>
              <a:rPr lang="en-US" altLang="zh-CN" sz="2400" b="0">
                <a:solidFill>
                  <a:schemeClr val="bg2"/>
                </a:solidFill>
              </a:rPr>
              <a:t>double</a:t>
            </a:r>
            <a:endParaRPr lang="en-US" altLang="zh-CN" sz="2400" b="0">
              <a:solidFill>
                <a:schemeClr val="bg2"/>
              </a:solidFill>
            </a:endParaRPr>
          </a:p>
          <a:p>
            <a:pPr algn="just" eaLnBrk="1" hangingPunct="1">
              <a:lnSpc>
                <a:spcPct val="85000"/>
              </a:lnSpc>
            </a:pPr>
            <a:endParaRPr lang="zh-CN" altLang="en-US" sz="2400" b="0" dirty="0">
              <a:solidFill>
                <a:srgbClr val="FF9933"/>
              </a:solidFill>
            </a:endParaRPr>
          </a:p>
          <a:p>
            <a:pPr lvl="1" algn="just" eaLnBrk="1" hangingPunct="1">
              <a:lnSpc>
                <a:spcPct val="85000"/>
              </a:lnSpc>
              <a:buNone/>
            </a:pPr>
            <a:r>
              <a:rPr lang="zh-CN" altLang="en-US" sz="2400" b="0" dirty="0"/>
              <a:t>              存储</a:t>
            </a:r>
            <a:r>
              <a:rPr lang="zh-CN" altLang="en-US" sz="2400" b="0" dirty="0">
                <a:solidFill>
                  <a:schemeClr val="accent1"/>
                </a:solidFill>
              </a:rPr>
              <a:t>     </a:t>
            </a:r>
            <a:r>
              <a:rPr lang="zh-CN" altLang="en-US" sz="2400" b="0" dirty="0"/>
              <a:t>数据精度        取值范围</a:t>
            </a:r>
            <a:endParaRPr lang="zh-CN" altLang="en-US" sz="2400" b="0" dirty="0"/>
          </a:p>
          <a:p>
            <a:pPr lvl="1">
              <a:lnSpc>
                <a:spcPct val="85000"/>
              </a:lnSpc>
              <a:spcBef>
                <a:spcPct val="0"/>
              </a:spcBef>
              <a:buClrTx/>
              <a:buSzTx/>
              <a:buFontTx/>
              <a:buNone/>
            </a:pPr>
            <a:r>
              <a:rPr lang="zh-CN" altLang="en-US" sz="2400" b="0" dirty="0"/>
              <a:t>                         (有效数字)</a:t>
            </a:r>
            <a:endParaRPr lang="zh-CN" altLang="en-US" sz="2400" b="0" dirty="0"/>
          </a:p>
          <a:p>
            <a:pPr lvl="1">
              <a:lnSpc>
                <a:spcPct val="85000"/>
              </a:lnSpc>
              <a:spcBef>
                <a:spcPct val="0"/>
              </a:spcBef>
              <a:buClrTx/>
              <a:buSzTx/>
              <a:buFontTx/>
              <a:buNone/>
            </a:pPr>
            <a:r>
              <a:rPr lang="en-US" altLang="zh-CN" sz="2400" b="0"/>
              <a:t>float</a:t>
            </a:r>
            <a:r>
              <a:rPr lang="zh-CN" altLang="en-US" sz="2400" b="0" dirty="0"/>
              <a:t>      </a:t>
            </a:r>
            <a:r>
              <a:rPr lang="zh-CN" altLang="en-US" sz="2400" b="0" dirty="0">
                <a:solidFill>
                  <a:schemeClr val="bg2"/>
                </a:solidFill>
              </a:rPr>
              <a:t>4</a:t>
            </a:r>
            <a:r>
              <a:rPr lang="zh-CN" altLang="en-US" sz="2400" b="0" dirty="0"/>
              <a:t>字节     </a:t>
            </a:r>
            <a:r>
              <a:rPr lang="zh-CN" altLang="en-US" sz="2400" b="0" dirty="0">
                <a:solidFill>
                  <a:srgbClr val="CC0066"/>
                </a:solidFill>
              </a:rPr>
              <a:t>七</a:t>
            </a:r>
            <a:r>
              <a:rPr lang="en-US" altLang="zh-CN" sz="2400" b="0">
                <a:solidFill>
                  <a:srgbClr val="CC0066"/>
                </a:solidFill>
              </a:rPr>
              <a:t>/</a:t>
            </a:r>
            <a:r>
              <a:rPr lang="zh-CN" altLang="en-US" sz="2400" b="0" dirty="0">
                <a:solidFill>
                  <a:srgbClr val="CC0066"/>
                </a:solidFill>
              </a:rPr>
              <a:t>八</a:t>
            </a:r>
            <a:r>
              <a:rPr lang="zh-CN" altLang="en-US" sz="2400" b="0" dirty="0"/>
              <a:t>位</a:t>
            </a:r>
            <a:r>
              <a:rPr lang="en-US" altLang="zh-CN" sz="2400" b="0" baseline="30000"/>
              <a:t> </a:t>
            </a:r>
            <a:r>
              <a:rPr lang="en-US" altLang="zh-CN" sz="2400" b="0"/>
              <a:t>        </a:t>
            </a:r>
            <a:r>
              <a:rPr lang="en-US" altLang="zh-CN" sz="2400" b="0">
                <a:solidFill>
                  <a:schemeClr val="bg2"/>
                </a:solidFill>
              </a:rPr>
              <a:t>±(10</a:t>
            </a:r>
            <a:r>
              <a:rPr lang="en-US" altLang="zh-CN" sz="2400" b="0" baseline="30000">
                <a:solidFill>
                  <a:schemeClr val="bg2"/>
                </a:solidFill>
              </a:rPr>
              <a:t>-38</a:t>
            </a:r>
            <a:r>
              <a:rPr lang="en-US" altLang="zh-CN" sz="2400" b="0">
                <a:solidFill>
                  <a:schemeClr val="bg2"/>
                </a:solidFill>
              </a:rPr>
              <a:t> </a:t>
            </a:r>
            <a:r>
              <a:rPr lang="zh-CN" altLang="en-US" sz="2400" b="0" baseline="30000" dirty="0">
                <a:solidFill>
                  <a:schemeClr val="bg2"/>
                </a:solidFill>
              </a:rPr>
              <a:t> </a:t>
            </a:r>
            <a:r>
              <a:rPr lang="zh-CN" altLang="en-US" sz="2400" b="0" dirty="0">
                <a:solidFill>
                  <a:schemeClr val="bg2"/>
                </a:solidFill>
              </a:rPr>
              <a:t>~</a:t>
            </a:r>
            <a:r>
              <a:rPr lang="en-US" altLang="zh-CN" sz="2400" b="0">
                <a:solidFill>
                  <a:schemeClr val="bg2"/>
                </a:solidFill>
              </a:rPr>
              <a:t> 10</a:t>
            </a:r>
            <a:r>
              <a:rPr lang="en-US" altLang="zh-CN" sz="2400" b="0" baseline="30000">
                <a:solidFill>
                  <a:schemeClr val="bg2"/>
                </a:solidFill>
              </a:rPr>
              <a:t>38</a:t>
            </a:r>
            <a:r>
              <a:rPr lang="en-US" altLang="zh-CN" sz="2400" b="0">
                <a:solidFill>
                  <a:schemeClr val="bg2"/>
                </a:solidFill>
              </a:rPr>
              <a:t>)</a:t>
            </a:r>
            <a:endParaRPr lang="en-US" altLang="zh-CN" sz="2400" b="0">
              <a:solidFill>
                <a:schemeClr val="bg2"/>
              </a:solidFill>
            </a:endParaRPr>
          </a:p>
          <a:p>
            <a:pPr lvl="1">
              <a:lnSpc>
                <a:spcPct val="85000"/>
              </a:lnSpc>
              <a:spcBef>
                <a:spcPct val="0"/>
              </a:spcBef>
              <a:buClrTx/>
              <a:buSzTx/>
              <a:buFontTx/>
              <a:buNone/>
            </a:pPr>
            <a:endParaRPr lang="zh-CN" altLang="en-US" sz="2400" b="0" dirty="0"/>
          </a:p>
          <a:p>
            <a:pPr lvl="1">
              <a:lnSpc>
                <a:spcPct val="85000"/>
              </a:lnSpc>
              <a:spcBef>
                <a:spcPct val="0"/>
              </a:spcBef>
              <a:buClrTx/>
              <a:buSzTx/>
              <a:buFontTx/>
              <a:buNone/>
            </a:pPr>
            <a:r>
              <a:rPr lang="en-US" altLang="zh-CN" sz="2400" b="0"/>
              <a:t>double</a:t>
            </a:r>
            <a:r>
              <a:rPr lang="zh-CN" altLang="en-US" sz="2400" b="0" dirty="0"/>
              <a:t>  </a:t>
            </a:r>
            <a:r>
              <a:rPr lang="zh-CN" altLang="en-US" sz="2400" b="0" dirty="0">
                <a:solidFill>
                  <a:schemeClr val="bg2"/>
                </a:solidFill>
              </a:rPr>
              <a:t>8</a:t>
            </a:r>
            <a:r>
              <a:rPr lang="zh-CN" altLang="en-US" sz="2400" b="0" dirty="0"/>
              <a:t>字节     </a:t>
            </a:r>
            <a:r>
              <a:rPr lang="zh-CN" altLang="en-US" sz="2400" b="0" dirty="0">
                <a:solidFill>
                  <a:srgbClr val="CC0066"/>
                </a:solidFill>
              </a:rPr>
              <a:t>十六</a:t>
            </a:r>
            <a:r>
              <a:rPr lang="zh-CN" altLang="en-US" sz="2400" b="0" dirty="0"/>
              <a:t>位       </a:t>
            </a:r>
            <a:r>
              <a:rPr lang="zh-CN" altLang="en-US" sz="2400" b="0" dirty="0">
                <a:solidFill>
                  <a:schemeClr val="bg2"/>
                </a:solidFill>
              </a:rPr>
              <a:t>±(10</a:t>
            </a:r>
            <a:r>
              <a:rPr lang="zh-CN" altLang="en-US" sz="2400" b="0" baseline="30000" dirty="0">
                <a:solidFill>
                  <a:schemeClr val="bg2"/>
                </a:solidFill>
              </a:rPr>
              <a:t>308</a:t>
            </a:r>
            <a:r>
              <a:rPr lang="zh-CN" altLang="en-US" sz="2400" b="0" dirty="0">
                <a:solidFill>
                  <a:schemeClr val="bg2"/>
                </a:solidFill>
              </a:rPr>
              <a:t> </a:t>
            </a:r>
            <a:r>
              <a:rPr lang="zh-CN" altLang="en-US" sz="2400" b="0" baseline="30000" dirty="0">
                <a:solidFill>
                  <a:schemeClr val="bg2"/>
                </a:solidFill>
              </a:rPr>
              <a:t> </a:t>
            </a:r>
            <a:r>
              <a:rPr lang="zh-CN" altLang="en-US" sz="2400" b="0" dirty="0">
                <a:solidFill>
                  <a:schemeClr val="bg2"/>
                </a:solidFill>
              </a:rPr>
              <a:t>~ 10</a:t>
            </a:r>
            <a:r>
              <a:rPr lang="zh-CN" altLang="en-US" sz="2400" b="0" baseline="30000" dirty="0">
                <a:solidFill>
                  <a:schemeClr val="bg2"/>
                </a:solidFill>
              </a:rPr>
              <a:t>308 </a:t>
            </a:r>
            <a:r>
              <a:rPr lang="zh-CN" altLang="en-US" sz="2400" b="0" dirty="0">
                <a:solidFill>
                  <a:schemeClr val="bg2"/>
                </a:solidFill>
              </a:rPr>
              <a:t>)</a:t>
            </a:r>
            <a:endParaRPr lang="zh-CN" altLang="en-US" sz="2400" b="0" dirty="0">
              <a:solidFill>
                <a:schemeClr val="bg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03">
                                            <p:txEl>
                                              <p:charRg st="0" end="10"/>
                                            </p:txEl>
                                          </p:spTgt>
                                        </p:tgtEl>
                                        <p:attrNameLst>
                                          <p:attrName>style.visibility</p:attrName>
                                        </p:attrNameLst>
                                      </p:cBhvr>
                                      <p:to>
                                        <p:strVal val="visible"/>
                                      </p:to>
                                    </p:set>
                                    <p:anim calcmode="lin" valueType="num">
                                      <p:cBhvr additive="base">
                                        <p:cTn id="7" dur="500" fill="hold"/>
                                        <p:tgtEl>
                                          <p:spTgt spid="307203">
                                            <p:txEl>
                                              <p:charRg st="0" end="1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203">
                                            <p:txEl>
                                              <p:charRg st="0" end="1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203">
                                            <p:txEl>
                                              <p:charRg st="10" end="23"/>
                                            </p:txEl>
                                          </p:spTgt>
                                        </p:tgtEl>
                                        <p:attrNameLst>
                                          <p:attrName>style.visibility</p:attrName>
                                        </p:attrNameLst>
                                      </p:cBhvr>
                                      <p:to>
                                        <p:strVal val="visible"/>
                                      </p:to>
                                    </p:set>
                                    <p:anim calcmode="lin" valueType="num">
                                      <p:cBhvr additive="base">
                                        <p:cTn id="13" dur="500" fill="hold"/>
                                        <p:tgtEl>
                                          <p:spTgt spid="307203">
                                            <p:txEl>
                                              <p:charRg st="10" end="2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7203">
                                            <p:txEl>
                                              <p:charRg st="10" end="2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203">
                                            <p:txEl>
                                              <p:charRg st="23" end="37"/>
                                            </p:txEl>
                                          </p:spTgt>
                                        </p:tgtEl>
                                        <p:attrNameLst>
                                          <p:attrName>style.visibility</p:attrName>
                                        </p:attrNameLst>
                                      </p:cBhvr>
                                      <p:to>
                                        <p:strVal val="visible"/>
                                      </p:to>
                                    </p:set>
                                    <p:anim calcmode="lin" valueType="num">
                                      <p:cBhvr additive="base">
                                        <p:cTn id="19" dur="500" fill="hold"/>
                                        <p:tgtEl>
                                          <p:spTgt spid="307203">
                                            <p:txEl>
                                              <p:charRg st="23" end="37"/>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7203">
                                            <p:txEl>
                                              <p:charRg st="23" end="37"/>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07203">
                                            <p:txEl>
                                              <p:charRg st="38" end="76"/>
                                            </p:txEl>
                                          </p:spTgt>
                                        </p:tgtEl>
                                        <p:attrNameLst>
                                          <p:attrName>style.visibility</p:attrName>
                                        </p:attrNameLst>
                                      </p:cBhvr>
                                      <p:to>
                                        <p:strVal val="visible"/>
                                      </p:to>
                                    </p:set>
                                    <p:anim calcmode="lin" valueType="num">
                                      <p:cBhvr additive="base">
                                        <p:cTn id="23" dur="500" fill="hold"/>
                                        <p:tgtEl>
                                          <p:spTgt spid="307203">
                                            <p:txEl>
                                              <p:charRg st="38" end="76"/>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07203">
                                            <p:txEl>
                                              <p:charRg st="38" end="76"/>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07203">
                                            <p:txEl>
                                              <p:charRg st="76" end="108"/>
                                            </p:txEl>
                                          </p:spTgt>
                                        </p:tgtEl>
                                        <p:attrNameLst>
                                          <p:attrName>style.visibility</p:attrName>
                                        </p:attrNameLst>
                                      </p:cBhvr>
                                      <p:to>
                                        <p:strVal val="visible"/>
                                      </p:to>
                                    </p:set>
                                    <p:anim calcmode="lin" valueType="num">
                                      <p:cBhvr additive="base">
                                        <p:cTn id="27" dur="500" fill="hold"/>
                                        <p:tgtEl>
                                          <p:spTgt spid="307203">
                                            <p:txEl>
                                              <p:charRg st="76" end="108"/>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07203">
                                            <p:txEl>
                                              <p:charRg st="76" end="108"/>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07203">
                                            <p:txEl>
                                              <p:charRg st="108" end="157"/>
                                            </p:txEl>
                                          </p:spTgt>
                                        </p:tgtEl>
                                        <p:attrNameLst>
                                          <p:attrName>style.visibility</p:attrName>
                                        </p:attrNameLst>
                                      </p:cBhvr>
                                      <p:to>
                                        <p:strVal val="visible"/>
                                      </p:to>
                                    </p:set>
                                    <p:anim calcmode="lin" valueType="num">
                                      <p:cBhvr additive="base">
                                        <p:cTn id="31" dur="500" fill="hold"/>
                                        <p:tgtEl>
                                          <p:spTgt spid="307203">
                                            <p:txEl>
                                              <p:charRg st="108" end="15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7203">
                                            <p:txEl>
                                              <p:charRg st="108" end="157"/>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07203">
                                            <p:txEl>
                                              <p:charRg st="158" end="203"/>
                                            </p:txEl>
                                          </p:spTgt>
                                        </p:tgtEl>
                                        <p:attrNameLst>
                                          <p:attrName>style.visibility</p:attrName>
                                        </p:attrNameLst>
                                      </p:cBhvr>
                                      <p:to>
                                        <p:strVal val="visible"/>
                                      </p:to>
                                    </p:set>
                                    <p:anim calcmode="lin" valueType="num">
                                      <p:cBhvr additive="base">
                                        <p:cTn id="35" dur="500" fill="hold"/>
                                        <p:tgtEl>
                                          <p:spTgt spid="307203">
                                            <p:txEl>
                                              <p:charRg st="158" end="203"/>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07203">
                                            <p:txEl>
                                              <p:charRg st="158" end="20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457200" y="457200"/>
            <a:ext cx="6923088" cy="884238"/>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数据精度和取值范围</a:t>
            </a:r>
            <a:endParaRPr lang="zh-CN" altLang="en-US" b="0" dirty="0">
              <a:sym typeface="+mn-ea"/>
            </a:endParaRPr>
          </a:p>
        </p:txBody>
      </p:sp>
      <p:sp>
        <p:nvSpPr>
          <p:cNvPr id="319491" name="Rectangle 3"/>
          <p:cNvSpPr>
            <a:spLocks noGrp="1"/>
          </p:cNvSpPr>
          <p:nvPr>
            <p:ph idx="1"/>
          </p:nvPr>
        </p:nvSpPr>
        <p:spPr>
          <a:xfrm>
            <a:off x="360363" y="1628775"/>
            <a:ext cx="8604250" cy="4586288"/>
          </a:xfrm>
        </p:spPr>
        <p:txBody>
          <a:bodyPr vert="horz" wrap="square" lIns="91440" tIns="45720" rIns="91440" bIns="45720" anchor="t" anchorCtr="0"/>
          <a:p>
            <a:pPr eaLnBrk="1" hangingPunct="1"/>
            <a:r>
              <a:rPr lang="zh-CN" altLang="en-US" b="0" dirty="0">
                <a:solidFill>
                  <a:srgbClr val="CC0066"/>
                </a:solidFill>
              </a:rPr>
              <a:t>数据精度</a:t>
            </a:r>
            <a:r>
              <a:rPr lang="zh-CN" altLang="en-US" b="0" dirty="0"/>
              <a:t> 与 </a:t>
            </a:r>
            <a:r>
              <a:rPr lang="zh-CN" altLang="en-US" b="0" dirty="0">
                <a:solidFill>
                  <a:schemeClr val="bg2"/>
                </a:solidFill>
              </a:rPr>
              <a:t>取值范围</a:t>
            </a:r>
            <a:r>
              <a:rPr lang="zh-CN" altLang="en-US" b="0" dirty="0"/>
              <a:t>是两个不同的概念：</a:t>
            </a:r>
            <a:endParaRPr lang="zh-CN" altLang="en-US" b="0" dirty="0"/>
          </a:p>
          <a:p>
            <a:pPr lvl="1" eaLnBrk="1" hangingPunct="1">
              <a:buNone/>
            </a:pPr>
            <a:r>
              <a:rPr lang="en-US" altLang="zh-CN" b="0"/>
              <a:t>float x = 1234567.89;</a:t>
            </a:r>
            <a:endParaRPr lang="en-US" altLang="zh-CN" b="0"/>
          </a:p>
          <a:p>
            <a:pPr lvl="2" eaLnBrk="1" hangingPunct="1">
              <a:buNone/>
            </a:pPr>
            <a:r>
              <a:rPr lang="zh-CN" altLang="en-US" b="0" dirty="0"/>
              <a:t>虽在取值范围内，但无法精确表达。 </a:t>
            </a:r>
            <a:endParaRPr lang="zh-CN" altLang="en-US" b="0" dirty="0"/>
          </a:p>
          <a:p>
            <a:pPr lvl="1" eaLnBrk="1" hangingPunct="1">
              <a:lnSpc>
                <a:spcPct val="140000"/>
              </a:lnSpc>
              <a:buNone/>
            </a:pPr>
            <a:r>
              <a:rPr lang="en-US" altLang="en-US" b="0"/>
              <a:t>float y = 1.2e55;</a:t>
            </a:r>
            <a:endParaRPr lang="en-US" altLang="en-US" b="0"/>
          </a:p>
          <a:p>
            <a:pPr lvl="2" eaLnBrk="1" hangingPunct="1">
              <a:buNone/>
            </a:pPr>
            <a:r>
              <a:rPr lang="en-US" altLang="en-US" b="0"/>
              <a:t>y </a:t>
            </a:r>
            <a:r>
              <a:rPr lang="zh-CN" altLang="en-US" b="0" dirty="0"/>
              <a:t>的精度要求不高，但超出取值范围。</a:t>
            </a:r>
            <a:endParaRPr lang="zh-CN" altLang="en-US" b="0" dirty="0"/>
          </a:p>
          <a:p>
            <a:pPr eaLnBrk="1" hangingPunct="1">
              <a:lnSpc>
                <a:spcPct val="130000"/>
              </a:lnSpc>
            </a:pPr>
            <a:r>
              <a:rPr lang="zh-CN" altLang="en-US" b="0" dirty="0"/>
              <a:t>并不是所有的实数都能在计算机中精确表示</a:t>
            </a:r>
            <a:endParaRPr lang="zh-CN" altLang="en-US" b="0" dirty="0"/>
          </a:p>
          <a:p>
            <a:pPr eaLnBrk="1" hangingPunct="1">
              <a:lnSpc>
                <a:spcPct val="130000"/>
              </a:lnSpc>
            </a:pPr>
            <a:r>
              <a:rPr lang="zh-CN" altLang="zh-CN" b="0" dirty="0"/>
              <a:t> </a:t>
            </a:r>
            <a:r>
              <a:rPr lang="zh-CN" altLang="en-US" b="0" dirty="0"/>
              <a:t>实型常量的类型都是</a:t>
            </a:r>
            <a:r>
              <a:rPr lang="en-US" altLang="zh-CN" b="0">
                <a:solidFill>
                  <a:schemeClr val="bg2"/>
                </a:solidFill>
              </a:rPr>
              <a:t>double</a:t>
            </a:r>
            <a:endParaRPr lang="zh-CN" altLang="en-US" b="0" dirty="0">
              <a:solidFill>
                <a:schemeClr val="bg2"/>
              </a:solidFill>
            </a:endParaRPr>
          </a:p>
        </p:txBody>
      </p:sp>
      <p:sp>
        <p:nvSpPr>
          <p:cNvPr id="319494" name="Rectangle 6"/>
          <p:cNvSpPr/>
          <p:nvPr/>
        </p:nvSpPr>
        <p:spPr>
          <a:xfrm>
            <a:off x="5940743" y="2205990"/>
            <a:ext cx="2444750" cy="521970"/>
          </a:xfrm>
          <a:prstGeom prst="rect">
            <a:avLst/>
          </a:prstGeom>
          <a:noFill/>
          <a:ln w="9525">
            <a:noFill/>
          </a:ln>
        </p:spPr>
        <p:txBody>
          <a:bodyPr wrap="none" lIns="92075" tIns="46038" rIns="92075" bIns="46038" anchor="t" anchorCtr="0">
            <a:spAutoFit/>
          </a:bodyPr>
          <a:p>
            <a:r>
              <a:rPr lang="en-US" altLang="en-US" sz="2800">
                <a:solidFill>
                  <a:schemeClr val="bg2"/>
                </a:solidFill>
                <a:latin typeface="Arial" panose="02080604020202020204" pitchFamily="34" charset="0"/>
              </a:rPr>
              <a:t> 1234567.80</a:t>
            </a:r>
            <a:endParaRPr lang="en-US" altLang="en-US" sz="2800" dirty="0">
              <a:solidFill>
                <a:schemeClr val="bg2"/>
              </a:solidFill>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9491">
                                            <p:txEl>
                                              <p:charRg st="0" end="21"/>
                                            </p:txEl>
                                          </p:spTgt>
                                        </p:tgtEl>
                                        <p:attrNameLst>
                                          <p:attrName>style.visibility</p:attrName>
                                        </p:attrNameLst>
                                      </p:cBhvr>
                                      <p:to>
                                        <p:strVal val="visible"/>
                                      </p:to>
                                    </p:set>
                                    <p:anim calcmode="lin" valueType="num">
                                      <p:cBhvr additive="base">
                                        <p:cTn id="7" dur="500" fill="hold"/>
                                        <p:tgtEl>
                                          <p:spTgt spid="319491">
                                            <p:txEl>
                                              <p:charRg st="0" end="2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9491">
                                            <p:txEl>
                                              <p:charRg st="0" end="2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9491">
                                            <p:txEl>
                                              <p:charRg st="21" end="43"/>
                                            </p:txEl>
                                          </p:spTgt>
                                        </p:tgtEl>
                                        <p:attrNameLst>
                                          <p:attrName>style.visibility</p:attrName>
                                        </p:attrNameLst>
                                      </p:cBhvr>
                                      <p:to>
                                        <p:strVal val="visible"/>
                                      </p:to>
                                    </p:set>
                                    <p:anim calcmode="lin" valueType="num">
                                      <p:cBhvr additive="base">
                                        <p:cTn id="13" dur="500" fill="hold"/>
                                        <p:tgtEl>
                                          <p:spTgt spid="319491">
                                            <p:txEl>
                                              <p:charRg st="21" end="4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9491">
                                            <p:txEl>
                                              <p:charRg st="21" end="43"/>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19491">
                                            <p:txEl>
                                              <p:charRg st="43" end="61"/>
                                            </p:txEl>
                                          </p:spTgt>
                                        </p:tgtEl>
                                        <p:attrNameLst>
                                          <p:attrName>style.visibility</p:attrName>
                                        </p:attrNameLst>
                                      </p:cBhvr>
                                      <p:to>
                                        <p:strVal val="visible"/>
                                      </p:to>
                                    </p:set>
                                    <p:anim calcmode="lin" valueType="num">
                                      <p:cBhvr additive="base">
                                        <p:cTn id="17" dur="500" fill="hold"/>
                                        <p:tgtEl>
                                          <p:spTgt spid="319491">
                                            <p:txEl>
                                              <p:charRg st="43" end="6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19491">
                                            <p:txEl>
                                              <p:charRg st="43" end="6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19494"/>
                                        </p:tgtEl>
                                        <p:attrNameLst>
                                          <p:attrName>style.visibility</p:attrName>
                                        </p:attrNameLst>
                                      </p:cBhvr>
                                      <p:to>
                                        <p:strVal val="visible"/>
                                      </p:to>
                                    </p:set>
                                    <p:animEffect transition="in" filter="wipe(down)">
                                      <p:cBhvr>
                                        <p:cTn id="23" dur="500"/>
                                        <p:tgtEl>
                                          <p:spTgt spid="31949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319491">
                                            <p:txEl>
                                              <p:charRg st="61" end="79"/>
                                            </p:txEl>
                                          </p:spTgt>
                                        </p:tgtEl>
                                        <p:attrNameLst>
                                          <p:attrName>style.visibility</p:attrName>
                                        </p:attrNameLst>
                                      </p:cBhvr>
                                      <p:to>
                                        <p:strVal val="visible"/>
                                      </p:to>
                                    </p:set>
                                    <p:anim calcmode="lin" valueType="num">
                                      <p:cBhvr additive="base">
                                        <p:cTn id="28" dur="500" fill="hold"/>
                                        <p:tgtEl>
                                          <p:spTgt spid="319491">
                                            <p:txEl>
                                              <p:charRg st="61" end="79"/>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319491">
                                            <p:txEl>
                                              <p:charRg st="61" end="79"/>
                                            </p:txEl>
                                          </p:spTgt>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19491">
                                            <p:txEl>
                                              <p:charRg st="79" end="98"/>
                                            </p:txEl>
                                          </p:spTgt>
                                        </p:tgtEl>
                                        <p:attrNameLst>
                                          <p:attrName>style.visibility</p:attrName>
                                        </p:attrNameLst>
                                      </p:cBhvr>
                                      <p:to>
                                        <p:strVal val="visible"/>
                                      </p:to>
                                    </p:set>
                                    <p:anim calcmode="lin" valueType="num">
                                      <p:cBhvr additive="base">
                                        <p:cTn id="32" dur="500" fill="hold"/>
                                        <p:tgtEl>
                                          <p:spTgt spid="319491">
                                            <p:txEl>
                                              <p:charRg st="79" end="98"/>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319491">
                                            <p:txEl>
                                              <p:charRg st="79" end="98"/>
                                            </p:txEl>
                                          </p:spTgt>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319491">
                                            <p:txEl>
                                              <p:charRg st="98" end="118"/>
                                            </p:txEl>
                                          </p:spTgt>
                                        </p:tgtEl>
                                        <p:attrNameLst>
                                          <p:attrName>style.visibility</p:attrName>
                                        </p:attrNameLst>
                                      </p:cBhvr>
                                      <p:to>
                                        <p:strVal val="visible"/>
                                      </p:to>
                                    </p:set>
                                    <p:anim calcmode="lin" valueType="num">
                                      <p:cBhvr additive="base">
                                        <p:cTn id="38" dur="500" fill="hold"/>
                                        <p:tgtEl>
                                          <p:spTgt spid="319491">
                                            <p:txEl>
                                              <p:charRg st="98" end="118"/>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319491">
                                            <p:txEl>
                                              <p:charRg st="98" end="118"/>
                                            </p:txEl>
                                          </p:spTgt>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319491">
                                            <p:txEl>
                                              <p:charRg st="118" end="135"/>
                                            </p:txEl>
                                          </p:spTgt>
                                        </p:tgtEl>
                                        <p:attrNameLst>
                                          <p:attrName>style.visibility</p:attrName>
                                        </p:attrNameLst>
                                      </p:cBhvr>
                                      <p:to>
                                        <p:strVal val="visible"/>
                                      </p:to>
                                    </p:set>
                                    <p:anim calcmode="lin" valueType="num">
                                      <p:cBhvr additive="base">
                                        <p:cTn id="44" dur="500" fill="hold"/>
                                        <p:tgtEl>
                                          <p:spTgt spid="319491">
                                            <p:txEl>
                                              <p:charRg st="118" end="135"/>
                                            </p:txEl>
                                          </p:spTgt>
                                        </p:tgtEl>
                                        <p:attrNameLst>
                                          <p:attrName>ppt_x</p:attrName>
                                        </p:attrNameLst>
                                      </p:cBhvr>
                                      <p:tavLst>
                                        <p:tav tm="0">
                                          <p:val>
                                            <p:strVal val="0-#ppt_w/2"/>
                                          </p:val>
                                        </p:tav>
                                        <p:tav tm="100000">
                                          <p:val>
                                            <p:strVal val="#ppt_x"/>
                                          </p:val>
                                        </p:tav>
                                      </p:tavLst>
                                    </p:anim>
                                    <p:anim calcmode="lin" valueType="num">
                                      <p:cBhvr additive="base">
                                        <p:cTn id="45" dur="500" fill="hold"/>
                                        <p:tgtEl>
                                          <p:spTgt spid="319491">
                                            <p:txEl>
                                              <p:charRg st="118" end="13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bldLvl="2" build="p"/>
      <p:bldP spid="31949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Chap</a:t>
            </a:r>
            <a:r>
              <a:rPr lang="zh-CN" altLang="en-US" b="0" dirty="0">
                <a:sym typeface="+mn-ea"/>
              </a:rPr>
              <a:t> </a:t>
            </a:r>
            <a:r>
              <a:rPr lang="zh-CN" altLang="en-US" b="0" dirty="0">
                <a:sym typeface="+mn-ea"/>
              </a:rPr>
              <a:t>6  </a:t>
            </a:r>
            <a:r>
              <a:rPr lang="zh-CN" altLang="en-US" b="0" dirty="0">
                <a:sym typeface="+mn-ea"/>
              </a:rPr>
              <a:t>数据类型和表达式 </a:t>
            </a:r>
            <a:endParaRPr lang="zh-CN" altLang="en-US" b="0" dirty="0">
              <a:sym typeface="+mn-ea"/>
            </a:endParaRPr>
          </a:p>
        </p:txBody>
      </p:sp>
      <p:sp>
        <p:nvSpPr>
          <p:cNvPr id="7171" name="Rectangle 3"/>
          <p:cNvSpPr>
            <a:spLocks noGrp="1"/>
          </p:cNvSpPr>
          <p:nvPr>
            <p:ph idx="1"/>
          </p:nvPr>
        </p:nvSpPr>
        <p:spPr>
          <a:xfrm>
            <a:off x="900113" y="2133600"/>
            <a:ext cx="7200900" cy="3743325"/>
          </a:xfrm>
        </p:spPr>
        <p:txBody>
          <a:bodyPr vert="horz" wrap="square" lIns="91440" tIns="45720" rIns="91440" bIns="45720" anchor="t" anchorCtr="0"/>
          <a:p>
            <a:pPr marL="476250" indent="-476250" eaLnBrk="1" hangingPunct="1">
              <a:spcBef>
                <a:spcPct val="40000"/>
              </a:spcBef>
              <a:buNone/>
            </a:pPr>
            <a:r>
              <a:rPr lang="en-US" altLang="zh-CN" b="0"/>
              <a:t>6.1  数据的存储和基本数据类型</a:t>
            </a:r>
            <a:r>
              <a:rPr lang="en-US" altLang="zh-CN" b="0"/>
              <a:t> </a:t>
            </a:r>
            <a:endParaRPr lang="en-US" altLang="zh-CN" b="0"/>
          </a:p>
          <a:p>
            <a:pPr marL="476250" indent="-476250" eaLnBrk="1" hangingPunct="1">
              <a:spcBef>
                <a:spcPct val="40000"/>
              </a:spcBef>
              <a:buNone/>
            </a:pPr>
            <a:r>
              <a:rPr lang="en-US" altLang="zh-CN" b="0">
                <a:solidFill>
                  <a:srgbClr val="FF0000"/>
                </a:solidFill>
              </a:rPr>
              <a:t>6.2  </a:t>
            </a:r>
            <a:r>
              <a:rPr lang="zh-CN" altLang="en-US" b="0" dirty="0">
                <a:solidFill>
                  <a:srgbClr val="FF0000"/>
                </a:solidFill>
                <a:latin typeface="宋体" pitchFamily="2" charset="-122"/>
              </a:rPr>
              <a:t>常量和变量</a:t>
            </a:r>
            <a:r>
              <a:rPr lang="zh-CN" altLang="en-US" b="0" dirty="0"/>
              <a:t> </a:t>
            </a:r>
            <a:endParaRPr lang="zh-CN" altLang="en-US" b="0" dirty="0"/>
          </a:p>
          <a:p>
            <a:pPr marL="476250" indent="-476250" eaLnBrk="1" hangingPunct="1">
              <a:spcBef>
                <a:spcPct val="40000"/>
              </a:spcBef>
              <a:buNone/>
            </a:pPr>
            <a:r>
              <a:rPr lang="en-US" altLang="zh-CN" b="0"/>
              <a:t>6.3  </a:t>
            </a:r>
            <a:r>
              <a:rPr lang="zh-CN" altLang="en-US" b="0" dirty="0">
                <a:latin typeface="宋体" pitchFamily="2" charset="-122"/>
              </a:rPr>
              <a:t>数据的输入和输出</a:t>
            </a:r>
            <a:endParaRPr lang="zh-CN" altLang="en-US" b="0" dirty="0"/>
          </a:p>
          <a:p>
            <a:pPr marL="476250" indent="-476250" eaLnBrk="1" hangingPunct="1">
              <a:spcBef>
                <a:spcPct val="40000"/>
              </a:spcBef>
              <a:buNone/>
            </a:pPr>
            <a:r>
              <a:rPr lang="en-US" altLang="zh-CN" b="0"/>
              <a:t>6.4  </a:t>
            </a:r>
            <a:r>
              <a:rPr lang="zh-CN" altLang="en-US" b="0" dirty="0">
                <a:latin typeface="宋体" pitchFamily="2" charset="-122"/>
              </a:rPr>
              <a:t>类型转换</a:t>
            </a:r>
            <a:endParaRPr lang="zh-CN" altLang="en-US" b="0" dirty="0"/>
          </a:p>
          <a:p>
            <a:pPr marL="476250" indent="-476250" eaLnBrk="1" hangingPunct="1">
              <a:spcBef>
                <a:spcPct val="40000"/>
              </a:spcBef>
              <a:buNone/>
            </a:pPr>
            <a:r>
              <a:rPr lang="en-US" altLang="zh-CN" b="0"/>
              <a:t>6.5  </a:t>
            </a:r>
            <a:r>
              <a:rPr lang="zh-CN" altLang="en-US" b="0" dirty="0">
                <a:latin typeface="宋体" pitchFamily="2" charset="-122"/>
              </a:rPr>
              <a:t>表达式</a:t>
            </a:r>
            <a:endParaRPr lang="zh-CN" altLang="en-US" b="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idx="1"/>
          </p:nvPr>
        </p:nvSpPr>
        <p:spPr>
          <a:xfrm>
            <a:off x="755650" y="2060575"/>
            <a:ext cx="7618413" cy="3567113"/>
          </a:xfrm>
        </p:spPr>
        <p:txBody>
          <a:bodyPr vert="horz" wrap="square" lIns="91440" tIns="45720" rIns="91440" bIns="45720" anchor="t" anchorCtr="0"/>
          <a:p>
            <a:pPr algn="just" eaLnBrk="1" hangingPunct="1">
              <a:buClr>
                <a:schemeClr val="tx2"/>
              </a:buClr>
              <a:buFontTx/>
              <a:buNone/>
            </a:pPr>
            <a:r>
              <a:rPr lang="en-US" altLang="zh-CN" b="0"/>
              <a:t>6.2.1  </a:t>
            </a:r>
            <a:r>
              <a:rPr lang="zh-CN" altLang="en-US" b="0" dirty="0"/>
              <a:t>常量</a:t>
            </a:r>
            <a:endParaRPr lang="zh-CN" altLang="en-US" b="0" dirty="0">
              <a:latin typeface="宋体" pitchFamily="2" charset="-122"/>
            </a:endParaRPr>
          </a:p>
          <a:p>
            <a:pPr lvl="1" algn="just" eaLnBrk="1" hangingPunct="1">
              <a:buClr>
                <a:schemeClr val="tx2"/>
              </a:buClr>
              <a:buFontTx/>
              <a:buNone/>
            </a:pPr>
            <a:r>
              <a:rPr lang="zh-CN" altLang="en-US" b="0" dirty="0">
                <a:latin typeface="宋体" pitchFamily="2" charset="-122"/>
              </a:rPr>
              <a:t>符号常量</a:t>
            </a:r>
            <a:endParaRPr lang="zh-CN" altLang="en-US" b="0" dirty="0">
              <a:latin typeface="宋体" pitchFamily="2" charset="-122"/>
            </a:endParaRPr>
          </a:p>
          <a:p>
            <a:pPr lvl="1" algn="just" eaLnBrk="1" hangingPunct="1">
              <a:buClr>
                <a:schemeClr val="tx2"/>
              </a:buClr>
              <a:buFontTx/>
              <a:buNone/>
            </a:pPr>
            <a:r>
              <a:rPr lang="zh-CN" altLang="en-US" b="0" dirty="0">
                <a:latin typeface="宋体" pitchFamily="2" charset="-122"/>
              </a:rPr>
              <a:t>整型常量、实型常量、字符型常量</a:t>
            </a:r>
            <a:endParaRPr lang="zh-CN" altLang="en-US" b="0" dirty="0">
              <a:latin typeface="宋体" pitchFamily="2" charset="-122"/>
            </a:endParaRPr>
          </a:p>
          <a:p>
            <a:pPr lvl="1" algn="just" eaLnBrk="1" hangingPunct="1">
              <a:buClr>
                <a:schemeClr val="tx2"/>
              </a:buClr>
              <a:buFontTx/>
              <a:buNone/>
            </a:pPr>
            <a:endParaRPr lang="zh-CN" altLang="en-US" b="0" dirty="0">
              <a:latin typeface="宋体" pitchFamily="2" charset="-122"/>
            </a:endParaRPr>
          </a:p>
          <a:p>
            <a:pPr algn="just" eaLnBrk="1" hangingPunct="1">
              <a:buClr>
                <a:schemeClr val="tx2"/>
              </a:buClr>
              <a:buFontTx/>
              <a:buNone/>
            </a:pPr>
            <a:r>
              <a:rPr lang="en-US" altLang="zh-CN" b="0"/>
              <a:t>6.2.2  </a:t>
            </a:r>
            <a:r>
              <a:rPr lang="zh-CN" altLang="en-US" b="0" dirty="0"/>
              <a:t>变量</a:t>
            </a:r>
            <a:r>
              <a:rPr lang="zh-CN" altLang="en-US" b="0" dirty="0">
                <a:latin typeface="宋体" pitchFamily="2" charset="-122"/>
              </a:rPr>
              <a:t> </a:t>
            </a:r>
            <a:endParaRPr lang="zh-CN" altLang="en-US" b="0" dirty="0">
              <a:latin typeface="宋体" pitchFamily="2" charset="-122"/>
            </a:endParaRPr>
          </a:p>
          <a:p>
            <a:pPr lvl="1" algn="just" eaLnBrk="1" hangingPunct="1">
              <a:buClr>
                <a:schemeClr val="tx2"/>
              </a:buClr>
              <a:buFontTx/>
              <a:buNone/>
            </a:pPr>
            <a:r>
              <a:rPr lang="zh-CN" altLang="en-US" b="0" dirty="0">
                <a:latin typeface="宋体" pitchFamily="2" charset="-122"/>
              </a:rPr>
              <a:t>变量的定义和使用</a:t>
            </a:r>
            <a:endParaRPr lang="zh-CN" altLang="en-US" b="0" dirty="0">
              <a:latin typeface="宋体" pitchFamily="2" charset="-122"/>
            </a:endParaRPr>
          </a:p>
        </p:txBody>
      </p:sp>
      <p:sp>
        <p:nvSpPr>
          <p:cNvPr id="22531" name="Rectangle 3"/>
          <p:cNvSpPr>
            <a:spLocks noGrp="1"/>
          </p:cNvSpPr>
          <p:nvPr>
            <p:ph type="title"/>
          </p:nvPr>
        </p:nvSpPr>
        <p:spPr>
          <a:xfrm>
            <a:off x="539750" y="620713"/>
            <a:ext cx="6846888" cy="9556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 </a:t>
            </a:r>
            <a:r>
              <a:rPr lang="zh-CN" altLang="en-US" b="0" dirty="0">
                <a:sym typeface="+mn-ea"/>
              </a:rPr>
              <a:t>6.2  </a:t>
            </a:r>
            <a:r>
              <a:rPr lang="zh-CN" altLang="en-US" b="0" dirty="0">
                <a:sym typeface="+mn-ea"/>
              </a:rPr>
              <a:t>常量和变量</a:t>
            </a:r>
            <a:endParaRPr lang="zh-CN" altLang="en-US" b="0" dirty="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6.2.1  </a:t>
            </a:r>
            <a:r>
              <a:rPr lang="zh-CN" altLang="en-US" b="0" dirty="0">
                <a:sym typeface="+mn-ea"/>
              </a:rPr>
              <a:t>常量</a:t>
            </a:r>
            <a:endParaRPr lang="zh-CN" altLang="en-US" b="0" dirty="0">
              <a:sym typeface="+mn-ea"/>
            </a:endParaRPr>
          </a:p>
        </p:txBody>
      </p:sp>
      <p:sp>
        <p:nvSpPr>
          <p:cNvPr id="322563" name="Rectangle 3"/>
          <p:cNvSpPr>
            <a:spLocks noGrp="1"/>
          </p:cNvSpPr>
          <p:nvPr>
            <p:ph idx="1"/>
          </p:nvPr>
        </p:nvSpPr>
        <p:spPr>
          <a:xfrm>
            <a:off x="468313" y="1628775"/>
            <a:ext cx="8280400" cy="4392613"/>
          </a:xfrm>
        </p:spPr>
        <p:txBody>
          <a:bodyPr vert="horz" wrap="square" lIns="91440" tIns="45720" rIns="91440" bIns="45720" anchor="t" anchorCtr="0"/>
          <a:p>
            <a:pPr eaLnBrk="1" hangingPunct="1">
              <a:buNone/>
            </a:pPr>
            <a:r>
              <a:rPr lang="zh-CN" altLang="en-US" b="0" dirty="0">
                <a:latin typeface="宋体" pitchFamily="2" charset="-122"/>
              </a:rPr>
              <a:t>常量的类型通常由书写格式决定</a:t>
            </a:r>
            <a:endParaRPr lang="zh-CN" altLang="en-US" b="0" dirty="0">
              <a:latin typeface="宋体" pitchFamily="2" charset="-122"/>
            </a:endParaRPr>
          </a:p>
          <a:p>
            <a:pPr lvl="1" eaLnBrk="1" hangingPunct="1">
              <a:buNone/>
            </a:pPr>
            <a:r>
              <a:rPr lang="zh-CN" altLang="en-US" b="0" dirty="0"/>
              <a:t>123 (整型）</a:t>
            </a:r>
            <a:r>
              <a:rPr lang="x-none" altLang="zh-CN" b="0" dirty="0"/>
              <a:t>               123L (long</a:t>
            </a:r>
            <a:r>
              <a:rPr lang="zh-CN" altLang="x-none" b="0" dirty="0"/>
              <a:t>型</a:t>
            </a:r>
            <a:r>
              <a:rPr lang="x-none" altLang="zh-CN" b="0" dirty="0"/>
              <a:t>)</a:t>
            </a:r>
            <a:endParaRPr lang="zh-CN" altLang="en-US" b="0" dirty="0"/>
          </a:p>
          <a:p>
            <a:pPr lvl="1" eaLnBrk="1" hangingPunct="1">
              <a:buNone/>
            </a:pPr>
            <a:r>
              <a:rPr lang="zh-CN" altLang="en-US" b="0" dirty="0"/>
              <a:t>4.56 (实型</a:t>
            </a:r>
            <a:r>
              <a:rPr lang="x-none" altLang="zh-CN" b="0" dirty="0"/>
              <a:t>double</a:t>
            </a:r>
            <a:r>
              <a:rPr lang="zh-CN" altLang="en-US" b="0" dirty="0"/>
              <a:t>)</a:t>
            </a:r>
            <a:r>
              <a:rPr lang="x-none" altLang="zh-CN" b="0" dirty="0"/>
              <a:t>     4.56f  (</a:t>
            </a:r>
            <a:r>
              <a:rPr lang="zh-CN" altLang="x-none" b="0" dirty="0"/>
              <a:t>实型</a:t>
            </a:r>
            <a:r>
              <a:rPr lang="en-US" altLang="zh-CN" b="0" dirty="0"/>
              <a:t>float</a:t>
            </a:r>
            <a:r>
              <a:rPr lang="x-none" altLang="en-US" b="0" dirty="0"/>
              <a:t>)</a:t>
            </a:r>
            <a:endParaRPr lang="zh-CN" altLang="en-US" b="0" dirty="0"/>
          </a:p>
          <a:p>
            <a:pPr lvl="1" eaLnBrk="1" hangingPunct="1">
              <a:buNone/>
            </a:pPr>
            <a:r>
              <a:rPr lang="zh-CN" altLang="en-US" b="0" dirty="0"/>
              <a:t> '</a:t>
            </a:r>
            <a:r>
              <a:rPr lang="en-US" altLang="zh-CN" b="0"/>
              <a:t>A' (</a:t>
            </a:r>
            <a:r>
              <a:rPr lang="zh-CN" altLang="en-US" b="0" dirty="0"/>
              <a:t>字符型</a:t>
            </a:r>
            <a:r>
              <a:rPr lang="zh-CN" altLang="zh-CN" b="0" dirty="0"/>
              <a:t>)</a:t>
            </a:r>
            <a:endParaRPr lang="zh-CN" altLang="en-US" b="0" dirty="0"/>
          </a:p>
          <a:p>
            <a:pPr eaLnBrk="1" hangingPunct="1">
              <a:lnSpc>
                <a:spcPct val="130000"/>
              </a:lnSpc>
              <a:buNone/>
            </a:pPr>
            <a:r>
              <a:rPr lang="zh-CN" altLang="en-US" b="0" dirty="0">
                <a:solidFill>
                  <a:schemeClr val="bg2"/>
                </a:solidFill>
                <a:latin typeface="宋体" pitchFamily="2" charset="-122"/>
              </a:rPr>
              <a:t>符号常量</a:t>
            </a:r>
            <a:r>
              <a:rPr lang="zh-CN" altLang="en-US" b="0" dirty="0">
                <a:latin typeface="宋体" pitchFamily="2" charset="-122"/>
              </a:rPr>
              <a:t>：用一个标识符代表一个常量</a:t>
            </a:r>
            <a:endParaRPr lang="zh-CN" altLang="en-US" b="0" dirty="0">
              <a:latin typeface="宋体" pitchFamily="2" charset="-122"/>
            </a:endParaRPr>
          </a:p>
          <a:p>
            <a:pPr lvl="1" eaLnBrk="1" hangingPunct="1">
              <a:lnSpc>
                <a:spcPct val="130000"/>
              </a:lnSpc>
              <a:buNone/>
            </a:pPr>
            <a:r>
              <a:rPr lang="zh-CN" altLang="en-US" b="0" dirty="0">
                <a:sym typeface="Symbol" panose="05050102010706020507" pitchFamily="18" charset="2"/>
              </a:rPr>
              <a:t>：</a:t>
            </a:r>
            <a:r>
              <a:rPr lang="en-US" altLang="zh-CN" b="0">
                <a:sym typeface="Symbol" panose="05050102010706020507" pitchFamily="18" charset="2"/>
              </a:rPr>
              <a:t>PI</a:t>
            </a:r>
            <a:endParaRPr lang="en-US" altLang="zh-CN" b="0">
              <a:sym typeface="Symbol" panose="05050102010706020507" pitchFamily="18" charset="2"/>
            </a:endParaRPr>
          </a:p>
          <a:p>
            <a:pPr lvl="1" eaLnBrk="1" hangingPunct="1">
              <a:lnSpc>
                <a:spcPct val="130000"/>
              </a:lnSpc>
              <a:buNone/>
            </a:pPr>
            <a:r>
              <a:rPr lang="en-US" altLang="zh-CN" b="0">
                <a:sym typeface="Symbol" panose="05050102010706020507" pitchFamily="18" charset="2"/>
              </a:rPr>
              <a:t>：EPS</a:t>
            </a:r>
            <a:endParaRPr lang="zh-CN" altLang="zh-CN"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2563">
                                            <p:txEl>
                                              <p:charRg st="0" end="15"/>
                                            </p:txEl>
                                          </p:spTgt>
                                        </p:tgtEl>
                                        <p:attrNameLst>
                                          <p:attrName>style.visibility</p:attrName>
                                        </p:attrNameLst>
                                      </p:cBhvr>
                                      <p:to>
                                        <p:strVal val="visible"/>
                                      </p:to>
                                    </p:set>
                                    <p:anim calcmode="lin" valueType="num">
                                      <p:cBhvr additive="base">
                                        <p:cTn id="7" dur="500" fill="hold"/>
                                        <p:tgtEl>
                                          <p:spTgt spid="322563">
                                            <p:txEl>
                                              <p:charRg st="0" end="1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2563">
                                            <p:txEl>
                                              <p:charRg st="0" end="15"/>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22563">
                                            <p:txEl>
                                              <p:charRg st="15" end="24"/>
                                            </p:txEl>
                                          </p:spTgt>
                                        </p:tgtEl>
                                        <p:attrNameLst>
                                          <p:attrName>style.visibility</p:attrName>
                                        </p:attrNameLst>
                                      </p:cBhvr>
                                      <p:to>
                                        <p:strVal val="visible"/>
                                      </p:to>
                                    </p:set>
                                    <p:anim calcmode="lin" valueType="num">
                                      <p:cBhvr additive="base">
                                        <p:cTn id="11" dur="500" fill="hold"/>
                                        <p:tgtEl>
                                          <p:spTgt spid="322563">
                                            <p:txEl>
                                              <p:charRg st="15" end="24"/>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22563">
                                            <p:txEl>
                                              <p:charRg st="15" end="24"/>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22563">
                                            <p:txEl>
                                              <p:charRg st="24" end="34"/>
                                            </p:txEl>
                                          </p:spTgt>
                                        </p:tgtEl>
                                        <p:attrNameLst>
                                          <p:attrName>style.visibility</p:attrName>
                                        </p:attrNameLst>
                                      </p:cBhvr>
                                      <p:to>
                                        <p:strVal val="visible"/>
                                      </p:to>
                                    </p:set>
                                    <p:anim calcmode="lin" valueType="num">
                                      <p:cBhvr additive="base">
                                        <p:cTn id="15" dur="500" fill="hold"/>
                                        <p:tgtEl>
                                          <p:spTgt spid="322563">
                                            <p:txEl>
                                              <p:charRg st="24" end="34"/>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22563">
                                            <p:txEl>
                                              <p:charRg st="24" end="34"/>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22563">
                                            <p:txEl>
                                              <p:charRg st="34" end="45"/>
                                            </p:txEl>
                                          </p:spTgt>
                                        </p:tgtEl>
                                        <p:attrNameLst>
                                          <p:attrName>style.visibility</p:attrName>
                                        </p:attrNameLst>
                                      </p:cBhvr>
                                      <p:to>
                                        <p:strVal val="visible"/>
                                      </p:to>
                                    </p:set>
                                    <p:anim calcmode="lin" valueType="num">
                                      <p:cBhvr additive="base">
                                        <p:cTn id="19" dur="500" fill="hold"/>
                                        <p:tgtEl>
                                          <p:spTgt spid="322563">
                                            <p:txEl>
                                              <p:charRg st="34" end="4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2563">
                                            <p:txEl>
                                              <p:charRg st="34" end="4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2563">
                                            <p:txEl>
                                              <p:charRg st="45" end="63"/>
                                            </p:txEl>
                                          </p:spTgt>
                                        </p:tgtEl>
                                        <p:attrNameLst>
                                          <p:attrName>style.visibility</p:attrName>
                                        </p:attrNameLst>
                                      </p:cBhvr>
                                      <p:to>
                                        <p:strVal val="visible"/>
                                      </p:to>
                                    </p:set>
                                    <p:anim calcmode="lin" valueType="num">
                                      <p:cBhvr additive="base">
                                        <p:cTn id="25" dur="500" fill="hold"/>
                                        <p:tgtEl>
                                          <p:spTgt spid="322563">
                                            <p:txEl>
                                              <p:charRg st="45" end="6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22563">
                                            <p:txEl>
                                              <p:charRg st="45" end="63"/>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22563">
                                            <p:txEl>
                                              <p:charRg st="63" end="68"/>
                                            </p:txEl>
                                          </p:spTgt>
                                        </p:tgtEl>
                                        <p:attrNameLst>
                                          <p:attrName>style.visibility</p:attrName>
                                        </p:attrNameLst>
                                      </p:cBhvr>
                                      <p:to>
                                        <p:strVal val="visible"/>
                                      </p:to>
                                    </p:set>
                                    <p:anim calcmode="lin" valueType="num">
                                      <p:cBhvr additive="base">
                                        <p:cTn id="29" dur="500" fill="hold"/>
                                        <p:tgtEl>
                                          <p:spTgt spid="322563">
                                            <p:txEl>
                                              <p:charRg st="63" end="68"/>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22563">
                                            <p:txEl>
                                              <p:charRg st="63" end="68"/>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22563">
                                            <p:txEl>
                                              <p:charRg st="68" end="74"/>
                                            </p:txEl>
                                          </p:spTgt>
                                        </p:tgtEl>
                                        <p:attrNameLst>
                                          <p:attrName>style.visibility</p:attrName>
                                        </p:attrNameLst>
                                      </p:cBhvr>
                                      <p:to>
                                        <p:strVal val="visible"/>
                                      </p:to>
                                    </p:set>
                                    <p:anim calcmode="lin" valueType="num">
                                      <p:cBhvr additive="base">
                                        <p:cTn id="33" dur="500" fill="hold"/>
                                        <p:tgtEl>
                                          <p:spTgt spid="322563">
                                            <p:txEl>
                                              <p:charRg st="68" end="74"/>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22563">
                                            <p:txEl>
                                              <p:charRg st="68" end="7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457200" y="170180"/>
            <a:ext cx="7643813" cy="739775"/>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例</a:t>
            </a:r>
            <a:r>
              <a:rPr lang="zh-CN" altLang="en-US" b="0" dirty="0">
                <a:sym typeface="+mn-ea"/>
              </a:rPr>
              <a:t>5</a:t>
            </a:r>
            <a:r>
              <a:rPr lang="zh-CN" altLang="en-US" b="0" dirty="0">
                <a:sym typeface="+mn-ea"/>
              </a:rPr>
              <a:t>-</a:t>
            </a:r>
            <a:r>
              <a:rPr lang="zh-CN" altLang="en-US" b="0" dirty="0">
                <a:sym typeface="+mn-ea"/>
              </a:rPr>
              <a:t>1  求球的表面积和体积</a:t>
            </a:r>
            <a:endParaRPr lang="zh-CN" altLang="en-US" b="0" dirty="0">
              <a:sym typeface="+mn-ea"/>
            </a:endParaRPr>
          </a:p>
        </p:txBody>
      </p:sp>
      <p:sp>
        <p:nvSpPr>
          <p:cNvPr id="25603" name="Rectangle 3"/>
          <p:cNvSpPr>
            <a:spLocks noGrp="1"/>
          </p:cNvSpPr>
          <p:nvPr>
            <p:ph idx="1"/>
          </p:nvPr>
        </p:nvSpPr>
        <p:spPr>
          <a:xfrm>
            <a:off x="381000" y="903605"/>
            <a:ext cx="7821295" cy="5777230"/>
          </a:xfrm>
          <a:noFill/>
          <a:ln w="28575" cmpd="sng">
            <a:solidFill>
              <a:schemeClr val="accent1">
                <a:shade val="50000"/>
              </a:schemeClr>
            </a:solidFill>
            <a:prstDash val="solid"/>
          </a:ln>
        </p:spPr>
        <p:txBody>
          <a:bodyPr vert="horz" wrap="square" lIns="91440" tIns="45720" rIns="91440" bIns="45720" rtlCol="0" anchor="t" anchorCtr="0">
            <a:spAutoFit/>
          </a:bodyPr>
          <a:p>
            <a:pPr marL="0" lvl="0" algn="l" defTabSz="914400">
              <a:buNone/>
            </a:pPr>
            <a:r>
              <a:rPr sz="2400" b="0" kern="1200">
                <a:latin typeface="+mn-ea"/>
                <a:ea typeface="宋体" pitchFamily="2" charset="-122"/>
                <a:cs typeface="+mn-ea"/>
                <a:sym typeface="+mn-ea"/>
              </a:rPr>
              <a:t># </a:t>
            </a:r>
            <a:r>
              <a:rPr sz="2400" b="0" kern="1200">
                <a:latin typeface="+mn-ea"/>
                <a:ea typeface="宋体" pitchFamily="2" charset="-122"/>
                <a:cs typeface="+mn-ea"/>
                <a:sym typeface="+mn-ea"/>
              </a:rPr>
              <a:t>include &lt;</a:t>
            </a:r>
            <a:r>
              <a:rPr sz="2400" b="0" kern="1200">
                <a:latin typeface="+mn-ea"/>
                <a:ea typeface="宋体" pitchFamily="2" charset="-122"/>
                <a:cs typeface="+mn-ea"/>
                <a:sym typeface="+mn-ea"/>
              </a:rPr>
              <a:t>stdio.h</a:t>
            </a:r>
            <a:r>
              <a:rPr sz="2400" b="0" kern="1200">
                <a:latin typeface="+mn-ea"/>
                <a:ea typeface="宋体" pitchFamily="2" charset="-122"/>
                <a:cs typeface="+mn-ea"/>
                <a:sym typeface="+mn-ea"/>
              </a:rPr>
              <a:t>&gt;</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define  </a:t>
            </a:r>
            <a:r>
              <a:rPr sz="2400" b="0" kern="1200">
                <a:latin typeface="+mn-ea"/>
                <a:ea typeface="宋体" pitchFamily="2" charset="-122"/>
                <a:cs typeface="+mn-ea"/>
                <a:sym typeface="+mn-ea"/>
              </a:rPr>
              <a:t>PI</a:t>
            </a:r>
            <a:r>
              <a:rPr sz="2400" b="0" kern="1200">
                <a:latin typeface="+mn-ea"/>
                <a:ea typeface="宋体" pitchFamily="2" charset="-122"/>
                <a:cs typeface="+mn-ea"/>
                <a:sym typeface="+mn-ea"/>
              </a:rPr>
              <a:t>  </a:t>
            </a:r>
            <a:r>
              <a:rPr sz="2400" b="0" kern="1200">
                <a:latin typeface="+mn-ea"/>
                <a:ea typeface="宋体" pitchFamily="2" charset="-122"/>
                <a:cs typeface="+mn-ea"/>
                <a:sym typeface="+mn-ea"/>
              </a:rPr>
              <a:t>3.14</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int</a:t>
            </a:r>
            <a:r>
              <a:rPr sz="2400" b="0" kern="1200">
                <a:latin typeface="+mn-ea"/>
                <a:ea typeface="宋体" pitchFamily="2" charset="-122"/>
                <a:cs typeface="+mn-ea"/>
                <a:sym typeface="+mn-ea"/>
              </a:rPr>
              <a:t> </a:t>
            </a:r>
            <a:r>
              <a:rPr sz="2400" b="0" kern="1200">
                <a:latin typeface="+mn-ea"/>
                <a:ea typeface="宋体" pitchFamily="2" charset="-122"/>
                <a:cs typeface="+mn-ea"/>
                <a:sym typeface="+mn-ea"/>
              </a:rPr>
              <a:t>main(</a:t>
            </a:r>
            <a:r>
              <a:rPr sz="2400" b="0" kern="1200">
                <a:latin typeface="+mn-ea"/>
                <a:ea typeface="宋体" pitchFamily="2" charset="-122"/>
                <a:cs typeface="+mn-ea"/>
                <a:sym typeface="+mn-ea"/>
              </a:rPr>
              <a:t>v</a:t>
            </a:r>
            <a:r>
              <a:rPr sz="2400" b="0" kern="1200">
                <a:latin typeface="+mn-ea"/>
                <a:ea typeface="宋体" pitchFamily="2" charset="-122"/>
                <a:cs typeface="+mn-ea"/>
                <a:sym typeface="+mn-ea"/>
              </a:rPr>
              <a:t>oid</a:t>
            </a:r>
            <a:r>
              <a:rPr sz="2400" b="0" kern="1200">
                <a:latin typeface="+mn-ea"/>
                <a:ea typeface="宋体" pitchFamily="2" charset="-122"/>
                <a:cs typeface="+mn-ea"/>
                <a:sym typeface="+mn-ea"/>
              </a:rPr>
              <a:t>)</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a:t>
            </a:r>
            <a:r>
              <a:rPr sz="2400" b="0" kern="1200">
                <a:latin typeface="+mn-ea"/>
                <a:ea typeface="宋体" pitchFamily="2" charset="-122"/>
                <a:cs typeface="+mn-ea"/>
                <a:sym typeface="+mn-ea"/>
              </a:rPr>
              <a:t>double</a:t>
            </a:r>
            <a:r>
              <a:rPr sz="2400" b="0" kern="1200">
                <a:latin typeface="+mn-ea"/>
                <a:ea typeface="宋体" pitchFamily="2" charset="-122"/>
                <a:cs typeface="+mn-ea"/>
                <a:sym typeface="+mn-ea"/>
              </a:rPr>
              <a:t> r,</a:t>
            </a:r>
            <a:r>
              <a:rPr sz="2400" b="0" kern="1200">
                <a:latin typeface="+mn-ea"/>
                <a:ea typeface="宋体" pitchFamily="2" charset="-122"/>
                <a:cs typeface="+mn-ea"/>
                <a:sym typeface="+mn-ea"/>
              </a:rPr>
              <a:t> </a:t>
            </a:r>
            <a:r>
              <a:rPr sz="2400" b="0" kern="1200">
                <a:latin typeface="+mn-ea"/>
                <a:ea typeface="宋体" pitchFamily="2" charset="-122"/>
                <a:cs typeface="+mn-ea"/>
                <a:sym typeface="+mn-ea"/>
              </a:rPr>
              <a:t>s</a:t>
            </a:r>
            <a:r>
              <a:rPr sz="2400" b="0" kern="1200">
                <a:latin typeface="+mn-ea"/>
                <a:ea typeface="宋体" pitchFamily="2" charset="-122"/>
                <a:cs typeface="+mn-ea"/>
                <a:sym typeface="+mn-ea"/>
              </a:rPr>
              <a:t>, v</a:t>
            </a:r>
            <a:r>
              <a:rPr sz="2400" b="0" kern="1200">
                <a:latin typeface="+mn-ea"/>
                <a:ea typeface="宋体" pitchFamily="2" charset="-122"/>
                <a:cs typeface="+mn-ea"/>
                <a:sym typeface="+mn-ea"/>
              </a:rPr>
              <a:t>;</a:t>
            </a:r>
            <a:endParaRPr sz="2400" b="0" kern="1200">
              <a:latin typeface="+mn-ea"/>
              <a:ea typeface="宋体" pitchFamily="2" charset="-122"/>
              <a:cs typeface="+mn-ea"/>
              <a:sym typeface="+mn-ea"/>
            </a:endParaRPr>
          </a:p>
          <a:p>
            <a:pPr marL="0" lvl="0" algn="l" defTabSz="914400">
              <a:buNone/>
            </a:pP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a:t>
            </a:r>
            <a:r>
              <a:rPr sz="2400" b="0" kern="1200">
                <a:latin typeface="+mn-ea"/>
                <a:ea typeface="宋体" pitchFamily="2" charset="-122"/>
                <a:cs typeface="+mn-ea"/>
                <a:sym typeface="+mn-ea"/>
              </a:rPr>
              <a:t>printf(“Enter</a:t>
            </a:r>
            <a:r>
              <a:rPr sz="2400" b="0" kern="1200">
                <a:latin typeface="+mn-ea"/>
                <a:ea typeface="宋体" pitchFamily="2" charset="-122"/>
                <a:cs typeface="+mn-ea"/>
                <a:sym typeface="+mn-ea"/>
              </a:rPr>
              <a:t> r: "</a:t>
            </a:r>
            <a:r>
              <a:rPr sz="2400" b="0" kern="1200">
                <a:latin typeface="+mn-ea"/>
                <a:ea typeface="宋体" pitchFamily="2" charset="-122"/>
                <a:cs typeface="+mn-ea"/>
                <a:sym typeface="+mn-ea"/>
              </a:rPr>
              <a:t>); </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a:t>
            </a:r>
            <a:r>
              <a:rPr sz="2400" b="0" kern="1200">
                <a:latin typeface="+mn-ea"/>
                <a:ea typeface="宋体" pitchFamily="2" charset="-122"/>
                <a:cs typeface="+mn-ea"/>
                <a:sym typeface="+mn-ea"/>
              </a:rPr>
              <a:t>scanf(</a:t>
            </a:r>
            <a:r>
              <a:rPr sz="2400" b="0" kern="1200">
                <a:latin typeface="+mn-ea"/>
                <a:ea typeface="宋体" pitchFamily="2" charset="-122"/>
                <a:cs typeface="+mn-ea"/>
                <a:sym typeface="+mn-ea"/>
              </a:rPr>
              <a:t>"</a:t>
            </a:r>
            <a:r>
              <a:rPr sz="2400" b="0" kern="1200">
                <a:latin typeface="+mn-ea"/>
                <a:ea typeface="宋体" pitchFamily="2" charset="-122"/>
                <a:cs typeface="+mn-ea"/>
                <a:sym typeface="+mn-ea"/>
              </a:rPr>
              <a:t>%</a:t>
            </a:r>
            <a:r>
              <a:rPr sz="2400" b="0" kern="1200">
                <a:latin typeface="+mn-ea"/>
                <a:ea typeface="宋体" pitchFamily="2" charset="-122"/>
                <a:cs typeface="+mn-ea"/>
                <a:sym typeface="+mn-ea"/>
              </a:rPr>
              <a:t>l</a:t>
            </a:r>
            <a:r>
              <a:rPr sz="2400" b="0" kern="1200">
                <a:latin typeface="+mn-ea"/>
                <a:ea typeface="宋体" pitchFamily="2" charset="-122"/>
                <a:cs typeface="+mn-ea"/>
                <a:sym typeface="+mn-ea"/>
              </a:rPr>
              <a:t>f</a:t>
            </a:r>
            <a:r>
              <a:rPr sz="2400" b="0" kern="1200">
                <a:latin typeface="+mn-ea"/>
                <a:ea typeface="宋体" pitchFamily="2" charset="-122"/>
                <a:cs typeface="+mn-ea"/>
                <a:sym typeface="+mn-ea"/>
              </a:rPr>
              <a:t>"</a:t>
            </a:r>
            <a:r>
              <a:rPr sz="2400" b="0" kern="1200">
                <a:latin typeface="+mn-ea"/>
                <a:ea typeface="宋体" pitchFamily="2" charset="-122"/>
                <a:cs typeface="+mn-ea"/>
                <a:sym typeface="+mn-ea"/>
              </a:rPr>
              <a:t>,</a:t>
            </a:r>
            <a:r>
              <a:rPr sz="2400" b="0" kern="1200">
                <a:latin typeface="+mn-ea"/>
                <a:ea typeface="宋体" pitchFamily="2" charset="-122"/>
                <a:cs typeface="+mn-ea"/>
                <a:sym typeface="+mn-ea"/>
              </a:rPr>
              <a:t> </a:t>
            </a:r>
            <a:r>
              <a:rPr sz="2400" b="0" kern="1200">
                <a:latin typeface="+mn-ea"/>
                <a:ea typeface="宋体" pitchFamily="2" charset="-122"/>
                <a:cs typeface="+mn-ea"/>
                <a:sym typeface="+mn-ea"/>
              </a:rPr>
              <a:t>&amp;r); </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a:t>
            </a:r>
            <a:r>
              <a:rPr sz="2400" b="0" kern="1200">
                <a:latin typeface="+mn-ea"/>
                <a:ea typeface="宋体" pitchFamily="2" charset="-122"/>
                <a:cs typeface="+mn-ea"/>
                <a:sym typeface="+mn-ea"/>
              </a:rPr>
              <a:t>  </a:t>
            </a:r>
            <a:r>
              <a:rPr sz="2400" b="0" kern="1200">
                <a:latin typeface="+mn-ea"/>
                <a:ea typeface="宋体" pitchFamily="2" charset="-122"/>
                <a:cs typeface="+mn-ea"/>
                <a:sym typeface="+mn-ea"/>
              </a:rPr>
              <a:t>s = 4.0 </a:t>
            </a:r>
            <a:r>
              <a:rPr sz="2400" b="0" kern="1200">
                <a:latin typeface="+mn-ea"/>
                <a:ea typeface="宋体" pitchFamily="2" charset="-122"/>
                <a:cs typeface="+mn-ea"/>
                <a:sym typeface="+mn-ea"/>
              </a:rPr>
              <a:t>*</a:t>
            </a:r>
            <a:r>
              <a:rPr sz="2400" b="0" kern="1200">
                <a:latin typeface="+mn-ea"/>
                <a:ea typeface="宋体" pitchFamily="2" charset="-122"/>
                <a:cs typeface="+mn-ea"/>
                <a:sym typeface="+mn-ea"/>
              </a:rPr>
              <a:t> </a:t>
            </a:r>
            <a:r>
              <a:rPr sz="2400" b="0" kern="1200">
                <a:latin typeface="+mn-ea"/>
                <a:ea typeface="宋体" pitchFamily="2" charset="-122"/>
                <a:cs typeface="+mn-ea"/>
                <a:sym typeface="+mn-ea"/>
              </a:rPr>
              <a:t>P</a:t>
            </a:r>
            <a:r>
              <a:rPr sz="2400" b="0" kern="1200">
                <a:latin typeface="+mn-ea"/>
                <a:ea typeface="宋体" pitchFamily="2" charset="-122"/>
                <a:cs typeface="+mn-ea"/>
                <a:sym typeface="+mn-ea"/>
              </a:rPr>
              <a:t>I </a:t>
            </a:r>
            <a:r>
              <a:rPr sz="2400" b="0" kern="1200">
                <a:latin typeface="+mn-ea"/>
                <a:ea typeface="宋体" pitchFamily="2" charset="-122"/>
                <a:cs typeface="+mn-ea"/>
                <a:sym typeface="+mn-ea"/>
              </a:rPr>
              <a:t>*</a:t>
            </a:r>
            <a:r>
              <a:rPr sz="2400" b="0" kern="1200">
                <a:latin typeface="+mn-ea"/>
                <a:ea typeface="宋体" pitchFamily="2" charset="-122"/>
                <a:cs typeface="+mn-ea"/>
                <a:sym typeface="+mn-ea"/>
              </a:rPr>
              <a:t> </a:t>
            </a:r>
            <a:r>
              <a:rPr sz="2400" b="0" kern="1200">
                <a:latin typeface="+mn-ea"/>
                <a:ea typeface="宋体" pitchFamily="2" charset="-122"/>
                <a:cs typeface="+mn-ea"/>
                <a:sym typeface="+mn-ea"/>
              </a:rPr>
              <a:t>r</a:t>
            </a:r>
            <a:r>
              <a:rPr sz="2400" b="0" kern="1200">
                <a:latin typeface="+mn-ea"/>
                <a:ea typeface="宋体" pitchFamily="2" charset="-122"/>
                <a:cs typeface="+mn-ea"/>
                <a:sym typeface="+mn-ea"/>
              </a:rPr>
              <a:t> </a:t>
            </a:r>
            <a:r>
              <a:rPr sz="2400" b="0" kern="1200">
                <a:latin typeface="+mn-ea"/>
                <a:ea typeface="宋体" pitchFamily="2" charset="-122"/>
                <a:cs typeface="+mn-ea"/>
                <a:sym typeface="+mn-ea"/>
              </a:rPr>
              <a:t>* r</a:t>
            </a:r>
            <a:r>
              <a:rPr sz="2400" b="0" kern="1200">
                <a:latin typeface="+mn-ea"/>
                <a:ea typeface="宋体" pitchFamily="2" charset="-122"/>
                <a:cs typeface="+mn-ea"/>
                <a:sym typeface="+mn-ea"/>
              </a:rPr>
              <a:t> ;   </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a:t>
            </a:r>
            <a:r>
              <a:rPr sz="2400" b="0" kern="1200">
                <a:latin typeface="+mn-ea"/>
                <a:ea typeface="宋体" pitchFamily="2" charset="-122"/>
                <a:cs typeface="+mn-ea"/>
                <a:sym typeface="+mn-ea"/>
              </a:rPr>
              <a:t>  </a:t>
            </a:r>
            <a:r>
              <a:rPr sz="2400" b="0" kern="1200">
                <a:latin typeface="+mn-ea"/>
                <a:ea typeface="宋体" pitchFamily="2" charset="-122"/>
                <a:cs typeface="+mn-ea"/>
                <a:sym typeface="+mn-ea"/>
              </a:rPr>
              <a:t>v </a:t>
            </a:r>
            <a:r>
              <a:rPr sz="2400" b="0" kern="1200">
                <a:latin typeface="+mn-ea"/>
                <a:ea typeface="宋体" pitchFamily="2" charset="-122"/>
                <a:cs typeface="+mn-ea"/>
                <a:sym typeface="+mn-ea"/>
              </a:rPr>
              <a:t>=</a:t>
            </a:r>
            <a:r>
              <a:rPr sz="2400" b="0" kern="1200">
                <a:latin typeface="+mn-ea"/>
                <a:ea typeface="宋体" pitchFamily="2" charset="-122"/>
                <a:cs typeface="+mn-ea"/>
                <a:sym typeface="+mn-ea"/>
              </a:rPr>
              <a:t> 4.0 / 3.0 * </a:t>
            </a:r>
            <a:r>
              <a:rPr sz="2400" b="0" kern="1200">
                <a:latin typeface="+mn-ea"/>
                <a:ea typeface="宋体" pitchFamily="2" charset="-122"/>
                <a:cs typeface="+mn-ea"/>
                <a:sym typeface="+mn-ea"/>
              </a:rPr>
              <a:t>P</a:t>
            </a:r>
            <a:r>
              <a:rPr sz="2400" b="0" kern="1200">
                <a:latin typeface="+mn-ea"/>
                <a:ea typeface="宋体" pitchFamily="2" charset="-122"/>
                <a:cs typeface="+mn-ea"/>
                <a:sym typeface="+mn-ea"/>
              </a:rPr>
              <a:t>I </a:t>
            </a:r>
            <a:r>
              <a:rPr sz="2400" b="0" kern="1200">
                <a:latin typeface="+mn-ea"/>
                <a:ea typeface="宋体" pitchFamily="2" charset="-122"/>
                <a:cs typeface="+mn-ea"/>
                <a:sym typeface="+mn-ea"/>
              </a:rPr>
              <a:t>*</a:t>
            </a:r>
            <a:r>
              <a:rPr sz="2400" b="0" kern="1200">
                <a:latin typeface="+mn-ea"/>
                <a:ea typeface="宋体" pitchFamily="2" charset="-122"/>
                <a:cs typeface="+mn-ea"/>
                <a:sym typeface="+mn-ea"/>
              </a:rPr>
              <a:t> </a:t>
            </a:r>
            <a:r>
              <a:rPr sz="2400" b="0" kern="1200">
                <a:latin typeface="+mn-ea"/>
                <a:ea typeface="宋体" pitchFamily="2" charset="-122"/>
                <a:cs typeface="+mn-ea"/>
                <a:sym typeface="+mn-ea"/>
              </a:rPr>
              <a:t>r</a:t>
            </a:r>
            <a:r>
              <a:rPr sz="2400" b="0" kern="1200">
                <a:latin typeface="+mn-ea"/>
                <a:ea typeface="宋体" pitchFamily="2" charset="-122"/>
                <a:cs typeface="+mn-ea"/>
                <a:sym typeface="+mn-ea"/>
              </a:rPr>
              <a:t> </a:t>
            </a:r>
            <a:r>
              <a:rPr sz="2400" b="0" kern="1200">
                <a:latin typeface="+mn-ea"/>
                <a:ea typeface="宋体" pitchFamily="2" charset="-122"/>
                <a:cs typeface="+mn-ea"/>
                <a:sym typeface="+mn-ea"/>
              </a:rPr>
              <a:t>*</a:t>
            </a:r>
            <a:r>
              <a:rPr sz="2400" b="0" kern="1200">
                <a:latin typeface="+mn-ea"/>
                <a:ea typeface="宋体" pitchFamily="2" charset="-122"/>
                <a:cs typeface="+mn-ea"/>
                <a:sym typeface="+mn-ea"/>
              </a:rPr>
              <a:t> </a:t>
            </a:r>
            <a:r>
              <a:rPr sz="2400" b="0" kern="1200">
                <a:latin typeface="+mn-ea"/>
                <a:ea typeface="宋体" pitchFamily="2" charset="-122"/>
                <a:cs typeface="+mn-ea"/>
                <a:sym typeface="+mn-ea"/>
              </a:rPr>
              <a:t>r</a:t>
            </a:r>
            <a:r>
              <a:rPr sz="2400" b="0" kern="1200">
                <a:latin typeface="+mn-ea"/>
                <a:ea typeface="宋体" pitchFamily="2" charset="-122"/>
                <a:cs typeface="+mn-ea"/>
                <a:sym typeface="+mn-ea"/>
              </a:rPr>
              <a:t> </a:t>
            </a:r>
            <a:r>
              <a:rPr sz="2400" b="0" kern="1200">
                <a:latin typeface="+mn-ea"/>
                <a:ea typeface="宋体" pitchFamily="2" charset="-122"/>
                <a:cs typeface="+mn-ea"/>
                <a:sym typeface="+mn-ea"/>
              </a:rPr>
              <a:t>* r</a:t>
            </a:r>
            <a:r>
              <a:rPr sz="2400" b="0" kern="1200">
                <a:latin typeface="+mn-ea"/>
                <a:ea typeface="宋体" pitchFamily="2" charset="-122"/>
                <a:cs typeface="+mn-ea"/>
                <a:sym typeface="+mn-ea"/>
              </a:rPr>
              <a:t> ;   </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a:t>
            </a:r>
            <a:r>
              <a:rPr sz="2400" b="0" kern="1200">
                <a:latin typeface="+mn-ea"/>
                <a:ea typeface="宋体" pitchFamily="2" charset="-122"/>
                <a:cs typeface="+mn-ea"/>
                <a:sym typeface="+mn-ea"/>
              </a:rPr>
              <a:t>printf("s</a:t>
            </a:r>
            <a:r>
              <a:rPr sz="2400" b="0" kern="1200">
                <a:latin typeface="+mn-ea"/>
                <a:ea typeface="宋体" pitchFamily="2" charset="-122"/>
                <a:cs typeface="+mn-ea"/>
                <a:sym typeface="+mn-ea"/>
              </a:rPr>
              <a:t>=%f, v=%</a:t>
            </a:r>
            <a:r>
              <a:rPr sz="2400" b="0" kern="1200">
                <a:latin typeface="+mn-ea"/>
                <a:ea typeface="宋体" pitchFamily="2" charset="-122"/>
                <a:cs typeface="+mn-ea"/>
                <a:sym typeface="+mn-ea"/>
              </a:rPr>
              <a:t>f\n</a:t>
            </a:r>
            <a:r>
              <a:rPr sz="2400" b="0" kern="1200">
                <a:latin typeface="+mn-ea"/>
                <a:ea typeface="宋体" pitchFamily="2" charset="-122"/>
                <a:cs typeface="+mn-ea"/>
                <a:sym typeface="+mn-ea"/>
              </a:rPr>
              <a:t>", s, v);</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    return 0;</a:t>
            </a:r>
            <a:endParaRPr sz="2400" b="0" kern="1200">
              <a:latin typeface="+mn-ea"/>
              <a:ea typeface="宋体" pitchFamily="2" charset="-122"/>
              <a:cs typeface="+mn-ea"/>
              <a:sym typeface="+mn-ea"/>
            </a:endParaRPr>
          </a:p>
          <a:p>
            <a:pPr marL="0" lvl="0" algn="l" defTabSz="914400">
              <a:buNone/>
            </a:pPr>
            <a:r>
              <a:rPr sz="2400" b="0" kern="1200">
                <a:latin typeface="+mn-ea"/>
                <a:ea typeface="宋体" pitchFamily="2" charset="-122"/>
                <a:cs typeface="+mn-ea"/>
                <a:sym typeface="+mn-ea"/>
              </a:rPr>
              <a:t>}</a:t>
            </a:r>
            <a:endParaRPr sz="2400" b="0" kern="1200">
              <a:latin typeface="+mn-ea"/>
              <a:ea typeface="宋体" pitchFamily="2" charset="-122"/>
              <a:cs typeface="+mn-ea"/>
              <a:sym typeface="+mn-ea"/>
            </a:endParaRPr>
          </a:p>
        </p:txBody>
      </p:sp>
      <p:sp>
        <p:nvSpPr>
          <p:cNvPr id="325637" name="Text Box 5"/>
          <p:cNvSpPr txBox="1"/>
          <p:nvPr/>
        </p:nvSpPr>
        <p:spPr>
          <a:xfrm>
            <a:off x="6012180" y="1271270"/>
            <a:ext cx="1823720" cy="521970"/>
          </a:xfrm>
          <a:prstGeom prst="rect">
            <a:avLst/>
          </a:prstGeom>
          <a:noFill/>
          <a:ln w="12700">
            <a:noFill/>
          </a:ln>
        </p:spPr>
        <p:txBody>
          <a:bodyPr wrap="square" anchor="t" anchorCtr="0">
            <a:spAutoFit/>
          </a:bodyPr>
          <a:p>
            <a:pPr>
              <a:spcBef>
                <a:spcPct val="50000"/>
              </a:spcBef>
            </a:pPr>
            <a:r>
              <a:rPr lang="zh-CN" altLang="en-US" sz="2800" b="1" dirty="0">
                <a:solidFill>
                  <a:schemeClr val="bg2"/>
                </a:solidFill>
                <a:latin typeface="仿宋_GB2312" pitchFamily="49" charset="-122"/>
                <a:ea typeface="仿宋_GB2312" pitchFamily="49" charset="-122"/>
              </a:rPr>
              <a:t>加分号吗?</a:t>
            </a:r>
            <a:endParaRPr lang="en-US" altLang="en-US" sz="2800" b="1">
              <a:solidFill>
                <a:schemeClr val="bg2"/>
              </a:solidFill>
              <a:latin typeface="仿宋_GB2312" pitchFamily="49" charset="-122"/>
              <a:ea typeface="仿宋_GB2312" pitchFamily="49" charset="-122"/>
            </a:endParaRPr>
          </a:p>
        </p:txBody>
      </p:sp>
      <p:sp>
        <p:nvSpPr>
          <p:cNvPr id="325638" name="Text Box 6"/>
          <p:cNvSpPr txBox="1"/>
          <p:nvPr/>
        </p:nvSpPr>
        <p:spPr>
          <a:xfrm>
            <a:off x="3204845" y="1271270"/>
            <a:ext cx="3171825" cy="521970"/>
          </a:xfrm>
          <a:prstGeom prst="rect">
            <a:avLst/>
          </a:prstGeom>
          <a:noFill/>
          <a:ln w="12700">
            <a:noFill/>
          </a:ln>
        </p:spPr>
        <p:txBody>
          <a:bodyPr wrap="square" anchor="t" anchorCtr="0">
            <a:spAutoFit/>
          </a:bodyPr>
          <a:p>
            <a:pPr>
              <a:buClr>
                <a:srgbClr val="33CCCC"/>
              </a:buClr>
              <a:buSzPct val="110000"/>
            </a:pPr>
            <a:r>
              <a:rPr lang="zh-CN" altLang="en-US" sz="2800" b="1" dirty="0">
                <a:solidFill>
                  <a:schemeClr val="bg2"/>
                </a:solidFill>
                <a:latin typeface="Arial" panose="02080604020202020204" pitchFamily="34" charset="0"/>
                <a:ea typeface="仿宋_GB2312" pitchFamily="49" charset="-122"/>
              </a:rPr>
              <a:t>通常用大写字母。</a:t>
            </a:r>
            <a:endParaRPr lang="en-US" altLang="en-US" sz="2800" b="1">
              <a:solidFill>
                <a:schemeClr val="bg2"/>
              </a:solidFill>
              <a:latin typeface="Arial" panose="02080604020202020204" pitchFamily="34"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25637"/>
                                        </p:tgtEl>
                                        <p:attrNameLst>
                                          <p:attrName>style.visibility</p:attrName>
                                        </p:attrNameLst>
                                      </p:cBhvr>
                                      <p:to>
                                        <p:strVal val="visible"/>
                                      </p:to>
                                    </p:set>
                                    <p:anim calcmode="lin" valueType="num">
                                      <p:cBhvr additive="base">
                                        <p:cTn id="7" dur="500" fill="hold"/>
                                        <p:tgtEl>
                                          <p:spTgt spid="325637"/>
                                        </p:tgtEl>
                                        <p:attrNameLst>
                                          <p:attrName>ppt_x</p:attrName>
                                        </p:attrNameLst>
                                      </p:cBhvr>
                                      <p:tavLst>
                                        <p:tav tm="0">
                                          <p:val>
                                            <p:strVal val="1+#ppt_w/2"/>
                                          </p:val>
                                        </p:tav>
                                        <p:tav tm="100000">
                                          <p:val>
                                            <p:strVal val="#ppt_x"/>
                                          </p:val>
                                        </p:tav>
                                      </p:tavLst>
                                    </p:anim>
                                    <p:anim calcmode="lin" valueType="num">
                                      <p:cBhvr additive="base">
                                        <p:cTn id="8" dur="500" fill="hold"/>
                                        <p:tgtEl>
                                          <p:spTgt spid="3256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25638"/>
                                        </p:tgtEl>
                                        <p:attrNameLst>
                                          <p:attrName>style.visibility</p:attrName>
                                        </p:attrNameLst>
                                      </p:cBhvr>
                                      <p:to>
                                        <p:strVal val="visible"/>
                                      </p:to>
                                    </p:set>
                                    <p:anim calcmode="lin" valueType="num">
                                      <p:cBhvr additive="base">
                                        <p:cTn id="13" dur="500" fill="hold"/>
                                        <p:tgtEl>
                                          <p:spTgt spid="325638"/>
                                        </p:tgtEl>
                                        <p:attrNameLst>
                                          <p:attrName>ppt_x</p:attrName>
                                        </p:attrNameLst>
                                      </p:cBhvr>
                                      <p:tavLst>
                                        <p:tav tm="0">
                                          <p:val>
                                            <p:strVal val="1+#ppt_w/2"/>
                                          </p:val>
                                        </p:tav>
                                        <p:tav tm="100000">
                                          <p:val>
                                            <p:strVal val="#ppt_x"/>
                                          </p:val>
                                        </p:tav>
                                      </p:tavLst>
                                    </p:anim>
                                    <p:anim calcmode="lin" valueType="num">
                                      <p:cBhvr additive="base">
                                        <p:cTn id="14" dur="500" fill="hold"/>
                                        <p:tgtEl>
                                          <p:spTgt spid="3256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7" grpId="0"/>
      <p:bldP spid="32563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250825" y="404813"/>
            <a:ext cx="4191000"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符号常量的优点</a:t>
            </a:r>
            <a:endParaRPr lang="zh-CN" altLang="en-US" b="0" dirty="0">
              <a:sym typeface="+mn-ea"/>
            </a:endParaRPr>
          </a:p>
        </p:txBody>
      </p:sp>
      <p:sp>
        <p:nvSpPr>
          <p:cNvPr id="26627" name="Rectangle 3"/>
          <p:cNvSpPr>
            <a:spLocks noGrp="1"/>
          </p:cNvSpPr>
          <p:nvPr>
            <p:ph idx="1"/>
          </p:nvPr>
        </p:nvSpPr>
        <p:spPr>
          <a:xfrm>
            <a:off x="250825" y="1268413"/>
            <a:ext cx="4392613" cy="5400675"/>
          </a:xfrm>
        </p:spPr>
        <p:txBody>
          <a:bodyPr vert="horz" wrap="square" lIns="91440" tIns="45720" rIns="91440" bIns="45720" anchor="t" anchorCtr="0"/>
          <a:p>
            <a:pPr eaLnBrk="1" hangingPunct="1">
              <a:buNone/>
            </a:pPr>
            <a:r>
              <a:rPr lang="zh-CN" altLang="en-US" sz="2000" b="0" dirty="0"/>
              <a:t># </a:t>
            </a:r>
            <a:r>
              <a:rPr lang="en-US" altLang="zh-CN" sz="2000" b="0"/>
              <a:t>include &lt;</a:t>
            </a:r>
            <a:r>
              <a:rPr lang="en-US" altLang="zh-CN" sz="2000" b="0" err="1"/>
              <a:t>stdio.h</a:t>
            </a:r>
            <a:r>
              <a:rPr lang="en-US" altLang="zh-CN" sz="2000" b="0"/>
              <a:t>&gt;</a:t>
            </a:r>
            <a:endParaRPr lang="en-US" altLang="zh-CN" sz="2000" b="0"/>
          </a:p>
          <a:p>
            <a:pPr eaLnBrk="1" hangingPunct="1">
              <a:buNone/>
            </a:pPr>
            <a:endParaRPr lang="en-US" altLang="zh-CN" sz="2000" b="0"/>
          </a:p>
          <a:p>
            <a:pPr eaLnBrk="1" hangingPunct="1">
              <a:buNone/>
            </a:pPr>
            <a:r>
              <a:rPr lang="en-US" altLang="zh-CN" sz="2000" b="0" err="1"/>
              <a:t>int</a:t>
            </a:r>
            <a:r>
              <a:rPr lang="en-US" altLang="zh-CN" sz="2000" b="0"/>
              <a:t> </a:t>
            </a:r>
            <a:r>
              <a:rPr lang="zh-CN" altLang="zh-CN" sz="2000" b="0" dirty="0"/>
              <a:t>main(</a:t>
            </a:r>
            <a:r>
              <a:rPr lang="zh-CN" altLang="en-US" sz="2000" b="0" dirty="0"/>
              <a:t>v</a:t>
            </a:r>
            <a:r>
              <a:rPr lang="en-US" altLang="zh-CN" sz="2000" b="0" err="1"/>
              <a:t>oid</a:t>
            </a:r>
            <a:r>
              <a:rPr lang="zh-CN" altLang="zh-CN" sz="2000" b="0" dirty="0"/>
              <a:t>)</a:t>
            </a:r>
            <a:endParaRPr lang="zh-CN" altLang="zh-CN" sz="2000" b="0" dirty="0"/>
          </a:p>
          <a:p>
            <a:pPr eaLnBrk="1" hangingPunct="1">
              <a:buNone/>
            </a:pPr>
            <a:r>
              <a:rPr lang="zh-CN" altLang="zh-CN" sz="2000" b="0" dirty="0"/>
              <a:t>{ </a:t>
            </a:r>
            <a:endParaRPr lang="zh-CN" altLang="en-US" sz="2000" b="0" dirty="0"/>
          </a:p>
          <a:p>
            <a:pPr eaLnBrk="1" hangingPunct="1">
              <a:buNone/>
            </a:pPr>
            <a:r>
              <a:rPr lang="zh-CN" altLang="en-US" sz="2000" b="0" dirty="0"/>
              <a:t>    </a:t>
            </a:r>
            <a:r>
              <a:rPr lang="en-US" altLang="zh-CN" sz="2000" b="0"/>
              <a:t>double</a:t>
            </a:r>
            <a:r>
              <a:rPr lang="zh-CN" altLang="zh-CN" sz="2000" b="0" dirty="0"/>
              <a:t> r,</a:t>
            </a:r>
            <a:r>
              <a:rPr lang="en-US" altLang="zh-CN" sz="2000" b="0"/>
              <a:t> </a:t>
            </a:r>
            <a:r>
              <a:rPr lang="zh-CN" altLang="zh-CN" sz="2000" b="0" dirty="0"/>
              <a:t>s</a:t>
            </a:r>
            <a:r>
              <a:rPr lang="en-US" altLang="zh-CN" sz="2000" b="0"/>
              <a:t>, v</a:t>
            </a:r>
            <a:r>
              <a:rPr lang="zh-CN" altLang="zh-CN" sz="2000" b="0" dirty="0"/>
              <a:t>;</a:t>
            </a:r>
            <a:endParaRPr lang="zh-CN" altLang="zh-CN" sz="2000" b="0" dirty="0"/>
          </a:p>
          <a:p>
            <a:pPr eaLnBrk="1" hangingPunct="1">
              <a:buNone/>
            </a:pPr>
            <a:endParaRPr lang="zh-CN" altLang="en-US" sz="2000" b="0" dirty="0"/>
          </a:p>
          <a:p>
            <a:pPr eaLnBrk="1" hangingPunct="1">
              <a:buNone/>
            </a:pPr>
            <a:r>
              <a:rPr lang="zh-CN" altLang="en-US" sz="2000" b="0" dirty="0"/>
              <a:t>    </a:t>
            </a:r>
            <a:r>
              <a:rPr lang="zh-CN" altLang="zh-CN" sz="2000" b="0" dirty="0"/>
              <a:t>scanf(</a:t>
            </a:r>
            <a:r>
              <a:rPr lang="zh-CN" altLang="en-US" sz="2000" b="0" dirty="0"/>
              <a:t>"</a:t>
            </a:r>
            <a:r>
              <a:rPr lang="zh-CN" altLang="zh-CN" sz="2000" b="0" dirty="0"/>
              <a:t>%</a:t>
            </a:r>
            <a:r>
              <a:rPr lang="zh-CN" altLang="en-US" sz="2000" b="0" dirty="0"/>
              <a:t>l</a:t>
            </a:r>
            <a:r>
              <a:rPr lang="zh-CN" altLang="zh-CN" sz="2000" b="0" dirty="0"/>
              <a:t>f</a:t>
            </a:r>
            <a:r>
              <a:rPr lang="en-US" altLang="zh-CN" sz="2000" b="0"/>
              <a:t>"</a:t>
            </a:r>
            <a:r>
              <a:rPr lang="zh-CN" altLang="zh-CN" sz="2000" b="0" dirty="0"/>
              <a:t>,</a:t>
            </a:r>
            <a:r>
              <a:rPr lang="en-US" altLang="zh-CN" sz="2000" b="0"/>
              <a:t> </a:t>
            </a:r>
            <a:r>
              <a:rPr lang="zh-CN" altLang="zh-CN" sz="2000" b="0" dirty="0"/>
              <a:t>&amp;r); </a:t>
            </a:r>
            <a:endParaRPr lang="zh-CN" altLang="zh-CN" sz="2000" b="0" dirty="0"/>
          </a:p>
          <a:p>
            <a:pPr eaLnBrk="1" hangingPunct="1">
              <a:buNone/>
            </a:pPr>
            <a:r>
              <a:rPr lang="zh-CN" altLang="zh-CN" sz="2000" b="0" dirty="0"/>
              <a:t>  </a:t>
            </a:r>
            <a:r>
              <a:rPr lang="zh-CN" altLang="en-US" sz="2000" b="0" dirty="0"/>
              <a:t>  </a:t>
            </a:r>
            <a:r>
              <a:rPr lang="en-US" altLang="zh-CN" sz="2000" b="0"/>
              <a:t>s = 4.0</a:t>
            </a:r>
            <a:r>
              <a:rPr lang="zh-CN" altLang="zh-CN" sz="2000" b="0" dirty="0"/>
              <a:t>*r</a:t>
            </a:r>
            <a:r>
              <a:rPr lang="zh-CN" altLang="en-US" sz="2000" b="0" dirty="0"/>
              <a:t>*</a:t>
            </a:r>
            <a:r>
              <a:rPr lang="en-US" altLang="zh-CN" sz="2000" b="0"/>
              <a:t>r</a:t>
            </a:r>
            <a:r>
              <a:rPr lang="zh-CN" altLang="zh-CN" sz="2000" b="0" dirty="0"/>
              <a:t>*</a:t>
            </a:r>
            <a:r>
              <a:rPr lang="zh-CN" altLang="zh-CN" sz="2000" b="0" dirty="0">
                <a:solidFill>
                  <a:srgbClr val="CC0066"/>
                </a:solidFill>
              </a:rPr>
              <a:t>3.14</a:t>
            </a:r>
            <a:r>
              <a:rPr lang="zh-CN" altLang="en-US" sz="2000" b="0" dirty="0">
                <a:solidFill>
                  <a:srgbClr val="FF9933"/>
                </a:solidFill>
              </a:rPr>
              <a:t>          </a:t>
            </a:r>
            <a:r>
              <a:rPr lang="zh-CN" altLang="zh-CN" sz="2000" b="0" dirty="0"/>
              <a:t>;   </a:t>
            </a:r>
            <a:endParaRPr lang="zh-CN" altLang="zh-CN" sz="2000" b="0" dirty="0"/>
          </a:p>
          <a:p>
            <a:pPr eaLnBrk="1" hangingPunct="1">
              <a:buNone/>
            </a:pPr>
            <a:r>
              <a:rPr lang="zh-CN" altLang="zh-CN" sz="2000" b="0" dirty="0"/>
              <a:t>  </a:t>
            </a:r>
            <a:r>
              <a:rPr lang="zh-CN" altLang="en-US" sz="2000" b="0" dirty="0"/>
              <a:t>  </a:t>
            </a:r>
            <a:r>
              <a:rPr lang="en-US" altLang="zh-CN" sz="2000" b="0"/>
              <a:t>v </a:t>
            </a:r>
            <a:r>
              <a:rPr lang="zh-CN" altLang="zh-CN" sz="2000" b="0" dirty="0"/>
              <a:t>=</a:t>
            </a:r>
            <a:r>
              <a:rPr lang="zh-CN" altLang="en-US" sz="2000" b="0" dirty="0"/>
              <a:t> 4.0/3.0</a:t>
            </a:r>
            <a:r>
              <a:rPr lang="zh-CN" altLang="zh-CN" sz="2000" b="0" dirty="0"/>
              <a:t>*r*r</a:t>
            </a:r>
            <a:r>
              <a:rPr lang="zh-CN" altLang="en-US" sz="2000" b="0" dirty="0"/>
              <a:t>*</a:t>
            </a:r>
            <a:r>
              <a:rPr lang="en-US" altLang="zh-CN" sz="2000" b="0"/>
              <a:t>r</a:t>
            </a:r>
            <a:r>
              <a:rPr lang="zh-CN" altLang="en-US" sz="2000" b="0" dirty="0"/>
              <a:t>*</a:t>
            </a:r>
            <a:r>
              <a:rPr lang="zh-CN" altLang="zh-CN" sz="2000" b="0" dirty="0">
                <a:solidFill>
                  <a:srgbClr val="CC0066"/>
                </a:solidFill>
              </a:rPr>
              <a:t>3.14</a:t>
            </a:r>
            <a:r>
              <a:rPr lang="zh-CN" altLang="en-US" sz="2000" b="0" dirty="0">
                <a:solidFill>
                  <a:srgbClr val="FF9933"/>
                </a:solidFill>
              </a:rPr>
              <a:t>         </a:t>
            </a:r>
            <a:r>
              <a:rPr lang="zh-CN" altLang="zh-CN" sz="2000" b="0" dirty="0"/>
              <a:t>;   </a:t>
            </a:r>
            <a:endParaRPr lang="zh-CN" altLang="zh-CN" sz="2000" b="0" dirty="0"/>
          </a:p>
          <a:p>
            <a:pPr eaLnBrk="1" hangingPunct="1">
              <a:buNone/>
            </a:pPr>
            <a:r>
              <a:rPr lang="en-US" altLang="zh-CN" sz="2000" b="0"/>
              <a:t>    ......</a:t>
            </a:r>
            <a:endParaRPr lang="en-US" altLang="zh-CN" sz="2000" b="0"/>
          </a:p>
          <a:p>
            <a:pPr eaLnBrk="1" hangingPunct="1">
              <a:buNone/>
            </a:pPr>
            <a:r>
              <a:rPr lang="en-US" altLang="zh-CN" sz="2000" b="0"/>
              <a:t>   return 0;</a:t>
            </a:r>
            <a:endParaRPr lang="en-US" altLang="zh-CN" sz="2000" b="0"/>
          </a:p>
          <a:p>
            <a:pPr eaLnBrk="1" hangingPunct="1">
              <a:buNone/>
            </a:pPr>
            <a:r>
              <a:rPr lang="zh-CN" altLang="zh-CN" sz="2000" b="0" dirty="0"/>
              <a:t>}</a:t>
            </a:r>
            <a:endParaRPr lang="zh-CN" altLang="zh-CN" sz="2000" b="0" dirty="0"/>
          </a:p>
        </p:txBody>
      </p:sp>
      <p:sp>
        <p:nvSpPr>
          <p:cNvPr id="26628" name="Rectangle 5"/>
          <p:cNvSpPr/>
          <p:nvPr/>
        </p:nvSpPr>
        <p:spPr>
          <a:xfrm>
            <a:off x="4859338" y="1268413"/>
            <a:ext cx="3960812" cy="5184775"/>
          </a:xfrm>
          <a:prstGeom prst="rect">
            <a:avLst/>
          </a:prstGeom>
          <a:noFill/>
          <a:ln w="9525" cap="rnd" cmpd="sng">
            <a:solidFill>
              <a:schemeClr val="tx1"/>
            </a:solidFill>
            <a:prstDash val="sysDot"/>
            <a:miter/>
            <a:headEnd type="none" w="med" len="med"/>
            <a:tailEnd type="none" w="med" len="med"/>
          </a:ln>
        </p:spPr>
        <p:txBody>
          <a:bodyPr lIns="92075" tIns="46038" rIns="92075" bIns="46038" anchor="t" anchorCtr="0"/>
          <a:p>
            <a:pPr marL="342900" indent="-342900">
              <a:spcBef>
                <a:spcPct val="20000"/>
              </a:spcBef>
              <a:buClr>
                <a:srgbClr val="33CCCC"/>
              </a:buClr>
              <a:buSzPct val="80000"/>
              <a:buFont typeface="Wingdings" panose="05000000000000000000" pitchFamily="2" charset="2"/>
            </a:pPr>
            <a:r>
              <a:rPr lang="zh-CN" altLang="en-US" sz="2000" dirty="0">
                <a:latin typeface="Arial" panose="02080604020202020204" pitchFamily="34" charset="0"/>
              </a:rPr>
              <a:t># </a:t>
            </a:r>
            <a:r>
              <a:rPr lang="en-US" altLang="zh-CN" sz="2000">
                <a:latin typeface="Arial" panose="02080604020202020204" pitchFamily="34" charset="0"/>
              </a:rPr>
              <a:t>include &lt;</a:t>
            </a:r>
            <a:r>
              <a:rPr lang="en-US" altLang="zh-CN" sz="2000" err="1">
                <a:latin typeface="Arial" panose="02080604020202020204" pitchFamily="34" charset="0"/>
              </a:rPr>
              <a:t>stdio.h</a:t>
            </a:r>
            <a:r>
              <a:rPr lang="en-US" altLang="zh-CN" sz="2000">
                <a:latin typeface="Arial" panose="02080604020202020204" pitchFamily="34" charset="0"/>
              </a:rPr>
              <a:t>&gt;</a:t>
            </a:r>
            <a:endParaRPr lang="en-US" altLang="zh-CN" sz="200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en-US" altLang="zh-CN" sz="2000">
                <a:latin typeface="Arial" panose="02080604020202020204" pitchFamily="34" charset="0"/>
              </a:rPr>
              <a:t># define  </a:t>
            </a:r>
            <a:r>
              <a:rPr lang="en-US" altLang="zh-CN" sz="2000">
                <a:solidFill>
                  <a:schemeClr val="bg2"/>
                </a:solidFill>
                <a:latin typeface="Arial" panose="02080604020202020204" pitchFamily="34" charset="0"/>
              </a:rPr>
              <a:t>PI</a:t>
            </a:r>
            <a:r>
              <a:rPr lang="en-US" altLang="zh-CN" sz="2000">
                <a:latin typeface="Arial" panose="02080604020202020204" pitchFamily="34" charset="0"/>
              </a:rPr>
              <a:t>  </a:t>
            </a:r>
            <a:r>
              <a:rPr lang="en-US" altLang="zh-CN" sz="2000">
                <a:solidFill>
                  <a:srgbClr val="CC0066"/>
                </a:solidFill>
                <a:latin typeface="Arial" panose="02080604020202020204" pitchFamily="34" charset="0"/>
              </a:rPr>
              <a:t>3.14</a:t>
            </a:r>
            <a:endParaRPr lang="en-US" altLang="zh-CN" sz="2000">
              <a:solidFill>
                <a:srgbClr val="CC0066"/>
              </a:solidFill>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en-US" altLang="zh-CN" sz="2000" err="1">
                <a:latin typeface="Arial" panose="02080604020202020204" pitchFamily="34" charset="0"/>
              </a:rPr>
              <a:t>int</a:t>
            </a:r>
            <a:r>
              <a:rPr lang="en-US" altLang="zh-CN" sz="2000">
                <a:latin typeface="Arial" panose="02080604020202020204" pitchFamily="34" charset="0"/>
              </a:rPr>
              <a:t> </a:t>
            </a:r>
            <a:r>
              <a:rPr lang="zh-CN" altLang="zh-CN" sz="2000" dirty="0">
                <a:latin typeface="Arial" panose="02080604020202020204" pitchFamily="34" charset="0"/>
              </a:rPr>
              <a:t>main(</a:t>
            </a:r>
            <a:r>
              <a:rPr lang="zh-CN" altLang="en-US" sz="2000" dirty="0">
                <a:latin typeface="Arial" panose="02080604020202020204" pitchFamily="34" charset="0"/>
              </a:rPr>
              <a:t>v</a:t>
            </a:r>
            <a:r>
              <a:rPr lang="en-US" altLang="zh-CN" sz="2000" err="1">
                <a:latin typeface="Arial" panose="02080604020202020204" pitchFamily="34" charset="0"/>
              </a:rPr>
              <a:t>oid</a:t>
            </a:r>
            <a:r>
              <a:rPr lang="zh-CN" altLang="zh-CN" sz="2000" dirty="0">
                <a:latin typeface="Arial" panose="02080604020202020204" pitchFamily="34" charset="0"/>
              </a:rPr>
              <a:t>)</a:t>
            </a:r>
            <a:endParaRPr lang="zh-CN" altLang="zh-CN" sz="2000" dirty="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zh-CN" altLang="zh-CN" sz="2000" dirty="0">
                <a:latin typeface="Arial" panose="02080604020202020204" pitchFamily="34" charset="0"/>
              </a:rPr>
              <a:t>{ </a:t>
            </a:r>
            <a:endParaRPr lang="zh-CN" altLang="en-US" sz="2000" dirty="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zh-CN" altLang="en-US" sz="2000" dirty="0">
                <a:latin typeface="Arial" panose="02080604020202020204" pitchFamily="34" charset="0"/>
              </a:rPr>
              <a:t>    </a:t>
            </a:r>
            <a:r>
              <a:rPr lang="en-US" altLang="zh-CN" sz="2000">
                <a:latin typeface="Arial" panose="02080604020202020204" pitchFamily="34" charset="0"/>
              </a:rPr>
              <a:t>double</a:t>
            </a:r>
            <a:r>
              <a:rPr lang="zh-CN" altLang="zh-CN" sz="2000" dirty="0">
                <a:latin typeface="Arial" panose="02080604020202020204" pitchFamily="34" charset="0"/>
              </a:rPr>
              <a:t> r,</a:t>
            </a:r>
            <a:r>
              <a:rPr lang="en-US" altLang="zh-CN" sz="2000">
                <a:latin typeface="Arial" panose="02080604020202020204" pitchFamily="34" charset="0"/>
              </a:rPr>
              <a:t> </a:t>
            </a:r>
            <a:r>
              <a:rPr lang="zh-CN" altLang="zh-CN" sz="2000" dirty="0">
                <a:latin typeface="Arial" panose="02080604020202020204" pitchFamily="34" charset="0"/>
              </a:rPr>
              <a:t>s</a:t>
            </a:r>
            <a:r>
              <a:rPr lang="en-US" altLang="zh-CN" sz="2000">
                <a:latin typeface="Arial" panose="02080604020202020204" pitchFamily="34" charset="0"/>
              </a:rPr>
              <a:t>, v</a:t>
            </a:r>
            <a:r>
              <a:rPr lang="zh-CN" altLang="zh-CN" sz="2000" dirty="0">
                <a:latin typeface="Arial" panose="02080604020202020204" pitchFamily="34" charset="0"/>
              </a:rPr>
              <a:t>;</a:t>
            </a:r>
            <a:endParaRPr lang="zh-CN" altLang="zh-CN" sz="2000" dirty="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endParaRPr lang="zh-CN" altLang="en-US" sz="2000" dirty="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zh-CN" altLang="en-US" sz="2000" dirty="0">
                <a:latin typeface="Arial" panose="02080604020202020204" pitchFamily="34" charset="0"/>
              </a:rPr>
              <a:t>    </a:t>
            </a:r>
            <a:r>
              <a:rPr lang="zh-CN" altLang="zh-CN" sz="2000" dirty="0">
                <a:latin typeface="Arial" panose="02080604020202020204" pitchFamily="34" charset="0"/>
              </a:rPr>
              <a:t>scanf(</a:t>
            </a:r>
            <a:r>
              <a:rPr lang="zh-CN" altLang="en-US" sz="2000" dirty="0">
                <a:latin typeface="Arial" panose="02080604020202020204" pitchFamily="34" charset="0"/>
              </a:rPr>
              <a:t>"</a:t>
            </a:r>
            <a:r>
              <a:rPr lang="zh-CN" altLang="zh-CN" sz="2000" dirty="0">
                <a:latin typeface="Arial" panose="02080604020202020204" pitchFamily="34" charset="0"/>
              </a:rPr>
              <a:t>%</a:t>
            </a:r>
            <a:r>
              <a:rPr lang="zh-CN" altLang="en-US" sz="2000" dirty="0">
                <a:latin typeface="Arial" panose="02080604020202020204" pitchFamily="34" charset="0"/>
              </a:rPr>
              <a:t>l</a:t>
            </a:r>
            <a:r>
              <a:rPr lang="zh-CN" altLang="zh-CN" sz="2000" dirty="0">
                <a:latin typeface="Arial" panose="02080604020202020204" pitchFamily="34" charset="0"/>
              </a:rPr>
              <a:t>f</a:t>
            </a:r>
            <a:r>
              <a:rPr lang="en-US" altLang="zh-CN" sz="2000">
                <a:latin typeface="Arial" panose="02080604020202020204" pitchFamily="34" charset="0"/>
              </a:rPr>
              <a:t>"</a:t>
            </a:r>
            <a:r>
              <a:rPr lang="zh-CN" altLang="zh-CN" sz="2000" dirty="0">
                <a:latin typeface="Arial" panose="02080604020202020204" pitchFamily="34" charset="0"/>
              </a:rPr>
              <a:t>,</a:t>
            </a:r>
            <a:r>
              <a:rPr lang="en-US" altLang="zh-CN" sz="2000">
                <a:latin typeface="Arial" panose="02080604020202020204" pitchFamily="34" charset="0"/>
              </a:rPr>
              <a:t> </a:t>
            </a:r>
            <a:r>
              <a:rPr lang="zh-CN" altLang="zh-CN" sz="2000" dirty="0">
                <a:latin typeface="Arial" panose="02080604020202020204" pitchFamily="34" charset="0"/>
              </a:rPr>
              <a:t>&amp;r); </a:t>
            </a:r>
            <a:endParaRPr lang="zh-CN" altLang="zh-CN" sz="2000" dirty="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zh-CN" altLang="zh-CN" sz="2000" dirty="0">
                <a:latin typeface="Arial" panose="02080604020202020204" pitchFamily="34" charset="0"/>
              </a:rPr>
              <a:t>  </a:t>
            </a:r>
            <a:r>
              <a:rPr lang="zh-CN" altLang="en-US" sz="2000" dirty="0">
                <a:latin typeface="Arial" panose="02080604020202020204" pitchFamily="34" charset="0"/>
              </a:rPr>
              <a:t>  </a:t>
            </a:r>
            <a:r>
              <a:rPr lang="en-US" altLang="zh-CN" sz="2000">
                <a:latin typeface="Arial" panose="02080604020202020204" pitchFamily="34" charset="0"/>
              </a:rPr>
              <a:t>s = 4.0</a:t>
            </a:r>
            <a:r>
              <a:rPr lang="zh-CN" altLang="zh-CN" sz="2000" dirty="0">
                <a:latin typeface="Arial" panose="02080604020202020204" pitchFamily="34" charset="0"/>
              </a:rPr>
              <a:t>*</a:t>
            </a:r>
            <a:r>
              <a:rPr lang="zh-CN" altLang="en-US" sz="2000" dirty="0">
                <a:solidFill>
                  <a:schemeClr val="bg2"/>
                </a:solidFill>
                <a:latin typeface="Arial" panose="02080604020202020204" pitchFamily="34" charset="0"/>
              </a:rPr>
              <a:t>P</a:t>
            </a:r>
            <a:r>
              <a:rPr lang="en-US" altLang="zh-CN" sz="2000">
                <a:solidFill>
                  <a:schemeClr val="bg2"/>
                </a:solidFill>
                <a:latin typeface="Arial" panose="02080604020202020204" pitchFamily="34" charset="0"/>
              </a:rPr>
              <a:t>I</a:t>
            </a:r>
            <a:r>
              <a:rPr lang="zh-CN" altLang="zh-CN" sz="2000" dirty="0">
                <a:latin typeface="Arial" panose="02080604020202020204" pitchFamily="34" charset="0"/>
              </a:rPr>
              <a:t>*r</a:t>
            </a:r>
            <a:r>
              <a:rPr lang="en-US" altLang="zh-CN" sz="2000">
                <a:latin typeface="Arial" panose="02080604020202020204" pitchFamily="34" charset="0"/>
              </a:rPr>
              <a:t>*r</a:t>
            </a:r>
            <a:r>
              <a:rPr lang="zh-CN" altLang="zh-CN" sz="2000" dirty="0">
                <a:latin typeface="Arial" panose="02080604020202020204" pitchFamily="34" charset="0"/>
              </a:rPr>
              <a:t> ;   </a:t>
            </a:r>
            <a:endParaRPr lang="zh-CN" altLang="zh-CN" sz="2000" dirty="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zh-CN" altLang="zh-CN" sz="2000" dirty="0">
                <a:latin typeface="Arial" panose="02080604020202020204" pitchFamily="34" charset="0"/>
              </a:rPr>
              <a:t>  </a:t>
            </a:r>
            <a:r>
              <a:rPr lang="zh-CN" altLang="en-US" sz="2000" dirty="0">
                <a:latin typeface="Arial" panose="02080604020202020204" pitchFamily="34" charset="0"/>
              </a:rPr>
              <a:t>  </a:t>
            </a:r>
            <a:r>
              <a:rPr lang="en-US" altLang="zh-CN" sz="2000">
                <a:latin typeface="Arial" panose="02080604020202020204" pitchFamily="34" charset="0"/>
              </a:rPr>
              <a:t>v </a:t>
            </a:r>
            <a:r>
              <a:rPr lang="zh-CN" altLang="zh-CN" sz="2000" dirty="0">
                <a:latin typeface="Arial" panose="02080604020202020204" pitchFamily="34" charset="0"/>
              </a:rPr>
              <a:t>=</a:t>
            </a:r>
            <a:r>
              <a:rPr lang="zh-CN" altLang="en-US" sz="2000" dirty="0">
                <a:latin typeface="Arial" panose="02080604020202020204" pitchFamily="34" charset="0"/>
              </a:rPr>
              <a:t> 4.0/3.0*</a:t>
            </a:r>
            <a:r>
              <a:rPr lang="zh-CN" altLang="en-US" sz="2000" dirty="0">
                <a:solidFill>
                  <a:schemeClr val="bg2"/>
                </a:solidFill>
                <a:latin typeface="Arial" panose="02080604020202020204" pitchFamily="34" charset="0"/>
              </a:rPr>
              <a:t>P</a:t>
            </a:r>
            <a:r>
              <a:rPr lang="en-US" altLang="zh-CN" sz="2000">
                <a:solidFill>
                  <a:schemeClr val="bg2"/>
                </a:solidFill>
                <a:latin typeface="Arial" panose="02080604020202020204" pitchFamily="34" charset="0"/>
              </a:rPr>
              <a:t>I</a:t>
            </a:r>
            <a:r>
              <a:rPr lang="zh-CN" altLang="zh-CN" sz="2000" dirty="0">
                <a:latin typeface="Arial" panose="02080604020202020204" pitchFamily="34" charset="0"/>
              </a:rPr>
              <a:t>*r*r</a:t>
            </a:r>
            <a:r>
              <a:rPr lang="en-US" altLang="zh-CN" sz="2000">
                <a:latin typeface="Arial" panose="02080604020202020204" pitchFamily="34" charset="0"/>
              </a:rPr>
              <a:t>*r</a:t>
            </a:r>
            <a:r>
              <a:rPr lang="zh-CN" altLang="zh-CN" sz="2000" dirty="0">
                <a:latin typeface="Arial" panose="02080604020202020204" pitchFamily="34" charset="0"/>
              </a:rPr>
              <a:t> ;   </a:t>
            </a:r>
            <a:endParaRPr lang="zh-CN" altLang="zh-CN" sz="2000" dirty="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zh-CN" altLang="en-US" sz="2000" dirty="0">
                <a:latin typeface="Arial" panose="02080604020202020204" pitchFamily="34" charset="0"/>
              </a:rPr>
              <a:t>    ......</a:t>
            </a:r>
            <a:endParaRPr lang="zh-CN" altLang="en-US" sz="2000" dirty="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zh-CN" altLang="en-US" sz="2000" dirty="0">
                <a:latin typeface="Arial" panose="02080604020202020204" pitchFamily="34" charset="0"/>
              </a:rPr>
              <a:t>    </a:t>
            </a:r>
            <a:r>
              <a:rPr lang="en-US" altLang="zh-CN" sz="2000">
                <a:latin typeface="Arial" panose="02080604020202020204" pitchFamily="34" charset="0"/>
              </a:rPr>
              <a:t>return 0;</a:t>
            </a:r>
            <a:endParaRPr lang="en-US" altLang="zh-CN" sz="2000">
              <a:latin typeface="Arial" panose="02080604020202020204" pitchFamily="34" charset="0"/>
            </a:endParaRPr>
          </a:p>
          <a:p>
            <a:pPr marL="342900" indent="-342900">
              <a:spcBef>
                <a:spcPct val="20000"/>
              </a:spcBef>
              <a:buClr>
                <a:srgbClr val="33CCCC"/>
              </a:buClr>
              <a:buSzPct val="80000"/>
              <a:buFont typeface="Wingdings" panose="05000000000000000000" pitchFamily="2" charset="2"/>
            </a:pPr>
            <a:r>
              <a:rPr lang="zh-CN" altLang="zh-CN" sz="2000" dirty="0">
                <a:latin typeface="Arial" panose="02080604020202020204" pitchFamily="34" charset="0"/>
              </a:rPr>
              <a:t>}</a:t>
            </a:r>
            <a:endParaRPr lang="zh-CN" altLang="zh-CN" sz="2000" dirty="0">
              <a:latin typeface="Arial" panose="02080604020202020204" pitchFamily="34" charset="0"/>
            </a:endParaRPr>
          </a:p>
        </p:txBody>
      </p:sp>
      <p:sp>
        <p:nvSpPr>
          <p:cNvPr id="323590" name="Text Box 6"/>
          <p:cNvSpPr txBox="1"/>
          <p:nvPr/>
        </p:nvSpPr>
        <p:spPr>
          <a:xfrm>
            <a:off x="2124710" y="3789363"/>
            <a:ext cx="1512888" cy="398462"/>
          </a:xfrm>
          <a:prstGeom prst="rect">
            <a:avLst/>
          </a:prstGeom>
          <a:solidFill>
            <a:schemeClr val="folHlink"/>
          </a:solidFill>
          <a:ln w="12700">
            <a:noFill/>
          </a:ln>
        </p:spPr>
        <p:txBody>
          <a:bodyPr wrap="square" anchor="t" anchorCtr="0">
            <a:spAutoFit/>
          </a:bodyPr>
          <a:p>
            <a:pPr>
              <a:buClr>
                <a:srgbClr val="33CCCC"/>
              </a:buClr>
              <a:buSzPct val="110000"/>
            </a:pPr>
            <a:r>
              <a:rPr lang="zh-CN" altLang="en-US" sz="2000" b="1" dirty="0">
                <a:latin typeface="Arial" panose="02080604020202020204" pitchFamily="34" charset="0"/>
              </a:rPr>
              <a:t>3.14159</a:t>
            </a:r>
            <a:endParaRPr lang="zh-CN" altLang="en-US" sz="2000" b="1" dirty="0">
              <a:latin typeface="Arial" panose="02080604020202020204" pitchFamily="34" charset="0"/>
            </a:endParaRPr>
          </a:p>
        </p:txBody>
      </p:sp>
      <p:sp>
        <p:nvSpPr>
          <p:cNvPr id="323591" name="Text Box 7"/>
          <p:cNvSpPr txBox="1"/>
          <p:nvPr/>
        </p:nvSpPr>
        <p:spPr>
          <a:xfrm>
            <a:off x="2914650" y="4221480"/>
            <a:ext cx="1447800" cy="400050"/>
          </a:xfrm>
          <a:prstGeom prst="rect">
            <a:avLst/>
          </a:prstGeom>
          <a:solidFill>
            <a:schemeClr val="folHlink"/>
          </a:solidFill>
          <a:ln w="12700">
            <a:noFill/>
          </a:ln>
        </p:spPr>
        <p:txBody>
          <a:bodyPr wrap="square" anchor="t" anchorCtr="0">
            <a:spAutoFit/>
          </a:bodyPr>
          <a:p>
            <a:pPr>
              <a:buClr>
                <a:srgbClr val="33CCCC"/>
              </a:buClr>
              <a:buSzPct val="110000"/>
            </a:pPr>
            <a:r>
              <a:rPr lang="zh-CN" altLang="en-US" sz="2000" b="1" dirty="0">
                <a:latin typeface="Arial" panose="02080604020202020204" pitchFamily="34" charset="0"/>
              </a:rPr>
              <a:t>3.14159</a:t>
            </a:r>
            <a:endParaRPr lang="en-US" altLang="en-US" sz="2000" b="1">
              <a:latin typeface="Arial" panose="02080604020202020204" pitchFamily="34" charset="0"/>
            </a:endParaRPr>
          </a:p>
        </p:txBody>
      </p:sp>
      <p:sp>
        <p:nvSpPr>
          <p:cNvPr id="323592" name="Text Box 8"/>
          <p:cNvSpPr txBox="1"/>
          <p:nvPr/>
        </p:nvSpPr>
        <p:spPr>
          <a:xfrm>
            <a:off x="6589078" y="1628775"/>
            <a:ext cx="1524000" cy="398463"/>
          </a:xfrm>
          <a:prstGeom prst="rect">
            <a:avLst/>
          </a:prstGeom>
          <a:solidFill>
            <a:schemeClr val="folHlink"/>
          </a:solidFill>
          <a:ln w="12700">
            <a:noFill/>
          </a:ln>
        </p:spPr>
        <p:txBody>
          <a:bodyPr anchor="t" anchorCtr="0">
            <a:spAutoFit/>
          </a:bodyPr>
          <a:p>
            <a:pPr>
              <a:buClr>
                <a:srgbClr val="33CCCC"/>
              </a:buClr>
              <a:buSzPct val="110000"/>
            </a:pPr>
            <a:r>
              <a:rPr lang="zh-CN" altLang="en-US" sz="2000" b="1" dirty="0">
                <a:latin typeface="Arial" panose="02080604020202020204" pitchFamily="34" charset="0"/>
              </a:rPr>
              <a:t>3.14159</a:t>
            </a:r>
            <a:endParaRPr lang="en-US" altLang="en-US" sz="2000" b="1">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23590"/>
                                        </p:tgtEl>
                                        <p:attrNameLst>
                                          <p:attrName>style.visibility</p:attrName>
                                        </p:attrNameLst>
                                      </p:cBhvr>
                                      <p:to>
                                        <p:strVal val="visible"/>
                                      </p:to>
                                    </p:set>
                                    <p:anim calcmode="lin" valueType="num">
                                      <p:cBhvr additive="base">
                                        <p:cTn id="7" dur="500" fill="hold"/>
                                        <p:tgtEl>
                                          <p:spTgt spid="323590"/>
                                        </p:tgtEl>
                                        <p:attrNameLst>
                                          <p:attrName>ppt_x</p:attrName>
                                        </p:attrNameLst>
                                      </p:cBhvr>
                                      <p:tavLst>
                                        <p:tav tm="0">
                                          <p:val>
                                            <p:strVal val="1+#ppt_w/2"/>
                                          </p:val>
                                        </p:tav>
                                        <p:tav tm="100000">
                                          <p:val>
                                            <p:strVal val="#ppt_x"/>
                                          </p:val>
                                        </p:tav>
                                      </p:tavLst>
                                    </p:anim>
                                    <p:anim calcmode="lin" valueType="num">
                                      <p:cBhvr additive="base">
                                        <p:cTn id="8" dur="500" fill="hold"/>
                                        <p:tgtEl>
                                          <p:spTgt spid="3235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23591"/>
                                        </p:tgtEl>
                                        <p:attrNameLst>
                                          <p:attrName>style.visibility</p:attrName>
                                        </p:attrNameLst>
                                      </p:cBhvr>
                                      <p:to>
                                        <p:strVal val="visible"/>
                                      </p:to>
                                    </p:set>
                                    <p:anim calcmode="lin" valueType="num">
                                      <p:cBhvr additive="base">
                                        <p:cTn id="13" dur="500" fill="hold"/>
                                        <p:tgtEl>
                                          <p:spTgt spid="323591"/>
                                        </p:tgtEl>
                                        <p:attrNameLst>
                                          <p:attrName>ppt_x</p:attrName>
                                        </p:attrNameLst>
                                      </p:cBhvr>
                                      <p:tavLst>
                                        <p:tav tm="0">
                                          <p:val>
                                            <p:strVal val="1+#ppt_w/2"/>
                                          </p:val>
                                        </p:tav>
                                        <p:tav tm="100000">
                                          <p:val>
                                            <p:strVal val="#ppt_x"/>
                                          </p:val>
                                        </p:tav>
                                      </p:tavLst>
                                    </p:anim>
                                    <p:anim calcmode="lin" valueType="num">
                                      <p:cBhvr additive="base">
                                        <p:cTn id="14" dur="500" fill="hold"/>
                                        <p:tgtEl>
                                          <p:spTgt spid="3235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23592"/>
                                        </p:tgtEl>
                                        <p:attrNameLst>
                                          <p:attrName>style.visibility</p:attrName>
                                        </p:attrNameLst>
                                      </p:cBhvr>
                                      <p:to>
                                        <p:strVal val="visible"/>
                                      </p:to>
                                    </p:set>
                                    <p:anim calcmode="lin" valueType="num">
                                      <p:cBhvr additive="base">
                                        <p:cTn id="19" dur="500" fill="hold"/>
                                        <p:tgtEl>
                                          <p:spTgt spid="323592"/>
                                        </p:tgtEl>
                                        <p:attrNameLst>
                                          <p:attrName>ppt_x</p:attrName>
                                        </p:attrNameLst>
                                      </p:cBhvr>
                                      <p:tavLst>
                                        <p:tav tm="0">
                                          <p:val>
                                            <p:strVal val="1+#ppt_w/2"/>
                                          </p:val>
                                        </p:tav>
                                        <p:tav tm="100000">
                                          <p:val>
                                            <p:strVal val="#ppt_x"/>
                                          </p:val>
                                        </p:tav>
                                      </p:tavLst>
                                    </p:anim>
                                    <p:anim calcmode="lin" valueType="num">
                                      <p:cBhvr additive="base">
                                        <p:cTn id="20" dur="500" fill="hold"/>
                                        <p:tgtEl>
                                          <p:spTgt spid="3235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90" grpId="0" bldLvl="0" animBg="1"/>
      <p:bldP spid="323591" grpId="0" bldLvl="0" animBg="1"/>
      <p:bldP spid="323592"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457200" y="457200"/>
            <a:ext cx="5554663" cy="8112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整型常量（整数）</a:t>
            </a:r>
            <a:endParaRPr lang="zh-CN" altLang="en-US" b="0" dirty="0">
              <a:sym typeface="+mn-ea"/>
            </a:endParaRPr>
          </a:p>
        </p:txBody>
      </p:sp>
      <p:sp>
        <p:nvSpPr>
          <p:cNvPr id="326659" name="Rectangle 3"/>
          <p:cNvSpPr>
            <a:spLocks noGrp="1"/>
          </p:cNvSpPr>
          <p:nvPr>
            <p:ph idx="1"/>
          </p:nvPr>
        </p:nvSpPr>
        <p:spPr>
          <a:xfrm>
            <a:off x="539750" y="1412875"/>
            <a:ext cx="8353425" cy="4679950"/>
          </a:xfrm>
        </p:spPr>
        <p:txBody>
          <a:bodyPr vert="horz" wrap="square" lIns="91440" tIns="45720" rIns="91440" bIns="45720" anchor="t" anchorCtr="0"/>
          <a:p>
            <a:pPr marL="609600" indent="-609600" eaLnBrk="1" hangingPunct="1"/>
            <a:r>
              <a:rPr lang="zh-CN" altLang="en-US" b="0" dirty="0"/>
              <a:t>整数的表示</a:t>
            </a:r>
            <a:endParaRPr lang="zh-CN" altLang="en-US" b="0" dirty="0"/>
          </a:p>
          <a:p>
            <a:pPr marL="990600" lvl="1" indent="-533400" eaLnBrk="1" hangingPunct="1">
              <a:buNone/>
            </a:pPr>
            <a:r>
              <a:rPr lang="zh-CN" altLang="en-US" b="0" dirty="0"/>
              <a:t>三种表现形式：</a:t>
            </a:r>
            <a:endParaRPr lang="en-US" altLang="zh-CN" b="0"/>
          </a:p>
          <a:p>
            <a:pPr marL="990600" lvl="1" indent="-533400" eaLnBrk="1" hangingPunct="1"/>
            <a:r>
              <a:rPr lang="zh-CN" altLang="en-US" b="0" dirty="0"/>
              <a:t>十进制整数：正、负号，0－9，首位不是0</a:t>
            </a:r>
            <a:endParaRPr lang="zh-CN" altLang="en-US" b="0" dirty="0"/>
          </a:p>
          <a:p>
            <a:pPr marL="1371600" lvl="2" indent="-457200" eaLnBrk="1" hangingPunct="1">
              <a:buNone/>
            </a:pPr>
            <a:r>
              <a:rPr lang="zh-CN" altLang="en-US" b="0" dirty="0"/>
              <a:t>例： 10，123</a:t>
            </a:r>
            <a:endParaRPr lang="zh-CN" altLang="en-US" b="0" dirty="0"/>
          </a:p>
          <a:p>
            <a:pPr marL="990600" lvl="1" indent="-533400" eaLnBrk="1" hangingPunct="1"/>
            <a:r>
              <a:rPr lang="zh-CN" altLang="en-US" b="0" dirty="0"/>
              <a:t>八进制整数：正、负号，0－7，首位是0</a:t>
            </a:r>
            <a:endParaRPr lang="zh-CN" altLang="en-US" b="0" dirty="0"/>
          </a:p>
          <a:p>
            <a:pPr marL="1371600" lvl="2" indent="-457200" eaLnBrk="1" hangingPunct="1">
              <a:buNone/>
            </a:pPr>
            <a:r>
              <a:rPr lang="zh-CN" altLang="en-US" b="0" dirty="0"/>
              <a:t>例： 010，0123</a:t>
            </a:r>
            <a:endParaRPr lang="zh-CN" altLang="en-US" b="0" dirty="0"/>
          </a:p>
          <a:p>
            <a:pPr marL="990600" lvl="1" indent="-533400" eaLnBrk="1" hangingPunct="1"/>
            <a:r>
              <a:rPr lang="zh-CN" altLang="zh-CN" b="0" dirty="0"/>
              <a:t>16</a:t>
            </a:r>
            <a:r>
              <a:rPr lang="zh-CN" altLang="en-US" b="0" dirty="0"/>
              <a:t>进制整数：正、负号，0－9，</a:t>
            </a:r>
            <a:r>
              <a:rPr lang="en-US" altLang="zh-CN" b="0"/>
              <a:t>a-f</a:t>
            </a:r>
            <a:r>
              <a:rPr lang="zh-CN" altLang="en-US" b="0" dirty="0"/>
              <a:t>，</a:t>
            </a:r>
            <a:r>
              <a:rPr lang="en-US" altLang="zh-CN" b="0"/>
              <a:t>A-F</a:t>
            </a:r>
            <a:r>
              <a:rPr lang="zh-CN" altLang="en-US" b="0" dirty="0"/>
              <a:t>，前缀是0</a:t>
            </a:r>
            <a:r>
              <a:rPr lang="en-US" altLang="zh-CN" b="0"/>
              <a:t>x</a:t>
            </a:r>
            <a:r>
              <a:rPr lang="zh-CN" altLang="en-US" b="0" dirty="0"/>
              <a:t>，</a:t>
            </a:r>
            <a:r>
              <a:rPr lang="en-US" altLang="zh-CN" b="0"/>
              <a:t>0X</a:t>
            </a:r>
            <a:endParaRPr lang="en-US" altLang="zh-CN" b="0"/>
          </a:p>
          <a:p>
            <a:pPr marL="1371600" lvl="2" indent="-457200" eaLnBrk="1" hangingPunct="1">
              <a:buNone/>
            </a:pPr>
            <a:r>
              <a:rPr lang="zh-CN" altLang="en-US" b="0" dirty="0"/>
              <a:t>例：0</a:t>
            </a:r>
            <a:r>
              <a:rPr lang="en-US" altLang="zh-CN" b="0"/>
              <a:t>x10，0x123</a:t>
            </a:r>
            <a:endParaRPr lang="en-US" altLang="zh-CN"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6659">
                                            <p:txEl>
                                              <p:charRg st="0" end="6"/>
                                            </p:txEl>
                                          </p:spTgt>
                                        </p:tgtEl>
                                        <p:attrNameLst>
                                          <p:attrName>style.visibility</p:attrName>
                                        </p:attrNameLst>
                                      </p:cBhvr>
                                      <p:to>
                                        <p:strVal val="visible"/>
                                      </p:to>
                                    </p:set>
                                    <p:anim calcmode="lin" valueType="num">
                                      <p:cBhvr additive="base">
                                        <p:cTn id="7" dur="500" fill="hold"/>
                                        <p:tgtEl>
                                          <p:spTgt spid="326659">
                                            <p:txEl>
                                              <p:charRg st="0" end="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6659">
                                            <p:txEl>
                                              <p:charRg st="0" end="6"/>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6659">
                                            <p:txEl>
                                              <p:charRg st="6" end="14"/>
                                            </p:txEl>
                                          </p:spTgt>
                                        </p:tgtEl>
                                        <p:attrNameLst>
                                          <p:attrName>style.visibility</p:attrName>
                                        </p:attrNameLst>
                                      </p:cBhvr>
                                      <p:to>
                                        <p:strVal val="visible"/>
                                      </p:to>
                                    </p:set>
                                    <p:anim calcmode="lin" valueType="num">
                                      <p:cBhvr additive="base">
                                        <p:cTn id="13" dur="500" fill="hold"/>
                                        <p:tgtEl>
                                          <p:spTgt spid="326659">
                                            <p:txEl>
                                              <p:charRg st="6" end="1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6659">
                                            <p:txEl>
                                              <p:charRg st="6" end="1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6659">
                                            <p:txEl>
                                              <p:charRg st="14" end="35"/>
                                            </p:txEl>
                                          </p:spTgt>
                                        </p:tgtEl>
                                        <p:attrNameLst>
                                          <p:attrName>style.visibility</p:attrName>
                                        </p:attrNameLst>
                                      </p:cBhvr>
                                      <p:to>
                                        <p:strVal val="visible"/>
                                      </p:to>
                                    </p:set>
                                    <p:anim calcmode="lin" valueType="num">
                                      <p:cBhvr additive="base">
                                        <p:cTn id="19" dur="500" fill="hold"/>
                                        <p:tgtEl>
                                          <p:spTgt spid="326659">
                                            <p:txEl>
                                              <p:charRg st="14" end="3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6659">
                                            <p:txEl>
                                              <p:charRg st="14" end="35"/>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26659">
                                            <p:txEl>
                                              <p:charRg st="35" end="45"/>
                                            </p:txEl>
                                          </p:spTgt>
                                        </p:tgtEl>
                                        <p:attrNameLst>
                                          <p:attrName>style.visibility</p:attrName>
                                        </p:attrNameLst>
                                      </p:cBhvr>
                                      <p:to>
                                        <p:strVal val="visible"/>
                                      </p:to>
                                    </p:set>
                                    <p:anim calcmode="lin" valueType="num">
                                      <p:cBhvr additive="base">
                                        <p:cTn id="23" dur="500" fill="hold"/>
                                        <p:tgtEl>
                                          <p:spTgt spid="326659">
                                            <p:txEl>
                                              <p:charRg st="35" end="4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26659">
                                            <p:txEl>
                                              <p:charRg st="35" end="45"/>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26659">
                                            <p:txEl>
                                              <p:charRg st="45" end="65"/>
                                            </p:txEl>
                                          </p:spTgt>
                                        </p:tgtEl>
                                        <p:attrNameLst>
                                          <p:attrName>style.visibility</p:attrName>
                                        </p:attrNameLst>
                                      </p:cBhvr>
                                      <p:to>
                                        <p:strVal val="visible"/>
                                      </p:to>
                                    </p:set>
                                    <p:anim calcmode="lin" valueType="num">
                                      <p:cBhvr additive="base">
                                        <p:cTn id="29" dur="500" fill="hold"/>
                                        <p:tgtEl>
                                          <p:spTgt spid="326659">
                                            <p:txEl>
                                              <p:charRg st="45" end="6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26659">
                                            <p:txEl>
                                              <p:charRg st="45" end="6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26659">
                                            <p:txEl>
                                              <p:charRg st="65" end="77"/>
                                            </p:txEl>
                                          </p:spTgt>
                                        </p:tgtEl>
                                        <p:attrNameLst>
                                          <p:attrName>style.visibility</p:attrName>
                                        </p:attrNameLst>
                                      </p:cBhvr>
                                      <p:to>
                                        <p:strVal val="visible"/>
                                      </p:to>
                                    </p:set>
                                    <p:anim calcmode="lin" valueType="num">
                                      <p:cBhvr additive="base">
                                        <p:cTn id="33" dur="500" fill="hold"/>
                                        <p:tgtEl>
                                          <p:spTgt spid="326659">
                                            <p:txEl>
                                              <p:charRg st="65" end="77"/>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26659">
                                            <p:txEl>
                                              <p:charRg st="65" end="77"/>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326659">
                                            <p:txEl>
                                              <p:charRg st="77" end="110"/>
                                            </p:txEl>
                                          </p:spTgt>
                                        </p:tgtEl>
                                        <p:attrNameLst>
                                          <p:attrName>style.visibility</p:attrName>
                                        </p:attrNameLst>
                                      </p:cBhvr>
                                      <p:to>
                                        <p:strVal val="visible"/>
                                      </p:to>
                                    </p:set>
                                    <p:anim calcmode="lin" valueType="num">
                                      <p:cBhvr additive="base">
                                        <p:cTn id="39" dur="500" fill="hold"/>
                                        <p:tgtEl>
                                          <p:spTgt spid="326659">
                                            <p:txEl>
                                              <p:charRg st="77" end="110"/>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326659">
                                            <p:txEl>
                                              <p:charRg st="77" end="110"/>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326659">
                                            <p:txEl>
                                              <p:charRg st="110" end="123"/>
                                            </p:txEl>
                                          </p:spTgt>
                                        </p:tgtEl>
                                        <p:attrNameLst>
                                          <p:attrName>style.visibility</p:attrName>
                                        </p:attrNameLst>
                                      </p:cBhvr>
                                      <p:to>
                                        <p:strVal val="visible"/>
                                      </p:to>
                                    </p:set>
                                    <p:anim calcmode="lin" valueType="num">
                                      <p:cBhvr additive="base">
                                        <p:cTn id="43" dur="500" fill="hold"/>
                                        <p:tgtEl>
                                          <p:spTgt spid="326659">
                                            <p:txEl>
                                              <p:charRg st="110" end="123"/>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26659">
                                            <p:txEl>
                                              <p:charRg st="110" end="12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59" grpId="0" bldLvl="2"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5364163" y="476250"/>
            <a:ext cx="3538537" cy="10271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整数的表示</a:t>
            </a:r>
            <a:endParaRPr lang="zh-CN" altLang="en-US" b="0" dirty="0">
              <a:sym typeface="+mn-ea"/>
            </a:endParaRPr>
          </a:p>
        </p:txBody>
      </p:sp>
      <p:sp>
        <p:nvSpPr>
          <p:cNvPr id="329731" name="Rectangle 3"/>
          <p:cNvSpPr>
            <a:spLocks noGrp="1"/>
          </p:cNvSpPr>
          <p:nvPr>
            <p:ph idx="1"/>
          </p:nvPr>
        </p:nvSpPr>
        <p:spPr>
          <a:xfrm>
            <a:off x="292100" y="1773238"/>
            <a:ext cx="8610600" cy="4421187"/>
          </a:xfrm>
        </p:spPr>
        <p:txBody>
          <a:bodyPr vert="horz" wrap="square" lIns="91440" tIns="45720" rIns="91440" bIns="45720" anchor="t" anchorCtr="0"/>
          <a:p>
            <a:pPr marL="990600" lvl="1" indent="-533400" eaLnBrk="1" hangingPunct="1">
              <a:buNone/>
            </a:pPr>
            <a:r>
              <a:rPr lang="zh-CN" altLang="en-US" sz="2400" b="0" dirty="0"/>
              <a:t>123 = 01111011 (</a:t>
            </a:r>
            <a:r>
              <a:rPr lang="en-US" altLang="zh-CN" sz="2400" b="0"/>
              <a:t>B) </a:t>
            </a:r>
            <a:r>
              <a:rPr lang="zh-CN" altLang="en-US" sz="2400" b="0" dirty="0"/>
              <a:t>二进制</a:t>
            </a:r>
            <a:endParaRPr lang="en-US" altLang="zh-CN" sz="2400" b="0"/>
          </a:p>
          <a:p>
            <a:pPr marL="990600" lvl="1" indent="-533400" eaLnBrk="1" hangingPunct="1">
              <a:buNone/>
            </a:pPr>
            <a:r>
              <a:rPr lang="en-US" altLang="zh-CN" sz="2400" b="0"/>
              <a:t>           =173 (O) </a:t>
            </a:r>
            <a:r>
              <a:rPr lang="zh-CN" altLang="en-US" sz="2400" b="0" dirty="0"/>
              <a:t>八进制</a:t>
            </a:r>
            <a:endParaRPr lang="en-US" altLang="zh-CN" sz="2400" b="0"/>
          </a:p>
          <a:p>
            <a:pPr marL="990600" lvl="1" indent="-533400" eaLnBrk="1" hangingPunct="1">
              <a:buNone/>
            </a:pPr>
            <a:r>
              <a:rPr lang="en-US" altLang="zh-CN" sz="2400" b="0"/>
              <a:t>           =7B (X) </a:t>
            </a:r>
            <a:r>
              <a:rPr lang="zh-CN" altLang="en-US" sz="2400" b="0" dirty="0"/>
              <a:t>十六进制</a:t>
            </a:r>
            <a:endParaRPr lang="zh-CN" altLang="en-US" sz="2400" b="0" dirty="0"/>
          </a:p>
          <a:p>
            <a:pPr marL="990600" lvl="1" indent="-533400" eaLnBrk="1" hangingPunct="1">
              <a:buNone/>
            </a:pPr>
            <a:r>
              <a:rPr lang="en-US" altLang="zh-CN" sz="2400" b="0"/>
              <a:t>123   </a:t>
            </a:r>
            <a:r>
              <a:rPr lang="en-US" altLang="en-US" sz="2400" b="0"/>
              <a:t>0173   0x7b</a:t>
            </a:r>
            <a:endParaRPr lang="en-US" altLang="zh-CN" sz="2400" b="0"/>
          </a:p>
          <a:p>
            <a:pPr marL="990600" lvl="1" indent="-533400" eaLnBrk="1" hangingPunct="1">
              <a:buNone/>
            </a:pPr>
            <a:r>
              <a:rPr lang="zh-CN" altLang="en-US" sz="2400" b="0" dirty="0"/>
              <a:t>16    020    0</a:t>
            </a:r>
            <a:r>
              <a:rPr lang="en-US" altLang="zh-CN" sz="2400" b="0"/>
              <a:t>x10</a:t>
            </a:r>
            <a:endParaRPr lang="en-US" altLang="zh-CN" sz="2400" b="0"/>
          </a:p>
          <a:p>
            <a:pPr marL="990600" lvl="1" indent="-533400" eaLnBrk="1" hangingPunct="1">
              <a:buNone/>
            </a:pPr>
            <a:r>
              <a:rPr lang="en-US" altLang="zh-CN" sz="2400" b="0"/>
              <a:t>10    012    0XA</a:t>
            </a:r>
            <a:endParaRPr lang="en-US" altLang="zh-CN" sz="2400" b="0"/>
          </a:p>
          <a:p>
            <a:pPr marL="990600" lvl="1" indent="-533400" eaLnBrk="1" hangingPunct="1">
              <a:buNone/>
            </a:pPr>
            <a:r>
              <a:rPr lang="en-US" altLang="zh-CN" sz="2400" b="0"/>
              <a:t>10    010    0x10</a:t>
            </a:r>
            <a:endParaRPr lang="en-US" altLang="zh-CN" sz="2400" b="0"/>
          </a:p>
          <a:p>
            <a:pPr marL="609600" indent="-609600" algn="just" eaLnBrk="1" hangingPunct="1">
              <a:lnSpc>
                <a:spcPct val="120000"/>
              </a:lnSpc>
            </a:pPr>
            <a:r>
              <a:rPr lang="zh-CN" altLang="en-US" sz="2400" b="0" dirty="0"/>
              <a:t>不能超出整型数据的取值范围</a:t>
            </a:r>
            <a:endParaRPr lang="zh-CN" altLang="en-US" sz="2400" b="0" dirty="0"/>
          </a:p>
          <a:p>
            <a:pPr marL="609600" indent="-609600" algn="just" eaLnBrk="1" hangingPunct="1">
              <a:lnSpc>
                <a:spcPct val="120000"/>
              </a:lnSpc>
            </a:pPr>
            <a:r>
              <a:rPr lang="zh-CN" altLang="en-US" sz="2400" b="0" dirty="0"/>
              <a:t>比长整型数还要大的数只能用实数来表示</a:t>
            </a:r>
            <a:endParaRPr lang="en-US" altLang="zh-CN" sz="2400" b="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9731">
                                            <p:txEl>
                                              <p:charRg st="0" end="23"/>
                                            </p:txEl>
                                          </p:spTgt>
                                        </p:tgtEl>
                                        <p:attrNameLst>
                                          <p:attrName>style.visibility</p:attrName>
                                        </p:attrNameLst>
                                      </p:cBhvr>
                                      <p:to>
                                        <p:strVal val="visible"/>
                                      </p:to>
                                    </p:set>
                                    <p:anim calcmode="lin" valueType="num">
                                      <p:cBhvr additive="base">
                                        <p:cTn id="7" dur="500" fill="hold"/>
                                        <p:tgtEl>
                                          <p:spTgt spid="329731">
                                            <p:txEl>
                                              <p:charRg st="0" end="2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9731">
                                            <p:txEl>
                                              <p:charRg st="0" end="2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9731">
                                            <p:txEl>
                                              <p:charRg st="23" end="47"/>
                                            </p:txEl>
                                          </p:spTgt>
                                        </p:tgtEl>
                                        <p:attrNameLst>
                                          <p:attrName>style.visibility</p:attrName>
                                        </p:attrNameLst>
                                      </p:cBhvr>
                                      <p:to>
                                        <p:strVal val="visible"/>
                                      </p:to>
                                    </p:set>
                                    <p:anim calcmode="lin" valueType="num">
                                      <p:cBhvr additive="base">
                                        <p:cTn id="13" dur="500" fill="hold"/>
                                        <p:tgtEl>
                                          <p:spTgt spid="329731">
                                            <p:txEl>
                                              <p:charRg st="23" end="4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9731">
                                            <p:txEl>
                                              <p:charRg st="23" end="47"/>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9731">
                                            <p:txEl>
                                              <p:charRg st="47" end="71"/>
                                            </p:txEl>
                                          </p:spTgt>
                                        </p:tgtEl>
                                        <p:attrNameLst>
                                          <p:attrName>style.visibility</p:attrName>
                                        </p:attrNameLst>
                                      </p:cBhvr>
                                      <p:to>
                                        <p:strVal val="visible"/>
                                      </p:to>
                                    </p:set>
                                    <p:anim calcmode="lin" valueType="num">
                                      <p:cBhvr additive="base">
                                        <p:cTn id="19" dur="500" fill="hold"/>
                                        <p:tgtEl>
                                          <p:spTgt spid="329731">
                                            <p:txEl>
                                              <p:charRg st="47" end="7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9731">
                                            <p:txEl>
                                              <p:charRg st="47" end="7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9731">
                                            <p:txEl>
                                              <p:charRg st="71" end="89"/>
                                            </p:txEl>
                                          </p:spTgt>
                                        </p:tgtEl>
                                        <p:attrNameLst>
                                          <p:attrName>style.visibility</p:attrName>
                                        </p:attrNameLst>
                                      </p:cBhvr>
                                      <p:to>
                                        <p:strVal val="visible"/>
                                      </p:to>
                                    </p:set>
                                    <p:anim calcmode="lin" valueType="num">
                                      <p:cBhvr additive="base">
                                        <p:cTn id="25" dur="500" fill="hold"/>
                                        <p:tgtEl>
                                          <p:spTgt spid="329731">
                                            <p:txEl>
                                              <p:charRg st="71" end="8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29731">
                                            <p:txEl>
                                              <p:charRg st="71" end="89"/>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9731">
                                            <p:txEl>
                                              <p:charRg st="89" end="107"/>
                                            </p:txEl>
                                          </p:spTgt>
                                        </p:tgtEl>
                                        <p:attrNameLst>
                                          <p:attrName>style.visibility</p:attrName>
                                        </p:attrNameLst>
                                      </p:cBhvr>
                                      <p:to>
                                        <p:strVal val="visible"/>
                                      </p:to>
                                    </p:set>
                                    <p:anim calcmode="lin" valueType="num">
                                      <p:cBhvr additive="base">
                                        <p:cTn id="31" dur="500" fill="hold"/>
                                        <p:tgtEl>
                                          <p:spTgt spid="329731">
                                            <p:txEl>
                                              <p:charRg st="89" end="10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29731">
                                            <p:txEl>
                                              <p:charRg st="89" end="107"/>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29731">
                                            <p:txEl>
                                              <p:charRg st="107" end="124"/>
                                            </p:txEl>
                                          </p:spTgt>
                                        </p:tgtEl>
                                        <p:attrNameLst>
                                          <p:attrName>style.visibility</p:attrName>
                                        </p:attrNameLst>
                                      </p:cBhvr>
                                      <p:to>
                                        <p:strVal val="visible"/>
                                      </p:to>
                                    </p:set>
                                    <p:anim calcmode="lin" valueType="num">
                                      <p:cBhvr additive="base">
                                        <p:cTn id="37" dur="500" fill="hold"/>
                                        <p:tgtEl>
                                          <p:spTgt spid="329731">
                                            <p:txEl>
                                              <p:charRg st="107" end="12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29731">
                                            <p:txEl>
                                              <p:charRg st="107" end="12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29731">
                                            <p:txEl>
                                              <p:charRg st="124" end="142"/>
                                            </p:txEl>
                                          </p:spTgt>
                                        </p:tgtEl>
                                        <p:attrNameLst>
                                          <p:attrName>style.visibility</p:attrName>
                                        </p:attrNameLst>
                                      </p:cBhvr>
                                      <p:to>
                                        <p:strVal val="visible"/>
                                      </p:to>
                                    </p:set>
                                    <p:anim calcmode="lin" valueType="num">
                                      <p:cBhvr additive="base">
                                        <p:cTn id="43" dur="500" fill="hold"/>
                                        <p:tgtEl>
                                          <p:spTgt spid="329731">
                                            <p:txEl>
                                              <p:charRg st="124" end="142"/>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29731">
                                            <p:txEl>
                                              <p:charRg st="124" end="142"/>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29731">
                                            <p:txEl>
                                              <p:charRg st="142" end="156"/>
                                            </p:txEl>
                                          </p:spTgt>
                                        </p:tgtEl>
                                        <p:attrNameLst>
                                          <p:attrName>style.visibility</p:attrName>
                                        </p:attrNameLst>
                                      </p:cBhvr>
                                      <p:to>
                                        <p:strVal val="visible"/>
                                      </p:to>
                                    </p:set>
                                    <p:anim calcmode="lin" valueType="num">
                                      <p:cBhvr additive="base">
                                        <p:cTn id="49" dur="500" fill="hold"/>
                                        <p:tgtEl>
                                          <p:spTgt spid="329731">
                                            <p:txEl>
                                              <p:charRg st="142" end="156"/>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29731">
                                            <p:txEl>
                                              <p:charRg st="142" end="156"/>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29731">
                                            <p:txEl>
                                              <p:charRg st="156" end="175"/>
                                            </p:txEl>
                                          </p:spTgt>
                                        </p:tgtEl>
                                        <p:attrNameLst>
                                          <p:attrName>style.visibility</p:attrName>
                                        </p:attrNameLst>
                                      </p:cBhvr>
                                      <p:to>
                                        <p:strVal val="visible"/>
                                      </p:to>
                                    </p:set>
                                    <p:anim calcmode="lin" valueType="num">
                                      <p:cBhvr additive="base">
                                        <p:cTn id="55" dur="500" fill="hold"/>
                                        <p:tgtEl>
                                          <p:spTgt spid="329731">
                                            <p:txEl>
                                              <p:charRg st="156" end="175"/>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29731">
                                            <p:txEl>
                                              <p:charRg st="156" end="17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bldLvl="2"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457200" y="457200"/>
            <a:ext cx="6635750" cy="1100138"/>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整数的类型</a:t>
            </a:r>
            <a:endParaRPr lang="zh-CN" altLang="en-US" b="0" dirty="0">
              <a:sym typeface="+mn-ea"/>
            </a:endParaRPr>
          </a:p>
        </p:txBody>
      </p:sp>
      <p:sp>
        <p:nvSpPr>
          <p:cNvPr id="328707" name="Rectangle 3"/>
          <p:cNvSpPr>
            <a:spLocks noGrp="1"/>
          </p:cNvSpPr>
          <p:nvPr>
            <p:ph idx="1"/>
          </p:nvPr>
        </p:nvSpPr>
        <p:spPr>
          <a:xfrm>
            <a:off x="685800" y="1447800"/>
            <a:ext cx="7696200" cy="4114800"/>
          </a:xfrm>
        </p:spPr>
        <p:txBody>
          <a:bodyPr vert="horz" wrap="square" lIns="91440" tIns="45720" rIns="91440" bIns="45720" anchor="t" anchorCtr="0"/>
          <a:p>
            <a:pPr marL="609600" indent="-609600" algn="just" eaLnBrk="1" hangingPunct="1">
              <a:lnSpc>
                <a:spcPct val="120000"/>
              </a:lnSpc>
              <a:buNone/>
            </a:pPr>
            <a:r>
              <a:rPr lang="zh-CN" altLang="en-US" b="0" dirty="0"/>
              <a:t>判断整数的类型</a:t>
            </a:r>
            <a:endParaRPr lang="zh-CN" altLang="en-US" b="0" dirty="0"/>
          </a:p>
          <a:p>
            <a:pPr marL="609600" indent="-609600" algn="just" eaLnBrk="1" hangingPunct="1">
              <a:lnSpc>
                <a:spcPct val="120000"/>
              </a:lnSpc>
            </a:pPr>
            <a:r>
              <a:rPr lang="zh-CN" altLang="en-US" b="0" dirty="0"/>
              <a:t>整数后的字母后缀</a:t>
            </a:r>
            <a:endParaRPr lang="zh-CN" altLang="en-US" b="0" dirty="0"/>
          </a:p>
          <a:p>
            <a:pPr marL="990600" lvl="1" indent="-533400" algn="just" eaLnBrk="1" hangingPunct="1">
              <a:lnSpc>
                <a:spcPct val="120000"/>
              </a:lnSpc>
            </a:pPr>
            <a:r>
              <a:rPr lang="zh-CN" altLang="en-US" b="0" dirty="0"/>
              <a:t>123</a:t>
            </a:r>
            <a:r>
              <a:rPr lang="en-US" altLang="zh-CN" b="0">
                <a:solidFill>
                  <a:srgbClr val="CC0066"/>
                </a:solidFill>
              </a:rPr>
              <a:t>L</a:t>
            </a:r>
            <a:r>
              <a:rPr lang="en-US" altLang="zh-CN" b="0">
                <a:solidFill>
                  <a:srgbClr val="FF9933"/>
                </a:solidFill>
              </a:rPr>
              <a:t>     </a:t>
            </a:r>
            <a:r>
              <a:rPr lang="en-US" altLang="zh-CN" b="0"/>
              <a:t>long</a:t>
            </a:r>
            <a:endParaRPr lang="en-US" altLang="zh-CN" b="0"/>
          </a:p>
          <a:p>
            <a:pPr marL="990600" lvl="1" indent="-533400" algn="just" eaLnBrk="1" hangingPunct="1">
              <a:lnSpc>
                <a:spcPct val="120000"/>
              </a:lnSpc>
            </a:pPr>
            <a:r>
              <a:rPr lang="zh-CN" altLang="en-US" b="0" dirty="0"/>
              <a:t>123</a:t>
            </a:r>
            <a:r>
              <a:rPr lang="en-US" altLang="zh-CN" b="0">
                <a:solidFill>
                  <a:srgbClr val="CC0066"/>
                </a:solidFill>
              </a:rPr>
              <a:t>U</a:t>
            </a:r>
            <a:r>
              <a:rPr lang="en-US" altLang="zh-CN" b="0">
                <a:solidFill>
                  <a:srgbClr val="FFFF00"/>
                </a:solidFill>
              </a:rPr>
              <a:t>     </a:t>
            </a:r>
            <a:r>
              <a:rPr lang="en-US" altLang="zh-CN" b="0"/>
              <a:t>unsigned</a:t>
            </a:r>
            <a:endParaRPr lang="en-US" altLang="zh-CN" b="0"/>
          </a:p>
          <a:p>
            <a:pPr marL="990600" lvl="1" indent="-533400" algn="just" eaLnBrk="1" hangingPunct="1">
              <a:lnSpc>
                <a:spcPct val="120000"/>
              </a:lnSpc>
            </a:pPr>
            <a:r>
              <a:rPr lang="zh-CN" altLang="en-US" b="0" dirty="0"/>
              <a:t>123</a:t>
            </a:r>
            <a:r>
              <a:rPr lang="en-US" altLang="zh-CN" b="0">
                <a:solidFill>
                  <a:srgbClr val="CC0066"/>
                </a:solidFill>
              </a:rPr>
              <a:t>LU</a:t>
            </a:r>
            <a:r>
              <a:rPr lang="en-US" altLang="zh-CN" b="0">
                <a:solidFill>
                  <a:srgbClr val="FFFF00"/>
                </a:solidFill>
              </a:rPr>
              <a:t>   </a:t>
            </a:r>
            <a:r>
              <a:rPr lang="en-US" altLang="zh-CN" b="0"/>
              <a:t>unsigned</a:t>
            </a:r>
            <a:r>
              <a:rPr lang="en-US" altLang="zh-CN" b="0">
                <a:solidFill>
                  <a:srgbClr val="FFFF00"/>
                </a:solidFill>
              </a:rPr>
              <a:t> </a:t>
            </a:r>
            <a:r>
              <a:rPr lang="en-US" altLang="zh-CN" b="0"/>
              <a:t>long</a:t>
            </a:r>
            <a:endParaRPr lang="en-US" altLang="zh-CN" b="0"/>
          </a:p>
          <a:p>
            <a:pPr marL="609600" indent="-609600" algn="just" eaLnBrk="1" hangingPunct="1">
              <a:lnSpc>
                <a:spcPct val="120000"/>
              </a:lnSpc>
            </a:pPr>
            <a:r>
              <a:rPr lang="zh-CN" altLang="en-US" b="0" dirty="0"/>
              <a:t>整数的值</a:t>
            </a:r>
            <a:endParaRPr lang="zh-CN" altLang="en-US"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charRg st="0" end="8"/>
                                            </p:txEl>
                                          </p:spTgt>
                                        </p:tgtEl>
                                        <p:attrNameLst>
                                          <p:attrName>style.visibility</p:attrName>
                                        </p:attrNameLst>
                                      </p:cBhvr>
                                      <p:to>
                                        <p:strVal val="visible"/>
                                      </p:to>
                                    </p:set>
                                    <p:anim calcmode="lin" valueType="num">
                                      <p:cBhvr additive="base">
                                        <p:cTn id="7" dur="500" fill="hold"/>
                                        <p:tgtEl>
                                          <p:spTgt spid="328707">
                                            <p:txEl>
                                              <p:charRg st="0" end="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charRg st="0" end="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charRg st="8" end="17"/>
                                            </p:txEl>
                                          </p:spTgt>
                                        </p:tgtEl>
                                        <p:attrNameLst>
                                          <p:attrName>style.visibility</p:attrName>
                                        </p:attrNameLst>
                                      </p:cBhvr>
                                      <p:to>
                                        <p:strVal val="visible"/>
                                      </p:to>
                                    </p:set>
                                    <p:anim calcmode="lin" valueType="num">
                                      <p:cBhvr additive="base">
                                        <p:cTn id="13" dur="500" fill="hold"/>
                                        <p:tgtEl>
                                          <p:spTgt spid="328707">
                                            <p:txEl>
                                              <p:charRg st="8" end="1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charRg st="8" end="17"/>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charRg st="17" end="31"/>
                                            </p:txEl>
                                          </p:spTgt>
                                        </p:tgtEl>
                                        <p:attrNameLst>
                                          <p:attrName>style.visibility</p:attrName>
                                        </p:attrNameLst>
                                      </p:cBhvr>
                                      <p:to>
                                        <p:strVal val="visible"/>
                                      </p:to>
                                    </p:set>
                                    <p:anim calcmode="lin" valueType="num">
                                      <p:cBhvr additive="base">
                                        <p:cTn id="19" dur="500" fill="hold"/>
                                        <p:tgtEl>
                                          <p:spTgt spid="328707">
                                            <p:txEl>
                                              <p:charRg st="17" end="3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charRg st="17" end="3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8707">
                                            <p:txEl>
                                              <p:charRg st="31" end="49"/>
                                            </p:txEl>
                                          </p:spTgt>
                                        </p:tgtEl>
                                        <p:attrNameLst>
                                          <p:attrName>style.visibility</p:attrName>
                                        </p:attrNameLst>
                                      </p:cBhvr>
                                      <p:to>
                                        <p:strVal val="visible"/>
                                      </p:to>
                                    </p:set>
                                    <p:anim calcmode="lin" valueType="num">
                                      <p:cBhvr additive="base">
                                        <p:cTn id="25" dur="500" fill="hold"/>
                                        <p:tgtEl>
                                          <p:spTgt spid="328707">
                                            <p:txEl>
                                              <p:charRg st="31" end="4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28707">
                                            <p:txEl>
                                              <p:charRg st="31" end="49"/>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8707">
                                            <p:txEl>
                                              <p:charRg st="49" end="71"/>
                                            </p:txEl>
                                          </p:spTgt>
                                        </p:tgtEl>
                                        <p:attrNameLst>
                                          <p:attrName>style.visibility</p:attrName>
                                        </p:attrNameLst>
                                      </p:cBhvr>
                                      <p:to>
                                        <p:strVal val="visible"/>
                                      </p:to>
                                    </p:set>
                                    <p:anim calcmode="lin" valueType="num">
                                      <p:cBhvr additive="base">
                                        <p:cTn id="31" dur="500" fill="hold"/>
                                        <p:tgtEl>
                                          <p:spTgt spid="328707">
                                            <p:txEl>
                                              <p:charRg st="49" end="7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28707">
                                            <p:txEl>
                                              <p:charRg st="49" end="71"/>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28707">
                                            <p:txEl>
                                              <p:charRg st="71" end="76"/>
                                            </p:txEl>
                                          </p:spTgt>
                                        </p:tgtEl>
                                        <p:attrNameLst>
                                          <p:attrName>style.visibility</p:attrName>
                                        </p:attrNameLst>
                                      </p:cBhvr>
                                      <p:to>
                                        <p:strVal val="visible"/>
                                      </p:to>
                                    </p:set>
                                    <p:anim calcmode="lin" valueType="num">
                                      <p:cBhvr additive="base">
                                        <p:cTn id="37" dur="500" fill="hold"/>
                                        <p:tgtEl>
                                          <p:spTgt spid="328707">
                                            <p:txEl>
                                              <p:charRg st="71" end="7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28707">
                                            <p:txEl>
                                              <p:charRg st="71" end="7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ldLvl="2"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457200" y="457200"/>
            <a:ext cx="7786688" cy="11715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实型常量（实数、浮点数）</a:t>
            </a:r>
            <a:endParaRPr lang="zh-CN" altLang="en-US" b="0" dirty="0">
              <a:sym typeface="+mn-ea"/>
            </a:endParaRPr>
          </a:p>
        </p:txBody>
      </p:sp>
      <p:sp>
        <p:nvSpPr>
          <p:cNvPr id="331779" name="Rectangle 3"/>
          <p:cNvSpPr>
            <a:spLocks noGrp="1"/>
          </p:cNvSpPr>
          <p:nvPr>
            <p:ph idx="1"/>
          </p:nvPr>
        </p:nvSpPr>
        <p:spPr>
          <a:xfrm>
            <a:off x="611188" y="1700213"/>
            <a:ext cx="8064500" cy="4392612"/>
          </a:xfrm>
        </p:spPr>
        <p:txBody>
          <a:bodyPr vert="horz" wrap="square" lIns="91440" tIns="45720" rIns="91440" bIns="45720" anchor="t" anchorCtr="0"/>
          <a:p>
            <a:pPr marL="609600" indent="-609600" eaLnBrk="1" hangingPunct="1">
              <a:lnSpc>
                <a:spcPct val="120000"/>
              </a:lnSpc>
            </a:pPr>
            <a:r>
              <a:rPr lang="zh-CN" altLang="en-US" b="0" dirty="0"/>
              <a:t>实数的表示</a:t>
            </a:r>
            <a:endParaRPr lang="zh-CN" altLang="en-US" b="0" dirty="0"/>
          </a:p>
          <a:p>
            <a:pPr marL="990600" lvl="1" indent="-533400" eaLnBrk="1" hangingPunct="1">
              <a:lnSpc>
                <a:spcPct val="120000"/>
              </a:lnSpc>
            </a:pPr>
            <a:r>
              <a:rPr lang="zh-CN" altLang="en-US" b="0" dirty="0"/>
              <a:t>浮点表示法</a:t>
            </a:r>
            <a:endParaRPr lang="zh-CN" altLang="en-US" b="0" dirty="0"/>
          </a:p>
          <a:p>
            <a:pPr marL="1371600" lvl="2" indent="-457200" algn="just" eaLnBrk="1" hangingPunct="1">
              <a:lnSpc>
                <a:spcPct val="120000"/>
              </a:lnSpc>
              <a:buNone/>
            </a:pPr>
            <a:r>
              <a:rPr lang="zh-CN" altLang="en-US" b="0" dirty="0"/>
              <a:t>0.123    123.4    12.      .12</a:t>
            </a:r>
            <a:endParaRPr lang="zh-CN" altLang="en-US" b="0" dirty="0"/>
          </a:p>
          <a:p>
            <a:pPr marL="990600" lvl="1" indent="-533400" algn="just" eaLnBrk="1" hangingPunct="1">
              <a:lnSpc>
                <a:spcPct val="120000"/>
              </a:lnSpc>
            </a:pPr>
            <a:r>
              <a:rPr lang="zh-CN" altLang="en-US" b="0" dirty="0"/>
              <a:t>科学计数法</a:t>
            </a:r>
            <a:endParaRPr lang="zh-CN" altLang="en-US" b="0" dirty="0"/>
          </a:p>
          <a:p>
            <a:pPr marL="1371600" lvl="2" indent="-457200" algn="just" eaLnBrk="1" hangingPunct="1">
              <a:lnSpc>
                <a:spcPct val="120000"/>
              </a:lnSpc>
              <a:buFontTx/>
              <a:buNone/>
            </a:pPr>
            <a:r>
              <a:rPr lang="en-US" altLang="zh-CN" b="0"/>
              <a:t>6.026E-27     1.2e+30    1E-5</a:t>
            </a:r>
            <a:endParaRPr lang="en-US" altLang="zh-CN" b="0"/>
          </a:p>
          <a:p>
            <a:pPr marL="609600" indent="-609600" eaLnBrk="1" hangingPunct="1">
              <a:lnSpc>
                <a:spcPct val="120000"/>
              </a:lnSpc>
            </a:pPr>
            <a:r>
              <a:rPr lang="zh-CN" altLang="en-US" b="0" dirty="0"/>
              <a:t>实数的类型</a:t>
            </a:r>
            <a:endParaRPr lang="zh-CN" altLang="en-US" b="0" dirty="0"/>
          </a:p>
          <a:p>
            <a:pPr marL="990600" lvl="1" indent="-533400" eaLnBrk="1" hangingPunct="1">
              <a:lnSpc>
                <a:spcPct val="120000"/>
              </a:lnSpc>
              <a:buNone/>
            </a:pPr>
            <a:r>
              <a:rPr lang="en-US" altLang="zh-CN" b="0">
                <a:solidFill>
                  <a:srgbClr val="CC0066"/>
                </a:solidFill>
              </a:rPr>
              <a:t>double</a:t>
            </a:r>
            <a:endParaRPr lang="en-US" altLang="zh-CN" b="0">
              <a:solidFill>
                <a:srgbClr val="CC00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1779">
                                            <p:txEl>
                                              <p:charRg st="0" end="6"/>
                                            </p:txEl>
                                          </p:spTgt>
                                        </p:tgtEl>
                                        <p:attrNameLst>
                                          <p:attrName>style.visibility</p:attrName>
                                        </p:attrNameLst>
                                      </p:cBhvr>
                                      <p:to>
                                        <p:strVal val="visible"/>
                                      </p:to>
                                    </p:set>
                                    <p:anim calcmode="lin" valueType="num">
                                      <p:cBhvr additive="base">
                                        <p:cTn id="7" dur="500" fill="hold"/>
                                        <p:tgtEl>
                                          <p:spTgt spid="331779">
                                            <p:txEl>
                                              <p:charRg st="0" end="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1779">
                                            <p:txEl>
                                              <p:charRg st="0" end="6"/>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31779">
                                            <p:txEl>
                                              <p:charRg st="6" end="12"/>
                                            </p:txEl>
                                          </p:spTgt>
                                        </p:tgtEl>
                                        <p:attrNameLst>
                                          <p:attrName>style.visibility</p:attrName>
                                        </p:attrNameLst>
                                      </p:cBhvr>
                                      <p:to>
                                        <p:strVal val="visible"/>
                                      </p:to>
                                    </p:set>
                                    <p:anim calcmode="lin" valueType="num">
                                      <p:cBhvr additive="base">
                                        <p:cTn id="11" dur="500" fill="hold"/>
                                        <p:tgtEl>
                                          <p:spTgt spid="331779">
                                            <p:txEl>
                                              <p:charRg st="6" end="1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31779">
                                            <p:txEl>
                                              <p:charRg st="6" end="12"/>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31779">
                                            <p:txEl>
                                              <p:charRg st="12" end="43"/>
                                            </p:txEl>
                                          </p:spTgt>
                                        </p:tgtEl>
                                        <p:attrNameLst>
                                          <p:attrName>style.visibility</p:attrName>
                                        </p:attrNameLst>
                                      </p:cBhvr>
                                      <p:to>
                                        <p:strVal val="visible"/>
                                      </p:to>
                                    </p:set>
                                    <p:anim calcmode="lin" valueType="num">
                                      <p:cBhvr additive="base">
                                        <p:cTn id="15" dur="500" fill="hold"/>
                                        <p:tgtEl>
                                          <p:spTgt spid="331779">
                                            <p:txEl>
                                              <p:charRg st="12" end="4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31779">
                                            <p:txEl>
                                              <p:charRg st="12" end="43"/>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31779">
                                            <p:txEl>
                                              <p:charRg st="43" end="49"/>
                                            </p:txEl>
                                          </p:spTgt>
                                        </p:tgtEl>
                                        <p:attrNameLst>
                                          <p:attrName>style.visibility</p:attrName>
                                        </p:attrNameLst>
                                      </p:cBhvr>
                                      <p:to>
                                        <p:strVal val="visible"/>
                                      </p:to>
                                    </p:set>
                                    <p:anim calcmode="lin" valueType="num">
                                      <p:cBhvr additive="base">
                                        <p:cTn id="19" dur="500" fill="hold"/>
                                        <p:tgtEl>
                                          <p:spTgt spid="331779">
                                            <p:txEl>
                                              <p:charRg st="43" end="4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31779">
                                            <p:txEl>
                                              <p:charRg st="43" end="49"/>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31779">
                                            <p:txEl>
                                              <p:charRg st="49" end="79"/>
                                            </p:txEl>
                                          </p:spTgt>
                                        </p:tgtEl>
                                        <p:attrNameLst>
                                          <p:attrName>style.visibility</p:attrName>
                                        </p:attrNameLst>
                                      </p:cBhvr>
                                      <p:to>
                                        <p:strVal val="visible"/>
                                      </p:to>
                                    </p:set>
                                    <p:anim calcmode="lin" valueType="num">
                                      <p:cBhvr additive="base">
                                        <p:cTn id="23" dur="500" fill="hold"/>
                                        <p:tgtEl>
                                          <p:spTgt spid="331779">
                                            <p:txEl>
                                              <p:charRg st="49" end="79"/>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31779">
                                            <p:txEl>
                                              <p:charRg st="49" end="79"/>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31779">
                                            <p:txEl>
                                              <p:charRg st="79" end="85"/>
                                            </p:txEl>
                                          </p:spTgt>
                                        </p:tgtEl>
                                        <p:attrNameLst>
                                          <p:attrName>style.visibility</p:attrName>
                                        </p:attrNameLst>
                                      </p:cBhvr>
                                      <p:to>
                                        <p:strVal val="visible"/>
                                      </p:to>
                                    </p:set>
                                    <p:anim calcmode="lin" valueType="num">
                                      <p:cBhvr additive="base">
                                        <p:cTn id="29" dur="500" fill="hold"/>
                                        <p:tgtEl>
                                          <p:spTgt spid="331779">
                                            <p:txEl>
                                              <p:charRg st="79" end="8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31779">
                                            <p:txEl>
                                              <p:charRg st="79" end="8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31779">
                                            <p:txEl>
                                              <p:charRg st="85" end="92"/>
                                            </p:txEl>
                                          </p:spTgt>
                                        </p:tgtEl>
                                        <p:attrNameLst>
                                          <p:attrName>style.visibility</p:attrName>
                                        </p:attrNameLst>
                                      </p:cBhvr>
                                      <p:to>
                                        <p:strVal val="visible"/>
                                      </p:to>
                                    </p:set>
                                    <p:anim calcmode="lin" valueType="num">
                                      <p:cBhvr additive="base">
                                        <p:cTn id="33" dur="500" fill="hold"/>
                                        <p:tgtEl>
                                          <p:spTgt spid="331779">
                                            <p:txEl>
                                              <p:charRg st="85" end="92"/>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31779">
                                            <p:txEl>
                                              <p:charRg st="85" end="9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539750" y="333375"/>
            <a:ext cx="3960813" cy="100806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字符型常量</a:t>
            </a:r>
            <a:endParaRPr lang="zh-CN" altLang="en-US" b="0" dirty="0">
              <a:sym typeface="+mn-ea"/>
            </a:endParaRPr>
          </a:p>
        </p:txBody>
      </p:sp>
      <p:sp>
        <p:nvSpPr>
          <p:cNvPr id="332803" name="Rectangle 3"/>
          <p:cNvSpPr>
            <a:spLocks noGrp="1"/>
          </p:cNvSpPr>
          <p:nvPr>
            <p:ph idx="1"/>
          </p:nvPr>
        </p:nvSpPr>
        <p:spPr>
          <a:xfrm>
            <a:off x="539750" y="1268413"/>
            <a:ext cx="7848600" cy="5257800"/>
          </a:xfrm>
        </p:spPr>
        <p:txBody>
          <a:bodyPr vert="horz" wrap="square" lIns="91440" tIns="45720" rIns="91440" bIns="45720" anchor="t" anchorCtr="0"/>
          <a:p>
            <a:pPr marL="533400" indent="-533400" algn="just" eaLnBrk="1" hangingPunct="1">
              <a:lnSpc>
                <a:spcPct val="120000"/>
              </a:lnSpc>
            </a:pPr>
            <a:r>
              <a:rPr lang="zh-CN" altLang="en-US" b="0" dirty="0"/>
              <a:t>字符常量</a:t>
            </a:r>
            <a:endParaRPr lang="zh-CN" altLang="en-US" b="0" dirty="0"/>
          </a:p>
          <a:p>
            <a:pPr marL="914400" lvl="1" indent="-457200" algn="just" eaLnBrk="1" hangingPunct="1">
              <a:lnSpc>
                <a:spcPct val="120000"/>
              </a:lnSpc>
              <a:buNone/>
            </a:pPr>
            <a:r>
              <a:rPr lang="zh-CN" altLang="en-US" b="0" dirty="0"/>
              <a:t>'</a:t>
            </a:r>
            <a:r>
              <a:rPr lang="en-US" altLang="zh-CN" b="0"/>
              <a:t>a'   'A'   '9'   '+'  '$'                </a:t>
            </a:r>
            <a:endParaRPr lang="en-US" altLang="zh-CN" b="0"/>
          </a:p>
          <a:p>
            <a:pPr marL="533400" indent="-533400" algn="just" eaLnBrk="1" hangingPunct="1">
              <a:lnSpc>
                <a:spcPct val="120000"/>
              </a:lnSpc>
            </a:pPr>
            <a:r>
              <a:rPr lang="zh-CN" altLang="en-US" b="0" dirty="0"/>
              <a:t>A</a:t>
            </a:r>
            <a:r>
              <a:rPr lang="en-US" altLang="zh-CN" b="0"/>
              <a:t>SCII</a:t>
            </a:r>
            <a:r>
              <a:rPr lang="zh-CN" altLang="en-US" b="0" dirty="0"/>
              <a:t>字符集</a:t>
            </a:r>
            <a:endParaRPr lang="en-US" altLang="zh-CN" b="0"/>
          </a:p>
          <a:p>
            <a:pPr marL="914400" lvl="1" indent="-457200" algn="just" eaLnBrk="1" hangingPunct="1">
              <a:lnSpc>
                <a:spcPct val="120000"/>
              </a:lnSpc>
              <a:buNone/>
            </a:pPr>
            <a:r>
              <a:rPr lang="zh-CN" altLang="en-US" b="0" dirty="0"/>
              <a:t>列出所有可用的字符（</a:t>
            </a:r>
            <a:r>
              <a:rPr lang="en-US" altLang="zh-CN" b="0"/>
              <a:t>256</a:t>
            </a:r>
            <a:r>
              <a:rPr lang="zh-CN" altLang="en-US" b="0" dirty="0"/>
              <a:t>个）</a:t>
            </a:r>
            <a:endParaRPr lang="en-US" altLang="zh-CN" b="0"/>
          </a:p>
          <a:p>
            <a:pPr marL="914400" lvl="1" indent="-457200" algn="just" eaLnBrk="1" hangingPunct="1">
              <a:lnSpc>
                <a:spcPct val="120000"/>
              </a:lnSpc>
            </a:pPr>
            <a:r>
              <a:rPr lang="zh-CN" altLang="en-US" b="0" dirty="0"/>
              <a:t>每个字符：唯一的次序值（ A</a:t>
            </a:r>
            <a:r>
              <a:rPr lang="en-US" altLang="zh-CN" b="0"/>
              <a:t>SCII</a:t>
            </a:r>
            <a:r>
              <a:rPr lang="zh-CN" altLang="en-US" b="0" dirty="0"/>
              <a:t> 码）</a:t>
            </a:r>
            <a:endParaRPr lang="zh-CN" altLang="en-US" b="0" dirty="0"/>
          </a:p>
          <a:p>
            <a:pPr marL="914400" lvl="1" indent="-457200" algn="just" eaLnBrk="1" hangingPunct="1">
              <a:lnSpc>
                <a:spcPct val="120000"/>
              </a:lnSpc>
            </a:pPr>
            <a:r>
              <a:rPr lang="zh-CN" altLang="en-US" b="0" dirty="0"/>
              <a:t>'0'-'9'  升序排列</a:t>
            </a:r>
            <a:endParaRPr lang="zh-CN" altLang="en-US" b="0" dirty="0"/>
          </a:p>
          <a:p>
            <a:pPr marL="914400" lvl="1" indent="-457200" algn="just" eaLnBrk="1" hangingPunct="1">
              <a:lnSpc>
                <a:spcPct val="120000"/>
              </a:lnSpc>
            </a:pPr>
            <a:r>
              <a:rPr lang="en-US" altLang="zh-CN" b="0"/>
              <a:t>'A'-'Z'</a:t>
            </a:r>
            <a:endParaRPr lang="en-US" altLang="zh-CN" b="0"/>
          </a:p>
          <a:p>
            <a:pPr marL="914400" lvl="1" indent="-457200" algn="just" eaLnBrk="1" hangingPunct="1">
              <a:lnSpc>
                <a:spcPct val="120000"/>
              </a:lnSpc>
            </a:pPr>
            <a:r>
              <a:rPr lang="en-US" altLang="zh-CN" b="0"/>
              <a:t>'a'-'z'</a:t>
            </a:r>
            <a:endParaRPr lang="en-US" altLang="zh-CN"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2803">
                                            <p:txEl>
                                              <p:charRg st="0" end="5"/>
                                            </p:txEl>
                                          </p:spTgt>
                                        </p:tgtEl>
                                        <p:attrNameLst>
                                          <p:attrName>style.visibility</p:attrName>
                                        </p:attrNameLst>
                                      </p:cBhvr>
                                      <p:to>
                                        <p:strVal val="visible"/>
                                      </p:to>
                                    </p:set>
                                    <p:anim calcmode="lin" valueType="num">
                                      <p:cBhvr additive="base">
                                        <p:cTn id="7" dur="500" fill="hold"/>
                                        <p:tgtEl>
                                          <p:spTgt spid="332803">
                                            <p:txEl>
                                              <p:charRg st="0" end="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2803">
                                            <p:txEl>
                                              <p:charRg st="0" end="5"/>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32803">
                                            <p:txEl>
                                              <p:charRg st="5" end="48"/>
                                            </p:txEl>
                                          </p:spTgt>
                                        </p:tgtEl>
                                        <p:attrNameLst>
                                          <p:attrName>style.visibility</p:attrName>
                                        </p:attrNameLst>
                                      </p:cBhvr>
                                      <p:to>
                                        <p:strVal val="visible"/>
                                      </p:to>
                                    </p:set>
                                    <p:anim calcmode="lin" valueType="num">
                                      <p:cBhvr additive="base">
                                        <p:cTn id="11" dur="500" fill="hold"/>
                                        <p:tgtEl>
                                          <p:spTgt spid="332803">
                                            <p:txEl>
                                              <p:charRg st="5" end="48"/>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32803">
                                            <p:txEl>
                                              <p:charRg st="5" end="48"/>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32803">
                                            <p:txEl>
                                              <p:charRg st="48" end="57"/>
                                            </p:txEl>
                                          </p:spTgt>
                                        </p:tgtEl>
                                        <p:attrNameLst>
                                          <p:attrName>style.visibility</p:attrName>
                                        </p:attrNameLst>
                                      </p:cBhvr>
                                      <p:to>
                                        <p:strVal val="visible"/>
                                      </p:to>
                                    </p:set>
                                    <p:anim calcmode="lin" valueType="num">
                                      <p:cBhvr additive="base">
                                        <p:cTn id="17" dur="500" fill="hold"/>
                                        <p:tgtEl>
                                          <p:spTgt spid="332803">
                                            <p:txEl>
                                              <p:charRg st="48" end="57"/>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32803">
                                            <p:txEl>
                                              <p:charRg st="48" end="57"/>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332803">
                                            <p:txEl>
                                              <p:charRg st="57" end="73"/>
                                            </p:txEl>
                                          </p:spTgt>
                                        </p:tgtEl>
                                        <p:attrNameLst>
                                          <p:attrName>style.visibility</p:attrName>
                                        </p:attrNameLst>
                                      </p:cBhvr>
                                      <p:to>
                                        <p:strVal val="visible"/>
                                      </p:to>
                                    </p:set>
                                    <p:anim calcmode="lin" valueType="num">
                                      <p:cBhvr additive="base">
                                        <p:cTn id="21" dur="500" fill="hold"/>
                                        <p:tgtEl>
                                          <p:spTgt spid="332803">
                                            <p:txEl>
                                              <p:charRg st="57" end="7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32803">
                                            <p:txEl>
                                              <p:charRg st="57" end="7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32803">
                                            <p:txEl>
                                              <p:charRg st="73" end="95"/>
                                            </p:txEl>
                                          </p:spTgt>
                                        </p:tgtEl>
                                        <p:attrNameLst>
                                          <p:attrName>style.visibility</p:attrName>
                                        </p:attrNameLst>
                                      </p:cBhvr>
                                      <p:to>
                                        <p:strVal val="visible"/>
                                      </p:to>
                                    </p:set>
                                    <p:anim calcmode="lin" valueType="num">
                                      <p:cBhvr additive="base">
                                        <p:cTn id="25" dur="500" fill="hold"/>
                                        <p:tgtEl>
                                          <p:spTgt spid="332803">
                                            <p:txEl>
                                              <p:charRg st="73" end="9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32803">
                                            <p:txEl>
                                              <p:charRg st="73" end="95"/>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32803">
                                            <p:txEl>
                                              <p:charRg st="95" end="109"/>
                                            </p:txEl>
                                          </p:spTgt>
                                        </p:tgtEl>
                                        <p:attrNameLst>
                                          <p:attrName>style.visibility</p:attrName>
                                        </p:attrNameLst>
                                      </p:cBhvr>
                                      <p:to>
                                        <p:strVal val="visible"/>
                                      </p:to>
                                    </p:set>
                                    <p:anim calcmode="lin" valueType="num">
                                      <p:cBhvr additive="base">
                                        <p:cTn id="29" dur="500" fill="hold"/>
                                        <p:tgtEl>
                                          <p:spTgt spid="332803">
                                            <p:txEl>
                                              <p:charRg st="95" end="109"/>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32803">
                                            <p:txEl>
                                              <p:charRg st="95" end="109"/>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32803">
                                            <p:txEl>
                                              <p:charRg st="109" end="117"/>
                                            </p:txEl>
                                          </p:spTgt>
                                        </p:tgtEl>
                                        <p:attrNameLst>
                                          <p:attrName>style.visibility</p:attrName>
                                        </p:attrNameLst>
                                      </p:cBhvr>
                                      <p:to>
                                        <p:strVal val="visible"/>
                                      </p:to>
                                    </p:set>
                                    <p:anim calcmode="lin" valueType="num">
                                      <p:cBhvr additive="base">
                                        <p:cTn id="33" dur="500" fill="hold"/>
                                        <p:tgtEl>
                                          <p:spTgt spid="332803">
                                            <p:txEl>
                                              <p:charRg st="109" end="117"/>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32803">
                                            <p:txEl>
                                              <p:charRg st="109" end="117"/>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332803">
                                            <p:txEl>
                                              <p:charRg st="117" end="125"/>
                                            </p:txEl>
                                          </p:spTgt>
                                        </p:tgtEl>
                                        <p:attrNameLst>
                                          <p:attrName>style.visibility</p:attrName>
                                        </p:attrNameLst>
                                      </p:cBhvr>
                                      <p:to>
                                        <p:strVal val="visible"/>
                                      </p:to>
                                    </p:set>
                                    <p:anim calcmode="lin" valueType="num">
                                      <p:cBhvr additive="base">
                                        <p:cTn id="37" dur="500" fill="hold"/>
                                        <p:tgtEl>
                                          <p:spTgt spid="332803">
                                            <p:txEl>
                                              <p:charRg st="117" end="12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32803">
                                            <p:txEl>
                                              <p:charRg st="117" end="12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468313" y="476250"/>
            <a:ext cx="7772400" cy="8620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字符的数值特征</a:t>
            </a:r>
            <a:endParaRPr lang="zh-CN" altLang="en-US" b="0" dirty="0">
              <a:sym typeface="+mn-ea"/>
            </a:endParaRPr>
          </a:p>
        </p:txBody>
      </p:sp>
      <p:sp>
        <p:nvSpPr>
          <p:cNvPr id="335875" name="Rectangle 3"/>
          <p:cNvSpPr>
            <a:spLocks noGrp="1"/>
          </p:cNvSpPr>
          <p:nvPr>
            <p:ph idx="1"/>
          </p:nvPr>
        </p:nvSpPr>
        <p:spPr>
          <a:xfrm>
            <a:off x="539750" y="1557338"/>
            <a:ext cx="8340725" cy="3886200"/>
          </a:xfrm>
        </p:spPr>
        <p:txBody>
          <a:bodyPr vert="horz" wrap="square" lIns="91440" tIns="45720" rIns="91440" bIns="45720" anchor="t" anchorCtr="0"/>
          <a:p>
            <a:pPr marL="533400" indent="-533400" algn="just" eaLnBrk="1" hangingPunct="1">
              <a:lnSpc>
                <a:spcPct val="120000"/>
              </a:lnSpc>
              <a:buNone/>
            </a:pPr>
            <a:r>
              <a:rPr lang="zh-CN" altLang="en-US" sz="2800" b="0" dirty="0"/>
              <a:t>字符－A</a:t>
            </a:r>
            <a:r>
              <a:rPr lang="en-US" altLang="zh-CN" sz="2800" b="0"/>
              <a:t>SCII</a:t>
            </a:r>
            <a:r>
              <a:rPr lang="zh-CN" altLang="en-US" sz="2800" b="0" dirty="0"/>
              <a:t> 码</a:t>
            </a:r>
            <a:endParaRPr lang="zh-CN" altLang="en-US" sz="2800" b="0" dirty="0"/>
          </a:p>
          <a:p>
            <a:pPr marL="914400" lvl="1" indent="-457200" algn="just" eaLnBrk="1" hangingPunct="1">
              <a:lnSpc>
                <a:spcPct val="120000"/>
              </a:lnSpc>
              <a:buNone/>
            </a:pPr>
            <a:r>
              <a:rPr lang="zh-CN" altLang="en-US" b="0" dirty="0"/>
              <a:t>对字符进行运算 － 对字符的A</a:t>
            </a:r>
            <a:r>
              <a:rPr lang="en-US" altLang="zh-CN" b="0"/>
              <a:t>SCII</a:t>
            </a:r>
            <a:r>
              <a:rPr lang="zh-CN" altLang="en-US" b="0" dirty="0"/>
              <a:t> 码进行运算</a:t>
            </a:r>
            <a:endParaRPr lang="zh-CN" altLang="en-US" b="0" dirty="0"/>
          </a:p>
          <a:p>
            <a:pPr marL="914400" lvl="1" indent="-457200" algn="just" eaLnBrk="1" hangingPunct="1">
              <a:lnSpc>
                <a:spcPct val="120000"/>
              </a:lnSpc>
              <a:buNone/>
            </a:pPr>
            <a:endParaRPr lang="zh-CN" altLang="en-US" b="0" dirty="0"/>
          </a:p>
          <a:p>
            <a:pPr marL="914400" lvl="1" indent="-457200" algn="just" eaLnBrk="1" hangingPunct="1">
              <a:lnSpc>
                <a:spcPct val="120000"/>
              </a:lnSpc>
              <a:buNone/>
            </a:pPr>
            <a:r>
              <a:rPr lang="zh-CN" altLang="en-US" b="0" dirty="0"/>
              <a:t>例如：</a:t>
            </a:r>
            <a:endParaRPr lang="zh-CN" altLang="en-US" b="0" dirty="0"/>
          </a:p>
          <a:p>
            <a:pPr marL="914400" lvl="1" indent="-457200" algn="just" eaLnBrk="1" hangingPunct="1">
              <a:lnSpc>
                <a:spcPct val="120000"/>
              </a:lnSpc>
              <a:buNone/>
            </a:pPr>
            <a:r>
              <a:rPr lang="zh-CN" altLang="en-US" b="0" dirty="0"/>
              <a:t>'</a:t>
            </a:r>
            <a:r>
              <a:rPr lang="en-US" altLang="zh-CN" b="0"/>
              <a:t>A' </a:t>
            </a:r>
            <a:r>
              <a:rPr lang="zh-CN" altLang="en-US" b="0" dirty="0"/>
              <a:t>的 </a:t>
            </a:r>
            <a:r>
              <a:rPr lang="en-US" altLang="zh-CN" b="0"/>
              <a:t>ASCII</a:t>
            </a:r>
            <a:r>
              <a:rPr lang="zh-CN" altLang="en-US" b="0" dirty="0"/>
              <a:t> 码 65</a:t>
            </a:r>
            <a:endParaRPr lang="zh-CN" altLang="en-US" b="0" dirty="0"/>
          </a:p>
          <a:p>
            <a:pPr marL="914400" lvl="1" indent="-457200" algn="just" eaLnBrk="1" hangingPunct="1">
              <a:lnSpc>
                <a:spcPct val="120000"/>
              </a:lnSpc>
              <a:buNone/>
            </a:pPr>
            <a:r>
              <a:rPr lang="zh-CN" altLang="en-US" b="0" dirty="0"/>
              <a:t>则：'</a:t>
            </a:r>
            <a:r>
              <a:rPr lang="en-US" altLang="zh-CN" b="0"/>
              <a:t>A'+1=66，</a:t>
            </a:r>
            <a:r>
              <a:rPr lang="zh-CN" altLang="en-US" b="0" dirty="0"/>
              <a:t>对应字符 '</a:t>
            </a:r>
            <a:r>
              <a:rPr lang="en-US" altLang="zh-CN" b="0"/>
              <a:t>B'</a:t>
            </a:r>
            <a:endParaRPr lang="zh-CN" altLang="en-US" b="0" dirty="0"/>
          </a:p>
        </p:txBody>
      </p:sp>
      <p:sp>
        <p:nvSpPr>
          <p:cNvPr id="335876" name="Text Box 4"/>
          <p:cNvSpPr txBox="1"/>
          <p:nvPr/>
        </p:nvSpPr>
        <p:spPr>
          <a:xfrm>
            <a:off x="4068763" y="3141663"/>
            <a:ext cx="4110037" cy="953135"/>
          </a:xfrm>
          <a:prstGeom prst="rect">
            <a:avLst/>
          </a:prstGeom>
          <a:noFill/>
          <a:ln w="12700">
            <a:noFill/>
          </a:ln>
        </p:spPr>
        <p:txBody>
          <a:bodyPr wrap="square" anchor="t" anchorCtr="0">
            <a:spAutoFit/>
          </a:bodyPr>
          <a:p>
            <a:pPr>
              <a:buClr>
                <a:srgbClr val="33CCCC"/>
              </a:buClr>
              <a:buSzPct val="110000"/>
            </a:pPr>
            <a:r>
              <a:rPr lang="zh-CN" altLang="en-US" sz="2800" dirty="0">
                <a:latin typeface="Arial" panose="02080604020202020204" pitchFamily="34" charset="0"/>
                <a:ea typeface="仿宋_GB2312" pitchFamily="49" charset="-122"/>
              </a:rPr>
              <a:t>区分数字字符和数字</a:t>
            </a:r>
            <a:endParaRPr lang="zh-CN" altLang="en-US" sz="2800" dirty="0">
              <a:latin typeface="Arial" panose="02080604020202020204" pitchFamily="34" charset="0"/>
              <a:ea typeface="仿宋_GB2312" pitchFamily="49" charset="-122"/>
            </a:endParaRPr>
          </a:p>
          <a:p>
            <a:pPr>
              <a:buClr>
                <a:srgbClr val="33CCCC"/>
              </a:buClr>
              <a:buSzPct val="110000"/>
            </a:pPr>
            <a:r>
              <a:rPr lang="en-US" altLang="zh-CN" sz="2800">
                <a:latin typeface="Arial" panose="02080604020202020204" pitchFamily="34" charset="0"/>
                <a:ea typeface="仿宋_GB2312" pitchFamily="49" charset="-122"/>
              </a:rPr>
              <a:t>      </a:t>
            </a:r>
            <a:r>
              <a:rPr lang="en-US" altLang="zh-CN" sz="2800">
                <a:solidFill>
                  <a:srgbClr val="CC0066"/>
                </a:solidFill>
                <a:latin typeface="Arial" panose="02080604020202020204" pitchFamily="34" charset="0"/>
                <a:ea typeface="仿宋_GB2312" pitchFamily="49" charset="-122"/>
              </a:rPr>
              <a:t>'1'          </a:t>
            </a:r>
            <a:r>
              <a:rPr lang="zh-CN" altLang="en-US" sz="2800" dirty="0">
                <a:solidFill>
                  <a:srgbClr val="CC0066"/>
                </a:solidFill>
                <a:latin typeface="Arial" panose="02080604020202020204" pitchFamily="34" charset="0"/>
                <a:ea typeface="仿宋_GB2312" pitchFamily="49" charset="-122"/>
              </a:rPr>
              <a:t>1</a:t>
            </a:r>
            <a:endParaRPr lang="en-US" altLang="en-US" sz="2400">
              <a:solidFill>
                <a:srgbClr val="CC0066"/>
              </a:solidFill>
              <a:latin typeface="Arial" panose="02080604020202020204" pitchFamily="34"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5875">
                                            <p:txEl>
                                              <p:charRg st="0" end="11"/>
                                            </p:txEl>
                                          </p:spTgt>
                                        </p:tgtEl>
                                        <p:attrNameLst>
                                          <p:attrName>style.visibility</p:attrName>
                                        </p:attrNameLst>
                                      </p:cBhvr>
                                      <p:to>
                                        <p:strVal val="visible"/>
                                      </p:to>
                                    </p:set>
                                    <p:anim calcmode="lin" valueType="num">
                                      <p:cBhvr additive="base">
                                        <p:cTn id="7" dur="500" fill="hold"/>
                                        <p:tgtEl>
                                          <p:spTgt spid="335875">
                                            <p:txEl>
                                              <p:charRg st="0" end="1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5875">
                                            <p:txEl>
                                              <p:charRg st="0" end="1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5875">
                                            <p:txEl>
                                              <p:charRg st="11" end="37"/>
                                            </p:txEl>
                                          </p:spTgt>
                                        </p:tgtEl>
                                        <p:attrNameLst>
                                          <p:attrName>style.visibility</p:attrName>
                                        </p:attrNameLst>
                                      </p:cBhvr>
                                      <p:to>
                                        <p:strVal val="visible"/>
                                      </p:to>
                                    </p:set>
                                    <p:anim calcmode="lin" valueType="num">
                                      <p:cBhvr additive="base">
                                        <p:cTn id="13" dur="500" fill="hold"/>
                                        <p:tgtEl>
                                          <p:spTgt spid="335875">
                                            <p:txEl>
                                              <p:charRg st="11" end="3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35875">
                                            <p:txEl>
                                              <p:charRg st="11" end="37"/>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35875">
                                            <p:txEl>
                                              <p:charRg st="38" end="42"/>
                                            </p:txEl>
                                          </p:spTgt>
                                        </p:tgtEl>
                                        <p:attrNameLst>
                                          <p:attrName>style.visibility</p:attrName>
                                        </p:attrNameLst>
                                      </p:cBhvr>
                                      <p:to>
                                        <p:strVal val="visible"/>
                                      </p:to>
                                    </p:set>
                                    <p:anim calcmode="lin" valueType="num">
                                      <p:cBhvr additive="base">
                                        <p:cTn id="19" dur="500" fill="hold"/>
                                        <p:tgtEl>
                                          <p:spTgt spid="335875">
                                            <p:txEl>
                                              <p:charRg st="38" end="4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35875">
                                            <p:txEl>
                                              <p:charRg st="38" end="4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35875">
                                            <p:txEl>
                                              <p:charRg st="42" end="59"/>
                                            </p:txEl>
                                          </p:spTgt>
                                        </p:tgtEl>
                                        <p:attrNameLst>
                                          <p:attrName>style.visibility</p:attrName>
                                        </p:attrNameLst>
                                      </p:cBhvr>
                                      <p:to>
                                        <p:strVal val="visible"/>
                                      </p:to>
                                    </p:set>
                                    <p:anim calcmode="lin" valueType="num">
                                      <p:cBhvr additive="base">
                                        <p:cTn id="25" dur="500" fill="hold"/>
                                        <p:tgtEl>
                                          <p:spTgt spid="335875">
                                            <p:txEl>
                                              <p:charRg st="42" end="5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35875">
                                            <p:txEl>
                                              <p:charRg st="42" end="59"/>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35875">
                                            <p:txEl>
                                              <p:charRg st="59" end="79"/>
                                            </p:txEl>
                                          </p:spTgt>
                                        </p:tgtEl>
                                        <p:attrNameLst>
                                          <p:attrName>style.visibility</p:attrName>
                                        </p:attrNameLst>
                                      </p:cBhvr>
                                      <p:to>
                                        <p:strVal val="visible"/>
                                      </p:to>
                                    </p:set>
                                    <p:anim calcmode="lin" valueType="num">
                                      <p:cBhvr additive="base">
                                        <p:cTn id="31" dur="500" fill="hold"/>
                                        <p:tgtEl>
                                          <p:spTgt spid="335875">
                                            <p:txEl>
                                              <p:charRg st="59" end="79"/>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35875">
                                            <p:txEl>
                                              <p:charRg st="59" end="79"/>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35876"/>
                                        </p:tgtEl>
                                        <p:attrNameLst>
                                          <p:attrName>style.visibility</p:attrName>
                                        </p:attrNameLst>
                                      </p:cBhvr>
                                      <p:to>
                                        <p:strVal val="visible"/>
                                      </p:to>
                                    </p:set>
                                    <p:anim calcmode="lin" valueType="num">
                                      <p:cBhvr additive="base">
                                        <p:cTn id="37" dur="500" fill="hold"/>
                                        <p:tgtEl>
                                          <p:spTgt spid="335876"/>
                                        </p:tgtEl>
                                        <p:attrNameLst>
                                          <p:attrName>ppt_x</p:attrName>
                                        </p:attrNameLst>
                                      </p:cBhvr>
                                      <p:tavLst>
                                        <p:tav tm="0">
                                          <p:val>
                                            <p:strVal val="1+#ppt_w/2"/>
                                          </p:val>
                                        </p:tav>
                                        <p:tav tm="100000">
                                          <p:val>
                                            <p:strVal val="#ppt_x"/>
                                          </p:val>
                                        </p:tav>
                                      </p:tavLst>
                                    </p:anim>
                                    <p:anim calcmode="lin" valueType="num">
                                      <p:cBhvr additive="base">
                                        <p:cTn id="38" dur="500" fill="hold"/>
                                        <p:tgtEl>
                                          <p:spTgt spid="3358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5" grpId="0" bldLvl="2" build="p"/>
      <p:bldP spid="33587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304800" y="457200"/>
            <a:ext cx="990600" cy="2743200"/>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转义字符</a:t>
            </a:r>
            <a:endParaRPr lang="zh-CN" altLang="en-US" b="0" dirty="0">
              <a:sym typeface="+mn-ea"/>
            </a:endParaRPr>
          </a:p>
        </p:txBody>
      </p:sp>
      <p:sp>
        <p:nvSpPr>
          <p:cNvPr id="334851" name="Rectangle 3"/>
          <p:cNvSpPr>
            <a:spLocks noGrp="1"/>
          </p:cNvSpPr>
          <p:nvPr>
            <p:ph idx="1"/>
          </p:nvPr>
        </p:nvSpPr>
        <p:spPr>
          <a:xfrm>
            <a:off x="1619250" y="4221163"/>
            <a:ext cx="6192838" cy="2254250"/>
          </a:xfrm>
        </p:spPr>
        <p:txBody>
          <a:bodyPr vert="horz" wrap="square" lIns="91440" tIns="45720" rIns="91440" bIns="45720" anchor="t" anchorCtr="0"/>
          <a:p>
            <a:pPr algn="just" eaLnBrk="1" hangingPunct="1">
              <a:lnSpc>
                <a:spcPct val="120000"/>
              </a:lnSpc>
            </a:pPr>
            <a:r>
              <a:rPr lang="zh-CN" altLang="en-US" sz="2800" b="0" dirty="0"/>
              <a:t>反斜杠后跟一个字符或数字</a:t>
            </a:r>
            <a:endParaRPr lang="zh-CN" altLang="en-US" sz="2800" b="0" dirty="0"/>
          </a:p>
          <a:p>
            <a:pPr algn="just" eaLnBrk="1" hangingPunct="1">
              <a:lnSpc>
                <a:spcPct val="120000"/>
              </a:lnSpc>
            </a:pPr>
            <a:r>
              <a:rPr lang="zh-CN" altLang="en-US" sz="2800" b="0" dirty="0"/>
              <a:t>字符常量，代表</a:t>
            </a:r>
            <a:r>
              <a:rPr lang="zh-CN" altLang="en-US" sz="2800" b="0" dirty="0">
                <a:solidFill>
                  <a:srgbClr val="CC0066"/>
                </a:solidFill>
              </a:rPr>
              <a:t>一个</a:t>
            </a:r>
            <a:r>
              <a:rPr lang="zh-CN" altLang="en-US" sz="2800" b="0" dirty="0"/>
              <a:t>字符</a:t>
            </a:r>
            <a:endParaRPr lang="zh-CN" altLang="en-US" sz="2800" b="0" dirty="0"/>
          </a:p>
          <a:p>
            <a:pPr lvl="1" algn="just" eaLnBrk="1" hangingPunct="1">
              <a:lnSpc>
                <a:spcPct val="120000"/>
              </a:lnSpc>
              <a:buNone/>
            </a:pPr>
            <a:r>
              <a:rPr lang="zh-CN" altLang="en-US" sz="2400" b="0" dirty="0"/>
              <a:t>  </a:t>
            </a:r>
            <a:r>
              <a:rPr lang="zh-CN" altLang="en-US" sz="2400" b="0" dirty="0">
                <a:solidFill>
                  <a:schemeClr val="bg2"/>
                </a:solidFill>
              </a:rPr>
              <a:t>'\</a:t>
            </a:r>
            <a:r>
              <a:rPr lang="en-US" altLang="zh-CN" sz="2400" b="0">
                <a:solidFill>
                  <a:schemeClr val="bg2"/>
                </a:solidFill>
              </a:rPr>
              <a:t>n'</a:t>
            </a:r>
            <a:r>
              <a:rPr lang="en-US" altLang="zh-CN" sz="2400" b="0">
                <a:solidFill>
                  <a:srgbClr val="CC0066"/>
                </a:solidFill>
              </a:rPr>
              <a:t>   </a:t>
            </a:r>
            <a:r>
              <a:rPr lang="en-US" altLang="zh-CN" sz="2400" b="0">
                <a:solidFill>
                  <a:schemeClr val="bg2"/>
                </a:solidFill>
              </a:rPr>
              <a:t>'\101'</a:t>
            </a:r>
            <a:r>
              <a:rPr lang="en-US" altLang="zh-CN" sz="2400" b="0">
                <a:solidFill>
                  <a:srgbClr val="CC0066"/>
                </a:solidFill>
              </a:rPr>
              <a:t>   </a:t>
            </a:r>
            <a:r>
              <a:rPr lang="en-US" altLang="zh-CN" sz="2400" b="0">
                <a:solidFill>
                  <a:schemeClr val="bg2"/>
                </a:solidFill>
              </a:rPr>
              <a:t>'\x41'</a:t>
            </a:r>
            <a:r>
              <a:rPr lang="en-US" altLang="zh-CN" sz="2400" b="0">
                <a:solidFill>
                  <a:schemeClr val="accent1"/>
                </a:solidFill>
              </a:rPr>
              <a:t>   </a:t>
            </a:r>
            <a:r>
              <a:rPr lang="en-US" altLang="zh-CN" sz="2400" b="0"/>
              <a:t>'A'</a:t>
            </a:r>
            <a:endParaRPr lang="en-US" altLang="zh-CN" sz="2400" b="0"/>
          </a:p>
          <a:p>
            <a:pPr algn="just" eaLnBrk="1" hangingPunct="1">
              <a:lnSpc>
                <a:spcPct val="120000"/>
              </a:lnSpc>
            </a:pPr>
            <a:r>
              <a:rPr lang="zh-CN" altLang="en-US" sz="2800" b="0" dirty="0"/>
              <a:t>所有字符都可以用转义字符表示</a:t>
            </a:r>
            <a:endParaRPr lang="zh-CN" altLang="en-US" sz="2800" b="0" dirty="0"/>
          </a:p>
        </p:txBody>
      </p:sp>
      <p:graphicFrame>
        <p:nvGraphicFramePr>
          <p:cNvPr id="33796" name="Object 4"/>
          <p:cNvGraphicFramePr/>
          <p:nvPr/>
        </p:nvGraphicFramePr>
        <p:xfrm>
          <a:off x="1524000" y="0"/>
          <a:ext cx="7010400" cy="4059238"/>
        </p:xfrm>
        <a:graphic>
          <a:graphicData uri="http://schemas.openxmlformats.org/presentationml/2006/ole">
            <mc:AlternateContent xmlns:mc="http://schemas.openxmlformats.org/markup-compatibility/2006">
              <mc:Choice xmlns:v="urn:schemas-microsoft-com:vml" Requires="v">
                <p:oleObj spid="_x0000_s3076" name="" r:id="rId1" imgW="4572000" imgH="2647950" progId="Paint.Picture">
                  <p:embed/>
                </p:oleObj>
              </mc:Choice>
              <mc:Fallback>
                <p:oleObj name="" r:id="rId1" imgW="4572000" imgH="2647950" progId="Paint.Picture">
                  <p:embed/>
                  <p:pic>
                    <p:nvPicPr>
                      <p:cNvPr id="0" name="图片 3075"/>
                      <p:cNvPicPr/>
                      <p:nvPr/>
                    </p:nvPicPr>
                    <p:blipFill>
                      <a:blip r:embed="rId2"/>
                      <a:stretch>
                        <a:fillRect/>
                      </a:stretch>
                    </p:blipFill>
                    <p:spPr>
                      <a:xfrm>
                        <a:off x="1524000" y="0"/>
                        <a:ext cx="7010400" cy="40592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4851">
                                            <p:txEl>
                                              <p:charRg st="0" end="13"/>
                                            </p:txEl>
                                          </p:spTgt>
                                        </p:tgtEl>
                                        <p:attrNameLst>
                                          <p:attrName>style.visibility</p:attrName>
                                        </p:attrNameLst>
                                      </p:cBhvr>
                                      <p:to>
                                        <p:strVal val="visible"/>
                                      </p:to>
                                    </p:set>
                                    <p:anim calcmode="lin" valueType="num">
                                      <p:cBhvr additive="base">
                                        <p:cTn id="7" dur="500" fill="hold"/>
                                        <p:tgtEl>
                                          <p:spTgt spid="334851">
                                            <p:txEl>
                                              <p:charRg st="0" end="1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4851">
                                            <p:txEl>
                                              <p:charRg st="0" end="1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4851">
                                            <p:txEl>
                                              <p:charRg st="13" end="25"/>
                                            </p:txEl>
                                          </p:spTgt>
                                        </p:tgtEl>
                                        <p:attrNameLst>
                                          <p:attrName>style.visibility</p:attrName>
                                        </p:attrNameLst>
                                      </p:cBhvr>
                                      <p:to>
                                        <p:strVal val="visible"/>
                                      </p:to>
                                    </p:set>
                                    <p:anim calcmode="lin" valueType="num">
                                      <p:cBhvr additive="base">
                                        <p:cTn id="13" dur="500" fill="hold"/>
                                        <p:tgtEl>
                                          <p:spTgt spid="334851">
                                            <p:txEl>
                                              <p:charRg st="13" end="2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34851">
                                            <p:txEl>
                                              <p:charRg st="13" end="25"/>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34851">
                                            <p:txEl>
                                              <p:charRg st="25" end="56"/>
                                            </p:txEl>
                                          </p:spTgt>
                                        </p:tgtEl>
                                        <p:attrNameLst>
                                          <p:attrName>style.visibility</p:attrName>
                                        </p:attrNameLst>
                                      </p:cBhvr>
                                      <p:to>
                                        <p:strVal val="visible"/>
                                      </p:to>
                                    </p:set>
                                    <p:anim calcmode="lin" valueType="num">
                                      <p:cBhvr additive="base">
                                        <p:cTn id="19" dur="500" fill="hold"/>
                                        <p:tgtEl>
                                          <p:spTgt spid="334851">
                                            <p:txEl>
                                              <p:charRg st="25" end="5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34851">
                                            <p:txEl>
                                              <p:charRg st="25" end="56"/>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34851">
                                            <p:txEl>
                                              <p:charRg st="56" end="71"/>
                                            </p:txEl>
                                          </p:spTgt>
                                        </p:tgtEl>
                                        <p:attrNameLst>
                                          <p:attrName>style.visibility</p:attrName>
                                        </p:attrNameLst>
                                      </p:cBhvr>
                                      <p:to>
                                        <p:strVal val="visible"/>
                                      </p:to>
                                    </p:set>
                                    <p:anim calcmode="lin" valueType="num">
                                      <p:cBhvr additive="base">
                                        <p:cTn id="25" dur="500" fill="hold"/>
                                        <p:tgtEl>
                                          <p:spTgt spid="334851">
                                            <p:txEl>
                                              <p:charRg st="56" end="7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34851">
                                            <p:txEl>
                                              <p:charRg st="56" end="7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bldLvl="3"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xfrm>
            <a:off x="457200" y="457200"/>
            <a:ext cx="4835525" cy="1100138"/>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6.2.2  </a:t>
            </a:r>
            <a:r>
              <a:rPr lang="zh-CN" altLang="en-US" b="0" dirty="0">
                <a:sym typeface="+mn-ea"/>
              </a:rPr>
              <a:t>变量</a:t>
            </a:r>
            <a:endParaRPr lang="zh-CN" altLang="en-US" b="0" dirty="0">
              <a:sym typeface="+mn-ea"/>
            </a:endParaRPr>
          </a:p>
        </p:txBody>
      </p:sp>
      <p:sp>
        <p:nvSpPr>
          <p:cNvPr id="237571" name="Rectangle 3"/>
          <p:cNvSpPr>
            <a:spLocks noGrp="1"/>
          </p:cNvSpPr>
          <p:nvPr>
            <p:ph idx="1"/>
          </p:nvPr>
        </p:nvSpPr>
        <p:spPr>
          <a:xfrm>
            <a:off x="539750" y="1628775"/>
            <a:ext cx="8001000" cy="3505200"/>
          </a:xfrm>
        </p:spPr>
        <p:txBody>
          <a:bodyPr vert="horz" wrap="square" lIns="91440" tIns="45720" rIns="91440" bIns="45720" anchor="t" anchorCtr="0"/>
          <a:p>
            <a:pPr marL="476250" indent="-476250" eaLnBrk="1" hangingPunct="1">
              <a:buNone/>
            </a:pPr>
            <a:r>
              <a:rPr lang="zh-CN" altLang="en-US" b="0" dirty="0">
                <a:latin typeface="宋体" pitchFamily="2" charset="-122"/>
              </a:rPr>
              <a:t>在程序运行过程中，其值可以被改变的量。</a:t>
            </a:r>
            <a:endParaRPr lang="zh-CN" altLang="en-US" b="0" dirty="0">
              <a:latin typeface="宋体" pitchFamily="2" charset="-122"/>
            </a:endParaRPr>
          </a:p>
          <a:p>
            <a:pPr marL="476250" indent="-476250" eaLnBrk="1" hangingPunct="1">
              <a:buNone/>
            </a:pPr>
            <a:endParaRPr lang="en-US" altLang="zh-CN" b="0">
              <a:latin typeface="宋体" pitchFamily="2" charset="-122"/>
            </a:endParaRPr>
          </a:p>
          <a:p>
            <a:pPr marL="476250" indent="-476250" eaLnBrk="1" hangingPunct="1"/>
            <a:r>
              <a:rPr lang="zh-CN" altLang="en-US" b="0" dirty="0">
                <a:latin typeface="宋体" pitchFamily="2" charset="-122"/>
              </a:rPr>
              <a:t>变量必须先定义，后使用</a:t>
            </a:r>
            <a:endParaRPr lang="zh-CN" altLang="en-US" b="0" dirty="0">
              <a:latin typeface="宋体" pitchFamily="2" charset="-122"/>
            </a:endParaRPr>
          </a:p>
          <a:p>
            <a:pPr marL="476250" indent="-476250" eaLnBrk="1" hangingPunct="1"/>
            <a:r>
              <a:rPr lang="zh-CN" altLang="en-US" b="0" dirty="0">
                <a:latin typeface="宋体" pitchFamily="2" charset="-122"/>
              </a:rPr>
              <a:t>定义变量时要指定变量名和数据类型</a:t>
            </a:r>
            <a:endParaRPr lang="zh-CN" altLang="en-US" b="0" dirty="0">
              <a:latin typeface="宋体" pitchFamily="2" charset="-122"/>
            </a:endParaRPr>
          </a:p>
          <a:p>
            <a:pPr marL="476250" indent="-476250" eaLnBrk="1" hangingPunct="1"/>
            <a:r>
              <a:rPr lang="zh-CN" altLang="en-US" b="0" dirty="0">
                <a:latin typeface="宋体" pitchFamily="2" charset="-122"/>
              </a:rPr>
              <a:t>变量应该先赋值，后引用</a:t>
            </a:r>
            <a:endParaRPr lang="zh-CN" altLang="en-US" b="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7571">
                                            <p:txEl>
                                              <p:charRg st="0" end="20"/>
                                            </p:txEl>
                                          </p:spTgt>
                                        </p:tgtEl>
                                        <p:attrNameLst>
                                          <p:attrName>style.visibility</p:attrName>
                                        </p:attrNameLst>
                                      </p:cBhvr>
                                      <p:to>
                                        <p:strVal val="visible"/>
                                      </p:to>
                                    </p:set>
                                    <p:anim calcmode="lin" valueType="num">
                                      <p:cBhvr additive="base">
                                        <p:cTn id="7" dur="500" fill="hold"/>
                                        <p:tgtEl>
                                          <p:spTgt spid="237571">
                                            <p:txEl>
                                              <p:charRg st="0" end="2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7571">
                                            <p:txEl>
                                              <p:charRg st="0" end="2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7571">
                                            <p:txEl>
                                              <p:charRg st="21" end="33"/>
                                            </p:txEl>
                                          </p:spTgt>
                                        </p:tgtEl>
                                        <p:attrNameLst>
                                          <p:attrName>style.visibility</p:attrName>
                                        </p:attrNameLst>
                                      </p:cBhvr>
                                      <p:to>
                                        <p:strVal val="visible"/>
                                      </p:to>
                                    </p:set>
                                    <p:anim calcmode="lin" valueType="num">
                                      <p:cBhvr additive="base">
                                        <p:cTn id="13" dur="500" fill="hold"/>
                                        <p:tgtEl>
                                          <p:spTgt spid="237571">
                                            <p:txEl>
                                              <p:charRg st="21" end="3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7571">
                                            <p:txEl>
                                              <p:charRg st="21" end="3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7571">
                                            <p:txEl>
                                              <p:charRg st="33" end="50"/>
                                            </p:txEl>
                                          </p:spTgt>
                                        </p:tgtEl>
                                        <p:attrNameLst>
                                          <p:attrName>style.visibility</p:attrName>
                                        </p:attrNameLst>
                                      </p:cBhvr>
                                      <p:to>
                                        <p:strVal val="visible"/>
                                      </p:to>
                                    </p:set>
                                    <p:anim calcmode="lin" valueType="num">
                                      <p:cBhvr additive="base">
                                        <p:cTn id="19" dur="500" fill="hold"/>
                                        <p:tgtEl>
                                          <p:spTgt spid="237571">
                                            <p:txEl>
                                              <p:charRg st="33" end="5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7571">
                                            <p:txEl>
                                              <p:charRg st="33" end="5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7571">
                                            <p:txEl>
                                              <p:charRg st="50" end="62"/>
                                            </p:txEl>
                                          </p:spTgt>
                                        </p:tgtEl>
                                        <p:attrNameLst>
                                          <p:attrName>style.visibility</p:attrName>
                                        </p:attrNameLst>
                                      </p:cBhvr>
                                      <p:to>
                                        <p:strVal val="visible"/>
                                      </p:to>
                                    </p:set>
                                    <p:anim calcmode="lin" valueType="num">
                                      <p:cBhvr additive="base">
                                        <p:cTn id="25" dur="500" fill="hold"/>
                                        <p:tgtEl>
                                          <p:spTgt spid="237571">
                                            <p:txEl>
                                              <p:charRg st="50" end="6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7571">
                                            <p:txEl>
                                              <p:charRg st="50" end="6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5867400" y="404813"/>
            <a:ext cx="3097213"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变量的定义</a:t>
            </a:r>
            <a:endParaRPr lang="zh-CN" altLang="en-US" b="0" dirty="0">
              <a:sym typeface="+mn-ea"/>
            </a:endParaRPr>
          </a:p>
        </p:txBody>
      </p:sp>
      <p:sp>
        <p:nvSpPr>
          <p:cNvPr id="238595" name="Rectangle 3"/>
          <p:cNvSpPr>
            <a:spLocks noGrp="1"/>
          </p:cNvSpPr>
          <p:nvPr>
            <p:ph idx="1"/>
          </p:nvPr>
        </p:nvSpPr>
        <p:spPr>
          <a:xfrm>
            <a:off x="323850" y="765175"/>
            <a:ext cx="8534400" cy="5410200"/>
          </a:xfrm>
        </p:spPr>
        <p:txBody>
          <a:bodyPr vert="horz" wrap="square" lIns="91440" tIns="45720" rIns="91440" bIns="45720" anchor="t" anchorCtr="0"/>
          <a:p>
            <a:pPr algn="just" eaLnBrk="1" hangingPunct="1"/>
            <a:r>
              <a:rPr lang="zh-CN" altLang="en-US" b="0" dirty="0"/>
              <a:t>变量名：合法的标识符</a:t>
            </a:r>
            <a:endParaRPr lang="zh-CN" altLang="en-US" b="0" dirty="0"/>
          </a:p>
          <a:p>
            <a:pPr lvl="1" algn="just" eaLnBrk="1" hangingPunct="1">
              <a:buNone/>
            </a:pPr>
            <a:r>
              <a:rPr lang="zh-CN" altLang="en-US" b="0" dirty="0"/>
              <a:t>小写字母；见名知义</a:t>
            </a:r>
            <a:endParaRPr lang="zh-CN" altLang="en-US" b="0" dirty="0"/>
          </a:p>
          <a:p>
            <a:pPr algn="just" eaLnBrk="1" hangingPunct="1"/>
            <a:r>
              <a:rPr lang="zh-CN" altLang="en-US" b="0" dirty="0"/>
              <a:t>变量的类型：在定义时指定</a:t>
            </a:r>
            <a:endParaRPr lang="zh-CN" altLang="en-US" b="0" dirty="0"/>
          </a:p>
          <a:p>
            <a:pPr algn="just" eaLnBrk="1" hangingPunct="1"/>
            <a:r>
              <a:rPr lang="zh-CN" altLang="en-US" b="0" dirty="0"/>
              <a:t>变量定义的一般形式</a:t>
            </a:r>
            <a:endParaRPr lang="zh-CN" altLang="en-US" b="0" dirty="0"/>
          </a:p>
          <a:p>
            <a:pPr lvl="1" algn="just" eaLnBrk="1" hangingPunct="1">
              <a:buNone/>
            </a:pPr>
            <a:r>
              <a:rPr lang="zh-CN" altLang="en-US" b="0" dirty="0">
                <a:solidFill>
                  <a:schemeClr val="bg2"/>
                </a:solidFill>
                <a:latin typeface="Times New Roman" pitchFamily="18" charset="0"/>
              </a:rPr>
              <a:t>类型名   变量名表；</a:t>
            </a:r>
            <a:endParaRPr lang="zh-CN" altLang="en-US" b="0" dirty="0">
              <a:solidFill>
                <a:schemeClr val="bg2"/>
              </a:solidFill>
              <a:latin typeface="Times New Roman" pitchFamily="18" charset="0"/>
            </a:endParaRPr>
          </a:p>
          <a:p>
            <a:pPr lvl="1" algn="just" eaLnBrk="1" hangingPunct="1">
              <a:buNone/>
            </a:pPr>
            <a:r>
              <a:rPr lang="en-US" altLang="zh-CN" b="0" err="1">
                <a:solidFill>
                  <a:srgbClr val="CC0066"/>
                </a:solidFill>
              </a:rPr>
              <a:t>int</a:t>
            </a:r>
            <a:r>
              <a:rPr lang="en-US" altLang="zh-CN" b="0"/>
              <a:t> </a:t>
            </a:r>
            <a:r>
              <a:rPr lang="en-US" altLang="zh-CN" b="0" err="1"/>
              <a:t>celsius</a:t>
            </a:r>
            <a:r>
              <a:rPr lang="en-US" altLang="zh-CN" b="0"/>
              <a:t>, </a:t>
            </a:r>
            <a:r>
              <a:rPr lang="en-US" altLang="zh-CN" b="0" err="1"/>
              <a:t>fahr</a:t>
            </a:r>
            <a:r>
              <a:rPr lang="en-US" altLang="zh-CN" b="0"/>
              <a:t>;           </a:t>
            </a:r>
            <a:endParaRPr lang="zh-CN" altLang="en-US" b="0" dirty="0">
              <a:solidFill>
                <a:schemeClr val="accent1"/>
              </a:solidFill>
              <a:latin typeface="Times New Roman" pitchFamily="18" charset="0"/>
            </a:endParaRPr>
          </a:p>
          <a:p>
            <a:pPr lvl="1" algn="just" eaLnBrk="1" hangingPunct="1">
              <a:buNone/>
            </a:pPr>
            <a:r>
              <a:rPr lang="en-US" altLang="zh-CN" b="0">
                <a:solidFill>
                  <a:srgbClr val="CC0066"/>
                </a:solidFill>
              </a:rPr>
              <a:t>float</a:t>
            </a:r>
            <a:r>
              <a:rPr lang="en-US" altLang="zh-CN" b="0"/>
              <a:t> x;</a:t>
            </a:r>
            <a:endParaRPr lang="zh-CN" altLang="en-US" b="0" dirty="0">
              <a:solidFill>
                <a:schemeClr val="accent1"/>
              </a:solidFill>
              <a:latin typeface="Times New Roman" pitchFamily="18" charset="0"/>
            </a:endParaRPr>
          </a:p>
          <a:p>
            <a:pPr lvl="1" algn="just" eaLnBrk="1" hangingPunct="1">
              <a:buNone/>
            </a:pPr>
            <a:r>
              <a:rPr lang="en-US" altLang="zh-CN" b="0">
                <a:solidFill>
                  <a:srgbClr val="CC0066"/>
                </a:solidFill>
              </a:rPr>
              <a:t>double</a:t>
            </a:r>
            <a:r>
              <a:rPr lang="en-US" altLang="zh-CN" b="0"/>
              <a:t> area, length;</a:t>
            </a:r>
            <a:endParaRPr lang="en-US" altLang="zh-CN" b="0"/>
          </a:p>
          <a:p>
            <a:pPr lvl="1" algn="just" eaLnBrk="1" hangingPunct="1"/>
            <a:r>
              <a:rPr lang="zh-CN" altLang="en-US" sz="2400" b="0" dirty="0">
                <a:solidFill>
                  <a:schemeClr val="bg2"/>
                </a:solidFill>
              </a:rPr>
              <a:t>变量名</a:t>
            </a:r>
            <a:r>
              <a:rPr lang="zh-CN" altLang="en-US" sz="2400" b="0" dirty="0"/>
              <a:t>代表内存中的一个存储单元，存放该变量的值</a:t>
            </a:r>
            <a:endParaRPr lang="zh-CN" altLang="en-US" sz="2400" b="0" dirty="0"/>
          </a:p>
          <a:p>
            <a:pPr lvl="1" algn="just" eaLnBrk="1" hangingPunct="1"/>
            <a:r>
              <a:rPr lang="zh-CN" altLang="en-US" sz="2400" b="0" dirty="0"/>
              <a:t>该存储单元的大小由变量的</a:t>
            </a:r>
            <a:r>
              <a:rPr lang="zh-CN" altLang="en-US" sz="2400" b="0" dirty="0">
                <a:solidFill>
                  <a:schemeClr val="bg2"/>
                </a:solidFill>
              </a:rPr>
              <a:t>数据类型</a:t>
            </a:r>
            <a:r>
              <a:rPr lang="zh-CN" altLang="en-US" sz="2400" b="0" dirty="0"/>
              <a:t>决定</a:t>
            </a:r>
            <a:endParaRPr lang="en-US" altLang="zh-CN" sz="2400" b="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8595">
                                            <p:txEl>
                                              <p:charRg st="0" end="11"/>
                                            </p:txEl>
                                          </p:spTgt>
                                        </p:tgtEl>
                                        <p:attrNameLst>
                                          <p:attrName>style.visibility</p:attrName>
                                        </p:attrNameLst>
                                      </p:cBhvr>
                                      <p:to>
                                        <p:strVal val="visible"/>
                                      </p:to>
                                    </p:set>
                                    <p:anim calcmode="lin" valueType="num">
                                      <p:cBhvr additive="base">
                                        <p:cTn id="7" dur="500" fill="hold"/>
                                        <p:tgtEl>
                                          <p:spTgt spid="238595">
                                            <p:txEl>
                                              <p:charRg st="0" end="1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8595">
                                            <p:txEl>
                                              <p:charRg st="0" end="1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8595">
                                            <p:txEl>
                                              <p:charRg st="11" end="21"/>
                                            </p:txEl>
                                          </p:spTgt>
                                        </p:tgtEl>
                                        <p:attrNameLst>
                                          <p:attrName>style.visibility</p:attrName>
                                        </p:attrNameLst>
                                      </p:cBhvr>
                                      <p:to>
                                        <p:strVal val="visible"/>
                                      </p:to>
                                    </p:set>
                                    <p:anim calcmode="lin" valueType="num">
                                      <p:cBhvr additive="base">
                                        <p:cTn id="13" dur="500" fill="hold"/>
                                        <p:tgtEl>
                                          <p:spTgt spid="238595">
                                            <p:txEl>
                                              <p:charRg st="11" end="2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8595">
                                            <p:txEl>
                                              <p:charRg st="11" end="2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8595">
                                            <p:txEl>
                                              <p:charRg st="21" end="34"/>
                                            </p:txEl>
                                          </p:spTgt>
                                        </p:tgtEl>
                                        <p:attrNameLst>
                                          <p:attrName>style.visibility</p:attrName>
                                        </p:attrNameLst>
                                      </p:cBhvr>
                                      <p:to>
                                        <p:strVal val="visible"/>
                                      </p:to>
                                    </p:set>
                                    <p:anim calcmode="lin" valueType="num">
                                      <p:cBhvr additive="base">
                                        <p:cTn id="19" dur="500" fill="hold"/>
                                        <p:tgtEl>
                                          <p:spTgt spid="238595">
                                            <p:txEl>
                                              <p:charRg st="21" end="3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8595">
                                            <p:txEl>
                                              <p:charRg st="21" end="3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8595">
                                            <p:txEl>
                                              <p:charRg st="34" end="44"/>
                                            </p:txEl>
                                          </p:spTgt>
                                        </p:tgtEl>
                                        <p:attrNameLst>
                                          <p:attrName>style.visibility</p:attrName>
                                        </p:attrNameLst>
                                      </p:cBhvr>
                                      <p:to>
                                        <p:strVal val="visible"/>
                                      </p:to>
                                    </p:set>
                                    <p:anim calcmode="lin" valueType="num">
                                      <p:cBhvr additive="base">
                                        <p:cTn id="25" dur="500" fill="hold"/>
                                        <p:tgtEl>
                                          <p:spTgt spid="238595">
                                            <p:txEl>
                                              <p:charRg st="34" end="4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8595">
                                            <p:txEl>
                                              <p:charRg st="34" end="4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8595">
                                            <p:txEl>
                                              <p:charRg st="44" end="56"/>
                                            </p:txEl>
                                          </p:spTgt>
                                        </p:tgtEl>
                                        <p:attrNameLst>
                                          <p:attrName>style.visibility</p:attrName>
                                        </p:attrNameLst>
                                      </p:cBhvr>
                                      <p:to>
                                        <p:strVal val="visible"/>
                                      </p:to>
                                    </p:set>
                                    <p:anim calcmode="lin" valueType="num">
                                      <p:cBhvr additive="base">
                                        <p:cTn id="31" dur="500" fill="hold"/>
                                        <p:tgtEl>
                                          <p:spTgt spid="238595">
                                            <p:txEl>
                                              <p:charRg st="44" end="5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8595">
                                            <p:txEl>
                                              <p:charRg st="44" end="5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8595">
                                            <p:txEl>
                                              <p:charRg st="56" end="86"/>
                                            </p:txEl>
                                          </p:spTgt>
                                        </p:tgtEl>
                                        <p:attrNameLst>
                                          <p:attrName>style.visibility</p:attrName>
                                        </p:attrNameLst>
                                      </p:cBhvr>
                                      <p:to>
                                        <p:strVal val="visible"/>
                                      </p:to>
                                    </p:set>
                                    <p:anim calcmode="lin" valueType="num">
                                      <p:cBhvr additive="base">
                                        <p:cTn id="37" dur="500" fill="hold"/>
                                        <p:tgtEl>
                                          <p:spTgt spid="238595">
                                            <p:txEl>
                                              <p:charRg st="56" end="8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8595">
                                            <p:txEl>
                                              <p:charRg st="56" end="8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8595">
                                            <p:txEl>
                                              <p:charRg st="86" end="95"/>
                                            </p:txEl>
                                          </p:spTgt>
                                        </p:tgtEl>
                                        <p:attrNameLst>
                                          <p:attrName>style.visibility</p:attrName>
                                        </p:attrNameLst>
                                      </p:cBhvr>
                                      <p:to>
                                        <p:strVal val="visible"/>
                                      </p:to>
                                    </p:set>
                                    <p:anim calcmode="lin" valueType="num">
                                      <p:cBhvr additive="base">
                                        <p:cTn id="43" dur="500" fill="hold"/>
                                        <p:tgtEl>
                                          <p:spTgt spid="238595">
                                            <p:txEl>
                                              <p:charRg st="86" end="9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8595">
                                            <p:txEl>
                                              <p:charRg st="86" end="95"/>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8595">
                                            <p:txEl>
                                              <p:charRg st="95" end="116"/>
                                            </p:txEl>
                                          </p:spTgt>
                                        </p:tgtEl>
                                        <p:attrNameLst>
                                          <p:attrName>style.visibility</p:attrName>
                                        </p:attrNameLst>
                                      </p:cBhvr>
                                      <p:to>
                                        <p:strVal val="visible"/>
                                      </p:to>
                                    </p:set>
                                    <p:anim calcmode="lin" valueType="num">
                                      <p:cBhvr additive="base">
                                        <p:cTn id="49" dur="500" fill="hold"/>
                                        <p:tgtEl>
                                          <p:spTgt spid="238595">
                                            <p:txEl>
                                              <p:charRg st="95" end="116"/>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38595">
                                            <p:txEl>
                                              <p:charRg st="95" end="116"/>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38595">
                                            <p:txEl>
                                              <p:charRg st="116" end="140"/>
                                            </p:txEl>
                                          </p:spTgt>
                                        </p:tgtEl>
                                        <p:attrNameLst>
                                          <p:attrName>style.visibility</p:attrName>
                                        </p:attrNameLst>
                                      </p:cBhvr>
                                      <p:to>
                                        <p:strVal val="visible"/>
                                      </p:to>
                                    </p:set>
                                    <p:anim calcmode="lin" valueType="num">
                                      <p:cBhvr additive="base">
                                        <p:cTn id="55" dur="500" fill="hold"/>
                                        <p:tgtEl>
                                          <p:spTgt spid="238595">
                                            <p:txEl>
                                              <p:charRg st="116" end="14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38595">
                                            <p:txEl>
                                              <p:charRg st="116" end="140"/>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38595">
                                            <p:txEl>
                                              <p:charRg st="140" end="159"/>
                                            </p:txEl>
                                          </p:spTgt>
                                        </p:tgtEl>
                                        <p:attrNameLst>
                                          <p:attrName>style.visibility</p:attrName>
                                        </p:attrNameLst>
                                      </p:cBhvr>
                                      <p:to>
                                        <p:strVal val="visible"/>
                                      </p:to>
                                    </p:set>
                                    <p:anim calcmode="lin" valueType="num">
                                      <p:cBhvr additive="base">
                                        <p:cTn id="61" dur="500" fill="hold"/>
                                        <p:tgtEl>
                                          <p:spTgt spid="238595">
                                            <p:txEl>
                                              <p:charRg st="140" end="15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38595">
                                            <p:txEl>
                                              <p:charRg st="140" end="15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ldLvl="2"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5867400" y="404813"/>
            <a:ext cx="3097213"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变量的使用</a:t>
            </a:r>
            <a:endParaRPr lang="zh-CN" altLang="en-US" b="0" dirty="0">
              <a:sym typeface="+mn-ea"/>
            </a:endParaRPr>
          </a:p>
        </p:txBody>
      </p:sp>
      <p:sp>
        <p:nvSpPr>
          <p:cNvPr id="440323" name="Rectangle 3"/>
          <p:cNvSpPr>
            <a:spLocks noGrp="1"/>
          </p:cNvSpPr>
          <p:nvPr>
            <p:ph idx="1"/>
          </p:nvPr>
        </p:nvSpPr>
        <p:spPr>
          <a:xfrm>
            <a:off x="395288" y="692150"/>
            <a:ext cx="7200900" cy="5689600"/>
          </a:xfrm>
        </p:spPr>
        <p:txBody>
          <a:bodyPr vert="horz" wrap="square" lIns="91440" tIns="45720" rIns="91440" bIns="45720" anchor="t" anchorCtr="0"/>
          <a:p>
            <a:pPr algn="just" eaLnBrk="1" hangingPunct="1">
              <a:lnSpc>
                <a:spcPct val="90000"/>
              </a:lnSpc>
            </a:pPr>
            <a:r>
              <a:rPr lang="zh-CN" altLang="en-US" b="0" dirty="0"/>
              <a:t>必须先</a:t>
            </a:r>
            <a:r>
              <a:rPr lang="zh-CN" altLang="en-US" b="0" dirty="0">
                <a:solidFill>
                  <a:srgbClr val="CC0066"/>
                </a:solidFill>
              </a:rPr>
              <a:t>定义</a:t>
            </a:r>
            <a:r>
              <a:rPr lang="zh-CN" altLang="en-US" b="0" dirty="0"/>
              <a:t>，后</a:t>
            </a:r>
            <a:r>
              <a:rPr lang="zh-CN" altLang="en-US" b="0" dirty="0">
                <a:solidFill>
                  <a:schemeClr val="bg2"/>
                </a:solidFill>
              </a:rPr>
              <a:t>使用</a:t>
            </a:r>
            <a:endParaRPr lang="zh-CN" altLang="en-US" b="0" dirty="0">
              <a:solidFill>
                <a:schemeClr val="bg2"/>
              </a:solidFill>
            </a:endParaRPr>
          </a:p>
          <a:p>
            <a:pPr algn="just" eaLnBrk="1" hangingPunct="1">
              <a:lnSpc>
                <a:spcPct val="90000"/>
              </a:lnSpc>
            </a:pPr>
            <a:r>
              <a:rPr lang="zh-CN" altLang="en-US" b="0" dirty="0"/>
              <a:t>应该先赋值，后引用</a:t>
            </a:r>
            <a:endParaRPr lang="zh-CN" altLang="en-US" b="0" dirty="0"/>
          </a:p>
          <a:p>
            <a:pPr algn="just" eaLnBrk="1" hangingPunct="1">
              <a:lnSpc>
                <a:spcPct val="90000"/>
              </a:lnSpc>
            </a:pPr>
            <a:r>
              <a:rPr lang="zh-CN" altLang="en-US" b="0" dirty="0"/>
              <a:t>变量的赋值方法</a:t>
            </a:r>
            <a:endParaRPr lang="zh-CN" altLang="en-US" b="0" dirty="0"/>
          </a:p>
          <a:p>
            <a:pPr lvl="1" algn="just" eaLnBrk="1" hangingPunct="1">
              <a:lnSpc>
                <a:spcPct val="90000"/>
              </a:lnSpc>
            </a:pPr>
            <a:r>
              <a:rPr lang="zh-CN" altLang="en-US" b="0" dirty="0"/>
              <a:t>变量赋初值：在定义变量时对它赋值</a:t>
            </a:r>
            <a:endParaRPr lang="zh-CN" altLang="en-US" b="0" dirty="0"/>
          </a:p>
          <a:p>
            <a:pPr lvl="2" algn="just" eaLnBrk="1" hangingPunct="1">
              <a:lnSpc>
                <a:spcPct val="90000"/>
              </a:lnSpc>
              <a:buNone/>
            </a:pPr>
            <a:r>
              <a:rPr lang="en-US" altLang="zh-CN" b="0" err="1"/>
              <a:t>int</a:t>
            </a:r>
            <a:r>
              <a:rPr lang="en-US" altLang="zh-CN" b="0"/>
              <a:t> a = 5, b = 3;</a:t>
            </a:r>
            <a:endParaRPr lang="en-US" altLang="zh-CN" b="0"/>
          </a:p>
          <a:p>
            <a:pPr lvl="1" algn="just" eaLnBrk="1" hangingPunct="1">
              <a:lnSpc>
                <a:spcPct val="90000"/>
              </a:lnSpc>
            </a:pPr>
            <a:r>
              <a:rPr lang="zh-CN" altLang="en-US" b="0" dirty="0"/>
              <a:t>赋值表达式</a:t>
            </a:r>
            <a:endParaRPr lang="zh-CN" altLang="en-US" b="0" dirty="0"/>
          </a:p>
          <a:p>
            <a:pPr lvl="2" algn="just" eaLnBrk="1" hangingPunct="1">
              <a:lnSpc>
                <a:spcPct val="90000"/>
              </a:lnSpc>
              <a:buFontTx/>
              <a:buNone/>
            </a:pPr>
            <a:r>
              <a:rPr lang="en-US" altLang="zh-CN" b="0" err="1"/>
              <a:t>int</a:t>
            </a:r>
            <a:r>
              <a:rPr lang="en-US" altLang="zh-CN" b="0"/>
              <a:t> a, b;</a:t>
            </a:r>
            <a:endParaRPr lang="en-US" altLang="zh-CN" b="0"/>
          </a:p>
          <a:p>
            <a:pPr lvl="2" algn="just" eaLnBrk="1" hangingPunct="1">
              <a:lnSpc>
                <a:spcPct val="90000"/>
              </a:lnSpc>
              <a:buFontTx/>
              <a:buNone/>
            </a:pPr>
            <a:r>
              <a:rPr lang="en-US" altLang="zh-CN" b="0"/>
              <a:t>a = 5;</a:t>
            </a:r>
            <a:endParaRPr lang="en-US" altLang="zh-CN" b="0"/>
          </a:p>
          <a:p>
            <a:pPr lvl="2" algn="just" eaLnBrk="1" hangingPunct="1">
              <a:lnSpc>
                <a:spcPct val="90000"/>
              </a:lnSpc>
              <a:buFontTx/>
              <a:buNone/>
            </a:pPr>
            <a:r>
              <a:rPr lang="en-US" altLang="zh-CN" b="0"/>
              <a:t>b = 3;</a:t>
            </a:r>
            <a:endParaRPr lang="zh-CN" altLang="en-US" b="0" dirty="0"/>
          </a:p>
          <a:p>
            <a:pPr lvl="1" algn="just" eaLnBrk="1" hangingPunct="1">
              <a:lnSpc>
                <a:spcPct val="90000"/>
              </a:lnSpc>
            </a:pPr>
            <a:r>
              <a:rPr lang="zh-CN" altLang="en-US" b="0" dirty="0"/>
              <a:t>输入</a:t>
            </a:r>
            <a:endParaRPr lang="zh-CN" altLang="en-US" b="0" dirty="0"/>
          </a:p>
          <a:p>
            <a:pPr lvl="2" algn="just" eaLnBrk="1" hangingPunct="1">
              <a:lnSpc>
                <a:spcPct val="90000"/>
              </a:lnSpc>
              <a:buFontTx/>
              <a:buNone/>
            </a:pPr>
            <a:r>
              <a:rPr lang="en-US" altLang="zh-CN" b="0" err="1"/>
              <a:t>int</a:t>
            </a:r>
            <a:r>
              <a:rPr lang="en-US" altLang="zh-CN" b="0"/>
              <a:t> a, b;</a:t>
            </a:r>
            <a:endParaRPr lang="en-US" altLang="zh-CN" b="0"/>
          </a:p>
          <a:p>
            <a:pPr lvl="2" algn="just" eaLnBrk="1" hangingPunct="1">
              <a:lnSpc>
                <a:spcPct val="90000"/>
              </a:lnSpc>
              <a:buFontTx/>
              <a:buNone/>
            </a:pPr>
            <a:r>
              <a:rPr lang="en-US" altLang="zh-CN" b="0" err="1"/>
              <a:t>scanf("%d%d</a:t>
            </a:r>
            <a:r>
              <a:rPr lang="en-US" altLang="zh-CN" b="0"/>
              <a:t>", &amp;a, &amp;b);</a:t>
            </a:r>
            <a:endParaRPr lang="zh-CN" altLang="en-US"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323">
                                            <p:txEl>
                                              <p:charRg st="0" end="10"/>
                                            </p:txEl>
                                          </p:spTgt>
                                        </p:tgtEl>
                                        <p:attrNameLst>
                                          <p:attrName>style.visibility</p:attrName>
                                        </p:attrNameLst>
                                      </p:cBhvr>
                                      <p:to>
                                        <p:strVal val="visible"/>
                                      </p:to>
                                    </p:set>
                                    <p:anim calcmode="lin" valueType="num">
                                      <p:cBhvr additive="base">
                                        <p:cTn id="7" dur="500" fill="hold"/>
                                        <p:tgtEl>
                                          <p:spTgt spid="440323">
                                            <p:txEl>
                                              <p:charRg st="0" end="1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0323">
                                            <p:txEl>
                                              <p:charRg st="0" end="1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0323">
                                            <p:txEl>
                                              <p:charRg st="10" end="20"/>
                                            </p:txEl>
                                          </p:spTgt>
                                        </p:tgtEl>
                                        <p:attrNameLst>
                                          <p:attrName>style.visibility</p:attrName>
                                        </p:attrNameLst>
                                      </p:cBhvr>
                                      <p:to>
                                        <p:strVal val="visible"/>
                                      </p:to>
                                    </p:set>
                                    <p:anim calcmode="lin" valueType="num">
                                      <p:cBhvr additive="base">
                                        <p:cTn id="13" dur="500" fill="hold"/>
                                        <p:tgtEl>
                                          <p:spTgt spid="440323">
                                            <p:txEl>
                                              <p:charRg st="10" end="2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0323">
                                            <p:txEl>
                                              <p:charRg st="10" end="2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0323">
                                            <p:txEl>
                                              <p:charRg st="20" end="28"/>
                                            </p:txEl>
                                          </p:spTgt>
                                        </p:tgtEl>
                                        <p:attrNameLst>
                                          <p:attrName>style.visibility</p:attrName>
                                        </p:attrNameLst>
                                      </p:cBhvr>
                                      <p:to>
                                        <p:strVal val="visible"/>
                                      </p:to>
                                    </p:set>
                                    <p:anim calcmode="lin" valueType="num">
                                      <p:cBhvr additive="base">
                                        <p:cTn id="19" dur="500" fill="hold"/>
                                        <p:tgtEl>
                                          <p:spTgt spid="440323">
                                            <p:txEl>
                                              <p:charRg st="20" end="28"/>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0323">
                                            <p:txEl>
                                              <p:charRg st="20" end="28"/>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0323">
                                            <p:txEl>
                                              <p:charRg st="28" end="45"/>
                                            </p:txEl>
                                          </p:spTgt>
                                        </p:tgtEl>
                                        <p:attrNameLst>
                                          <p:attrName>style.visibility</p:attrName>
                                        </p:attrNameLst>
                                      </p:cBhvr>
                                      <p:to>
                                        <p:strVal val="visible"/>
                                      </p:to>
                                    </p:set>
                                    <p:anim calcmode="lin" valueType="num">
                                      <p:cBhvr additive="base">
                                        <p:cTn id="25" dur="500" fill="hold"/>
                                        <p:tgtEl>
                                          <p:spTgt spid="440323">
                                            <p:txEl>
                                              <p:charRg st="28" end="4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40323">
                                            <p:txEl>
                                              <p:charRg st="28" end="45"/>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440323">
                                            <p:txEl>
                                              <p:charRg st="45" end="63"/>
                                            </p:txEl>
                                          </p:spTgt>
                                        </p:tgtEl>
                                        <p:attrNameLst>
                                          <p:attrName>style.visibility</p:attrName>
                                        </p:attrNameLst>
                                      </p:cBhvr>
                                      <p:to>
                                        <p:strVal val="visible"/>
                                      </p:to>
                                    </p:set>
                                    <p:anim calcmode="lin" valueType="num">
                                      <p:cBhvr additive="base">
                                        <p:cTn id="29" dur="500" fill="hold"/>
                                        <p:tgtEl>
                                          <p:spTgt spid="440323">
                                            <p:txEl>
                                              <p:charRg st="45" end="63"/>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40323">
                                            <p:txEl>
                                              <p:charRg st="45" end="63"/>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40323">
                                            <p:txEl>
                                              <p:charRg st="63" end="69"/>
                                            </p:txEl>
                                          </p:spTgt>
                                        </p:tgtEl>
                                        <p:attrNameLst>
                                          <p:attrName>style.visibility</p:attrName>
                                        </p:attrNameLst>
                                      </p:cBhvr>
                                      <p:to>
                                        <p:strVal val="visible"/>
                                      </p:to>
                                    </p:set>
                                    <p:anim calcmode="lin" valueType="num">
                                      <p:cBhvr additive="base">
                                        <p:cTn id="35" dur="500" fill="hold"/>
                                        <p:tgtEl>
                                          <p:spTgt spid="440323">
                                            <p:txEl>
                                              <p:charRg st="63" end="69"/>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40323">
                                            <p:txEl>
                                              <p:charRg st="63" end="69"/>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40323">
                                            <p:txEl>
                                              <p:charRg st="69" end="79"/>
                                            </p:txEl>
                                          </p:spTgt>
                                        </p:tgtEl>
                                        <p:attrNameLst>
                                          <p:attrName>style.visibility</p:attrName>
                                        </p:attrNameLst>
                                      </p:cBhvr>
                                      <p:to>
                                        <p:strVal val="visible"/>
                                      </p:to>
                                    </p:set>
                                    <p:anim calcmode="lin" valueType="num">
                                      <p:cBhvr additive="base">
                                        <p:cTn id="39" dur="500" fill="hold"/>
                                        <p:tgtEl>
                                          <p:spTgt spid="440323">
                                            <p:txEl>
                                              <p:charRg st="69" end="79"/>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440323">
                                            <p:txEl>
                                              <p:charRg st="69" end="79"/>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440323">
                                            <p:txEl>
                                              <p:charRg st="79" end="86"/>
                                            </p:txEl>
                                          </p:spTgt>
                                        </p:tgtEl>
                                        <p:attrNameLst>
                                          <p:attrName>style.visibility</p:attrName>
                                        </p:attrNameLst>
                                      </p:cBhvr>
                                      <p:to>
                                        <p:strVal val="visible"/>
                                      </p:to>
                                    </p:set>
                                    <p:anim calcmode="lin" valueType="num">
                                      <p:cBhvr additive="base">
                                        <p:cTn id="43" dur="500" fill="hold"/>
                                        <p:tgtEl>
                                          <p:spTgt spid="440323">
                                            <p:txEl>
                                              <p:charRg st="79" end="8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40323">
                                            <p:txEl>
                                              <p:charRg st="79" end="86"/>
                                            </p:tx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440323">
                                            <p:txEl>
                                              <p:charRg st="86" end="93"/>
                                            </p:txEl>
                                          </p:spTgt>
                                        </p:tgtEl>
                                        <p:attrNameLst>
                                          <p:attrName>style.visibility</p:attrName>
                                        </p:attrNameLst>
                                      </p:cBhvr>
                                      <p:to>
                                        <p:strVal val="visible"/>
                                      </p:to>
                                    </p:set>
                                    <p:anim calcmode="lin" valueType="num">
                                      <p:cBhvr additive="base">
                                        <p:cTn id="47" dur="500" fill="hold"/>
                                        <p:tgtEl>
                                          <p:spTgt spid="440323">
                                            <p:txEl>
                                              <p:charRg st="86" end="93"/>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40323">
                                            <p:txEl>
                                              <p:charRg st="86" end="93"/>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440323">
                                            <p:txEl>
                                              <p:charRg st="93" end="96"/>
                                            </p:txEl>
                                          </p:spTgt>
                                        </p:tgtEl>
                                        <p:attrNameLst>
                                          <p:attrName>style.visibility</p:attrName>
                                        </p:attrNameLst>
                                      </p:cBhvr>
                                      <p:to>
                                        <p:strVal val="visible"/>
                                      </p:to>
                                    </p:set>
                                    <p:anim calcmode="lin" valueType="num">
                                      <p:cBhvr additive="base">
                                        <p:cTn id="53" dur="500" fill="hold"/>
                                        <p:tgtEl>
                                          <p:spTgt spid="440323">
                                            <p:txEl>
                                              <p:charRg st="93" end="96"/>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440323">
                                            <p:txEl>
                                              <p:charRg st="93" end="96"/>
                                            </p:tx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440323">
                                            <p:txEl>
                                              <p:charRg st="96" end="106"/>
                                            </p:txEl>
                                          </p:spTgt>
                                        </p:tgtEl>
                                        <p:attrNameLst>
                                          <p:attrName>style.visibility</p:attrName>
                                        </p:attrNameLst>
                                      </p:cBhvr>
                                      <p:to>
                                        <p:strVal val="visible"/>
                                      </p:to>
                                    </p:set>
                                    <p:anim calcmode="lin" valueType="num">
                                      <p:cBhvr additive="base">
                                        <p:cTn id="57" dur="500" fill="hold"/>
                                        <p:tgtEl>
                                          <p:spTgt spid="440323">
                                            <p:txEl>
                                              <p:charRg st="96" end="106"/>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440323">
                                            <p:txEl>
                                              <p:charRg st="96" end="106"/>
                                            </p:txEl>
                                          </p:spTgt>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60" dur="1" fill="hold">
                                          <p:stCondLst>
                                            <p:cond delay="0"/>
                                          </p:stCondLst>
                                        </p:cTn>
                                        <p:tgtEl>
                                          <p:spTgt spid="440323">
                                            <p:txEl>
                                              <p:charRg st="106" end="129"/>
                                            </p:txEl>
                                          </p:spTgt>
                                        </p:tgtEl>
                                        <p:attrNameLst>
                                          <p:attrName>style.visibility</p:attrName>
                                        </p:attrNameLst>
                                      </p:cBhvr>
                                      <p:to>
                                        <p:strVal val="visible"/>
                                      </p:to>
                                    </p:set>
                                    <p:anim calcmode="lin" valueType="num">
                                      <p:cBhvr additive="base">
                                        <p:cTn id="61" dur="500" fill="hold"/>
                                        <p:tgtEl>
                                          <p:spTgt spid="440323">
                                            <p:txEl>
                                              <p:charRg st="106" end="12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40323">
                                            <p:txEl>
                                              <p:charRg st="106" end="12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ldLvl="2"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Chap</a:t>
            </a:r>
            <a:r>
              <a:rPr lang="zh-CN" altLang="en-US" b="0" dirty="0">
                <a:sym typeface="+mn-ea"/>
              </a:rPr>
              <a:t> </a:t>
            </a:r>
            <a:r>
              <a:rPr lang="zh-CN" altLang="en-US" b="0" dirty="0">
                <a:sym typeface="+mn-ea"/>
              </a:rPr>
              <a:t>6  </a:t>
            </a:r>
            <a:r>
              <a:rPr lang="zh-CN" altLang="en-US" b="0" dirty="0">
                <a:sym typeface="+mn-ea"/>
              </a:rPr>
              <a:t>数据类型和表达式 </a:t>
            </a:r>
            <a:endParaRPr lang="zh-CN" altLang="en-US" b="0" dirty="0">
              <a:sym typeface="+mn-ea"/>
            </a:endParaRPr>
          </a:p>
        </p:txBody>
      </p:sp>
      <p:sp>
        <p:nvSpPr>
          <p:cNvPr id="7171" name="Rectangle 3"/>
          <p:cNvSpPr>
            <a:spLocks noGrp="1"/>
          </p:cNvSpPr>
          <p:nvPr>
            <p:ph idx="1"/>
          </p:nvPr>
        </p:nvSpPr>
        <p:spPr>
          <a:xfrm>
            <a:off x="900113" y="2133600"/>
            <a:ext cx="7200900" cy="3743325"/>
          </a:xfrm>
        </p:spPr>
        <p:txBody>
          <a:bodyPr vert="horz" wrap="square" lIns="91440" tIns="45720" rIns="91440" bIns="45720" anchor="t" anchorCtr="0"/>
          <a:p>
            <a:pPr marL="476250" indent="-476250" eaLnBrk="1" hangingPunct="1">
              <a:spcBef>
                <a:spcPct val="40000"/>
              </a:spcBef>
              <a:buNone/>
            </a:pPr>
            <a:r>
              <a:rPr lang="en-US" altLang="zh-CN" b="0"/>
              <a:t>6.1  数据的存储和基本数据类型</a:t>
            </a:r>
            <a:r>
              <a:rPr lang="en-US" altLang="zh-CN" b="0"/>
              <a:t> </a:t>
            </a:r>
            <a:endParaRPr lang="en-US" altLang="zh-CN" b="0"/>
          </a:p>
          <a:p>
            <a:pPr marL="476250" indent="-476250" algn="l" eaLnBrk="1" hangingPunct="1">
              <a:spcBef>
                <a:spcPct val="40000"/>
              </a:spcBef>
              <a:buNone/>
            </a:pPr>
            <a:r>
              <a:rPr lang="en-US" altLang="zh-CN" b="0"/>
              <a:t>6.2  常量和变量 </a:t>
            </a:r>
            <a:endParaRPr lang="en-US" altLang="zh-CN" b="0"/>
          </a:p>
          <a:p>
            <a:pPr marL="476250" indent="-476250" eaLnBrk="1" hangingPunct="1">
              <a:spcBef>
                <a:spcPct val="40000"/>
              </a:spcBef>
              <a:buNone/>
            </a:pPr>
            <a:r>
              <a:rPr lang="en-US" altLang="zh-CN" b="0">
                <a:solidFill>
                  <a:srgbClr val="FF0000"/>
                </a:solidFill>
              </a:rPr>
              <a:t>6.3  </a:t>
            </a:r>
            <a:r>
              <a:rPr lang="zh-CN" altLang="en-US" b="0" dirty="0">
                <a:solidFill>
                  <a:srgbClr val="FF0000"/>
                </a:solidFill>
                <a:latin typeface="宋体" pitchFamily="2" charset="-122"/>
              </a:rPr>
              <a:t>数据的输入和输出</a:t>
            </a:r>
            <a:endParaRPr lang="zh-CN" altLang="en-US" b="0" dirty="0">
              <a:solidFill>
                <a:srgbClr val="FF0000"/>
              </a:solidFill>
            </a:endParaRPr>
          </a:p>
          <a:p>
            <a:pPr marL="476250" indent="-476250" eaLnBrk="1" hangingPunct="1">
              <a:spcBef>
                <a:spcPct val="40000"/>
              </a:spcBef>
              <a:buNone/>
            </a:pPr>
            <a:r>
              <a:rPr lang="en-US" altLang="zh-CN" b="0"/>
              <a:t>6.4  </a:t>
            </a:r>
            <a:r>
              <a:rPr lang="zh-CN" altLang="en-US" b="0" dirty="0">
                <a:latin typeface="宋体" pitchFamily="2" charset="-122"/>
              </a:rPr>
              <a:t>类型转换</a:t>
            </a:r>
            <a:endParaRPr lang="zh-CN" altLang="en-US" b="0" dirty="0"/>
          </a:p>
          <a:p>
            <a:pPr marL="476250" indent="-476250" eaLnBrk="1" hangingPunct="1">
              <a:spcBef>
                <a:spcPct val="40000"/>
              </a:spcBef>
              <a:buNone/>
            </a:pPr>
            <a:r>
              <a:rPr lang="en-US" altLang="zh-CN" b="0"/>
              <a:t>6.5  </a:t>
            </a:r>
            <a:r>
              <a:rPr lang="zh-CN" altLang="en-US" b="0" dirty="0">
                <a:latin typeface="宋体" pitchFamily="2" charset="-122"/>
              </a:rPr>
              <a:t>表达式</a:t>
            </a:r>
            <a:endParaRPr lang="zh-CN" altLang="en-US" b="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idx="1"/>
          </p:nvPr>
        </p:nvSpPr>
        <p:spPr>
          <a:xfrm>
            <a:off x="755650" y="2205038"/>
            <a:ext cx="7342188" cy="2305050"/>
          </a:xfrm>
        </p:spPr>
        <p:txBody>
          <a:bodyPr vert="horz" wrap="square" lIns="91440" tIns="45720" rIns="91440" bIns="45720" anchor="t" anchorCtr="0"/>
          <a:p>
            <a:pPr algn="just" eaLnBrk="1" hangingPunct="1">
              <a:lnSpc>
                <a:spcPct val="120000"/>
              </a:lnSpc>
              <a:spcBef>
                <a:spcPct val="50000"/>
              </a:spcBef>
              <a:buClr>
                <a:schemeClr val="tx2"/>
              </a:buClr>
              <a:buFontTx/>
              <a:buNone/>
            </a:pPr>
            <a:r>
              <a:rPr lang="en-US" altLang="zh-CN" b="0"/>
              <a:t>6.3.1 </a:t>
            </a:r>
            <a:r>
              <a:rPr lang="zh-CN" altLang="en-US" b="0" dirty="0">
                <a:latin typeface="宋体" pitchFamily="2" charset="-122"/>
              </a:rPr>
              <a:t>整型数据的输入和输出</a:t>
            </a:r>
            <a:endParaRPr lang="zh-CN" altLang="en-US" b="0" dirty="0">
              <a:latin typeface="宋体" pitchFamily="2" charset="-122"/>
            </a:endParaRPr>
          </a:p>
          <a:p>
            <a:pPr algn="just" eaLnBrk="1" hangingPunct="1">
              <a:lnSpc>
                <a:spcPct val="120000"/>
              </a:lnSpc>
              <a:spcBef>
                <a:spcPct val="50000"/>
              </a:spcBef>
              <a:buClr>
                <a:schemeClr val="tx2"/>
              </a:buClr>
              <a:buFontTx/>
              <a:buNone/>
            </a:pPr>
            <a:r>
              <a:rPr lang="en-US" altLang="zh-CN" b="0"/>
              <a:t>6.3.2 </a:t>
            </a:r>
            <a:r>
              <a:rPr lang="zh-CN" altLang="en-US" b="0" dirty="0"/>
              <a:t>实型</a:t>
            </a:r>
            <a:r>
              <a:rPr lang="zh-CN" altLang="en-US" b="0" dirty="0">
                <a:latin typeface="宋体" pitchFamily="2" charset="-122"/>
              </a:rPr>
              <a:t>数据的输入和输出</a:t>
            </a:r>
            <a:endParaRPr lang="zh-CN" altLang="en-US" b="0" dirty="0">
              <a:latin typeface="宋体" pitchFamily="2" charset="-122"/>
            </a:endParaRPr>
          </a:p>
          <a:p>
            <a:pPr algn="just" eaLnBrk="1" hangingPunct="1">
              <a:lnSpc>
                <a:spcPct val="120000"/>
              </a:lnSpc>
              <a:spcBef>
                <a:spcPct val="50000"/>
              </a:spcBef>
              <a:buClr>
                <a:schemeClr val="tx2"/>
              </a:buClr>
              <a:buFontTx/>
              <a:buNone/>
            </a:pPr>
            <a:r>
              <a:rPr lang="en-US" altLang="zh-CN" b="0"/>
              <a:t>6.3.3 </a:t>
            </a:r>
            <a:r>
              <a:rPr lang="zh-CN" altLang="en-US" b="0" dirty="0"/>
              <a:t>字符型</a:t>
            </a:r>
            <a:r>
              <a:rPr lang="zh-CN" altLang="en-US" b="0" dirty="0">
                <a:latin typeface="宋体" pitchFamily="2" charset="-122"/>
              </a:rPr>
              <a:t>数据的输入和输出</a:t>
            </a:r>
            <a:endParaRPr lang="zh-CN" altLang="en-US" b="0" dirty="0">
              <a:latin typeface="宋体" pitchFamily="2" charset="-122"/>
            </a:endParaRPr>
          </a:p>
        </p:txBody>
      </p:sp>
      <p:sp>
        <p:nvSpPr>
          <p:cNvPr id="37891" name="Rectangle 3"/>
          <p:cNvSpPr>
            <a:spLocks noGrp="1"/>
          </p:cNvSpPr>
          <p:nvPr>
            <p:ph type="title"/>
          </p:nvPr>
        </p:nvSpPr>
        <p:spPr>
          <a:xfrm>
            <a:off x="539750" y="692150"/>
            <a:ext cx="8153400" cy="9144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 </a:t>
            </a:r>
            <a:r>
              <a:rPr lang="zh-CN" altLang="en-US" b="0" dirty="0">
                <a:sym typeface="+mn-ea"/>
              </a:rPr>
              <a:t>6.3 </a:t>
            </a:r>
            <a:r>
              <a:rPr lang="zh-CN" altLang="en-US" b="0" dirty="0">
                <a:sym typeface="+mn-ea"/>
              </a:rPr>
              <a:t>数</a:t>
            </a:r>
            <a:r>
              <a:rPr lang="zh-CN" altLang="en-US" b="0" dirty="0">
                <a:sym typeface="+mn-ea"/>
              </a:rPr>
              <a:t>据的输入和输出</a:t>
            </a:r>
            <a:r>
              <a:rPr lang="zh-CN" altLang="en-US" b="0" dirty="0">
                <a:sym typeface="+mn-ea"/>
              </a:rPr>
              <a:t> </a:t>
            </a:r>
            <a:endParaRPr lang="zh-CN" altLang="en-US" b="0" dirty="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xfrm>
            <a:off x="457200" y="457200"/>
            <a:ext cx="7931150" cy="8112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6.3.1</a:t>
            </a:r>
            <a:r>
              <a:rPr lang="zh-CN" altLang="en-US" b="0" dirty="0">
                <a:sym typeface="+mn-ea"/>
              </a:rPr>
              <a:t> </a:t>
            </a:r>
            <a:r>
              <a:rPr lang="zh-CN" altLang="en-US" b="0" dirty="0">
                <a:sym typeface="+mn-ea"/>
              </a:rPr>
              <a:t>整型数据的输入输出</a:t>
            </a:r>
            <a:endParaRPr lang="zh-CN" altLang="en-US" b="0" dirty="0">
              <a:sym typeface="+mn-ea"/>
            </a:endParaRPr>
          </a:p>
        </p:txBody>
      </p:sp>
      <p:sp>
        <p:nvSpPr>
          <p:cNvPr id="39939" name="Rectangle 3"/>
          <p:cNvSpPr>
            <a:spLocks noGrp="1"/>
          </p:cNvSpPr>
          <p:nvPr>
            <p:ph idx="1"/>
          </p:nvPr>
        </p:nvSpPr>
        <p:spPr>
          <a:xfrm>
            <a:off x="346075" y="1701800"/>
            <a:ext cx="8153400" cy="3905250"/>
          </a:xfrm>
          <a:solidFill>
            <a:schemeClr val="bg1"/>
          </a:solidFill>
        </p:spPr>
        <p:txBody>
          <a:bodyPr vert="horz" wrap="square" lIns="91440" tIns="45720" rIns="91440" bIns="45720" anchor="t" anchorCtr="0"/>
          <a:p>
            <a:pPr lvl="1" eaLnBrk="1" hangingPunct="1">
              <a:buSzTx/>
              <a:buNone/>
            </a:pPr>
            <a:r>
              <a:rPr lang="en-US" altLang="zh-CN" sz="2400" b="0" err="1">
                <a:solidFill>
                  <a:schemeClr val="bg2"/>
                </a:solidFill>
              </a:rPr>
              <a:t>printf</a:t>
            </a:r>
            <a:r>
              <a:rPr lang="en-US" altLang="zh-CN" sz="2400" b="0">
                <a:solidFill>
                  <a:schemeClr val="bg2"/>
                </a:solidFill>
              </a:rPr>
              <a:t> </a:t>
            </a:r>
            <a:r>
              <a:rPr lang="en-US" altLang="zh-CN" sz="2400" b="0"/>
              <a:t>(</a:t>
            </a:r>
            <a:r>
              <a:rPr lang="zh-CN" altLang="en-US" sz="2400" b="0" dirty="0"/>
              <a:t>格式控制, 输出参数1, ... , 输出参数</a:t>
            </a:r>
            <a:r>
              <a:rPr lang="en-US" altLang="zh-CN" sz="2400" b="0"/>
              <a:t>n);</a:t>
            </a:r>
            <a:endParaRPr lang="en-US" altLang="zh-CN" sz="2400" b="0"/>
          </a:p>
          <a:p>
            <a:pPr lvl="1" eaLnBrk="1" hangingPunct="1">
              <a:buNone/>
            </a:pPr>
            <a:r>
              <a:rPr lang="en-US" altLang="zh-CN" sz="2400" b="0" err="1">
                <a:solidFill>
                  <a:schemeClr val="bg2"/>
                </a:solidFill>
              </a:rPr>
              <a:t>scanf</a:t>
            </a:r>
            <a:r>
              <a:rPr lang="en-US" altLang="zh-CN" sz="2400" b="0">
                <a:solidFill>
                  <a:schemeClr val="bg2"/>
                </a:solidFill>
              </a:rPr>
              <a:t> </a:t>
            </a:r>
            <a:r>
              <a:rPr lang="en-US" altLang="zh-CN" sz="2400" b="0"/>
              <a:t>(</a:t>
            </a:r>
            <a:r>
              <a:rPr lang="zh-CN" altLang="en-US" sz="2400" b="0" dirty="0"/>
              <a:t>格式控制, 输入参数1, ... , 输入参数</a:t>
            </a:r>
            <a:r>
              <a:rPr lang="en-US" altLang="zh-CN" sz="2400" b="0"/>
              <a:t>n);</a:t>
            </a:r>
            <a:endParaRPr lang="en-US" altLang="zh-CN" sz="2400" b="0"/>
          </a:p>
          <a:p>
            <a:pPr lvl="1" eaLnBrk="1" hangingPunct="1">
              <a:buNone/>
            </a:pPr>
            <a:r>
              <a:rPr lang="zh-CN" altLang="en-US" sz="2400" b="0" dirty="0"/>
              <a:t>格式控制说明  </a:t>
            </a:r>
            <a:r>
              <a:rPr lang="zh-CN" altLang="en-US" sz="2400" b="0" dirty="0">
                <a:solidFill>
                  <a:srgbClr val="CC0066"/>
                </a:solidFill>
              </a:rPr>
              <a:t>%…</a:t>
            </a:r>
            <a:endParaRPr lang="zh-CN" altLang="en-US" sz="2400" b="0" dirty="0">
              <a:solidFill>
                <a:srgbClr val="CC0066"/>
              </a:solidFill>
            </a:endParaRPr>
          </a:p>
          <a:p>
            <a:pPr lvl="1" algn="just" eaLnBrk="1" hangingPunct="1">
              <a:lnSpc>
                <a:spcPct val="114000"/>
              </a:lnSpc>
              <a:buNone/>
            </a:pPr>
            <a:r>
              <a:rPr lang="zh-CN" altLang="en-US" sz="2400" b="0" dirty="0"/>
              <a:t>                           十进制     八进制      十六进制</a:t>
            </a:r>
            <a:endParaRPr lang="zh-CN" altLang="en-US" sz="2400" b="0" dirty="0"/>
          </a:p>
          <a:p>
            <a:pPr lvl="1" algn="just" eaLnBrk="1" hangingPunct="1">
              <a:buNone/>
            </a:pPr>
            <a:r>
              <a:rPr lang="en-US" altLang="zh-CN" sz="2400" b="0" err="1"/>
              <a:t>int</a:t>
            </a:r>
            <a:r>
              <a:rPr lang="en-US" altLang="zh-CN" sz="2400" b="0"/>
              <a:t>                          </a:t>
            </a:r>
            <a:r>
              <a:rPr lang="zh-CN" altLang="en-US" sz="2400" b="0" dirty="0">
                <a:solidFill>
                  <a:schemeClr val="bg2"/>
                </a:solidFill>
              </a:rPr>
              <a:t>%</a:t>
            </a:r>
            <a:r>
              <a:rPr lang="en-US" altLang="zh-CN" sz="2400" b="0">
                <a:solidFill>
                  <a:schemeClr val="bg2"/>
                </a:solidFill>
              </a:rPr>
              <a:t>d       </a:t>
            </a:r>
            <a:r>
              <a:rPr lang="zh-CN" altLang="en-US" sz="2400" b="0" dirty="0">
                <a:solidFill>
                  <a:schemeClr val="bg2"/>
                </a:solidFill>
              </a:rPr>
              <a:t>    %</a:t>
            </a:r>
            <a:r>
              <a:rPr lang="en-US" altLang="zh-CN" sz="2400" b="0">
                <a:solidFill>
                  <a:schemeClr val="bg2"/>
                </a:solidFill>
              </a:rPr>
              <a:t>o             </a:t>
            </a:r>
            <a:r>
              <a:rPr lang="zh-CN" altLang="en-US" sz="2400" b="0" dirty="0">
                <a:solidFill>
                  <a:schemeClr val="bg2"/>
                </a:solidFill>
              </a:rPr>
              <a:t> %</a:t>
            </a:r>
            <a:r>
              <a:rPr lang="en-US" altLang="zh-CN" sz="2400" b="0">
                <a:solidFill>
                  <a:schemeClr val="bg2"/>
                </a:solidFill>
              </a:rPr>
              <a:t>x</a:t>
            </a:r>
            <a:endParaRPr lang="en-US" altLang="zh-CN" sz="2400" b="0">
              <a:solidFill>
                <a:schemeClr val="bg2"/>
              </a:solidFill>
            </a:endParaRPr>
          </a:p>
          <a:p>
            <a:pPr lvl="1" algn="just" eaLnBrk="1" hangingPunct="1">
              <a:buNone/>
            </a:pPr>
            <a:r>
              <a:rPr lang="en-US" altLang="zh-CN" sz="2400" b="0"/>
              <a:t>long                       </a:t>
            </a:r>
            <a:r>
              <a:rPr lang="zh-CN" altLang="en-US" sz="2400" b="0" dirty="0"/>
              <a:t>%</a:t>
            </a:r>
            <a:r>
              <a:rPr lang="en-US" altLang="zh-CN" sz="2400" b="0">
                <a:solidFill>
                  <a:srgbClr val="CC0066"/>
                </a:solidFill>
              </a:rPr>
              <a:t>l</a:t>
            </a:r>
            <a:r>
              <a:rPr lang="en-US" altLang="zh-CN" sz="2400" b="0"/>
              <a:t>d      </a:t>
            </a:r>
            <a:r>
              <a:rPr lang="zh-CN" altLang="en-US" sz="2400" b="0" dirty="0"/>
              <a:t>    %</a:t>
            </a:r>
            <a:r>
              <a:rPr lang="en-US" altLang="zh-CN" sz="2400" b="0"/>
              <a:t>lo            </a:t>
            </a:r>
            <a:r>
              <a:rPr lang="zh-CN" altLang="en-US" sz="2400" b="0" dirty="0"/>
              <a:t> %</a:t>
            </a:r>
            <a:r>
              <a:rPr lang="en-US" altLang="zh-CN" sz="2400" b="0"/>
              <a:t>lx</a:t>
            </a:r>
            <a:endParaRPr lang="en-US" altLang="zh-CN" sz="2400" b="0"/>
          </a:p>
          <a:p>
            <a:pPr lvl="1" algn="just" eaLnBrk="1" hangingPunct="1">
              <a:buNone/>
            </a:pPr>
            <a:r>
              <a:rPr lang="en-US" altLang="zh-CN" sz="2400" b="0"/>
              <a:t>unsigned               </a:t>
            </a:r>
            <a:r>
              <a:rPr lang="zh-CN" altLang="en-US" sz="2400" b="0" dirty="0">
                <a:solidFill>
                  <a:schemeClr val="bg2"/>
                </a:solidFill>
              </a:rPr>
              <a:t>%</a:t>
            </a:r>
            <a:r>
              <a:rPr lang="en-US" altLang="zh-CN" sz="2400" b="0">
                <a:solidFill>
                  <a:schemeClr val="bg2"/>
                </a:solidFill>
              </a:rPr>
              <a:t>u</a:t>
            </a:r>
            <a:r>
              <a:rPr lang="en-US" altLang="zh-CN" sz="2400" b="0"/>
              <a:t>       </a:t>
            </a:r>
            <a:r>
              <a:rPr lang="zh-CN" altLang="en-US" sz="2400" b="0" dirty="0"/>
              <a:t>    %</a:t>
            </a:r>
            <a:r>
              <a:rPr lang="en-US" altLang="zh-CN" sz="2400" b="0"/>
              <a:t>o             </a:t>
            </a:r>
            <a:r>
              <a:rPr lang="zh-CN" altLang="en-US" sz="2400" b="0" dirty="0"/>
              <a:t> %</a:t>
            </a:r>
            <a:r>
              <a:rPr lang="en-US" altLang="zh-CN" sz="2400" b="0"/>
              <a:t>x</a:t>
            </a:r>
            <a:endParaRPr lang="en-US" altLang="zh-CN" sz="2400" b="0"/>
          </a:p>
          <a:p>
            <a:pPr lvl="1" algn="just" eaLnBrk="1" hangingPunct="1">
              <a:buNone/>
            </a:pPr>
            <a:r>
              <a:rPr lang="en-US" altLang="zh-CN" sz="2400" b="0"/>
              <a:t>unsigned long       </a:t>
            </a:r>
            <a:r>
              <a:rPr lang="zh-CN" altLang="en-US" sz="2400" b="0" dirty="0"/>
              <a:t>%</a:t>
            </a:r>
            <a:r>
              <a:rPr lang="en-US" altLang="zh-CN" sz="2400" b="0" err="1"/>
              <a:t>lu</a:t>
            </a:r>
            <a:r>
              <a:rPr lang="en-US" altLang="zh-CN" sz="2400" b="0"/>
              <a:t>       </a:t>
            </a:r>
            <a:r>
              <a:rPr lang="zh-CN" altLang="en-US" sz="2400" b="0" dirty="0"/>
              <a:t>   %</a:t>
            </a:r>
            <a:r>
              <a:rPr lang="en-US" altLang="zh-CN" sz="2400" b="0"/>
              <a:t>lo           </a:t>
            </a:r>
            <a:r>
              <a:rPr lang="zh-CN" altLang="en-US" sz="2400" b="0" dirty="0"/>
              <a:t>  %</a:t>
            </a:r>
            <a:r>
              <a:rPr lang="en-US" altLang="zh-CN" sz="2400" b="0"/>
              <a:t>lx</a:t>
            </a:r>
            <a:endParaRPr lang="zh-CN" altLang="en-US" sz="2400" b="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0962" name="Rectangle 2"/>
          <p:cNvSpPr>
            <a:spLocks noGrp="1"/>
          </p:cNvSpPr>
          <p:nvPr>
            <p:ph type="title"/>
          </p:nvPr>
        </p:nvSpPr>
        <p:spPr>
          <a:xfrm>
            <a:off x="468313" y="333375"/>
            <a:ext cx="6872287" cy="100806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例</a:t>
            </a:r>
            <a:r>
              <a:rPr lang="zh-CN" altLang="en-US" b="0" dirty="0">
                <a:sym typeface="+mn-ea"/>
              </a:rPr>
              <a:t>6-2(1) </a:t>
            </a:r>
            <a:r>
              <a:rPr lang="zh-CN" altLang="en-US" b="0" dirty="0">
                <a:sym typeface="+mn-ea"/>
              </a:rPr>
              <a:t>输出整型数据 </a:t>
            </a:r>
            <a:endParaRPr lang="zh-CN" altLang="en-US" b="0" dirty="0">
              <a:sym typeface="+mn-ea"/>
            </a:endParaRPr>
          </a:p>
        </p:txBody>
      </p:sp>
      <p:sp>
        <p:nvSpPr>
          <p:cNvPr id="40963" name="Rectangle 3"/>
          <p:cNvSpPr>
            <a:spLocks noGrp="1"/>
          </p:cNvSpPr>
          <p:nvPr>
            <p:ph idx="1"/>
          </p:nvPr>
        </p:nvSpPr>
        <p:spPr>
          <a:xfrm>
            <a:off x="533400" y="1219200"/>
            <a:ext cx="7772400" cy="4495800"/>
          </a:xfrm>
        </p:spPr>
        <p:txBody>
          <a:bodyPr vert="horz" wrap="square" lIns="91440" tIns="45720" rIns="91440" bIns="45720" anchor="t" anchorCtr="0"/>
          <a:p>
            <a:pPr lvl="1" algn="just" eaLnBrk="1" hangingPunct="1">
              <a:lnSpc>
                <a:spcPct val="114000"/>
              </a:lnSpc>
              <a:buNone/>
            </a:pPr>
            <a:r>
              <a:rPr lang="zh-CN" altLang="en-US" sz="2400" b="0" dirty="0"/>
              <a:t># </a:t>
            </a:r>
            <a:r>
              <a:rPr lang="en-US" altLang="zh-CN" sz="2400" b="0"/>
              <a:t>include &lt;</a:t>
            </a:r>
            <a:r>
              <a:rPr lang="en-US" altLang="zh-CN" sz="2400" b="0" err="1"/>
              <a:t>stdio.h</a:t>
            </a:r>
            <a:r>
              <a:rPr lang="en-US" altLang="zh-CN" sz="2400" b="0"/>
              <a:t>&gt;       </a:t>
            </a:r>
            <a:endParaRPr lang="en-US" altLang="zh-CN" sz="2400" b="0"/>
          </a:p>
          <a:p>
            <a:pPr lvl="1" algn="just" eaLnBrk="1" hangingPunct="1">
              <a:lnSpc>
                <a:spcPct val="114000"/>
              </a:lnSpc>
              <a:buNone/>
            </a:pPr>
            <a:r>
              <a:rPr lang="en-US" altLang="zh-CN" sz="2400" b="0" err="1"/>
              <a:t>int</a:t>
            </a:r>
            <a:r>
              <a:rPr lang="en-US" altLang="zh-CN" sz="2400" b="0"/>
              <a:t> </a:t>
            </a:r>
            <a:r>
              <a:rPr lang="en-US" altLang="zh-CN" sz="2400" b="0" err="1"/>
              <a:t>main(void</a:t>
            </a:r>
            <a:r>
              <a:rPr lang="en-US" altLang="zh-CN" sz="2400" b="0"/>
              <a:t>)</a:t>
            </a:r>
            <a:endParaRPr lang="en-US" altLang="zh-CN" sz="2400" b="0"/>
          </a:p>
          <a:p>
            <a:pPr lvl="1" algn="just" eaLnBrk="1" hangingPunct="1">
              <a:lnSpc>
                <a:spcPct val="114000"/>
              </a:lnSpc>
              <a:buNone/>
            </a:pPr>
            <a:r>
              <a:rPr lang="en-US" altLang="zh-CN" sz="2400" b="0"/>
              <a:t>{   </a:t>
            </a:r>
            <a:endParaRPr lang="en-US" altLang="zh-CN" sz="2400" b="0"/>
          </a:p>
          <a:p>
            <a:pPr lvl="1" algn="just" eaLnBrk="1" hangingPunct="1">
              <a:lnSpc>
                <a:spcPct val="114000"/>
              </a:lnSpc>
              <a:buNone/>
            </a:pPr>
            <a:r>
              <a:rPr lang="en-US" altLang="zh-CN" sz="2400" b="0"/>
              <a:t>    </a:t>
            </a:r>
            <a:r>
              <a:rPr lang="en-US" altLang="zh-CN" sz="2400" b="0" err="1"/>
              <a:t>printf("%d</a:t>
            </a:r>
            <a:r>
              <a:rPr lang="en-US" altLang="zh-CN" sz="2400" b="0"/>
              <a:t>, %o, %</a:t>
            </a:r>
            <a:r>
              <a:rPr lang="en-US" altLang="zh-CN" sz="2400" b="0" err="1"/>
              <a:t>x\n</a:t>
            </a:r>
            <a:r>
              <a:rPr lang="en-US" altLang="zh-CN" sz="2400" b="0"/>
              <a:t>", 10, 10, 10); </a:t>
            </a:r>
            <a:endParaRPr lang="en-US" altLang="zh-CN" sz="2400" b="0"/>
          </a:p>
          <a:p>
            <a:pPr lvl="1" algn="just" eaLnBrk="1" hangingPunct="1">
              <a:lnSpc>
                <a:spcPct val="114000"/>
              </a:lnSpc>
              <a:buNone/>
            </a:pPr>
            <a:r>
              <a:rPr lang="en-US" altLang="zh-CN" sz="2400" b="0"/>
              <a:t>    </a:t>
            </a:r>
            <a:r>
              <a:rPr lang="en-US" altLang="zh-CN" sz="2400" b="0" err="1"/>
              <a:t>printf("%d</a:t>
            </a:r>
            <a:r>
              <a:rPr lang="en-US" altLang="zh-CN" sz="2400" b="0"/>
              <a:t>, %d, %</a:t>
            </a:r>
            <a:r>
              <a:rPr lang="en-US" altLang="zh-CN" sz="2400" b="0" err="1"/>
              <a:t>d\n</a:t>
            </a:r>
            <a:r>
              <a:rPr lang="en-US" altLang="zh-CN" sz="2400" b="0"/>
              <a:t>", 10, 010, 0x10); </a:t>
            </a:r>
            <a:endParaRPr lang="en-US" altLang="zh-CN" sz="2400" b="0"/>
          </a:p>
          <a:p>
            <a:pPr lvl="1" algn="just" eaLnBrk="1" hangingPunct="1">
              <a:lnSpc>
                <a:spcPct val="114000"/>
              </a:lnSpc>
              <a:buNone/>
            </a:pPr>
            <a:r>
              <a:rPr lang="en-US" altLang="zh-CN" sz="2400" b="0"/>
              <a:t>    </a:t>
            </a:r>
            <a:r>
              <a:rPr lang="en-US" altLang="zh-CN" sz="2400" b="0" err="1"/>
              <a:t>printf("%d</a:t>
            </a:r>
            <a:r>
              <a:rPr lang="en-US" altLang="zh-CN" sz="2400" b="0"/>
              <a:t>, %</a:t>
            </a:r>
            <a:r>
              <a:rPr lang="en-US" altLang="zh-CN" sz="2400" b="0" err="1"/>
              <a:t>x\n</a:t>
            </a:r>
            <a:r>
              <a:rPr lang="en-US" altLang="zh-CN" sz="2400" b="0"/>
              <a:t>", 012, 012); </a:t>
            </a:r>
            <a:endParaRPr lang="en-US" altLang="zh-CN" sz="2400" b="0"/>
          </a:p>
          <a:p>
            <a:pPr lvl="1" algn="just" eaLnBrk="1" hangingPunct="1">
              <a:lnSpc>
                <a:spcPct val="114000"/>
              </a:lnSpc>
              <a:buNone/>
            </a:pPr>
            <a:r>
              <a:rPr lang="en-US" altLang="zh-CN" sz="2400" b="0"/>
              <a:t>    return 0;</a:t>
            </a:r>
            <a:endParaRPr lang="en-US" altLang="zh-CN" sz="2400" b="0"/>
          </a:p>
          <a:p>
            <a:pPr lvl="1" algn="just" eaLnBrk="1" hangingPunct="1">
              <a:lnSpc>
                <a:spcPct val="114000"/>
              </a:lnSpc>
              <a:buNone/>
            </a:pPr>
            <a:r>
              <a:rPr lang="en-US" altLang="zh-CN" sz="2400" b="0"/>
              <a:t>}</a:t>
            </a:r>
            <a:r>
              <a:rPr lang="en-US" altLang="zh-CN" sz="2400" b="0">
                <a:latin typeface="Times New Roman" pitchFamily="18" charset="0"/>
              </a:rPr>
              <a:t>  </a:t>
            </a:r>
            <a:endParaRPr lang="zh-CN" altLang="en-US" sz="2400" b="0" dirty="0">
              <a:latin typeface="Times New Roman" pitchFamily="18" charset="0"/>
            </a:endParaRPr>
          </a:p>
        </p:txBody>
      </p:sp>
      <p:grpSp>
        <p:nvGrpSpPr>
          <p:cNvPr id="2" name="Group 15"/>
          <p:cNvGrpSpPr/>
          <p:nvPr/>
        </p:nvGrpSpPr>
        <p:grpSpPr>
          <a:xfrm>
            <a:off x="1981200" y="5181600"/>
            <a:ext cx="5486400" cy="914400"/>
            <a:chOff x="1248" y="3264"/>
            <a:chExt cx="3456" cy="576"/>
          </a:xfrm>
        </p:grpSpPr>
        <p:sp>
          <p:nvSpPr>
            <p:cNvPr id="40965" name="Line 6"/>
            <p:cNvSpPr/>
            <p:nvPr/>
          </p:nvSpPr>
          <p:spPr>
            <a:xfrm>
              <a:off x="1248" y="3552"/>
              <a:ext cx="1104" cy="0"/>
            </a:xfrm>
            <a:prstGeom prst="line">
              <a:avLst/>
            </a:prstGeom>
            <a:ln w="38100" cap="sq" cmpd="sng">
              <a:solidFill>
                <a:srgbClr val="CC0066"/>
              </a:solidFill>
              <a:prstDash val="solid"/>
              <a:round/>
              <a:headEnd type="none" w="sm" len="sm"/>
              <a:tailEnd type="triangle" w="med" len="med"/>
            </a:ln>
          </p:spPr>
        </p:sp>
        <p:sp>
          <p:nvSpPr>
            <p:cNvPr id="40966" name="Line 7"/>
            <p:cNvSpPr/>
            <p:nvPr/>
          </p:nvSpPr>
          <p:spPr>
            <a:xfrm>
              <a:off x="1488" y="3264"/>
              <a:ext cx="864" cy="192"/>
            </a:xfrm>
            <a:prstGeom prst="line">
              <a:avLst/>
            </a:prstGeom>
            <a:ln w="38100" cap="sq" cmpd="sng">
              <a:solidFill>
                <a:srgbClr val="33CC33"/>
              </a:solidFill>
              <a:prstDash val="solid"/>
              <a:round/>
              <a:headEnd type="none" w="sm" len="sm"/>
              <a:tailEnd type="triangle" w="med" len="med"/>
            </a:ln>
          </p:spPr>
        </p:sp>
        <p:sp>
          <p:nvSpPr>
            <p:cNvPr id="40967" name="Line 8"/>
            <p:cNvSpPr/>
            <p:nvPr/>
          </p:nvSpPr>
          <p:spPr>
            <a:xfrm flipV="1">
              <a:off x="1536" y="3648"/>
              <a:ext cx="816" cy="192"/>
            </a:xfrm>
            <a:prstGeom prst="line">
              <a:avLst/>
            </a:prstGeom>
            <a:ln w="38100" cap="sq" cmpd="sng">
              <a:solidFill>
                <a:schemeClr val="bg2"/>
              </a:solidFill>
              <a:prstDash val="solid"/>
              <a:round/>
              <a:headEnd type="none" w="sm" len="sm"/>
              <a:tailEnd type="triangle" w="med" len="med"/>
            </a:ln>
          </p:spPr>
        </p:sp>
        <p:sp>
          <p:nvSpPr>
            <p:cNvPr id="40968" name="Line 9"/>
            <p:cNvSpPr/>
            <p:nvPr/>
          </p:nvSpPr>
          <p:spPr>
            <a:xfrm>
              <a:off x="3600" y="3552"/>
              <a:ext cx="1104" cy="0"/>
            </a:xfrm>
            <a:prstGeom prst="line">
              <a:avLst/>
            </a:prstGeom>
            <a:ln w="38100" cap="sq" cmpd="sng">
              <a:solidFill>
                <a:srgbClr val="CC0066"/>
              </a:solidFill>
              <a:prstDash val="solid"/>
              <a:round/>
              <a:headEnd type="none" w="sm" len="sm"/>
              <a:tailEnd type="triangle" w="med" len="med"/>
            </a:ln>
          </p:spPr>
        </p:sp>
        <p:sp>
          <p:nvSpPr>
            <p:cNvPr id="40969" name="Line 10"/>
            <p:cNvSpPr/>
            <p:nvPr/>
          </p:nvSpPr>
          <p:spPr>
            <a:xfrm flipV="1">
              <a:off x="3600" y="3264"/>
              <a:ext cx="768" cy="192"/>
            </a:xfrm>
            <a:prstGeom prst="line">
              <a:avLst/>
            </a:prstGeom>
            <a:ln w="38100" cap="sq" cmpd="sng">
              <a:solidFill>
                <a:srgbClr val="33CC33"/>
              </a:solidFill>
              <a:prstDash val="solid"/>
              <a:round/>
              <a:headEnd type="none" w="sm" len="sm"/>
              <a:tailEnd type="triangle" w="med" len="med"/>
            </a:ln>
          </p:spPr>
        </p:sp>
        <p:sp>
          <p:nvSpPr>
            <p:cNvPr id="40970" name="Line 11"/>
            <p:cNvSpPr/>
            <p:nvPr/>
          </p:nvSpPr>
          <p:spPr>
            <a:xfrm>
              <a:off x="3600" y="3648"/>
              <a:ext cx="768" cy="144"/>
            </a:xfrm>
            <a:prstGeom prst="line">
              <a:avLst/>
            </a:prstGeom>
            <a:ln w="38100" cap="sq" cmpd="sng">
              <a:solidFill>
                <a:schemeClr val="bg2"/>
              </a:solidFill>
              <a:prstDash val="solid"/>
              <a:round/>
              <a:headEnd type="none" w="sm" len="sm"/>
              <a:tailEnd type="triangle" w="med" len="med"/>
            </a:ln>
          </p:spPr>
        </p:sp>
        <p:sp>
          <p:nvSpPr>
            <p:cNvPr id="40971" name="Text Box 12"/>
            <p:cNvSpPr txBox="1"/>
            <p:nvPr/>
          </p:nvSpPr>
          <p:spPr>
            <a:xfrm>
              <a:off x="2400" y="3408"/>
              <a:ext cx="1152" cy="251"/>
            </a:xfrm>
            <a:prstGeom prst="rect">
              <a:avLst/>
            </a:prstGeom>
            <a:solidFill>
              <a:schemeClr val="folHlink"/>
            </a:solidFill>
            <a:ln w="12700">
              <a:noFill/>
            </a:ln>
          </p:spPr>
          <p:txBody>
            <a:bodyPr anchor="t" anchorCtr="0">
              <a:spAutoFit/>
            </a:bodyPr>
            <a:p>
              <a:pPr algn="ctr" eaLnBrk="0" hangingPunct="0">
                <a:spcBef>
                  <a:spcPct val="50000"/>
                </a:spcBef>
              </a:pPr>
              <a:r>
                <a:rPr lang="zh-CN" altLang="en-US" sz="2000" b="1" dirty="0">
                  <a:latin typeface="Arial" panose="02080604020202020204" pitchFamily="34" charset="0"/>
                </a:rPr>
                <a:t>0……01010</a:t>
              </a:r>
              <a:endParaRPr lang="zh-CN" altLang="en-US" sz="2000" b="1" dirty="0">
                <a:latin typeface="Arial" panose="02080604020202020204" pitchFamily="34" charset="0"/>
              </a:endParaRPr>
            </a:p>
          </p:txBody>
        </p:sp>
      </p:grpSp>
      <p:sp>
        <p:nvSpPr>
          <p:cNvPr id="344077" name="Rectangle 13"/>
          <p:cNvSpPr/>
          <p:nvPr/>
        </p:nvSpPr>
        <p:spPr>
          <a:xfrm>
            <a:off x="5427663" y="1341438"/>
            <a:ext cx="3125787" cy="1301750"/>
          </a:xfrm>
          <a:prstGeom prst="rect">
            <a:avLst/>
          </a:prstGeom>
          <a:noFill/>
          <a:ln w="12700" cap="flat" cmpd="sng">
            <a:solidFill>
              <a:schemeClr val="tx1"/>
            </a:solidFill>
            <a:prstDash val="sysDot"/>
            <a:miter/>
            <a:headEnd type="none" w="sm" len="sm"/>
            <a:tailEnd type="none" w="sm" len="sm"/>
          </a:ln>
        </p:spPr>
        <p:txBody>
          <a:bodyPr wrap="square" anchor="t" anchorCtr="0">
            <a:spAutoFit/>
          </a:bodyPr>
          <a:p>
            <a:pPr>
              <a:spcBef>
                <a:spcPct val="30000"/>
              </a:spcBef>
            </a:pPr>
            <a:r>
              <a:rPr lang="zh-CN" altLang="en-US" sz="2400" dirty="0">
                <a:latin typeface="Arial" panose="02080604020202020204" pitchFamily="34" charset="0"/>
              </a:rPr>
              <a:t>10, 12, </a:t>
            </a:r>
            <a:r>
              <a:rPr lang="en-US" altLang="zh-CN" sz="2400">
                <a:latin typeface="Arial" panose="02080604020202020204" pitchFamily="34" charset="0"/>
              </a:rPr>
              <a:t>a</a:t>
            </a:r>
            <a:endParaRPr lang="en-US" altLang="zh-CN" sz="2400">
              <a:latin typeface="Arial" panose="02080604020202020204" pitchFamily="34" charset="0"/>
            </a:endParaRPr>
          </a:p>
          <a:p>
            <a:pPr eaLnBrk="0" hangingPunct="0">
              <a:lnSpc>
                <a:spcPct val="114000"/>
              </a:lnSpc>
            </a:pPr>
            <a:r>
              <a:rPr lang="en-US" altLang="zh-CN" sz="2400">
                <a:latin typeface="Arial" panose="02080604020202020204" pitchFamily="34" charset="0"/>
              </a:rPr>
              <a:t>10, 8, 16</a:t>
            </a:r>
            <a:endParaRPr lang="en-US" altLang="zh-CN" sz="2400">
              <a:latin typeface="Arial" panose="02080604020202020204" pitchFamily="34" charset="0"/>
            </a:endParaRPr>
          </a:p>
          <a:p>
            <a:pPr eaLnBrk="0" hangingPunct="0">
              <a:lnSpc>
                <a:spcPct val="114000"/>
              </a:lnSpc>
            </a:pPr>
            <a:r>
              <a:rPr lang="en-US" altLang="zh-CN" sz="2400">
                <a:latin typeface="Arial" panose="02080604020202020204" pitchFamily="34" charset="0"/>
              </a:rPr>
              <a:t>10, a</a:t>
            </a:r>
            <a:endParaRPr lang="zh-CN" altLang="en-US" sz="2400" dirty="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4077"/>
                                        </p:tgtEl>
                                        <p:attrNameLst>
                                          <p:attrName>style.visibility</p:attrName>
                                        </p:attrNameLst>
                                      </p:cBhvr>
                                      <p:to>
                                        <p:strVal val="visible"/>
                                      </p:to>
                                    </p:set>
                                    <p:anim calcmode="lin" valueType="num">
                                      <p:cBhvr additive="base">
                                        <p:cTn id="7" dur="500" fill="hold"/>
                                        <p:tgtEl>
                                          <p:spTgt spid="344077"/>
                                        </p:tgtEl>
                                        <p:attrNameLst>
                                          <p:attrName>ppt_x</p:attrName>
                                        </p:attrNameLst>
                                      </p:cBhvr>
                                      <p:tavLst>
                                        <p:tav tm="0">
                                          <p:val>
                                            <p:strVal val="0-#ppt_w/2"/>
                                          </p:val>
                                        </p:tav>
                                        <p:tav tm="100000">
                                          <p:val>
                                            <p:strVal val="#ppt_x"/>
                                          </p:val>
                                        </p:tav>
                                      </p:tavLst>
                                    </p:anim>
                                    <p:anim calcmode="lin" valueType="num">
                                      <p:cBhvr additive="base">
                                        <p:cTn id="8" dur="500" fill="hold"/>
                                        <p:tgtEl>
                                          <p:spTgt spid="3440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7"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1986" name="Rectangle 2"/>
          <p:cNvSpPr>
            <a:spLocks noGrp="1"/>
          </p:cNvSpPr>
          <p:nvPr>
            <p:ph type="title"/>
          </p:nvPr>
        </p:nvSpPr>
        <p:spPr>
          <a:xfrm>
            <a:off x="457200" y="457200"/>
            <a:ext cx="7067550" cy="884238"/>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例</a:t>
            </a:r>
            <a:r>
              <a:rPr lang="zh-CN" altLang="en-US" b="0" dirty="0">
                <a:sym typeface="+mn-ea"/>
              </a:rPr>
              <a:t>6-2(2) </a:t>
            </a:r>
            <a:r>
              <a:rPr lang="zh-CN" altLang="en-US" b="0" dirty="0">
                <a:sym typeface="+mn-ea"/>
              </a:rPr>
              <a:t>输入整型数据</a:t>
            </a:r>
            <a:endParaRPr lang="zh-CN" altLang="en-US" b="0" dirty="0">
              <a:sym typeface="+mn-ea"/>
            </a:endParaRPr>
          </a:p>
        </p:txBody>
      </p:sp>
      <p:sp>
        <p:nvSpPr>
          <p:cNvPr id="41987" name="Rectangle 3"/>
          <p:cNvSpPr>
            <a:spLocks noGrp="1"/>
          </p:cNvSpPr>
          <p:nvPr>
            <p:ph idx="1"/>
          </p:nvPr>
        </p:nvSpPr>
        <p:spPr>
          <a:xfrm>
            <a:off x="250825" y="1268413"/>
            <a:ext cx="5486400" cy="5297487"/>
          </a:xfrm>
        </p:spPr>
        <p:txBody>
          <a:bodyPr vert="horz" wrap="square" lIns="91440" tIns="45720" rIns="91440" bIns="45720" anchor="t" anchorCtr="0"/>
          <a:p>
            <a:pPr lvl="1" algn="just" eaLnBrk="1" hangingPunct="1">
              <a:lnSpc>
                <a:spcPct val="114000"/>
              </a:lnSpc>
              <a:buNone/>
            </a:pPr>
            <a:r>
              <a:rPr lang="zh-CN" altLang="en-US" sz="2400" b="0" dirty="0"/>
              <a:t># </a:t>
            </a:r>
            <a:r>
              <a:rPr lang="en-US" altLang="zh-CN" sz="2400" b="0"/>
              <a:t>include  &lt;</a:t>
            </a:r>
            <a:r>
              <a:rPr lang="en-US" altLang="zh-CN" sz="2400" b="0" err="1"/>
              <a:t>stdio.h</a:t>
            </a:r>
            <a:r>
              <a:rPr lang="en-US" altLang="zh-CN" sz="2400" b="0"/>
              <a:t>&gt;       </a:t>
            </a:r>
            <a:endParaRPr lang="en-US" altLang="zh-CN" sz="2400" b="0"/>
          </a:p>
          <a:p>
            <a:pPr lvl="1" algn="just" eaLnBrk="1" hangingPunct="1">
              <a:lnSpc>
                <a:spcPct val="90000"/>
              </a:lnSpc>
              <a:buNone/>
            </a:pPr>
            <a:r>
              <a:rPr lang="en-US" altLang="zh-CN" sz="2400" b="0" err="1"/>
              <a:t>int</a:t>
            </a:r>
            <a:r>
              <a:rPr lang="en-US" altLang="zh-CN" sz="2400" b="0"/>
              <a:t> </a:t>
            </a:r>
            <a:r>
              <a:rPr lang="en-US" altLang="zh-CN" sz="2400" b="0" err="1"/>
              <a:t>main(void</a:t>
            </a:r>
            <a:r>
              <a:rPr lang="en-US" altLang="zh-CN" sz="2400" b="0"/>
              <a:t>)</a:t>
            </a:r>
            <a:endParaRPr lang="en-US" altLang="zh-CN" sz="2400" b="0"/>
          </a:p>
          <a:p>
            <a:pPr lvl="1" algn="just" eaLnBrk="1" hangingPunct="1">
              <a:lnSpc>
                <a:spcPct val="90000"/>
              </a:lnSpc>
              <a:buNone/>
            </a:pPr>
            <a:r>
              <a:rPr lang="en-US" altLang="zh-CN" sz="2400" b="0"/>
              <a:t>{   </a:t>
            </a:r>
            <a:endParaRPr lang="en-US" altLang="zh-CN" sz="2400" b="0"/>
          </a:p>
          <a:p>
            <a:pPr lvl="1" algn="just" eaLnBrk="1" hangingPunct="1">
              <a:lnSpc>
                <a:spcPct val="90000"/>
              </a:lnSpc>
              <a:buNone/>
            </a:pPr>
            <a:r>
              <a:rPr lang="en-US" altLang="zh-CN" sz="2400" b="0"/>
              <a:t>    </a:t>
            </a:r>
            <a:r>
              <a:rPr lang="en-US" altLang="zh-CN" sz="2400" b="0" err="1"/>
              <a:t>int</a:t>
            </a:r>
            <a:r>
              <a:rPr lang="en-US" altLang="zh-CN" sz="2400" b="0"/>
              <a:t> a, b; </a:t>
            </a:r>
            <a:endParaRPr lang="en-US" altLang="zh-CN" sz="2400" b="0"/>
          </a:p>
          <a:p>
            <a:pPr lvl="1" algn="just" eaLnBrk="1" hangingPunct="1">
              <a:lnSpc>
                <a:spcPct val="90000"/>
              </a:lnSpc>
              <a:buNone/>
            </a:pPr>
            <a:r>
              <a:rPr lang="en-US" altLang="zh-CN" sz="2400" b="0"/>
              <a:t>   </a:t>
            </a:r>
            <a:endParaRPr lang="en-US" altLang="zh-CN" sz="2400" b="0"/>
          </a:p>
          <a:p>
            <a:pPr lvl="1" algn="just" eaLnBrk="1" hangingPunct="1">
              <a:lnSpc>
                <a:spcPct val="90000"/>
              </a:lnSpc>
              <a:buNone/>
            </a:pPr>
            <a:r>
              <a:rPr lang="en-US" altLang="zh-CN" sz="2400" b="0"/>
              <a:t>    </a:t>
            </a:r>
            <a:r>
              <a:rPr lang="en-US" altLang="zh-CN" sz="2400" b="0" err="1"/>
              <a:t>printf("input</a:t>
            </a:r>
            <a:r>
              <a:rPr lang="en-US" altLang="zh-CN" sz="2400" b="0"/>
              <a:t> a, b:"); </a:t>
            </a:r>
            <a:endParaRPr lang="en-US" altLang="zh-CN" sz="2400" b="0"/>
          </a:p>
          <a:p>
            <a:pPr lvl="1" algn="just" eaLnBrk="1" hangingPunct="1">
              <a:lnSpc>
                <a:spcPct val="90000"/>
              </a:lnSpc>
              <a:buNone/>
            </a:pPr>
            <a:r>
              <a:rPr lang="en-US" altLang="zh-CN" sz="2400" b="0"/>
              <a:t>    </a:t>
            </a:r>
            <a:r>
              <a:rPr lang="en-US" altLang="zh-CN" sz="2400" b="0" err="1"/>
              <a:t>scanf("%</a:t>
            </a:r>
            <a:r>
              <a:rPr lang="en-US" altLang="zh-CN" sz="2400" b="0" err="1">
                <a:solidFill>
                  <a:srgbClr val="FF9933"/>
                </a:solidFill>
              </a:rPr>
              <a:t>o</a:t>
            </a:r>
            <a:r>
              <a:rPr lang="en-US" altLang="zh-CN" sz="2400" b="0" err="1"/>
              <a:t>%d</a:t>
            </a:r>
            <a:r>
              <a:rPr lang="en-US" altLang="zh-CN" sz="2400" b="0"/>
              <a:t>", &amp;a, &amp;b); </a:t>
            </a:r>
            <a:endParaRPr lang="en-US" altLang="zh-CN" sz="2400" b="0"/>
          </a:p>
          <a:p>
            <a:pPr lvl="1" algn="just" eaLnBrk="1" hangingPunct="1">
              <a:lnSpc>
                <a:spcPct val="90000"/>
              </a:lnSpc>
              <a:buNone/>
            </a:pPr>
            <a:r>
              <a:rPr lang="en-US" altLang="zh-CN" sz="2400" b="0"/>
              <a:t>    printf("%d%5d\n", a, b); </a:t>
            </a:r>
            <a:endParaRPr lang="en-US" altLang="zh-CN" sz="2400" b="0"/>
          </a:p>
          <a:p>
            <a:pPr lvl="1" algn="just" eaLnBrk="1" hangingPunct="1">
              <a:lnSpc>
                <a:spcPct val="90000"/>
              </a:lnSpc>
              <a:buNone/>
            </a:pPr>
            <a:r>
              <a:rPr lang="en-US" altLang="zh-CN" sz="2400" b="0"/>
              <a:t>    </a:t>
            </a:r>
            <a:r>
              <a:rPr lang="en-US" altLang="zh-CN" sz="2400" b="0" err="1"/>
              <a:t>printf("%x</a:t>
            </a:r>
            <a:r>
              <a:rPr lang="en-US" altLang="zh-CN" sz="2400" b="0"/>
              <a:t>, %</a:t>
            </a:r>
            <a:r>
              <a:rPr lang="en-US" altLang="zh-CN" sz="2400" b="0" err="1"/>
              <a:t>d\n</a:t>
            </a:r>
            <a:r>
              <a:rPr lang="en-US" altLang="zh-CN" sz="2400" b="0"/>
              <a:t>", a, b); </a:t>
            </a:r>
            <a:endParaRPr lang="en-US" altLang="zh-CN" sz="2400" b="0"/>
          </a:p>
          <a:p>
            <a:pPr lvl="1" algn="just" eaLnBrk="1" hangingPunct="1">
              <a:lnSpc>
                <a:spcPct val="90000"/>
              </a:lnSpc>
              <a:buNone/>
            </a:pPr>
            <a:r>
              <a:rPr lang="en-US" altLang="zh-CN" sz="2400" b="0"/>
              <a:t>    return 0;</a:t>
            </a:r>
            <a:endParaRPr lang="en-US" altLang="zh-CN" sz="2400" b="0"/>
          </a:p>
          <a:p>
            <a:pPr lvl="1" algn="just" eaLnBrk="1" hangingPunct="1">
              <a:lnSpc>
                <a:spcPct val="90000"/>
              </a:lnSpc>
              <a:buNone/>
            </a:pPr>
            <a:r>
              <a:rPr lang="en-US" altLang="zh-CN" sz="2400" b="0"/>
              <a:t>}</a:t>
            </a:r>
            <a:r>
              <a:rPr lang="en-US" altLang="zh-CN" sz="2400" b="0">
                <a:latin typeface="Times New Roman" pitchFamily="18" charset="0"/>
              </a:rPr>
              <a:t>  </a:t>
            </a:r>
            <a:endParaRPr lang="zh-CN" altLang="en-US" sz="2400" b="0" dirty="0">
              <a:latin typeface="Times New Roman" pitchFamily="18" charset="0"/>
            </a:endParaRPr>
          </a:p>
        </p:txBody>
      </p:sp>
      <p:sp>
        <p:nvSpPr>
          <p:cNvPr id="345094" name="Rectangle 6"/>
          <p:cNvSpPr/>
          <p:nvPr/>
        </p:nvSpPr>
        <p:spPr>
          <a:xfrm>
            <a:off x="5029200" y="1524000"/>
            <a:ext cx="3762375" cy="1581150"/>
          </a:xfrm>
          <a:prstGeom prst="rect">
            <a:avLst/>
          </a:prstGeom>
          <a:noFill/>
          <a:ln w="12700" cap="flat" cmpd="sng">
            <a:solidFill>
              <a:schemeClr val="tx1"/>
            </a:solidFill>
            <a:prstDash val="sysDot"/>
            <a:miter/>
            <a:headEnd type="none" w="sm" len="sm"/>
            <a:tailEnd type="none" w="sm" len="sm"/>
          </a:ln>
        </p:spPr>
        <p:txBody>
          <a:bodyPr wrap="square" anchor="t" anchorCtr="0">
            <a:spAutoFit/>
          </a:bodyPr>
          <a:p>
            <a:pPr>
              <a:spcBef>
                <a:spcPct val="30000"/>
              </a:spcBef>
            </a:pPr>
            <a:r>
              <a:rPr lang="en-US" altLang="zh-CN" sz="2800">
                <a:latin typeface="Arial" panose="02080604020202020204" pitchFamily="34" charset="0"/>
              </a:rPr>
              <a:t>input a, b: </a:t>
            </a:r>
            <a:r>
              <a:rPr lang="zh-CN" altLang="en-US" sz="2800" dirty="0">
                <a:solidFill>
                  <a:srgbClr val="CC0066"/>
                </a:solidFill>
                <a:latin typeface="Arial" panose="02080604020202020204" pitchFamily="34" charset="0"/>
              </a:rPr>
              <a:t>17  17</a:t>
            </a:r>
            <a:endParaRPr lang="zh-CN" altLang="en-US" sz="2800" dirty="0">
              <a:solidFill>
                <a:srgbClr val="CC0066"/>
              </a:solidFill>
              <a:latin typeface="Arial" panose="02080604020202020204" pitchFamily="34" charset="0"/>
            </a:endParaRPr>
          </a:p>
          <a:p>
            <a:pPr eaLnBrk="0" hangingPunct="0">
              <a:lnSpc>
                <a:spcPct val="114000"/>
              </a:lnSpc>
              <a:spcBef>
                <a:spcPts val="600"/>
              </a:spcBef>
            </a:pPr>
            <a:r>
              <a:rPr lang="zh-CN" altLang="en-US" sz="2800" dirty="0">
                <a:latin typeface="Arial" panose="02080604020202020204" pitchFamily="34" charset="0"/>
              </a:rPr>
              <a:t>15   17</a:t>
            </a:r>
            <a:endParaRPr lang="zh-CN" altLang="en-US" sz="2800" dirty="0">
              <a:latin typeface="Arial" panose="02080604020202020204" pitchFamily="34" charset="0"/>
            </a:endParaRPr>
          </a:p>
          <a:p>
            <a:pPr eaLnBrk="0" hangingPunct="0">
              <a:lnSpc>
                <a:spcPct val="114000"/>
              </a:lnSpc>
            </a:pPr>
            <a:r>
              <a:rPr lang="zh-CN" altLang="en-US" sz="2800" dirty="0">
                <a:latin typeface="Arial" panose="02080604020202020204" pitchFamily="34" charset="0"/>
              </a:rPr>
              <a:t>f</a:t>
            </a:r>
            <a:r>
              <a:rPr lang="zh-CN" altLang="zh-CN" sz="2800" dirty="0">
                <a:latin typeface="Arial" panose="02080604020202020204" pitchFamily="34" charset="0"/>
              </a:rPr>
              <a:t>, </a:t>
            </a:r>
            <a:r>
              <a:rPr lang="zh-CN" altLang="en-US" sz="2800" dirty="0">
                <a:latin typeface="Arial" panose="02080604020202020204" pitchFamily="34" charset="0"/>
              </a:rPr>
              <a:t>17</a:t>
            </a:r>
            <a:endParaRPr lang="en-US" altLang="zh-CN" sz="2800">
              <a:latin typeface="Arial" panose="02080604020202020204" pitchFamily="34" charset="0"/>
            </a:endParaRPr>
          </a:p>
        </p:txBody>
      </p:sp>
      <p:sp>
        <p:nvSpPr>
          <p:cNvPr id="345095" name="Text Box 7"/>
          <p:cNvSpPr txBox="1"/>
          <p:nvPr/>
        </p:nvSpPr>
        <p:spPr>
          <a:xfrm>
            <a:off x="2484438" y="4149725"/>
            <a:ext cx="1211262" cy="460375"/>
          </a:xfrm>
          <a:prstGeom prst="rect">
            <a:avLst/>
          </a:prstGeom>
          <a:solidFill>
            <a:schemeClr val="folHlink"/>
          </a:solidFill>
          <a:ln w="12700">
            <a:noFill/>
          </a:ln>
        </p:spPr>
        <p:txBody>
          <a:bodyPr wrap="square" anchor="t" anchorCtr="0">
            <a:spAutoFit/>
          </a:bodyPr>
          <a:p>
            <a:pPr>
              <a:buClr>
                <a:srgbClr val="33CCCC"/>
              </a:buClr>
              <a:buSzPct val="110000"/>
            </a:pPr>
            <a:r>
              <a:rPr lang="zh-CN" altLang="en-US" sz="2400" dirty="0">
                <a:latin typeface="Arial" panose="02080604020202020204" pitchFamily="34" charset="0"/>
              </a:rPr>
              <a:t>%</a:t>
            </a:r>
            <a:r>
              <a:rPr lang="en-US" altLang="zh-CN" sz="2400" err="1">
                <a:latin typeface="Arial" panose="02080604020202020204" pitchFamily="34" charset="0"/>
              </a:rPr>
              <a:t>x%d</a:t>
            </a:r>
            <a:endParaRPr lang="en-US" altLang="en-US" sz="2400">
              <a:latin typeface="Arial" panose="02080604020202020204" pitchFamily="34" charset="0"/>
            </a:endParaRPr>
          </a:p>
        </p:txBody>
      </p:sp>
      <p:sp>
        <p:nvSpPr>
          <p:cNvPr id="41990" name="文本框 1"/>
          <p:cNvSpPr txBox="1"/>
          <p:nvPr/>
        </p:nvSpPr>
        <p:spPr>
          <a:xfrm>
            <a:off x="3203575" y="5229225"/>
            <a:ext cx="5200650" cy="644525"/>
          </a:xfrm>
          <a:prstGeom prst="rect">
            <a:avLst/>
          </a:prstGeom>
          <a:noFill/>
          <a:ln w="9525">
            <a:noFill/>
          </a:ln>
        </p:spPr>
        <p:txBody>
          <a:bodyPr wrap="square" anchor="t" anchorCtr="0">
            <a:spAutoFit/>
          </a:bodyPr>
          <a:p>
            <a:r>
              <a:rPr lang="zh-CN" altLang="en-US">
                <a:latin typeface="Arial" panose="02080604020202020204" pitchFamily="34" charset="0"/>
              </a:rPr>
              <a:t>输出带符号的整数，需要占用5个字符位置, 不够则空格补齐. %5d是右对齐，%-5d是左对齐</a:t>
            </a:r>
            <a:endParaRPr lang="zh-CN" altLang="en-US">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5094"/>
                                        </p:tgtEl>
                                        <p:attrNameLst>
                                          <p:attrName>style.visibility</p:attrName>
                                        </p:attrNameLst>
                                      </p:cBhvr>
                                      <p:to>
                                        <p:strVal val="visible"/>
                                      </p:to>
                                    </p:set>
                                    <p:anim calcmode="lin" valueType="num">
                                      <p:cBhvr additive="base">
                                        <p:cTn id="7" dur="500" fill="hold"/>
                                        <p:tgtEl>
                                          <p:spTgt spid="345094"/>
                                        </p:tgtEl>
                                        <p:attrNameLst>
                                          <p:attrName>ppt_x</p:attrName>
                                        </p:attrNameLst>
                                      </p:cBhvr>
                                      <p:tavLst>
                                        <p:tav tm="0">
                                          <p:val>
                                            <p:strVal val="0-#ppt_w/2"/>
                                          </p:val>
                                        </p:tav>
                                        <p:tav tm="100000">
                                          <p:val>
                                            <p:strVal val="#ppt_x"/>
                                          </p:val>
                                        </p:tav>
                                      </p:tavLst>
                                    </p:anim>
                                    <p:anim calcmode="lin" valueType="num">
                                      <p:cBhvr additive="base">
                                        <p:cTn id="8" dur="500" fill="hold"/>
                                        <p:tgtEl>
                                          <p:spTgt spid="3450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45095"/>
                                        </p:tgtEl>
                                        <p:attrNameLst>
                                          <p:attrName>style.visibility</p:attrName>
                                        </p:attrNameLst>
                                      </p:cBhvr>
                                      <p:to>
                                        <p:strVal val="visible"/>
                                      </p:to>
                                    </p:set>
                                    <p:anim calcmode="lin" valueType="num">
                                      <p:cBhvr additive="base">
                                        <p:cTn id="13" dur="500" fill="hold"/>
                                        <p:tgtEl>
                                          <p:spTgt spid="345095"/>
                                        </p:tgtEl>
                                        <p:attrNameLst>
                                          <p:attrName>ppt_x</p:attrName>
                                        </p:attrNameLst>
                                      </p:cBhvr>
                                      <p:tavLst>
                                        <p:tav tm="0">
                                          <p:val>
                                            <p:strVal val="1+#ppt_w/2"/>
                                          </p:val>
                                        </p:tav>
                                        <p:tav tm="100000">
                                          <p:val>
                                            <p:strVal val="#ppt_x"/>
                                          </p:val>
                                        </p:tav>
                                      </p:tavLst>
                                    </p:anim>
                                    <p:anim calcmode="lin" valueType="num">
                                      <p:cBhvr additive="base">
                                        <p:cTn id="14" dur="500" fill="hold"/>
                                        <p:tgtEl>
                                          <p:spTgt spid="3450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4" grpId="0" bldLvl="0" animBg="1"/>
      <p:bldP spid="345095"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539750" y="333375"/>
            <a:ext cx="7772400" cy="9144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6.3.2 </a:t>
            </a:r>
            <a:r>
              <a:rPr lang="zh-CN" altLang="en-US" b="0" dirty="0">
                <a:sym typeface="+mn-ea"/>
              </a:rPr>
              <a:t>实型数据的输入和输出</a:t>
            </a:r>
            <a:endParaRPr lang="zh-CN" altLang="en-US" b="0" dirty="0">
              <a:sym typeface="+mn-ea"/>
            </a:endParaRPr>
          </a:p>
        </p:txBody>
      </p:sp>
      <p:sp>
        <p:nvSpPr>
          <p:cNvPr id="349187" name="Rectangle 3"/>
          <p:cNvSpPr>
            <a:spLocks noGrp="1"/>
          </p:cNvSpPr>
          <p:nvPr>
            <p:ph idx="1"/>
          </p:nvPr>
        </p:nvSpPr>
        <p:spPr>
          <a:xfrm>
            <a:off x="323850" y="1341438"/>
            <a:ext cx="8458200" cy="5181600"/>
          </a:xfrm>
        </p:spPr>
        <p:txBody>
          <a:bodyPr vert="horz" wrap="square" lIns="91440" tIns="45720" rIns="91440" bIns="45720" anchor="t" anchorCtr="0"/>
          <a:p>
            <a:pPr algn="just" eaLnBrk="1" hangingPunct="1">
              <a:lnSpc>
                <a:spcPct val="84000"/>
              </a:lnSpc>
            </a:pPr>
            <a:r>
              <a:rPr lang="zh-CN" altLang="en-US" b="0" dirty="0"/>
              <a:t>输入  </a:t>
            </a:r>
            <a:r>
              <a:rPr lang="en-US" altLang="zh-CN" b="0" err="1"/>
              <a:t>scanf</a:t>
            </a:r>
            <a:r>
              <a:rPr lang="en-US" altLang="zh-CN" b="0"/>
              <a:t>()</a:t>
            </a:r>
            <a:endParaRPr lang="en-US" altLang="zh-CN" b="0"/>
          </a:p>
          <a:p>
            <a:pPr lvl="1" algn="just" eaLnBrk="1" hangingPunct="1">
              <a:lnSpc>
                <a:spcPct val="84000"/>
              </a:lnSpc>
            </a:pPr>
            <a:r>
              <a:rPr lang="en-US" altLang="zh-CN" b="0"/>
              <a:t>float：</a:t>
            </a:r>
            <a:r>
              <a:rPr lang="zh-CN" altLang="en-US" b="0" dirty="0"/>
              <a:t>%</a:t>
            </a:r>
            <a:r>
              <a:rPr lang="en-US" altLang="zh-CN" b="0"/>
              <a:t>f </a:t>
            </a:r>
            <a:r>
              <a:rPr lang="zh-CN" altLang="en-US" b="0" dirty="0"/>
              <a:t>或%</a:t>
            </a:r>
            <a:r>
              <a:rPr lang="en-US" altLang="zh-CN" b="0"/>
              <a:t>e</a:t>
            </a:r>
            <a:r>
              <a:rPr lang="zh-CN" altLang="en-US" b="0" dirty="0"/>
              <a:t> </a:t>
            </a:r>
            <a:endParaRPr lang="zh-CN" altLang="en-US" b="0" dirty="0"/>
          </a:p>
          <a:p>
            <a:pPr lvl="2" algn="just" eaLnBrk="1" hangingPunct="1">
              <a:lnSpc>
                <a:spcPct val="84000"/>
              </a:lnSpc>
              <a:buNone/>
            </a:pPr>
            <a:r>
              <a:rPr lang="zh-CN" altLang="en-US" b="0" dirty="0"/>
              <a:t>以小数或指数形式输入一个单精度浮点数</a:t>
            </a:r>
            <a:endParaRPr lang="zh-CN" altLang="en-US" b="0" dirty="0"/>
          </a:p>
          <a:p>
            <a:pPr lvl="1" algn="just" eaLnBrk="1" hangingPunct="1">
              <a:lnSpc>
                <a:spcPct val="94000"/>
              </a:lnSpc>
            </a:pPr>
            <a:r>
              <a:rPr lang="en-US" altLang="zh-CN" b="0"/>
              <a:t>double：</a:t>
            </a:r>
            <a:r>
              <a:rPr lang="zh-CN" altLang="en-US" b="0" dirty="0"/>
              <a:t> %</a:t>
            </a:r>
            <a:r>
              <a:rPr lang="en-US" altLang="zh-CN" b="0">
                <a:solidFill>
                  <a:srgbClr val="CC0066"/>
                </a:solidFill>
              </a:rPr>
              <a:t>l</a:t>
            </a:r>
            <a:r>
              <a:rPr lang="en-US" altLang="zh-CN" b="0"/>
              <a:t>f</a:t>
            </a:r>
            <a:r>
              <a:rPr lang="zh-CN" altLang="en-US" b="0" dirty="0"/>
              <a:t>或%</a:t>
            </a:r>
            <a:r>
              <a:rPr lang="en-US" altLang="zh-CN" b="0">
                <a:solidFill>
                  <a:srgbClr val="CC0066"/>
                </a:solidFill>
              </a:rPr>
              <a:t>l</a:t>
            </a:r>
            <a:r>
              <a:rPr lang="en-US" altLang="zh-CN" b="0"/>
              <a:t>e </a:t>
            </a:r>
            <a:endParaRPr lang="en-US" altLang="zh-CN" b="0"/>
          </a:p>
          <a:p>
            <a:pPr lvl="2" algn="just" eaLnBrk="1" hangingPunct="1">
              <a:lnSpc>
                <a:spcPct val="94000"/>
              </a:lnSpc>
              <a:buNone/>
            </a:pPr>
            <a:r>
              <a:rPr lang="zh-CN" altLang="en-US" b="0" dirty="0"/>
              <a:t>以小数或指数形式输入一个</a:t>
            </a:r>
            <a:r>
              <a:rPr lang="zh-CN" altLang="en-US" b="0" dirty="0">
                <a:solidFill>
                  <a:srgbClr val="CC0066"/>
                </a:solidFill>
              </a:rPr>
              <a:t>双精度</a:t>
            </a:r>
            <a:r>
              <a:rPr lang="zh-CN" altLang="en-US" b="0" dirty="0"/>
              <a:t>浮点数</a:t>
            </a:r>
            <a:endParaRPr lang="zh-CN" altLang="zh-CN" b="0" dirty="0"/>
          </a:p>
          <a:p>
            <a:pPr algn="just" eaLnBrk="1" hangingPunct="1">
              <a:lnSpc>
                <a:spcPct val="124000"/>
              </a:lnSpc>
            </a:pPr>
            <a:r>
              <a:rPr lang="zh-CN" altLang="en-US" b="0" dirty="0"/>
              <a:t>输出   </a:t>
            </a:r>
            <a:r>
              <a:rPr lang="en-US" altLang="zh-CN" b="0" err="1"/>
              <a:t>printf</a:t>
            </a:r>
            <a:r>
              <a:rPr lang="en-US" altLang="zh-CN" b="0"/>
              <a:t>()</a:t>
            </a:r>
            <a:endParaRPr lang="zh-CN" altLang="en-US" b="0" dirty="0"/>
          </a:p>
          <a:p>
            <a:pPr lvl="1" algn="just" eaLnBrk="1" hangingPunct="1">
              <a:lnSpc>
                <a:spcPct val="84000"/>
              </a:lnSpc>
              <a:buNone/>
            </a:pPr>
            <a:r>
              <a:rPr lang="en-US" altLang="zh-CN" b="0"/>
              <a:t>float </a:t>
            </a:r>
            <a:r>
              <a:rPr lang="zh-CN" altLang="en-US" b="0" dirty="0"/>
              <a:t>和</a:t>
            </a:r>
            <a:r>
              <a:rPr lang="en-US" altLang="zh-CN" b="0"/>
              <a:t>double</a:t>
            </a:r>
            <a:r>
              <a:rPr lang="zh-CN" altLang="en-US" b="0" dirty="0"/>
              <a:t>使用相同的格式控制说明</a:t>
            </a:r>
            <a:endParaRPr lang="zh-CN" altLang="en-US" b="0" dirty="0"/>
          </a:p>
          <a:p>
            <a:pPr lvl="1" algn="just" eaLnBrk="1" hangingPunct="1">
              <a:lnSpc>
                <a:spcPct val="84000"/>
              </a:lnSpc>
            </a:pPr>
            <a:r>
              <a:rPr lang="zh-CN" altLang="en-US" b="0" dirty="0"/>
              <a:t>%</a:t>
            </a:r>
            <a:r>
              <a:rPr lang="en-US" altLang="zh-CN" b="0"/>
              <a:t>f</a:t>
            </a:r>
            <a:endParaRPr lang="en-US" altLang="zh-CN" b="0"/>
          </a:p>
          <a:p>
            <a:pPr lvl="2" algn="just" eaLnBrk="1" hangingPunct="1">
              <a:lnSpc>
                <a:spcPct val="84000"/>
              </a:lnSpc>
              <a:buNone/>
            </a:pPr>
            <a:r>
              <a:rPr lang="zh-CN" altLang="en-US" b="0" dirty="0"/>
              <a:t>以小数形式输出浮点数，保留6位小数</a:t>
            </a:r>
            <a:endParaRPr lang="zh-CN" altLang="en-US" b="0" dirty="0"/>
          </a:p>
          <a:p>
            <a:pPr lvl="1" algn="just" eaLnBrk="1" hangingPunct="1">
              <a:lnSpc>
                <a:spcPct val="84000"/>
              </a:lnSpc>
            </a:pPr>
            <a:r>
              <a:rPr lang="zh-CN" altLang="en-US" b="0" dirty="0"/>
              <a:t>%</a:t>
            </a:r>
            <a:r>
              <a:rPr lang="en-US" altLang="zh-CN" b="0"/>
              <a:t>e</a:t>
            </a:r>
            <a:endParaRPr lang="en-US" altLang="zh-CN" b="0"/>
          </a:p>
          <a:p>
            <a:pPr lvl="2" algn="just" eaLnBrk="1" hangingPunct="1">
              <a:lnSpc>
                <a:spcPct val="84000"/>
              </a:lnSpc>
              <a:buNone/>
            </a:pPr>
            <a:r>
              <a:rPr lang="zh-CN" altLang="en-US" b="0" dirty="0"/>
              <a:t>以指数形式输出</a:t>
            </a:r>
            <a:endParaRPr lang="zh-CN" altLang="en-US"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9187">
                                            <p:txEl>
                                              <p:charRg st="0" end="12"/>
                                            </p:txEl>
                                          </p:spTgt>
                                        </p:tgtEl>
                                        <p:attrNameLst>
                                          <p:attrName>style.visibility</p:attrName>
                                        </p:attrNameLst>
                                      </p:cBhvr>
                                      <p:to>
                                        <p:strVal val="visible"/>
                                      </p:to>
                                    </p:set>
                                    <p:anim calcmode="lin" valueType="num">
                                      <p:cBhvr additive="base">
                                        <p:cTn id="7" dur="500" fill="hold"/>
                                        <p:tgtEl>
                                          <p:spTgt spid="349187">
                                            <p:txEl>
                                              <p:charRg st="0" end="1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9187">
                                            <p:txEl>
                                              <p:charRg st="0" end="12"/>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49187">
                                            <p:txEl>
                                              <p:charRg st="12" end="26"/>
                                            </p:txEl>
                                          </p:spTgt>
                                        </p:tgtEl>
                                        <p:attrNameLst>
                                          <p:attrName>style.visibility</p:attrName>
                                        </p:attrNameLst>
                                      </p:cBhvr>
                                      <p:to>
                                        <p:strVal val="visible"/>
                                      </p:to>
                                    </p:set>
                                    <p:anim calcmode="lin" valueType="num">
                                      <p:cBhvr additive="base">
                                        <p:cTn id="11" dur="500" fill="hold"/>
                                        <p:tgtEl>
                                          <p:spTgt spid="349187">
                                            <p:txEl>
                                              <p:charRg st="12" end="26"/>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49187">
                                            <p:txEl>
                                              <p:charRg st="12" end="26"/>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49187">
                                            <p:txEl>
                                              <p:charRg st="26" end="45"/>
                                            </p:txEl>
                                          </p:spTgt>
                                        </p:tgtEl>
                                        <p:attrNameLst>
                                          <p:attrName>style.visibility</p:attrName>
                                        </p:attrNameLst>
                                      </p:cBhvr>
                                      <p:to>
                                        <p:strVal val="visible"/>
                                      </p:to>
                                    </p:set>
                                    <p:anim calcmode="lin" valueType="num">
                                      <p:cBhvr additive="base">
                                        <p:cTn id="15" dur="500" fill="hold"/>
                                        <p:tgtEl>
                                          <p:spTgt spid="349187">
                                            <p:txEl>
                                              <p:charRg st="26" end="45"/>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49187">
                                            <p:txEl>
                                              <p:charRg st="26" end="45"/>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49187">
                                            <p:txEl>
                                              <p:charRg st="45" end="62"/>
                                            </p:txEl>
                                          </p:spTgt>
                                        </p:tgtEl>
                                        <p:attrNameLst>
                                          <p:attrName>style.visibility</p:attrName>
                                        </p:attrNameLst>
                                      </p:cBhvr>
                                      <p:to>
                                        <p:strVal val="visible"/>
                                      </p:to>
                                    </p:set>
                                    <p:anim calcmode="lin" valueType="num">
                                      <p:cBhvr additive="base">
                                        <p:cTn id="19" dur="500" fill="hold"/>
                                        <p:tgtEl>
                                          <p:spTgt spid="349187">
                                            <p:txEl>
                                              <p:charRg st="45" end="6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9187">
                                            <p:txEl>
                                              <p:charRg st="45" end="6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49187">
                                            <p:txEl>
                                              <p:charRg st="62" end="81"/>
                                            </p:txEl>
                                          </p:spTgt>
                                        </p:tgtEl>
                                        <p:attrNameLst>
                                          <p:attrName>style.visibility</p:attrName>
                                        </p:attrNameLst>
                                      </p:cBhvr>
                                      <p:to>
                                        <p:strVal val="visible"/>
                                      </p:to>
                                    </p:set>
                                    <p:anim calcmode="lin" valueType="num">
                                      <p:cBhvr additive="base">
                                        <p:cTn id="23" dur="500" fill="hold"/>
                                        <p:tgtEl>
                                          <p:spTgt spid="349187">
                                            <p:txEl>
                                              <p:charRg st="62" end="8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49187">
                                            <p:txEl>
                                              <p:charRg st="62" end="8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49187">
                                            <p:txEl>
                                              <p:charRg st="81" end="95"/>
                                            </p:txEl>
                                          </p:spTgt>
                                        </p:tgtEl>
                                        <p:attrNameLst>
                                          <p:attrName>style.visibility</p:attrName>
                                        </p:attrNameLst>
                                      </p:cBhvr>
                                      <p:to>
                                        <p:strVal val="visible"/>
                                      </p:to>
                                    </p:set>
                                    <p:anim calcmode="lin" valueType="num">
                                      <p:cBhvr additive="base">
                                        <p:cTn id="29" dur="500" fill="hold"/>
                                        <p:tgtEl>
                                          <p:spTgt spid="349187">
                                            <p:txEl>
                                              <p:charRg st="81" end="9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49187">
                                            <p:txEl>
                                              <p:charRg st="81" end="9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49187">
                                            <p:txEl>
                                              <p:charRg st="95" end="120"/>
                                            </p:txEl>
                                          </p:spTgt>
                                        </p:tgtEl>
                                        <p:attrNameLst>
                                          <p:attrName>style.visibility</p:attrName>
                                        </p:attrNameLst>
                                      </p:cBhvr>
                                      <p:to>
                                        <p:strVal val="visible"/>
                                      </p:to>
                                    </p:set>
                                    <p:anim calcmode="lin" valueType="num">
                                      <p:cBhvr additive="base">
                                        <p:cTn id="33" dur="500" fill="hold"/>
                                        <p:tgtEl>
                                          <p:spTgt spid="349187">
                                            <p:txEl>
                                              <p:charRg st="95" end="12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49187">
                                            <p:txEl>
                                              <p:charRg st="95" end="120"/>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349187">
                                            <p:txEl>
                                              <p:charRg st="120" end="123"/>
                                            </p:txEl>
                                          </p:spTgt>
                                        </p:tgtEl>
                                        <p:attrNameLst>
                                          <p:attrName>style.visibility</p:attrName>
                                        </p:attrNameLst>
                                      </p:cBhvr>
                                      <p:to>
                                        <p:strVal val="visible"/>
                                      </p:to>
                                    </p:set>
                                    <p:anim calcmode="lin" valueType="num">
                                      <p:cBhvr additive="base">
                                        <p:cTn id="37" dur="500" fill="hold"/>
                                        <p:tgtEl>
                                          <p:spTgt spid="349187">
                                            <p:txEl>
                                              <p:charRg st="120" end="123"/>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49187">
                                            <p:txEl>
                                              <p:charRg st="120" end="123"/>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349187">
                                            <p:txEl>
                                              <p:charRg st="123" end="141"/>
                                            </p:txEl>
                                          </p:spTgt>
                                        </p:tgtEl>
                                        <p:attrNameLst>
                                          <p:attrName>style.visibility</p:attrName>
                                        </p:attrNameLst>
                                      </p:cBhvr>
                                      <p:to>
                                        <p:strVal val="visible"/>
                                      </p:to>
                                    </p:set>
                                    <p:anim calcmode="lin" valueType="num">
                                      <p:cBhvr additive="base">
                                        <p:cTn id="41" dur="500" fill="hold"/>
                                        <p:tgtEl>
                                          <p:spTgt spid="349187">
                                            <p:txEl>
                                              <p:charRg st="123" end="141"/>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349187">
                                            <p:txEl>
                                              <p:charRg st="123" end="141"/>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349187">
                                            <p:txEl>
                                              <p:charRg st="141" end="144"/>
                                            </p:txEl>
                                          </p:spTgt>
                                        </p:tgtEl>
                                        <p:attrNameLst>
                                          <p:attrName>style.visibility</p:attrName>
                                        </p:attrNameLst>
                                      </p:cBhvr>
                                      <p:to>
                                        <p:strVal val="visible"/>
                                      </p:to>
                                    </p:set>
                                    <p:anim calcmode="lin" valueType="num">
                                      <p:cBhvr additive="base">
                                        <p:cTn id="45" dur="500" fill="hold"/>
                                        <p:tgtEl>
                                          <p:spTgt spid="349187">
                                            <p:txEl>
                                              <p:charRg st="141" end="144"/>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349187">
                                            <p:txEl>
                                              <p:charRg st="141" end="144"/>
                                            </p:tx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349187">
                                            <p:txEl>
                                              <p:charRg st="144" end="152"/>
                                            </p:txEl>
                                          </p:spTgt>
                                        </p:tgtEl>
                                        <p:attrNameLst>
                                          <p:attrName>style.visibility</p:attrName>
                                        </p:attrNameLst>
                                      </p:cBhvr>
                                      <p:to>
                                        <p:strVal val="visible"/>
                                      </p:to>
                                    </p:set>
                                    <p:anim calcmode="lin" valueType="num">
                                      <p:cBhvr additive="base">
                                        <p:cTn id="49" dur="500" fill="hold"/>
                                        <p:tgtEl>
                                          <p:spTgt spid="349187">
                                            <p:txEl>
                                              <p:charRg st="144" end="152"/>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49187">
                                            <p:txEl>
                                              <p:charRg st="144" end="15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4034" name="Rectangle 2"/>
          <p:cNvSpPr>
            <a:spLocks noGrp="1"/>
          </p:cNvSpPr>
          <p:nvPr>
            <p:ph type="title"/>
          </p:nvPr>
        </p:nvSpPr>
        <p:spPr>
          <a:xfrm>
            <a:off x="395288" y="476250"/>
            <a:ext cx="5040312" cy="9144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实型数据输出示例</a:t>
            </a:r>
            <a:endParaRPr lang="zh-CN" altLang="en-US" b="0" dirty="0">
              <a:sym typeface="+mn-ea"/>
            </a:endParaRPr>
          </a:p>
        </p:txBody>
      </p:sp>
      <p:sp>
        <p:nvSpPr>
          <p:cNvPr id="44035" name="Rectangle 3"/>
          <p:cNvSpPr>
            <a:spLocks noGrp="1"/>
          </p:cNvSpPr>
          <p:nvPr>
            <p:ph idx="1"/>
          </p:nvPr>
        </p:nvSpPr>
        <p:spPr>
          <a:xfrm>
            <a:off x="238125" y="1447800"/>
            <a:ext cx="8618538" cy="4343400"/>
          </a:xfrm>
          <a:ln w="28575" cmpd="sng">
            <a:solidFill>
              <a:schemeClr val="accent1">
                <a:shade val="50000"/>
              </a:schemeClr>
            </a:solidFill>
            <a:prstDash val="solid"/>
          </a:ln>
        </p:spPr>
        <p:txBody>
          <a:bodyPr vert="horz" wrap="square" lIns="91440" tIns="45720" rIns="91440" bIns="45720" anchor="t" anchorCtr="0"/>
          <a:p>
            <a:pPr lvl="1" algn="just" eaLnBrk="1" hangingPunct="1">
              <a:lnSpc>
                <a:spcPct val="90000"/>
              </a:lnSpc>
              <a:buNone/>
            </a:pPr>
            <a:r>
              <a:rPr lang="en-US" altLang="zh-CN" b="0"/>
              <a:t># include &lt;</a:t>
            </a:r>
            <a:r>
              <a:rPr lang="en-US" altLang="zh-CN" b="0" err="1"/>
              <a:t>stdio.h</a:t>
            </a:r>
            <a:r>
              <a:rPr lang="en-US" altLang="zh-CN" b="0"/>
              <a:t>&gt;</a:t>
            </a:r>
            <a:endParaRPr lang="en-US" altLang="zh-CN" b="0"/>
          </a:p>
          <a:p>
            <a:pPr lvl="1" algn="just" eaLnBrk="1" hangingPunct="1">
              <a:lnSpc>
                <a:spcPct val="90000"/>
              </a:lnSpc>
              <a:buNone/>
            </a:pPr>
            <a:r>
              <a:rPr lang="en-US" altLang="zh-CN" b="0" err="1"/>
              <a:t>int</a:t>
            </a:r>
            <a:r>
              <a:rPr lang="en-US" altLang="zh-CN" b="0"/>
              <a:t> </a:t>
            </a:r>
            <a:r>
              <a:rPr lang="en-US" altLang="zh-CN" b="0" err="1"/>
              <a:t>main(void</a:t>
            </a:r>
            <a:r>
              <a:rPr lang="en-US" altLang="zh-CN" b="0"/>
              <a:t>)	</a:t>
            </a:r>
            <a:endParaRPr lang="en-US" altLang="zh-CN" b="0"/>
          </a:p>
          <a:p>
            <a:pPr lvl="1" algn="just" eaLnBrk="1" hangingPunct="1">
              <a:lnSpc>
                <a:spcPct val="90000"/>
              </a:lnSpc>
              <a:buNone/>
            </a:pPr>
            <a:r>
              <a:rPr lang="en-US" altLang="zh-CN" b="0"/>
              <a:t>{  </a:t>
            </a:r>
            <a:endParaRPr lang="en-US" altLang="zh-CN" b="0"/>
          </a:p>
          <a:p>
            <a:pPr lvl="1" algn="just" eaLnBrk="1" hangingPunct="1">
              <a:lnSpc>
                <a:spcPct val="90000"/>
              </a:lnSpc>
              <a:buNone/>
            </a:pPr>
            <a:r>
              <a:rPr lang="en-US" altLang="zh-CN" b="0"/>
              <a:t>    double d = 3.1415926;</a:t>
            </a:r>
            <a:endParaRPr lang="en-US" altLang="zh-CN" b="0"/>
          </a:p>
          <a:p>
            <a:pPr lvl="1" algn="just" eaLnBrk="1" hangingPunct="1">
              <a:lnSpc>
                <a:spcPct val="90000"/>
              </a:lnSpc>
              <a:buNone/>
            </a:pPr>
            <a:endParaRPr lang="en-US" altLang="zh-CN" b="0"/>
          </a:p>
          <a:p>
            <a:pPr lvl="1" algn="just" eaLnBrk="1" hangingPunct="1">
              <a:lnSpc>
                <a:spcPct val="90000"/>
              </a:lnSpc>
              <a:buNone/>
            </a:pPr>
            <a:r>
              <a:rPr lang="en-US" altLang="zh-CN" b="0"/>
              <a:t>    </a:t>
            </a:r>
            <a:r>
              <a:rPr lang="en-US" altLang="zh-CN" b="0" err="1"/>
              <a:t>printf("%f</a:t>
            </a:r>
            <a:r>
              <a:rPr lang="en-US" altLang="zh-CN" b="0"/>
              <a:t>, %</a:t>
            </a:r>
            <a:r>
              <a:rPr lang="en-US" altLang="zh-CN" b="0" err="1"/>
              <a:t>e\n</a:t>
            </a:r>
            <a:r>
              <a:rPr lang="en-US" altLang="zh-CN" b="0"/>
              <a:t>", d, d); </a:t>
            </a:r>
            <a:endParaRPr lang="en-US" altLang="zh-CN" b="0"/>
          </a:p>
          <a:p>
            <a:pPr lvl="1" algn="just" eaLnBrk="1" hangingPunct="1">
              <a:lnSpc>
                <a:spcPct val="90000"/>
              </a:lnSpc>
              <a:buNone/>
            </a:pPr>
            <a:r>
              <a:rPr lang="en-US" altLang="zh-CN" b="0"/>
              <a:t>    printf("%5.3f, %5.2f, %.2f\n", d, d, d); </a:t>
            </a:r>
            <a:endParaRPr lang="en-US" altLang="zh-CN" b="0"/>
          </a:p>
          <a:p>
            <a:pPr lvl="1" algn="just" eaLnBrk="1" hangingPunct="1">
              <a:lnSpc>
                <a:spcPct val="90000"/>
              </a:lnSpc>
              <a:buNone/>
            </a:pPr>
            <a:r>
              <a:rPr lang="en-US" altLang="zh-CN" b="0"/>
              <a:t>    return 0;</a:t>
            </a:r>
            <a:endParaRPr lang="en-US" altLang="zh-CN" b="0"/>
          </a:p>
          <a:p>
            <a:pPr lvl="1" algn="just" eaLnBrk="1" hangingPunct="1">
              <a:lnSpc>
                <a:spcPct val="90000"/>
              </a:lnSpc>
              <a:buNone/>
            </a:pPr>
            <a:r>
              <a:rPr lang="en-US" altLang="zh-CN" b="0"/>
              <a:t>} </a:t>
            </a:r>
            <a:r>
              <a:rPr lang="zh-CN" altLang="en-US" sz="2400" b="0" dirty="0"/>
              <a:t>             </a:t>
            </a:r>
            <a:endParaRPr lang="zh-CN" altLang="zh-CN" sz="2400" b="0" dirty="0"/>
          </a:p>
        </p:txBody>
      </p:sp>
      <p:sp>
        <p:nvSpPr>
          <p:cNvPr id="44036" name="Line 6"/>
          <p:cNvSpPr/>
          <p:nvPr/>
        </p:nvSpPr>
        <p:spPr>
          <a:xfrm>
            <a:off x="2555875" y="4724400"/>
            <a:ext cx="936625" cy="0"/>
          </a:xfrm>
          <a:prstGeom prst="line">
            <a:avLst/>
          </a:prstGeom>
          <a:ln w="38100" cap="sq" cmpd="sng">
            <a:solidFill>
              <a:schemeClr val="bg2"/>
            </a:solidFill>
            <a:prstDash val="solid"/>
            <a:round/>
            <a:headEnd type="none" w="sm" len="sm"/>
            <a:tailEnd type="none" w="sm" len="sm"/>
          </a:ln>
        </p:spPr>
      </p:sp>
      <p:sp>
        <p:nvSpPr>
          <p:cNvPr id="350215" name="Rectangle 7"/>
          <p:cNvSpPr/>
          <p:nvPr/>
        </p:nvSpPr>
        <p:spPr>
          <a:xfrm>
            <a:off x="4643438" y="1917700"/>
            <a:ext cx="4114800" cy="854075"/>
          </a:xfrm>
          <a:prstGeom prst="rect">
            <a:avLst/>
          </a:prstGeom>
          <a:noFill/>
          <a:ln w="12700" cap="flat" cmpd="sng">
            <a:solidFill>
              <a:schemeClr val="tx1"/>
            </a:solidFill>
            <a:prstDash val="sysDot"/>
            <a:miter/>
            <a:headEnd type="none" w="sm" len="sm"/>
            <a:tailEnd type="none" w="sm" len="sm"/>
          </a:ln>
        </p:spPr>
        <p:txBody>
          <a:bodyPr anchor="t" anchorCtr="0">
            <a:spAutoFit/>
          </a:bodyPr>
          <a:p>
            <a:pPr eaLnBrk="0" hangingPunct="0">
              <a:lnSpc>
                <a:spcPct val="124000"/>
              </a:lnSpc>
            </a:pPr>
            <a:r>
              <a:rPr lang="en-US" altLang="zh-CN" sz="2000">
                <a:latin typeface="Arial" panose="02080604020202020204" pitchFamily="34" charset="0"/>
              </a:rPr>
              <a:t>3.141593,  3.14159e+00</a:t>
            </a:r>
            <a:endParaRPr lang="en-US" altLang="zh-CN" sz="2000">
              <a:latin typeface="Arial" panose="02080604020202020204" pitchFamily="34" charset="0"/>
            </a:endParaRPr>
          </a:p>
          <a:p>
            <a:pPr eaLnBrk="0" hangingPunct="0">
              <a:lnSpc>
                <a:spcPct val="124000"/>
              </a:lnSpc>
            </a:pPr>
            <a:r>
              <a:rPr lang="en-US" altLang="zh-CN" sz="2000">
                <a:latin typeface="Arial" panose="02080604020202020204" pitchFamily="34" charset="0"/>
              </a:rPr>
              <a:t>3.142,  3.14, 3.14</a:t>
            </a:r>
            <a:endParaRPr lang="en-US" altLang="zh-CN" sz="2000">
              <a:latin typeface="Arial" panose="02080604020202020204" pitchFamily="34" charset="0"/>
            </a:endParaRPr>
          </a:p>
        </p:txBody>
      </p:sp>
      <p:sp>
        <p:nvSpPr>
          <p:cNvPr id="350216" name="Rectangle 8"/>
          <p:cNvSpPr/>
          <p:nvPr/>
        </p:nvSpPr>
        <p:spPr>
          <a:xfrm>
            <a:off x="1475423" y="5949315"/>
            <a:ext cx="4533900" cy="364490"/>
          </a:xfrm>
          <a:prstGeom prst="rect">
            <a:avLst/>
          </a:prstGeom>
          <a:noFill/>
          <a:ln w="9525">
            <a:noFill/>
          </a:ln>
        </p:spPr>
        <p:txBody>
          <a:bodyPr wrap="none" lIns="92075" tIns="46038" rIns="92075" bIns="46038" anchor="t" anchorCtr="0">
            <a:spAutoFit/>
          </a:bodyPr>
          <a:p>
            <a:pPr>
              <a:lnSpc>
                <a:spcPct val="74000"/>
              </a:lnSpc>
              <a:spcBef>
                <a:spcPct val="20000"/>
              </a:spcBef>
              <a:buClr>
                <a:schemeClr val="accent2"/>
              </a:buClr>
              <a:buSzPct val="80000"/>
              <a:buFont typeface="Wingdings" panose="05000000000000000000" pitchFamily="2" charset="2"/>
            </a:pPr>
            <a:r>
              <a:rPr lang="zh-CN" altLang="en-US" sz="2400" dirty="0">
                <a:solidFill>
                  <a:schemeClr val="bg2"/>
                </a:solidFill>
                <a:latin typeface="Arial" panose="02080604020202020204" pitchFamily="34" charset="0"/>
                <a:ea typeface="仿宋_GB2312" pitchFamily="49" charset="-122"/>
              </a:rPr>
              <a:t>一共5位，小数3位，小数点一位</a:t>
            </a:r>
            <a:endParaRPr lang="zh-CN" altLang="en-US" sz="2400" dirty="0">
              <a:solidFill>
                <a:schemeClr val="bg2"/>
              </a:solidFill>
              <a:latin typeface="Arial" panose="02080604020202020204" pitchFamily="34" charset="0"/>
              <a:ea typeface="仿宋_GB2312" pitchFamily="49" charset="-122"/>
            </a:endParaRPr>
          </a:p>
        </p:txBody>
      </p:sp>
      <p:sp>
        <p:nvSpPr>
          <p:cNvPr id="350217" name="Line 9"/>
          <p:cNvSpPr/>
          <p:nvPr/>
        </p:nvSpPr>
        <p:spPr>
          <a:xfrm>
            <a:off x="3059113" y="4797425"/>
            <a:ext cx="0" cy="719138"/>
          </a:xfrm>
          <a:prstGeom prst="line">
            <a:avLst/>
          </a:prstGeom>
          <a:ln w="38100" cap="sq" cmpd="sng">
            <a:solidFill>
              <a:schemeClr val="bg2"/>
            </a:solidFill>
            <a:prstDash val="solid"/>
            <a:round/>
            <a:headEnd type="triangle" w="sm" len="sm"/>
            <a:tailEnd type="none" w="sm" len="sm"/>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0217"/>
                                        </p:tgtEl>
                                        <p:attrNameLst>
                                          <p:attrName>style.visibility</p:attrName>
                                        </p:attrNameLst>
                                      </p:cBhvr>
                                      <p:to>
                                        <p:strVal val="visible"/>
                                      </p:to>
                                    </p:set>
                                    <p:animEffect transition="in" filter="wipe(down)">
                                      <p:cBhvr>
                                        <p:cTn id="7" dur="500"/>
                                        <p:tgtEl>
                                          <p:spTgt spid="3502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50216"/>
                                        </p:tgtEl>
                                        <p:attrNameLst>
                                          <p:attrName>style.visibility</p:attrName>
                                        </p:attrNameLst>
                                      </p:cBhvr>
                                      <p:to>
                                        <p:strVal val="visible"/>
                                      </p:to>
                                    </p:set>
                                    <p:animEffect transition="in" filter="wipe(down)">
                                      <p:cBhvr>
                                        <p:cTn id="10" dur="500"/>
                                        <p:tgtEl>
                                          <p:spTgt spid="350216"/>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350215"/>
                                        </p:tgtEl>
                                        <p:attrNameLst>
                                          <p:attrName>style.visibility</p:attrName>
                                        </p:attrNameLst>
                                      </p:cBhvr>
                                      <p:to>
                                        <p:strVal val="visible"/>
                                      </p:to>
                                    </p:set>
                                    <p:anim calcmode="lin" valueType="num">
                                      <p:cBhvr additive="base">
                                        <p:cTn id="15" dur="500" fill="hold"/>
                                        <p:tgtEl>
                                          <p:spTgt spid="350215"/>
                                        </p:tgtEl>
                                        <p:attrNameLst>
                                          <p:attrName>ppt_x</p:attrName>
                                        </p:attrNameLst>
                                      </p:cBhvr>
                                      <p:tavLst>
                                        <p:tav tm="0">
                                          <p:val>
                                            <p:strVal val="0-#ppt_w/2"/>
                                          </p:val>
                                        </p:tav>
                                        <p:tav tm="100000">
                                          <p:val>
                                            <p:strVal val="#ppt_x"/>
                                          </p:val>
                                        </p:tav>
                                      </p:tavLst>
                                    </p:anim>
                                    <p:anim calcmode="lin" valueType="num">
                                      <p:cBhvr additive="base">
                                        <p:cTn id="16" dur="500" fill="hold"/>
                                        <p:tgtEl>
                                          <p:spTgt spid="3502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5" grpId="0" bldLvl="0" animBg="1"/>
      <p:bldP spid="3502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3059113" y="404813"/>
            <a:ext cx="5932487" cy="609600"/>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实型数据输入输出示例</a:t>
            </a:r>
            <a:endParaRPr lang="zh-CN" altLang="en-US" b="0" dirty="0">
              <a:sym typeface="+mn-ea"/>
            </a:endParaRPr>
          </a:p>
        </p:txBody>
      </p:sp>
      <p:sp>
        <p:nvSpPr>
          <p:cNvPr id="45059" name="Rectangle 3"/>
          <p:cNvSpPr>
            <a:spLocks noGrp="1"/>
          </p:cNvSpPr>
          <p:nvPr>
            <p:ph idx="1"/>
          </p:nvPr>
        </p:nvSpPr>
        <p:spPr>
          <a:xfrm>
            <a:off x="107950" y="1055688"/>
            <a:ext cx="8274050" cy="5686425"/>
          </a:xfrm>
        </p:spPr>
        <p:txBody>
          <a:bodyPr vert="horz" wrap="square" lIns="91440" tIns="45720" rIns="91440" bIns="45720" anchor="t" anchorCtr="0"/>
          <a:p>
            <a:pPr eaLnBrk="1" hangingPunct="1">
              <a:lnSpc>
                <a:spcPct val="90000"/>
              </a:lnSpc>
              <a:buNone/>
            </a:pPr>
            <a:r>
              <a:rPr lang="zh-CN" altLang="en-US" sz="2400" b="0" dirty="0"/>
              <a:t>假定</a:t>
            </a:r>
            <a:r>
              <a:rPr lang="en-US" altLang="zh-CN" sz="2400" b="0"/>
              <a:t>float</a:t>
            </a:r>
            <a:r>
              <a:rPr lang="zh-CN" altLang="en-US" sz="2400" b="0" dirty="0"/>
              <a:t>的精度为7位，</a:t>
            </a:r>
            <a:r>
              <a:rPr lang="en-US" altLang="zh-CN" sz="2400" b="0"/>
              <a:t>double</a:t>
            </a:r>
            <a:r>
              <a:rPr lang="zh-CN" altLang="en-US" sz="2400" b="0" dirty="0"/>
              <a:t>的精度为16位</a:t>
            </a:r>
            <a:r>
              <a:rPr lang="zh-CN" altLang="zh-CN" sz="2400" b="0" dirty="0"/>
              <a:t> </a:t>
            </a:r>
            <a:endParaRPr lang="zh-CN" altLang="en-US" sz="2400" b="0" dirty="0"/>
          </a:p>
          <a:p>
            <a:pPr algn="just" eaLnBrk="1" hangingPunct="1">
              <a:lnSpc>
                <a:spcPct val="90000"/>
              </a:lnSpc>
              <a:buNone/>
            </a:pPr>
            <a:r>
              <a:rPr lang="en-US" altLang="zh-CN" sz="2400" b="0"/>
              <a:t># include &lt;</a:t>
            </a:r>
            <a:r>
              <a:rPr lang="en-US" altLang="zh-CN" sz="2400" b="0" err="1"/>
              <a:t>stdio.h</a:t>
            </a:r>
            <a:r>
              <a:rPr lang="en-US" altLang="zh-CN" sz="2400" b="0"/>
              <a:t>&gt;</a:t>
            </a:r>
            <a:endParaRPr lang="en-US" altLang="zh-CN" sz="2400" b="0"/>
          </a:p>
          <a:p>
            <a:pPr algn="just" eaLnBrk="1" hangingPunct="1">
              <a:lnSpc>
                <a:spcPct val="90000"/>
              </a:lnSpc>
              <a:buNone/>
            </a:pPr>
            <a:r>
              <a:rPr lang="en-US" altLang="zh-CN" sz="2400" b="0" err="1"/>
              <a:t>int</a:t>
            </a:r>
            <a:r>
              <a:rPr lang="en-US" altLang="zh-CN" sz="2400" b="0"/>
              <a:t> </a:t>
            </a:r>
            <a:r>
              <a:rPr lang="en-US" altLang="zh-CN" sz="2400" b="0" err="1"/>
              <a:t>main(void</a:t>
            </a:r>
            <a:r>
              <a:rPr lang="en-US" altLang="zh-CN" sz="2400" b="0"/>
              <a:t>)</a:t>
            </a:r>
            <a:r>
              <a:rPr lang="zh-CN" altLang="zh-CN" sz="2400" b="0" dirty="0"/>
              <a:t> </a:t>
            </a:r>
            <a:endParaRPr lang="zh-CN" altLang="en-US" sz="2400" b="0" dirty="0"/>
          </a:p>
          <a:p>
            <a:pPr eaLnBrk="1" hangingPunct="1">
              <a:lnSpc>
                <a:spcPct val="90000"/>
              </a:lnSpc>
              <a:buNone/>
            </a:pPr>
            <a:r>
              <a:rPr lang="en-US" altLang="zh-CN" sz="2400" b="0"/>
              <a:t>{ </a:t>
            </a:r>
            <a:endParaRPr lang="en-US" altLang="zh-CN" sz="2400" b="0"/>
          </a:p>
          <a:p>
            <a:pPr algn="just" eaLnBrk="1" hangingPunct="1">
              <a:lnSpc>
                <a:spcPct val="90000"/>
              </a:lnSpc>
              <a:buNone/>
            </a:pPr>
            <a:r>
              <a:rPr lang="en-US" altLang="zh-CN" sz="2400" b="0"/>
              <a:t>    float f; </a:t>
            </a:r>
            <a:endParaRPr lang="en-US" altLang="zh-CN" sz="2400" b="0"/>
          </a:p>
          <a:p>
            <a:pPr algn="just" eaLnBrk="1" hangingPunct="1">
              <a:lnSpc>
                <a:spcPct val="90000"/>
              </a:lnSpc>
              <a:buNone/>
            </a:pPr>
            <a:r>
              <a:rPr lang="en-US" altLang="zh-CN" sz="2400" b="0"/>
              <a:t>    double d;</a:t>
            </a:r>
            <a:endParaRPr lang="en-US" altLang="zh-CN" sz="2400" b="0"/>
          </a:p>
          <a:p>
            <a:pPr algn="just" eaLnBrk="1" hangingPunct="1">
              <a:lnSpc>
                <a:spcPct val="90000"/>
              </a:lnSpc>
              <a:buNone/>
            </a:pPr>
            <a:endParaRPr lang="en-US" altLang="zh-CN" sz="2400" b="0"/>
          </a:p>
          <a:p>
            <a:pPr algn="just" eaLnBrk="1" hangingPunct="1">
              <a:lnSpc>
                <a:spcPct val="90000"/>
              </a:lnSpc>
              <a:buNone/>
            </a:pPr>
            <a:r>
              <a:rPr lang="en-US" altLang="zh-CN" sz="2400" b="0"/>
              <a:t>    </a:t>
            </a:r>
            <a:r>
              <a:rPr lang="en-US" altLang="zh-CN" sz="2400" b="0" err="1"/>
              <a:t>printf("input</a:t>
            </a:r>
            <a:r>
              <a:rPr lang="en-US" altLang="zh-CN" sz="2400" b="0"/>
              <a:t> f, d:");</a:t>
            </a:r>
            <a:endParaRPr lang="en-US" altLang="zh-CN" sz="2400" b="0"/>
          </a:p>
          <a:p>
            <a:pPr algn="just" eaLnBrk="1" hangingPunct="1">
              <a:lnSpc>
                <a:spcPct val="90000"/>
              </a:lnSpc>
              <a:buNone/>
            </a:pPr>
            <a:r>
              <a:rPr lang="en-US" altLang="zh-CN" sz="2400" b="0"/>
              <a:t>    </a:t>
            </a:r>
            <a:r>
              <a:rPr lang="en-US" altLang="zh-CN" sz="2400" b="0" err="1"/>
              <a:t>scanf("%f%</a:t>
            </a:r>
            <a:r>
              <a:rPr lang="en-US" altLang="zh-CN" sz="2400" b="0" err="1">
                <a:solidFill>
                  <a:srgbClr val="CC0066"/>
                </a:solidFill>
              </a:rPr>
              <a:t>l</a:t>
            </a:r>
            <a:r>
              <a:rPr lang="en-US" altLang="zh-CN" sz="2400" b="0" err="1"/>
              <a:t>f</a:t>
            </a:r>
            <a:r>
              <a:rPr lang="en-US" altLang="zh-CN" sz="2400" b="0"/>
              <a:t>", &amp;f, &amp;d);</a:t>
            </a:r>
            <a:endParaRPr lang="en-US" altLang="zh-CN" sz="2400" b="0"/>
          </a:p>
          <a:p>
            <a:pPr algn="just" eaLnBrk="1" hangingPunct="1">
              <a:lnSpc>
                <a:spcPct val="90000"/>
              </a:lnSpc>
              <a:buNone/>
            </a:pPr>
            <a:r>
              <a:rPr lang="en-US" altLang="zh-CN" sz="2400" b="0"/>
              <a:t>    </a:t>
            </a:r>
            <a:r>
              <a:rPr lang="en-US" altLang="zh-CN" sz="2400" b="0" err="1"/>
              <a:t>printf("f</a:t>
            </a:r>
            <a:r>
              <a:rPr lang="en-US" altLang="zh-CN" sz="2400" b="0"/>
              <a:t> = %</a:t>
            </a:r>
            <a:r>
              <a:rPr lang="en-US" altLang="zh-CN" sz="2400" b="0" err="1"/>
              <a:t>f\n</a:t>
            </a:r>
            <a:r>
              <a:rPr lang="en-US" altLang="zh-CN" sz="2400" b="0"/>
              <a:t> d = %f \n", f, d);</a:t>
            </a:r>
            <a:endParaRPr lang="en-US" altLang="zh-CN" sz="2400" b="0"/>
          </a:p>
          <a:p>
            <a:pPr algn="just" eaLnBrk="1" hangingPunct="1">
              <a:lnSpc>
                <a:spcPct val="90000"/>
              </a:lnSpc>
              <a:buNone/>
            </a:pPr>
            <a:r>
              <a:rPr lang="en-US" altLang="zh-CN" sz="2400" b="0"/>
              <a:t>    d = 1234567890123.12;</a:t>
            </a:r>
            <a:endParaRPr lang="en-US" altLang="zh-CN" sz="2400" b="0"/>
          </a:p>
          <a:p>
            <a:pPr algn="just" eaLnBrk="1" hangingPunct="1">
              <a:lnSpc>
                <a:spcPct val="90000"/>
              </a:lnSpc>
              <a:buNone/>
            </a:pPr>
            <a:r>
              <a:rPr lang="en-US" altLang="zh-CN" sz="2400" b="0"/>
              <a:t>    </a:t>
            </a:r>
            <a:r>
              <a:rPr lang="en-US" altLang="zh-CN" sz="2400" b="0" err="1"/>
              <a:t>printf("d</a:t>
            </a:r>
            <a:r>
              <a:rPr lang="en-US" altLang="zh-CN" sz="2400" b="0"/>
              <a:t> = %f \n", d);</a:t>
            </a:r>
            <a:endParaRPr lang="en-US" altLang="zh-CN" sz="2400" b="0"/>
          </a:p>
          <a:p>
            <a:pPr algn="just" eaLnBrk="1" hangingPunct="1">
              <a:lnSpc>
                <a:spcPct val="90000"/>
              </a:lnSpc>
              <a:buNone/>
            </a:pPr>
            <a:r>
              <a:rPr lang="en-US" altLang="zh-CN" sz="2400" b="0"/>
              <a:t>    return 0;</a:t>
            </a:r>
            <a:endParaRPr lang="en-US" altLang="zh-CN" sz="2400" b="0"/>
          </a:p>
          <a:p>
            <a:pPr algn="just" eaLnBrk="1" hangingPunct="1">
              <a:lnSpc>
                <a:spcPct val="90000"/>
              </a:lnSpc>
              <a:buNone/>
            </a:pPr>
            <a:r>
              <a:rPr lang="en-US" altLang="zh-CN" sz="2400" b="0"/>
              <a:t>}</a:t>
            </a:r>
            <a:endParaRPr lang="zh-CN" altLang="zh-CN" sz="2400" b="0" dirty="0"/>
          </a:p>
        </p:txBody>
      </p:sp>
      <p:sp>
        <p:nvSpPr>
          <p:cNvPr id="351238" name="Rectangle 6"/>
          <p:cNvSpPr/>
          <p:nvPr/>
        </p:nvSpPr>
        <p:spPr>
          <a:xfrm>
            <a:off x="3968750" y="1546225"/>
            <a:ext cx="4878388" cy="2379980"/>
          </a:xfrm>
          <a:prstGeom prst="rect">
            <a:avLst/>
          </a:prstGeom>
          <a:noFill/>
          <a:ln w="12700" cap="flat" cmpd="sng">
            <a:solidFill>
              <a:schemeClr val="tx1"/>
            </a:solidFill>
            <a:prstDash val="sysDot"/>
            <a:miter/>
            <a:headEnd type="none" w="sm" len="sm"/>
            <a:tailEnd type="none" w="sm" len="sm"/>
          </a:ln>
        </p:spPr>
        <p:txBody>
          <a:bodyPr wrap="square" anchor="t" anchorCtr="0">
            <a:spAutoFit/>
          </a:bodyPr>
          <a:p>
            <a:pPr eaLnBrk="0" hangingPunct="0">
              <a:lnSpc>
                <a:spcPct val="124000"/>
              </a:lnSpc>
            </a:pPr>
            <a:r>
              <a:rPr lang="en-US" altLang="zh-CN" sz="2000">
                <a:latin typeface="Arial" panose="02080604020202020204" pitchFamily="34" charset="0"/>
              </a:rPr>
              <a:t>input f, d: </a:t>
            </a:r>
            <a:endParaRPr lang="en-US" altLang="zh-CN" sz="2000">
              <a:latin typeface="Arial" panose="02080604020202020204" pitchFamily="34" charset="0"/>
            </a:endParaRPr>
          </a:p>
          <a:p>
            <a:pPr eaLnBrk="0" hangingPunct="0">
              <a:lnSpc>
                <a:spcPct val="124000"/>
              </a:lnSpc>
            </a:pPr>
            <a:r>
              <a:rPr lang="en-US" altLang="zh-CN" sz="2000">
                <a:solidFill>
                  <a:srgbClr val="CC0066"/>
                </a:solidFill>
                <a:latin typeface="Arial" panose="02080604020202020204" pitchFamily="34" charset="0"/>
              </a:rPr>
              <a:t>1234567890123.123456 </a:t>
            </a:r>
            <a:r>
              <a:rPr lang="en-US" altLang="zh-CN" sz="2000" err="1">
                <a:solidFill>
                  <a:srgbClr val="CC0066"/>
                </a:solidFill>
                <a:latin typeface="Arial" panose="02080604020202020204" pitchFamily="34" charset="0"/>
              </a:rPr>
              <a:t>1234567890123.123456</a:t>
            </a:r>
            <a:endParaRPr lang="en-US" altLang="zh-CN" sz="2000">
              <a:solidFill>
                <a:srgbClr val="CC0066"/>
              </a:solidFill>
              <a:latin typeface="Arial" panose="02080604020202020204" pitchFamily="34" charset="0"/>
            </a:endParaRPr>
          </a:p>
          <a:p>
            <a:pPr eaLnBrk="0" hangingPunct="0">
              <a:lnSpc>
                <a:spcPct val="124000"/>
              </a:lnSpc>
            </a:pPr>
            <a:r>
              <a:rPr lang="en-US" altLang="zh-CN" sz="2000">
                <a:latin typeface="Arial" panose="02080604020202020204" pitchFamily="34" charset="0"/>
              </a:rPr>
              <a:t>f = 1234567954432.000000</a:t>
            </a:r>
            <a:endParaRPr lang="en-US" altLang="zh-CN" sz="2000">
              <a:latin typeface="Arial" panose="02080604020202020204" pitchFamily="34" charset="0"/>
            </a:endParaRPr>
          </a:p>
          <a:p>
            <a:pPr eaLnBrk="0" hangingPunct="0">
              <a:lnSpc>
                <a:spcPct val="124000"/>
              </a:lnSpc>
            </a:pPr>
            <a:r>
              <a:rPr lang="en-US" altLang="zh-CN" sz="2000">
                <a:latin typeface="Arial" panose="02080604020202020204" pitchFamily="34" charset="0"/>
              </a:rPr>
              <a:t>d = 1234567890123.123540</a:t>
            </a:r>
            <a:endParaRPr lang="en-US" altLang="zh-CN" sz="2000">
              <a:latin typeface="Arial" panose="02080604020202020204" pitchFamily="34" charset="0"/>
            </a:endParaRPr>
          </a:p>
          <a:p>
            <a:pPr eaLnBrk="0" hangingPunct="0">
              <a:lnSpc>
                <a:spcPct val="124000"/>
              </a:lnSpc>
            </a:pPr>
            <a:r>
              <a:rPr lang="en-US" altLang="zh-CN" sz="2000">
                <a:latin typeface="Arial" panose="02080604020202020204" pitchFamily="34" charset="0"/>
              </a:rPr>
              <a:t>d = 1234567890123.120120</a:t>
            </a:r>
            <a:endParaRPr lang="en-US" altLang="zh-CN" sz="2000">
              <a:latin typeface="Arial" panose="02080604020202020204" pitchFamily="34" charset="0"/>
            </a:endParaRPr>
          </a:p>
        </p:txBody>
      </p:sp>
      <p:sp>
        <p:nvSpPr>
          <p:cNvPr id="351239" name="Line 7"/>
          <p:cNvSpPr/>
          <p:nvPr/>
        </p:nvSpPr>
        <p:spPr>
          <a:xfrm>
            <a:off x="4583113" y="3051175"/>
            <a:ext cx="1143000" cy="0"/>
          </a:xfrm>
          <a:prstGeom prst="line">
            <a:avLst/>
          </a:prstGeom>
          <a:ln w="38100" cap="sq" cmpd="sng">
            <a:solidFill>
              <a:schemeClr val="bg2"/>
            </a:solidFill>
            <a:prstDash val="solid"/>
            <a:round/>
            <a:headEnd type="none" w="sm" len="sm"/>
            <a:tailEnd type="none" w="sm" len="sm"/>
          </a:ln>
        </p:spPr>
      </p:sp>
      <p:sp>
        <p:nvSpPr>
          <p:cNvPr id="351240" name="Line 8"/>
          <p:cNvSpPr/>
          <p:nvPr/>
        </p:nvSpPr>
        <p:spPr>
          <a:xfrm>
            <a:off x="4638675" y="3508375"/>
            <a:ext cx="2743200" cy="0"/>
          </a:xfrm>
          <a:prstGeom prst="line">
            <a:avLst/>
          </a:prstGeom>
          <a:ln w="38100" cap="sq" cmpd="sng">
            <a:solidFill>
              <a:schemeClr val="bg2"/>
            </a:solidFill>
            <a:prstDash val="solid"/>
            <a:round/>
            <a:headEnd type="none" w="sm" len="sm"/>
            <a:tailEnd type="none" w="sm" len="sm"/>
          </a:ln>
        </p:spPr>
      </p:sp>
      <p:sp>
        <p:nvSpPr>
          <p:cNvPr id="351241" name="Line 9"/>
          <p:cNvSpPr/>
          <p:nvPr/>
        </p:nvSpPr>
        <p:spPr>
          <a:xfrm>
            <a:off x="4646613" y="3924300"/>
            <a:ext cx="2819400" cy="0"/>
          </a:xfrm>
          <a:prstGeom prst="line">
            <a:avLst/>
          </a:prstGeom>
          <a:ln w="38100" cap="sq" cmpd="sng">
            <a:solidFill>
              <a:schemeClr val="bg2"/>
            </a:solidFill>
            <a:prstDash val="solid"/>
            <a:roun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1238"/>
                                        </p:tgtEl>
                                        <p:attrNameLst>
                                          <p:attrName>style.visibility</p:attrName>
                                        </p:attrNameLst>
                                      </p:cBhvr>
                                      <p:to>
                                        <p:strVal val="visible"/>
                                      </p:to>
                                    </p:set>
                                    <p:anim calcmode="lin" valueType="num">
                                      <p:cBhvr additive="base">
                                        <p:cTn id="7" dur="500" fill="hold"/>
                                        <p:tgtEl>
                                          <p:spTgt spid="351238"/>
                                        </p:tgtEl>
                                        <p:attrNameLst>
                                          <p:attrName>ppt_x</p:attrName>
                                        </p:attrNameLst>
                                      </p:cBhvr>
                                      <p:tavLst>
                                        <p:tav tm="0">
                                          <p:val>
                                            <p:strVal val="0-#ppt_w/2"/>
                                          </p:val>
                                        </p:tav>
                                        <p:tav tm="100000">
                                          <p:val>
                                            <p:strVal val="#ppt_x"/>
                                          </p:val>
                                        </p:tav>
                                      </p:tavLst>
                                    </p:anim>
                                    <p:anim calcmode="lin" valueType="num">
                                      <p:cBhvr additive="base">
                                        <p:cTn id="8" dur="500" fill="hold"/>
                                        <p:tgtEl>
                                          <p:spTgt spid="3512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51239"/>
                                        </p:tgtEl>
                                        <p:attrNameLst>
                                          <p:attrName>style.visibility</p:attrName>
                                        </p:attrNameLst>
                                      </p:cBhvr>
                                      <p:to>
                                        <p:strVal val="visible"/>
                                      </p:to>
                                    </p:set>
                                    <p:anim calcmode="lin" valueType="num">
                                      <p:cBhvr additive="base">
                                        <p:cTn id="13" dur="500" fill="hold"/>
                                        <p:tgtEl>
                                          <p:spTgt spid="351239"/>
                                        </p:tgtEl>
                                        <p:attrNameLst>
                                          <p:attrName>ppt_x</p:attrName>
                                        </p:attrNameLst>
                                      </p:cBhvr>
                                      <p:tavLst>
                                        <p:tav tm="0">
                                          <p:val>
                                            <p:strVal val="0-#ppt_w/2"/>
                                          </p:val>
                                        </p:tav>
                                        <p:tav tm="100000">
                                          <p:val>
                                            <p:strVal val="#ppt_x"/>
                                          </p:val>
                                        </p:tav>
                                      </p:tavLst>
                                    </p:anim>
                                    <p:anim calcmode="lin" valueType="num">
                                      <p:cBhvr additive="base">
                                        <p:cTn id="14" dur="500" fill="hold"/>
                                        <p:tgtEl>
                                          <p:spTgt spid="3512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51240"/>
                                        </p:tgtEl>
                                        <p:attrNameLst>
                                          <p:attrName>style.visibility</p:attrName>
                                        </p:attrNameLst>
                                      </p:cBhvr>
                                      <p:to>
                                        <p:strVal val="visible"/>
                                      </p:to>
                                    </p:set>
                                    <p:anim calcmode="lin" valueType="num">
                                      <p:cBhvr additive="base">
                                        <p:cTn id="19" dur="500" fill="hold"/>
                                        <p:tgtEl>
                                          <p:spTgt spid="351240"/>
                                        </p:tgtEl>
                                        <p:attrNameLst>
                                          <p:attrName>ppt_x</p:attrName>
                                        </p:attrNameLst>
                                      </p:cBhvr>
                                      <p:tavLst>
                                        <p:tav tm="0">
                                          <p:val>
                                            <p:strVal val="0-#ppt_w/2"/>
                                          </p:val>
                                        </p:tav>
                                        <p:tav tm="100000">
                                          <p:val>
                                            <p:strVal val="#ppt_x"/>
                                          </p:val>
                                        </p:tav>
                                      </p:tavLst>
                                    </p:anim>
                                    <p:anim calcmode="lin" valueType="num">
                                      <p:cBhvr additive="base">
                                        <p:cTn id="20" dur="500" fill="hold"/>
                                        <p:tgtEl>
                                          <p:spTgt spid="35124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51241"/>
                                        </p:tgtEl>
                                        <p:attrNameLst>
                                          <p:attrName>style.visibility</p:attrName>
                                        </p:attrNameLst>
                                      </p:cBhvr>
                                      <p:to>
                                        <p:strVal val="visible"/>
                                      </p:to>
                                    </p:set>
                                    <p:anim calcmode="lin" valueType="num">
                                      <p:cBhvr additive="base">
                                        <p:cTn id="25" dur="500" fill="hold"/>
                                        <p:tgtEl>
                                          <p:spTgt spid="351241"/>
                                        </p:tgtEl>
                                        <p:attrNameLst>
                                          <p:attrName>ppt_x</p:attrName>
                                        </p:attrNameLst>
                                      </p:cBhvr>
                                      <p:tavLst>
                                        <p:tav tm="0">
                                          <p:val>
                                            <p:strVal val="0-#ppt_w/2"/>
                                          </p:val>
                                        </p:tav>
                                        <p:tav tm="100000">
                                          <p:val>
                                            <p:strVal val="#ppt_x"/>
                                          </p:val>
                                        </p:tav>
                                      </p:tavLst>
                                    </p:anim>
                                    <p:anim calcmode="lin" valueType="num">
                                      <p:cBhvr additive="base">
                                        <p:cTn id="26" dur="500" fill="hold"/>
                                        <p:tgtEl>
                                          <p:spTgt spid="3512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8"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457200" y="457200"/>
            <a:ext cx="7620000" cy="9556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6.3.3 </a:t>
            </a:r>
            <a:r>
              <a:rPr lang="zh-CN" altLang="en-US" b="0" dirty="0">
                <a:sym typeface="+mn-ea"/>
              </a:rPr>
              <a:t>字符型数据输入输出</a:t>
            </a:r>
            <a:endParaRPr lang="zh-CN" altLang="en-US" b="0" dirty="0">
              <a:sym typeface="+mn-ea"/>
            </a:endParaRPr>
          </a:p>
        </p:txBody>
      </p:sp>
      <p:sp>
        <p:nvSpPr>
          <p:cNvPr id="357379" name="Rectangle 3"/>
          <p:cNvSpPr>
            <a:spLocks noGrp="1"/>
          </p:cNvSpPr>
          <p:nvPr>
            <p:ph idx="1"/>
          </p:nvPr>
        </p:nvSpPr>
        <p:spPr>
          <a:xfrm>
            <a:off x="684213" y="1484313"/>
            <a:ext cx="7373937" cy="5184775"/>
          </a:xfrm>
        </p:spPr>
        <p:txBody>
          <a:bodyPr vert="horz" wrap="square" lIns="91440" tIns="45720" rIns="91440" bIns="45720" anchor="t" anchorCtr="0"/>
          <a:p>
            <a:pPr algn="just" eaLnBrk="1" hangingPunct="1">
              <a:lnSpc>
                <a:spcPct val="85000"/>
              </a:lnSpc>
            </a:pPr>
            <a:r>
              <a:rPr lang="en-US" altLang="zh-CN" b="0" err="1"/>
              <a:t>scanf</a:t>
            </a:r>
            <a:r>
              <a:rPr lang="en-US" altLang="zh-CN" b="0"/>
              <a:t>() </a:t>
            </a:r>
            <a:r>
              <a:rPr lang="zh-CN" altLang="en-US" b="0" dirty="0"/>
              <a:t>和 </a:t>
            </a:r>
            <a:r>
              <a:rPr lang="en-US" altLang="zh-CN" b="0" err="1"/>
              <a:t>printf</a:t>
            </a:r>
            <a:r>
              <a:rPr lang="en-US" altLang="zh-CN" b="0"/>
              <a:t>()   </a:t>
            </a:r>
            <a:r>
              <a:rPr lang="en-US" altLang="zh-CN" b="0">
                <a:solidFill>
                  <a:srgbClr val="CC0066"/>
                </a:solidFill>
              </a:rPr>
              <a:t> %c</a:t>
            </a:r>
            <a:endParaRPr lang="en-US" altLang="zh-CN" b="0">
              <a:solidFill>
                <a:srgbClr val="CC0066"/>
              </a:solidFill>
            </a:endParaRPr>
          </a:p>
          <a:p>
            <a:pPr lvl="1" algn="just" eaLnBrk="1" hangingPunct="1">
              <a:lnSpc>
                <a:spcPct val="85000"/>
              </a:lnSpc>
              <a:buNone/>
            </a:pPr>
            <a:r>
              <a:rPr lang="en-US" altLang="zh-CN" b="0"/>
              <a:t>char </a:t>
            </a:r>
            <a:r>
              <a:rPr lang="en-US" altLang="zh-CN" b="0" err="1"/>
              <a:t>ch</a:t>
            </a:r>
            <a:r>
              <a:rPr lang="en-US" altLang="zh-CN" b="0"/>
              <a:t>;</a:t>
            </a:r>
            <a:endParaRPr lang="en-US" altLang="zh-CN" b="0"/>
          </a:p>
          <a:p>
            <a:pPr lvl="1" algn="just" eaLnBrk="1" hangingPunct="1">
              <a:lnSpc>
                <a:spcPct val="85000"/>
              </a:lnSpc>
              <a:buNone/>
            </a:pPr>
            <a:r>
              <a:rPr lang="en-US" altLang="zh-CN" b="0" err="1"/>
              <a:t>scanf("%c</a:t>
            </a:r>
            <a:r>
              <a:rPr lang="en-US" altLang="zh-CN" b="0"/>
              <a:t>", &amp;</a:t>
            </a:r>
            <a:r>
              <a:rPr lang="en-US" altLang="zh-CN" b="0" err="1"/>
              <a:t>ch</a:t>
            </a:r>
            <a:r>
              <a:rPr lang="en-US" altLang="zh-CN" b="0"/>
              <a:t>);</a:t>
            </a:r>
            <a:endParaRPr lang="en-US" altLang="zh-CN" b="0"/>
          </a:p>
          <a:p>
            <a:pPr lvl="1" algn="just" eaLnBrk="1" hangingPunct="1">
              <a:lnSpc>
                <a:spcPct val="85000"/>
              </a:lnSpc>
              <a:buNone/>
            </a:pPr>
            <a:r>
              <a:rPr lang="en-US" altLang="zh-CN" b="0" err="1"/>
              <a:t>printf("%c</a:t>
            </a:r>
            <a:r>
              <a:rPr lang="en-US" altLang="zh-CN" b="0"/>
              <a:t>", </a:t>
            </a:r>
            <a:r>
              <a:rPr lang="en-US" altLang="zh-CN" b="0" err="1"/>
              <a:t>ch</a:t>
            </a:r>
            <a:r>
              <a:rPr lang="en-US" altLang="zh-CN" b="0"/>
              <a:t>);</a:t>
            </a:r>
            <a:endParaRPr lang="en-US" altLang="zh-CN" b="0"/>
          </a:p>
          <a:p>
            <a:pPr lvl="1" algn="just" eaLnBrk="1" hangingPunct="1">
              <a:lnSpc>
                <a:spcPct val="85000"/>
              </a:lnSpc>
              <a:buNone/>
            </a:pPr>
            <a:endParaRPr lang="en-US" altLang="zh-CN" b="0">
              <a:solidFill>
                <a:srgbClr val="FFFF00"/>
              </a:solidFill>
            </a:endParaRPr>
          </a:p>
          <a:p>
            <a:pPr algn="just" eaLnBrk="1" hangingPunct="1">
              <a:lnSpc>
                <a:spcPct val="85000"/>
              </a:lnSpc>
            </a:pPr>
            <a:r>
              <a:rPr lang="en-US" altLang="zh-CN" b="0" err="1"/>
              <a:t>getchar</a:t>
            </a:r>
            <a:r>
              <a:rPr lang="en-US" altLang="zh-CN" b="0"/>
              <a:t>() </a:t>
            </a:r>
            <a:r>
              <a:rPr lang="zh-CN" altLang="en-US" b="0" dirty="0"/>
              <a:t>和 </a:t>
            </a:r>
            <a:r>
              <a:rPr lang="en-US" altLang="zh-CN" b="0" err="1"/>
              <a:t>putchar</a:t>
            </a:r>
            <a:r>
              <a:rPr lang="en-US" altLang="zh-CN" b="0"/>
              <a:t>()</a:t>
            </a:r>
            <a:endParaRPr lang="en-US" altLang="zh-CN" b="0"/>
          </a:p>
          <a:p>
            <a:pPr lvl="1" algn="just" eaLnBrk="1" hangingPunct="1">
              <a:lnSpc>
                <a:spcPct val="85000"/>
              </a:lnSpc>
              <a:buNone/>
            </a:pPr>
            <a:r>
              <a:rPr lang="en-US" altLang="zh-CN" b="0"/>
              <a:t>char </a:t>
            </a:r>
            <a:r>
              <a:rPr lang="en-US" altLang="zh-CN" b="0" err="1"/>
              <a:t>ch</a:t>
            </a:r>
            <a:r>
              <a:rPr lang="en-US" altLang="zh-CN" b="0"/>
              <a:t>;</a:t>
            </a:r>
            <a:endParaRPr lang="en-US" altLang="zh-CN" b="0"/>
          </a:p>
          <a:p>
            <a:pPr lvl="1" algn="just" eaLnBrk="1" hangingPunct="1">
              <a:lnSpc>
                <a:spcPct val="85000"/>
              </a:lnSpc>
              <a:buNone/>
            </a:pPr>
            <a:r>
              <a:rPr lang="en-US" altLang="zh-CN" b="0" err="1"/>
              <a:t>ch</a:t>
            </a:r>
            <a:r>
              <a:rPr lang="en-US" altLang="zh-CN" b="0"/>
              <a:t> = </a:t>
            </a:r>
            <a:r>
              <a:rPr lang="en-US" altLang="zh-CN" b="0" err="1"/>
              <a:t>getchar</a:t>
            </a:r>
            <a:r>
              <a:rPr lang="en-US" altLang="zh-CN" b="0"/>
              <a:t>( );</a:t>
            </a:r>
            <a:endParaRPr lang="en-US" altLang="zh-CN" b="0"/>
          </a:p>
          <a:p>
            <a:pPr lvl="1" algn="just" eaLnBrk="1" hangingPunct="1">
              <a:lnSpc>
                <a:spcPct val="85000"/>
              </a:lnSpc>
              <a:buNone/>
            </a:pPr>
            <a:r>
              <a:rPr lang="en-US" altLang="zh-CN" b="0" err="1"/>
              <a:t>putchar(ch</a:t>
            </a:r>
            <a:r>
              <a:rPr lang="en-US" altLang="zh-CN" b="0"/>
              <a:t>);</a:t>
            </a:r>
            <a:endParaRPr lang="en-US" altLang="zh-CN" b="0"/>
          </a:p>
          <a:p>
            <a:pPr lvl="1" algn="just" eaLnBrk="1" hangingPunct="1">
              <a:lnSpc>
                <a:spcPct val="85000"/>
              </a:lnSpc>
              <a:buNone/>
            </a:pPr>
            <a:r>
              <a:rPr lang="zh-CN" altLang="en-US" b="0" dirty="0"/>
              <a:t>输入输出一个字符</a:t>
            </a:r>
            <a:endParaRPr lang="zh-CN" altLang="en-US"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57379">
                                            <p:txEl>
                                              <p:charRg st="0" end="22"/>
                                            </p:txEl>
                                          </p:spTgt>
                                        </p:tgtEl>
                                        <p:attrNameLst>
                                          <p:attrName>style.visibility</p:attrName>
                                        </p:attrNameLst>
                                      </p:cBhvr>
                                      <p:to>
                                        <p:strVal val="visible"/>
                                      </p:to>
                                    </p:set>
                                    <p:animEffect transition="in" filter="wipe(down)">
                                      <p:cBhvr>
                                        <p:cTn id="7" dur="500"/>
                                        <p:tgtEl>
                                          <p:spTgt spid="357379">
                                            <p:txEl>
                                              <p:charRg st="0" end="22"/>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57379">
                                            <p:txEl>
                                              <p:charRg st="26" end="35"/>
                                            </p:txEl>
                                          </p:spTgt>
                                        </p:tgtEl>
                                        <p:attrNameLst>
                                          <p:attrName>style.visibility</p:attrName>
                                        </p:attrNameLst>
                                      </p:cBhvr>
                                      <p:to>
                                        <p:strVal val="visible"/>
                                      </p:to>
                                    </p:set>
                                    <p:animEffect transition="in" filter="wipe(down)">
                                      <p:cBhvr>
                                        <p:cTn id="10" dur="500"/>
                                        <p:tgtEl>
                                          <p:spTgt spid="357379">
                                            <p:txEl>
                                              <p:charRg st="26" end="35"/>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57379">
                                            <p:txEl>
                                              <p:charRg st="35" end="53"/>
                                            </p:txEl>
                                          </p:spTgt>
                                        </p:tgtEl>
                                        <p:attrNameLst>
                                          <p:attrName>style.visibility</p:attrName>
                                        </p:attrNameLst>
                                      </p:cBhvr>
                                      <p:to>
                                        <p:strVal val="visible"/>
                                      </p:to>
                                    </p:set>
                                    <p:animEffect transition="in" filter="wipe(down)">
                                      <p:cBhvr>
                                        <p:cTn id="13" dur="500"/>
                                        <p:tgtEl>
                                          <p:spTgt spid="357379">
                                            <p:txEl>
                                              <p:charRg st="35" end="53"/>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57379">
                                            <p:txEl>
                                              <p:charRg st="53" end="71"/>
                                            </p:txEl>
                                          </p:spTgt>
                                        </p:tgtEl>
                                        <p:attrNameLst>
                                          <p:attrName>style.visibility</p:attrName>
                                        </p:attrNameLst>
                                      </p:cBhvr>
                                      <p:to>
                                        <p:strVal val="visible"/>
                                      </p:to>
                                    </p:set>
                                    <p:animEffect transition="in" filter="wipe(down)">
                                      <p:cBhvr>
                                        <p:cTn id="16" dur="500"/>
                                        <p:tgtEl>
                                          <p:spTgt spid="357379">
                                            <p:txEl>
                                              <p:charRg st="53" end="7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57379">
                                            <p:txEl>
                                              <p:charRg st="72" end="94"/>
                                            </p:txEl>
                                          </p:spTgt>
                                        </p:tgtEl>
                                        <p:attrNameLst>
                                          <p:attrName>style.visibility</p:attrName>
                                        </p:attrNameLst>
                                      </p:cBhvr>
                                      <p:to>
                                        <p:strVal val="visible"/>
                                      </p:to>
                                    </p:set>
                                    <p:animEffect transition="in" filter="wipe(down)">
                                      <p:cBhvr>
                                        <p:cTn id="21" dur="500"/>
                                        <p:tgtEl>
                                          <p:spTgt spid="357379">
                                            <p:txEl>
                                              <p:charRg st="72" end="9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57379">
                                            <p:txEl>
                                              <p:charRg st="94" end="103"/>
                                            </p:txEl>
                                          </p:spTgt>
                                        </p:tgtEl>
                                        <p:attrNameLst>
                                          <p:attrName>style.visibility</p:attrName>
                                        </p:attrNameLst>
                                      </p:cBhvr>
                                      <p:to>
                                        <p:strVal val="visible"/>
                                      </p:to>
                                    </p:set>
                                    <p:animEffect transition="in" filter="wipe(down)">
                                      <p:cBhvr>
                                        <p:cTn id="24" dur="500"/>
                                        <p:tgtEl>
                                          <p:spTgt spid="357379">
                                            <p:txEl>
                                              <p:charRg st="94" end="103"/>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57379">
                                            <p:txEl>
                                              <p:charRg st="103" end="120"/>
                                            </p:txEl>
                                          </p:spTgt>
                                        </p:tgtEl>
                                        <p:attrNameLst>
                                          <p:attrName>style.visibility</p:attrName>
                                        </p:attrNameLst>
                                      </p:cBhvr>
                                      <p:to>
                                        <p:strVal val="visible"/>
                                      </p:to>
                                    </p:set>
                                    <p:animEffect transition="in" filter="wipe(down)">
                                      <p:cBhvr>
                                        <p:cTn id="27" dur="500"/>
                                        <p:tgtEl>
                                          <p:spTgt spid="357379">
                                            <p:txEl>
                                              <p:charRg st="103" end="120"/>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57379">
                                            <p:txEl>
                                              <p:charRg st="120" end="133"/>
                                            </p:txEl>
                                          </p:spTgt>
                                        </p:tgtEl>
                                        <p:attrNameLst>
                                          <p:attrName>style.visibility</p:attrName>
                                        </p:attrNameLst>
                                      </p:cBhvr>
                                      <p:to>
                                        <p:strVal val="visible"/>
                                      </p:to>
                                    </p:set>
                                    <p:animEffect transition="in" filter="wipe(down)">
                                      <p:cBhvr>
                                        <p:cTn id="30" dur="500"/>
                                        <p:tgtEl>
                                          <p:spTgt spid="357379">
                                            <p:txEl>
                                              <p:charRg st="120" end="133"/>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57379">
                                            <p:txEl>
                                              <p:charRg st="133" end="142"/>
                                            </p:txEl>
                                          </p:spTgt>
                                        </p:tgtEl>
                                        <p:attrNameLst>
                                          <p:attrName>style.visibility</p:attrName>
                                        </p:attrNameLst>
                                      </p:cBhvr>
                                      <p:to>
                                        <p:strVal val="visible"/>
                                      </p:to>
                                    </p:set>
                                    <p:animEffect transition="in" filter="wipe(down)">
                                      <p:cBhvr>
                                        <p:cTn id="33" dur="500"/>
                                        <p:tgtEl>
                                          <p:spTgt spid="357379">
                                            <p:txEl>
                                              <p:charRg st="133"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684213" y="333375"/>
            <a:ext cx="7678737" cy="9001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例</a:t>
            </a:r>
            <a:r>
              <a:rPr lang="zh-CN" altLang="en-US" b="0" dirty="0">
                <a:sym typeface="+mn-ea"/>
              </a:rPr>
              <a:t>6-3(1) </a:t>
            </a:r>
            <a:r>
              <a:rPr lang="zh-CN" altLang="en-US" b="0" dirty="0">
                <a:sym typeface="+mn-ea"/>
              </a:rPr>
              <a:t>输入输出字符示例</a:t>
            </a:r>
            <a:endParaRPr lang="zh-CN" altLang="en-US" b="0" dirty="0">
              <a:sym typeface="+mn-ea"/>
            </a:endParaRPr>
          </a:p>
        </p:txBody>
      </p:sp>
      <p:sp>
        <p:nvSpPr>
          <p:cNvPr id="47107" name="Rectangle 3"/>
          <p:cNvSpPr>
            <a:spLocks noGrp="1"/>
          </p:cNvSpPr>
          <p:nvPr>
            <p:ph idx="1"/>
          </p:nvPr>
        </p:nvSpPr>
        <p:spPr>
          <a:xfrm>
            <a:off x="304800" y="1143000"/>
            <a:ext cx="6139180" cy="4966970"/>
          </a:xfrm>
        </p:spPr>
        <p:txBody>
          <a:bodyPr vert="horz" wrap="square" lIns="91440" tIns="45720" rIns="91440" bIns="45720" anchor="t" anchorCtr="0"/>
          <a:p>
            <a:pPr lvl="1" algn="just" eaLnBrk="1" hangingPunct="1">
              <a:lnSpc>
                <a:spcPct val="90000"/>
              </a:lnSpc>
              <a:buNone/>
            </a:pPr>
            <a:r>
              <a:rPr lang="en-US" altLang="zh-CN" sz="2400" b="0"/>
              <a:t># include &lt;</a:t>
            </a:r>
            <a:r>
              <a:rPr lang="en-US" altLang="zh-CN" sz="2400" b="0" err="1"/>
              <a:t>stdio.h</a:t>
            </a:r>
            <a:r>
              <a:rPr lang="en-US" altLang="zh-CN" sz="2400" b="0"/>
              <a:t>&gt;</a:t>
            </a:r>
            <a:endParaRPr lang="en-US" altLang="zh-CN" sz="2400" b="0"/>
          </a:p>
          <a:p>
            <a:pPr lvl="1" algn="just" eaLnBrk="1" hangingPunct="1">
              <a:lnSpc>
                <a:spcPct val="90000"/>
              </a:lnSpc>
              <a:buNone/>
            </a:pPr>
            <a:r>
              <a:rPr lang="en-US" altLang="zh-CN" sz="2400" b="0" err="1"/>
              <a:t>int</a:t>
            </a:r>
            <a:r>
              <a:rPr lang="en-US" altLang="zh-CN" sz="2400" b="0"/>
              <a:t> </a:t>
            </a:r>
            <a:r>
              <a:rPr lang="en-US" altLang="zh-CN" sz="2400" b="0" err="1"/>
              <a:t>main(void</a:t>
            </a:r>
            <a:r>
              <a:rPr lang="en-US" altLang="zh-CN" sz="2400" b="0"/>
              <a:t>)</a:t>
            </a:r>
            <a:endParaRPr lang="en-US" altLang="zh-CN" sz="2400" b="0"/>
          </a:p>
          <a:p>
            <a:pPr lvl="1" algn="just" eaLnBrk="1" hangingPunct="1">
              <a:lnSpc>
                <a:spcPct val="90000"/>
              </a:lnSpc>
              <a:buNone/>
            </a:pPr>
            <a:r>
              <a:rPr lang="en-US" altLang="zh-CN" sz="2400" b="0"/>
              <a:t>{ </a:t>
            </a:r>
            <a:endParaRPr lang="en-US" altLang="zh-CN" sz="2400" b="0"/>
          </a:p>
          <a:p>
            <a:pPr lvl="1" algn="just" eaLnBrk="1" hangingPunct="1">
              <a:lnSpc>
                <a:spcPct val="90000"/>
              </a:lnSpc>
              <a:buNone/>
            </a:pPr>
            <a:r>
              <a:rPr lang="en-US" altLang="zh-CN" sz="2400" b="0"/>
              <a:t>    char ch1, ch2;</a:t>
            </a:r>
            <a:endParaRPr lang="en-US" altLang="zh-CN" sz="2400" b="0"/>
          </a:p>
          <a:p>
            <a:pPr lvl="1" algn="just" eaLnBrk="1" hangingPunct="1">
              <a:lnSpc>
                <a:spcPct val="90000"/>
              </a:lnSpc>
              <a:buNone/>
            </a:pPr>
            <a:endParaRPr lang="en-US" altLang="zh-CN" sz="2400" b="0"/>
          </a:p>
          <a:p>
            <a:pPr lvl="1" algn="just" eaLnBrk="1" hangingPunct="1">
              <a:lnSpc>
                <a:spcPct val="90000"/>
              </a:lnSpc>
              <a:buNone/>
            </a:pPr>
            <a:r>
              <a:rPr lang="en-US" altLang="zh-CN" sz="2400" b="0"/>
              <a:t>    ch1=</a:t>
            </a:r>
            <a:r>
              <a:rPr lang="en-US" altLang="zh-CN" sz="2400" b="0" err="1"/>
              <a:t>getchar</a:t>
            </a:r>
            <a:r>
              <a:rPr lang="en-US" altLang="zh-CN" sz="2400" b="0"/>
              <a:t>();</a:t>
            </a:r>
            <a:endParaRPr lang="en-US" altLang="zh-CN" sz="2400" b="0"/>
          </a:p>
          <a:p>
            <a:pPr lvl="1" algn="just" eaLnBrk="1" hangingPunct="1">
              <a:lnSpc>
                <a:spcPct val="90000"/>
              </a:lnSpc>
              <a:buNone/>
            </a:pPr>
            <a:r>
              <a:rPr lang="en-US" altLang="zh-CN" sz="2400" b="0"/>
              <a:t>    ch2=</a:t>
            </a:r>
            <a:r>
              <a:rPr lang="en-US" altLang="zh-CN" sz="2400" b="0" err="1"/>
              <a:t>getchar</a:t>
            </a:r>
            <a:r>
              <a:rPr lang="en-US" altLang="zh-CN" sz="2400" b="0"/>
              <a:t>();</a:t>
            </a:r>
            <a:endParaRPr lang="en-US" altLang="zh-CN" sz="2400" b="0"/>
          </a:p>
          <a:p>
            <a:pPr lvl="1" algn="just" eaLnBrk="1" hangingPunct="1">
              <a:lnSpc>
                <a:spcPct val="90000"/>
              </a:lnSpc>
              <a:buNone/>
            </a:pPr>
            <a:r>
              <a:rPr lang="en-US" altLang="zh-CN" sz="2400" b="0"/>
              <a:t>    putchar(ch1);</a:t>
            </a:r>
            <a:endParaRPr lang="en-US" altLang="zh-CN" sz="2400" b="0"/>
          </a:p>
          <a:p>
            <a:pPr lvl="1" algn="just" eaLnBrk="1" hangingPunct="1">
              <a:lnSpc>
                <a:spcPct val="90000"/>
              </a:lnSpc>
              <a:buNone/>
            </a:pPr>
            <a:r>
              <a:rPr lang="en-US" altLang="zh-CN" sz="2400" b="0"/>
              <a:t>    </a:t>
            </a:r>
            <a:r>
              <a:rPr lang="en-US" altLang="zh-CN" sz="2400" b="0" err="1"/>
              <a:t>putchar</a:t>
            </a:r>
            <a:r>
              <a:rPr lang="en-US" altLang="zh-CN" sz="2400" b="0"/>
              <a:t>('#');</a:t>
            </a:r>
            <a:endParaRPr lang="en-US" altLang="zh-CN" sz="2400" b="0"/>
          </a:p>
          <a:p>
            <a:pPr lvl="1" algn="just" eaLnBrk="1" hangingPunct="1">
              <a:lnSpc>
                <a:spcPct val="90000"/>
              </a:lnSpc>
              <a:buNone/>
            </a:pPr>
            <a:r>
              <a:rPr lang="en-US" altLang="zh-CN" sz="2400" b="0"/>
              <a:t>    putchar(ch2);</a:t>
            </a:r>
            <a:endParaRPr lang="en-US" altLang="zh-CN" sz="2400" b="0"/>
          </a:p>
          <a:p>
            <a:pPr lvl="1" algn="just" eaLnBrk="1" hangingPunct="1">
              <a:lnSpc>
                <a:spcPct val="90000"/>
              </a:lnSpc>
              <a:buNone/>
            </a:pPr>
            <a:r>
              <a:rPr lang="en-US" altLang="zh-CN" sz="2400" b="0"/>
              <a:t>    return 0;</a:t>
            </a:r>
            <a:endParaRPr lang="en-US" altLang="zh-CN" sz="2400" b="0"/>
          </a:p>
          <a:p>
            <a:pPr lvl="1" algn="just" eaLnBrk="1" hangingPunct="1">
              <a:lnSpc>
                <a:spcPct val="90000"/>
              </a:lnSpc>
              <a:buNone/>
            </a:pPr>
            <a:r>
              <a:rPr lang="en-US" altLang="zh-CN" sz="2400" b="0"/>
              <a:t>}</a:t>
            </a:r>
            <a:endParaRPr lang="en-US" altLang="zh-CN" sz="2400" b="0"/>
          </a:p>
        </p:txBody>
      </p:sp>
      <p:sp>
        <p:nvSpPr>
          <p:cNvPr id="358406" name="Rectangle 6"/>
          <p:cNvSpPr/>
          <p:nvPr/>
        </p:nvSpPr>
        <p:spPr>
          <a:xfrm>
            <a:off x="5795963" y="2492375"/>
            <a:ext cx="1871662" cy="1159510"/>
          </a:xfrm>
          <a:prstGeom prst="rect">
            <a:avLst/>
          </a:prstGeom>
          <a:noFill/>
          <a:ln w="12700" cap="flat" cmpd="sng">
            <a:solidFill>
              <a:schemeClr val="tx1"/>
            </a:solidFill>
            <a:prstDash val="sysDot"/>
            <a:miter/>
            <a:headEnd type="none" w="sm" len="sm"/>
            <a:tailEnd type="none" w="sm" len="sm"/>
          </a:ln>
        </p:spPr>
        <p:txBody>
          <a:bodyPr wrap="square" anchor="t" anchorCtr="0">
            <a:spAutoFit/>
          </a:bodyPr>
          <a:p>
            <a:pPr eaLnBrk="0" hangingPunct="0">
              <a:lnSpc>
                <a:spcPct val="124000"/>
              </a:lnSpc>
            </a:pPr>
            <a:r>
              <a:rPr lang="en-US" altLang="zh-CN" sz="2800" err="1">
                <a:solidFill>
                  <a:srgbClr val="CC0066"/>
                </a:solidFill>
                <a:latin typeface="Arial" panose="02080604020202020204" pitchFamily="34" charset="0"/>
              </a:rPr>
              <a:t>Ab</a:t>
            </a:r>
            <a:endParaRPr lang="en-US" altLang="zh-CN" sz="2800">
              <a:solidFill>
                <a:srgbClr val="CC0066"/>
              </a:solidFill>
              <a:latin typeface="Arial" panose="02080604020202020204" pitchFamily="34" charset="0"/>
            </a:endParaRPr>
          </a:p>
          <a:p>
            <a:pPr eaLnBrk="0" hangingPunct="0">
              <a:lnSpc>
                <a:spcPct val="124000"/>
              </a:lnSpc>
            </a:pPr>
            <a:r>
              <a:rPr lang="en-US" altLang="zh-CN" sz="2800" err="1">
                <a:latin typeface="Arial" panose="02080604020202020204" pitchFamily="34" charset="0"/>
              </a:rPr>
              <a:t>A#b</a:t>
            </a:r>
            <a:endParaRPr lang="en-US" altLang="zh-CN" sz="280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06"/>
                                        </p:tgtEl>
                                        <p:attrNameLst>
                                          <p:attrName>style.visibility</p:attrName>
                                        </p:attrNameLst>
                                      </p:cBhvr>
                                      <p:to>
                                        <p:strVal val="visible"/>
                                      </p:to>
                                    </p:set>
                                    <p:anim calcmode="lin" valueType="num">
                                      <p:cBhvr additive="base">
                                        <p:cTn id="7" dur="500" fill="hold"/>
                                        <p:tgtEl>
                                          <p:spTgt spid="358406"/>
                                        </p:tgtEl>
                                        <p:attrNameLst>
                                          <p:attrName>ppt_x</p:attrName>
                                        </p:attrNameLst>
                                      </p:cBhvr>
                                      <p:tavLst>
                                        <p:tav tm="0">
                                          <p:val>
                                            <p:strVal val="0-#ppt_w/2"/>
                                          </p:val>
                                        </p:tav>
                                        <p:tav tm="100000">
                                          <p:val>
                                            <p:strVal val="#ppt_x"/>
                                          </p:val>
                                        </p:tav>
                                      </p:tavLst>
                                    </p:anim>
                                    <p:anim calcmode="lin" valueType="num">
                                      <p:cBhvr additive="base">
                                        <p:cTn id="8" dur="500" fill="hold"/>
                                        <p:tgtEl>
                                          <p:spTgt spid="3584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6"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8130" name="Rectangle 2"/>
          <p:cNvSpPr>
            <a:spLocks noGrp="1"/>
          </p:cNvSpPr>
          <p:nvPr>
            <p:ph type="title"/>
          </p:nvPr>
        </p:nvSpPr>
        <p:spPr>
          <a:xfrm>
            <a:off x="684213" y="404813"/>
            <a:ext cx="7772400" cy="9144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例</a:t>
            </a:r>
            <a:r>
              <a:rPr lang="zh-CN" altLang="en-US" b="0" dirty="0">
                <a:sym typeface="+mn-ea"/>
              </a:rPr>
              <a:t>6-3(2) </a:t>
            </a:r>
            <a:r>
              <a:rPr lang="zh-CN" altLang="en-US" b="0" dirty="0">
                <a:sym typeface="+mn-ea"/>
              </a:rPr>
              <a:t>输入输出字符示例</a:t>
            </a:r>
            <a:endParaRPr lang="zh-CN" altLang="en-US" b="0" dirty="0">
              <a:sym typeface="+mn-ea"/>
            </a:endParaRPr>
          </a:p>
        </p:txBody>
      </p:sp>
      <p:sp>
        <p:nvSpPr>
          <p:cNvPr id="48131" name="Rectangle 3"/>
          <p:cNvSpPr>
            <a:spLocks noGrp="1"/>
          </p:cNvSpPr>
          <p:nvPr>
            <p:ph idx="1"/>
          </p:nvPr>
        </p:nvSpPr>
        <p:spPr>
          <a:xfrm>
            <a:off x="304800" y="1219200"/>
            <a:ext cx="8588375" cy="4802188"/>
          </a:xfrm>
        </p:spPr>
        <p:txBody>
          <a:bodyPr vert="horz" wrap="square" lIns="91440" tIns="45720" rIns="91440" bIns="45720" anchor="t" anchorCtr="0"/>
          <a:p>
            <a:pPr algn="just" eaLnBrk="1" hangingPunct="1">
              <a:buNone/>
            </a:pPr>
            <a:r>
              <a:rPr lang="en-US" altLang="zh-CN" sz="2800" b="0"/>
              <a:t># include &lt;</a:t>
            </a:r>
            <a:r>
              <a:rPr lang="en-US" altLang="zh-CN" sz="2800" b="0" err="1"/>
              <a:t>stdio.h</a:t>
            </a:r>
            <a:r>
              <a:rPr lang="en-US" altLang="zh-CN" sz="2800" b="0"/>
              <a:t>&gt;</a:t>
            </a:r>
            <a:endParaRPr lang="en-US" altLang="zh-CN" sz="2800" b="0"/>
          </a:p>
          <a:p>
            <a:pPr algn="just" eaLnBrk="1" hangingPunct="1">
              <a:buNone/>
            </a:pPr>
            <a:r>
              <a:rPr lang="en-US" altLang="zh-CN" sz="2800" b="0" err="1"/>
              <a:t>int</a:t>
            </a:r>
            <a:r>
              <a:rPr lang="en-US" altLang="zh-CN" sz="2800" b="0"/>
              <a:t> </a:t>
            </a:r>
            <a:r>
              <a:rPr lang="en-US" altLang="zh-CN" sz="2800" b="0" err="1"/>
              <a:t>main(void</a:t>
            </a:r>
            <a:r>
              <a:rPr lang="en-US" altLang="zh-CN" sz="2800" b="0"/>
              <a:t>)</a:t>
            </a:r>
            <a:endParaRPr lang="en-US" altLang="zh-CN" sz="2800" b="0"/>
          </a:p>
          <a:p>
            <a:pPr algn="just" eaLnBrk="1" hangingPunct="1">
              <a:buNone/>
            </a:pPr>
            <a:r>
              <a:rPr lang="en-US" altLang="zh-CN" sz="2800" b="0"/>
              <a:t>{ </a:t>
            </a:r>
            <a:endParaRPr lang="en-US" altLang="zh-CN" sz="2800" b="0"/>
          </a:p>
          <a:p>
            <a:pPr algn="just" eaLnBrk="1" hangingPunct="1">
              <a:buNone/>
            </a:pPr>
            <a:r>
              <a:rPr lang="en-US" altLang="zh-CN" sz="2800" b="0"/>
              <a:t>    char ch1, ch2, ch3;</a:t>
            </a:r>
            <a:endParaRPr lang="en-US" altLang="zh-CN" sz="2800" b="0"/>
          </a:p>
          <a:p>
            <a:pPr algn="just" eaLnBrk="1" hangingPunct="1">
              <a:buNone/>
            </a:pPr>
            <a:endParaRPr lang="en-US" altLang="zh-CN" sz="2800" b="0"/>
          </a:p>
          <a:p>
            <a:pPr algn="just" eaLnBrk="1" hangingPunct="1">
              <a:buNone/>
            </a:pPr>
            <a:r>
              <a:rPr lang="en-US" altLang="zh-CN" sz="2800" b="0"/>
              <a:t>    </a:t>
            </a:r>
            <a:r>
              <a:rPr lang="en-US" altLang="zh-CN" sz="2800" b="0" err="1"/>
              <a:t>scanf("%c%c%c</a:t>
            </a:r>
            <a:r>
              <a:rPr lang="en-US" altLang="zh-CN" sz="2800" b="0"/>
              <a:t>", &amp;ch1, &amp;ch2, &amp;ch3);</a:t>
            </a:r>
            <a:endParaRPr lang="en-US" altLang="zh-CN" sz="2800" b="0"/>
          </a:p>
          <a:p>
            <a:pPr algn="just" eaLnBrk="1" hangingPunct="1">
              <a:buNone/>
            </a:pPr>
            <a:r>
              <a:rPr lang="en-US" altLang="zh-CN" sz="2800" b="0"/>
              <a:t>    </a:t>
            </a:r>
            <a:r>
              <a:rPr lang="en-US" altLang="zh-CN" sz="2800" b="0" err="1"/>
              <a:t>printf("%c%c%c%c%c</a:t>
            </a:r>
            <a:r>
              <a:rPr lang="en-US" altLang="zh-CN" sz="2800" b="0"/>
              <a:t>", ch1, '#', ch2, '#', ch3);</a:t>
            </a:r>
            <a:endParaRPr lang="en-US" altLang="zh-CN" sz="2800" b="0"/>
          </a:p>
          <a:p>
            <a:pPr algn="just" eaLnBrk="1" hangingPunct="1">
              <a:buNone/>
            </a:pPr>
            <a:r>
              <a:rPr lang="en-US" altLang="zh-CN" sz="2800" b="0"/>
              <a:t>    return 0;</a:t>
            </a:r>
            <a:endParaRPr lang="en-US" altLang="zh-CN" sz="2800" b="0"/>
          </a:p>
          <a:p>
            <a:pPr algn="just" eaLnBrk="1" hangingPunct="1">
              <a:buNone/>
            </a:pPr>
            <a:r>
              <a:rPr lang="en-US" altLang="zh-CN" sz="2800" b="0"/>
              <a:t>}</a:t>
            </a:r>
            <a:endParaRPr lang="en-US" altLang="zh-CN" sz="2800" b="0"/>
          </a:p>
        </p:txBody>
      </p:sp>
      <p:sp>
        <p:nvSpPr>
          <p:cNvPr id="359432" name="Rectangle 8"/>
          <p:cNvSpPr/>
          <p:nvPr/>
        </p:nvSpPr>
        <p:spPr>
          <a:xfrm>
            <a:off x="4284663" y="1412875"/>
            <a:ext cx="1828800" cy="1006475"/>
          </a:xfrm>
          <a:prstGeom prst="rect">
            <a:avLst/>
          </a:prstGeom>
          <a:noFill/>
          <a:ln w="12700" cap="flat" cmpd="sng">
            <a:solidFill>
              <a:schemeClr val="tx1"/>
            </a:solidFill>
            <a:prstDash val="sysDot"/>
            <a:miter/>
            <a:headEnd type="none" w="sm" len="sm"/>
            <a:tailEnd type="none" w="sm" len="sm"/>
          </a:ln>
        </p:spPr>
        <p:txBody>
          <a:bodyPr anchor="t" anchorCtr="0">
            <a:spAutoFit/>
          </a:bodyPr>
          <a:p>
            <a:pPr eaLnBrk="0" hangingPunct="0">
              <a:lnSpc>
                <a:spcPct val="124000"/>
              </a:lnSpc>
            </a:pPr>
            <a:r>
              <a:rPr lang="en-US" altLang="zh-CN" sz="2400" err="1">
                <a:solidFill>
                  <a:srgbClr val="CC0066"/>
                </a:solidFill>
                <a:latin typeface="Arial" panose="02080604020202020204" pitchFamily="34" charset="0"/>
              </a:rPr>
              <a:t>AbC</a:t>
            </a:r>
            <a:endParaRPr lang="en-US" altLang="zh-CN" sz="2400">
              <a:solidFill>
                <a:srgbClr val="CC0066"/>
              </a:solidFill>
              <a:latin typeface="Arial" panose="02080604020202020204" pitchFamily="34" charset="0"/>
            </a:endParaRPr>
          </a:p>
          <a:p>
            <a:pPr eaLnBrk="0" hangingPunct="0">
              <a:lnSpc>
                <a:spcPct val="124000"/>
              </a:lnSpc>
            </a:pPr>
            <a:r>
              <a:rPr lang="en-US" altLang="zh-CN" sz="2400" err="1">
                <a:latin typeface="Arial" panose="02080604020202020204" pitchFamily="34" charset="0"/>
              </a:rPr>
              <a:t>A#b#C</a:t>
            </a:r>
            <a:endParaRPr lang="en-US" altLang="zh-CN" sz="2400">
              <a:latin typeface="Arial" panose="02080604020202020204" pitchFamily="34" charset="0"/>
            </a:endParaRPr>
          </a:p>
        </p:txBody>
      </p:sp>
      <p:sp>
        <p:nvSpPr>
          <p:cNvPr id="359433" name="Rectangle 9"/>
          <p:cNvSpPr/>
          <p:nvPr/>
        </p:nvSpPr>
        <p:spPr>
          <a:xfrm>
            <a:off x="6443663" y="1412875"/>
            <a:ext cx="1828800" cy="1006475"/>
          </a:xfrm>
          <a:prstGeom prst="rect">
            <a:avLst/>
          </a:prstGeom>
          <a:noFill/>
          <a:ln w="12700" cap="flat" cmpd="sng">
            <a:solidFill>
              <a:schemeClr val="tx1"/>
            </a:solidFill>
            <a:prstDash val="sysDot"/>
            <a:miter/>
            <a:headEnd type="none" w="sm" len="sm"/>
            <a:tailEnd type="none" w="sm" len="sm"/>
          </a:ln>
        </p:spPr>
        <p:txBody>
          <a:bodyPr anchor="t" anchorCtr="0">
            <a:spAutoFit/>
          </a:bodyPr>
          <a:p>
            <a:pPr eaLnBrk="0" hangingPunct="0">
              <a:lnSpc>
                <a:spcPct val="124000"/>
              </a:lnSpc>
            </a:pPr>
            <a:r>
              <a:rPr lang="en-US" altLang="zh-CN" sz="2400">
                <a:solidFill>
                  <a:srgbClr val="CC0066"/>
                </a:solidFill>
                <a:latin typeface="Arial" panose="02080604020202020204" pitchFamily="34" charset="0"/>
              </a:rPr>
              <a:t>A </a:t>
            </a:r>
            <a:r>
              <a:rPr lang="en-US" altLang="zh-CN" sz="2400" err="1">
                <a:solidFill>
                  <a:srgbClr val="CC0066"/>
                </a:solidFill>
                <a:latin typeface="Arial" panose="02080604020202020204" pitchFamily="34" charset="0"/>
              </a:rPr>
              <a:t>bC</a:t>
            </a:r>
            <a:endParaRPr lang="en-US" altLang="zh-CN" sz="2400">
              <a:solidFill>
                <a:srgbClr val="CC0066"/>
              </a:solidFill>
              <a:latin typeface="Arial" panose="02080604020202020204" pitchFamily="34" charset="0"/>
            </a:endParaRPr>
          </a:p>
          <a:p>
            <a:pPr eaLnBrk="0" hangingPunct="0">
              <a:lnSpc>
                <a:spcPct val="124000"/>
              </a:lnSpc>
            </a:pPr>
            <a:r>
              <a:rPr lang="en-US" altLang="zh-CN" sz="2400">
                <a:latin typeface="Arial" panose="02080604020202020204" pitchFamily="34" charset="0"/>
              </a:rPr>
              <a:t>A# #b</a:t>
            </a:r>
            <a:endParaRPr lang="en-US" altLang="zh-CN" sz="240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9432"/>
                                        </p:tgtEl>
                                        <p:attrNameLst>
                                          <p:attrName>style.visibility</p:attrName>
                                        </p:attrNameLst>
                                      </p:cBhvr>
                                      <p:to>
                                        <p:strVal val="visible"/>
                                      </p:to>
                                    </p:set>
                                    <p:anim calcmode="lin" valueType="num">
                                      <p:cBhvr additive="base">
                                        <p:cTn id="7" dur="500" fill="hold"/>
                                        <p:tgtEl>
                                          <p:spTgt spid="359432"/>
                                        </p:tgtEl>
                                        <p:attrNameLst>
                                          <p:attrName>ppt_x</p:attrName>
                                        </p:attrNameLst>
                                      </p:cBhvr>
                                      <p:tavLst>
                                        <p:tav tm="0">
                                          <p:val>
                                            <p:strVal val="0-#ppt_w/2"/>
                                          </p:val>
                                        </p:tav>
                                        <p:tav tm="100000">
                                          <p:val>
                                            <p:strVal val="#ppt_x"/>
                                          </p:val>
                                        </p:tav>
                                      </p:tavLst>
                                    </p:anim>
                                    <p:anim calcmode="lin" valueType="num">
                                      <p:cBhvr additive="base">
                                        <p:cTn id="8" dur="500" fill="hold"/>
                                        <p:tgtEl>
                                          <p:spTgt spid="3594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9433"/>
                                        </p:tgtEl>
                                        <p:attrNameLst>
                                          <p:attrName>style.visibility</p:attrName>
                                        </p:attrNameLst>
                                      </p:cBhvr>
                                      <p:to>
                                        <p:strVal val="visible"/>
                                      </p:to>
                                    </p:set>
                                    <p:anim calcmode="lin" valueType="num">
                                      <p:cBhvr additive="base">
                                        <p:cTn id="13" dur="500" fill="hold"/>
                                        <p:tgtEl>
                                          <p:spTgt spid="359433"/>
                                        </p:tgtEl>
                                        <p:attrNameLst>
                                          <p:attrName>ppt_x</p:attrName>
                                        </p:attrNameLst>
                                      </p:cBhvr>
                                      <p:tavLst>
                                        <p:tav tm="0">
                                          <p:val>
                                            <p:strVal val="0-#ppt_w/2"/>
                                          </p:val>
                                        </p:tav>
                                        <p:tav tm="100000">
                                          <p:val>
                                            <p:strVal val="#ppt_x"/>
                                          </p:val>
                                        </p:tav>
                                      </p:tavLst>
                                    </p:anim>
                                    <p:anim calcmode="lin" valueType="num">
                                      <p:cBhvr additive="base">
                                        <p:cTn id="14" dur="500" fill="hold"/>
                                        <p:tgtEl>
                                          <p:spTgt spid="3594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32" grpId="0" bldLvl="0" animBg="1"/>
      <p:bldP spid="359433"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9154" name="Rectangle 2"/>
          <p:cNvSpPr>
            <a:spLocks noGrp="1"/>
          </p:cNvSpPr>
          <p:nvPr>
            <p:ph type="title"/>
          </p:nvPr>
        </p:nvSpPr>
        <p:spPr>
          <a:xfrm>
            <a:off x="2397125" y="117475"/>
            <a:ext cx="6510338" cy="9144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例</a:t>
            </a:r>
            <a:r>
              <a:rPr lang="zh-CN" altLang="en-US" b="0" dirty="0">
                <a:sym typeface="+mn-ea"/>
              </a:rPr>
              <a:t>6-4 </a:t>
            </a:r>
            <a:r>
              <a:rPr lang="zh-CN" altLang="en-US" b="0" dirty="0">
                <a:sym typeface="+mn-ea"/>
              </a:rPr>
              <a:t>输出字符型数据</a:t>
            </a:r>
            <a:endParaRPr lang="zh-CN" altLang="en-US" b="0" dirty="0">
              <a:sym typeface="+mn-ea"/>
            </a:endParaRPr>
          </a:p>
        </p:txBody>
      </p:sp>
      <p:sp>
        <p:nvSpPr>
          <p:cNvPr id="49155" name="Rectangle 3"/>
          <p:cNvSpPr>
            <a:spLocks noGrp="1"/>
          </p:cNvSpPr>
          <p:nvPr>
            <p:ph idx="1"/>
          </p:nvPr>
        </p:nvSpPr>
        <p:spPr>
          <a:xfrm>
            <a:off x="468313" y="836613"/>
            <a:ext cx="8351837" cy="5113337"/>
          </a:xfrm>
        </p:spPr>
        <p:txBody>
          <a:bodyPr vert="horz" wrap="square" lIns="91440" tIns="45720" rIns="91440" bIns="45720" anchor="t" anchorCtr="0"/>
          <a:p>
            <a:pPr algn="just" eaLnBrk="1" hangingPunct="1">
              <a:lnSpc>
                <a:spcPct val="84000"/>
              </a:lnSpc>
              <a:buNone/>
            </a:pPr>
            <a:r>
              <a:rPr lang="zh-CN" altLang="en-US" sz="2800" b="0" dirty="0"/>
              <a:t>'</a:t>
            </a:r>
            <a:r>
              <a:rPr lang="en-US" altLang="zh-CN" sz="2800" b="0"/>
              <a:t>b'</a:t>
            </a:r>
            <a:r>
              <a:rPr lang="zh-CN" altLang="en-US" sz="2800" b="0" dirty="0"/>
              <a:t>的</a:t>
            </a:r>
            <a:r>
              <a:rPr lang="en-US" altLang="zh-CN" sz="2800" b="0"/>
              <a:t>ASCII</a:t>
            </a:r>
            <a:r>
              <a:rPr lang="zh-CN" altLang="en-US" sz="2800" b="0" dirty="0"/>
              <a:t>码98</a:t>
            </a:r>
            <a:endParaRPr lang="zh-CN" altLang="en-US" sz="2800" b="0" dirty="0"/>
          </a:p>
          <a:p>
            <a:pPr algn="just" eaLnBrk="1" hangingPunct="1">
              <a:lnSpc>
                <a:spcPct val="80000"/>
              </a:lnSpc>
              <a:buNone/>
            </a:pPr>
            <a:r>
              <a:rPr lang="en-US" altLang="zh-CN" sz="2800" b="0"/>
              <a:t># include &lt;</a:t>
            </a:r>
            <a:r>
              <a:rPr lang="en-US" altLang="zh-CN" sz="2800" b="0" err="1"/>
              <a:t>stdio.h</a:t>
            </a:r>
            <a:r>
              <a:rPr lang="en-US" altLang="zh-CN" sz="2800" b="0"/>
              <a:t>&gt;</a:t>
            </a:r>
            <a:endParaRPr lang="en-US" altLang="zh-CN" sz="2800" b="0"/>
          </a:p>
          <a:p>
            <a:pPr algn="just" eaLnBrk="1" hangingPunct="1">
              <a:lnSpc>
                <a:spcPct val="80000"/>
              </a:lnSpc>
              <a:buNone/>
            </a:pPr>
            <a:r>
              <a:rPr lang="en-US" altLang="zh-CN" sz="2800" b="0" err="1"/>
              <a:t>int</a:t>
            </a:r>
            <a:r>
              <a:rPr lang="en-US" altLang="zh-CN" sz="2800" b="0"/>
              <a:t> </a:t>
            </a:r>
            <a:r>
              <a:rPr lang="en-US" altLang="zh-CN" sz="2800" b="0" err="1"/>
              <a:t>main(void</a:t>
            </a:r>
            <a:r>
              <a:rPr lang="en-US" altLang="zh-CN" sz="2800" b="0"/>
              <a:t>)</a:t>
            </a:r>
            <a:endParaRPr lang="en-US" altLang="zh-CN" sz="2800" b="0"/>
          </a:p>
          <a:p>
            <a:pPr algn="just" eaLnBrk="1" hangingPunct="1">
              <a:lnSpc>
                <a:spcPct val="80000"/>
              </a:lnSpc>
              <a:buNone/>
            </a:pPr>
            <a:r>
              <a:rPr lang="en-US" altLang="zh-CN" sz="2800" b="0"/>
              <a:t>{ </a:t>
            </a:r>
            <a:r>
              <a:rPr lang="en-US" altLang="zh-CN" sz="2800" b="0">
                <a:ea typeface="Arial Unicode MS" pitchFamily="34" charset="-122"/>
              </a:rPr>
              <a:t> char </a:t>
            </a:r>
            <a:r>
              <a:rPr lang="en-US" altLang="zh-CN" sz="2800" b="0" err="1">
                <a:ea typeface="Arial Unicode MS" pitchFamily="34" charset="-122"/>
              </a:rPr>
              <a:t>ch</a:t>
            </a:r>
            <a:r>
              <a:rPr lang="en-US" altLang="zh-CN" sz="2800" b="0">
                <a:ea typeface="Arial Unicode MS" pitchFamily="34" charset="-122"/>
              </a:rPr>
              <a:t> = 'b';</a:t>
            </a:r>
            <a:endParaRPr lang="en-US" altLang="zh-CN" sz="2800" b="0">
              <a:ea typeface="Arial Unicode MS" pitchFamily="34" charset="-122"/>
            </a:endParaRPr>
          </a:p>
          <a:p>
            <a:pPr algn="just" eaLnBrk="1" hangingPunct="1">
              <a:lnSpc>
                <a:spcPct val="80000"/>
              </a:lnSpc>
              <a:buNone/>
            </a:pPr>
            <a:endParaRPr lang="en-US" altLang="zh-CN" sz="2800" b="0"/>
          </a:p>
          <a:p>
            <a:pPr algn="just" eaLnBrk="1" hangingPunct="1">
              <a:lnSpc>
                <a:spcPct val="80000"/>
              </a:lnSpc>
              <a:buNone/>
            </a:pPr>
            <a:r>
              <a:rPr lang="en-US" altLang="zh-CN" sz="2800" b="0"/>
              <a:t>    </a:t>
            </a:r>
            <a:r>
              <a:rPr lang="en-US" altLang="zh-CN" sz="2800" b="0" err="1"/>
              <a:t>printf("%c</a:t>
            </a:r>
            <a:r>
              <a:rPr lang="en-US" altLang="zh-CN" sz="2800" b="0"/>
              <a:t>, %</a:t>
            </a:r>
            <a:r>
              <a:rPr lang="en-US" altLang="zh-CN" sz="2800" b="0" err="1"/>
              <a:t>d\n</a:t>
            </a:r>
            <a:r>
              <a:rPr lang="en-US" altLang="zh-CN" sz="2800" b="0"/>
              <a:t>", 'b', 'b');</a:t>
            </a:r>
            <a:endParaRPr lang="en-US" altLang="zh-CN" sz="2800" b="0"/>
          </a:p>
          <a:p>
            <a:pPr algn="just" eaLnBrk="1" hangingPunct="1">
              <a:lnSpc>
                <a:spcPct val="80000"/>
              </a:lnSpc>
              <a:buNone/>
            </a:pPr>
            <a:r>
              <a:rPr lang="en-US" altLang="zh-CN" sz="2800" b="0"/>
              <a:t>    </a:t>
            </a:r>
            <a:r>
              <a:rPr lang="en-US" altLang="zh-CN" sz="2800" b="0" err="1"/>
              <a:t>printf("%c</a:t>
            </a:r>
            <a:r>
              <a:rPr lang="en-US" altLang="zh-CN" sz="2800" b="0"/>
              <a:t>, %</a:t>
            </a:r>
            <a:r>
              <a:rPr lang="en-US" altLang="zh-CN" sz="2800" b="0" err="1"/>
              <a:t>d\n</a:t>
            </a:r>
            <a:r>
              <a:rPr lang="en-US" altLang="zh-CN" sz="2800" b="0"/>
              <a:t>", 98, 98);</a:t>
            </a:r>
            <a:endParaRPr lang="en-US" altLang="zh-CN" sz="2800" b="0"/>
          </a:p>
          <a:p>
            <a:pPr algn="just" eaLnBrk="1" hangingPunct="1">
              <a:lnSpc>
                <a:spcPct val="80000"/>
              </a:lnSpc>
              <a:buNone/>
            </a:pPr>
            <a:r>
              <a:rPr lang="en-US" altLang="zh-CN" sz="2800" b="0"/>
              <a:t>    </a:t>
            </a:r>
            <a:r>
              <a:rPr lang="en-US" altLang="zh-CN" sz="2800" b="0" err="1"/>
              <a:t>printf("%c</a:t>
            </a:r>
            <a:r>
              <a:rPr lang="en-US" altLang="zh-CN" sz="2800" b="0"/>
              <a:t>, %</a:t>
            </a:r>
            <a:r>
              <a:rPr lang="en-US" altLang="zh-CN" sz="2800" b="0" err="1"/>
              <a:t>d\n</a:t>
            </a:r>
            <a:r>
              <a:rPr lang="en-US" altLang="zh-CN" sz="2800" b="0"/>
              <a:t>", 97, 'b'-1);</a:t>
            </a:r>
            <a:endParaRPr lang="en-US" altLang="zh-CN" sz="2800" b="0"/>
          </a:p>
          <a:p>
            <a:pPr algn="just" eaLnBrk="1" hangingPunct="1">
              <a:lnSpc>
                <a:spcPct val="80000"/>
              </a:lnSpc>
              <a:buNone/>
            </a:pPr>
            <a:r>
              <a:rPr lang="en-US" altLang="zh-CN" sz="2800" b="0"/>
              <a:t>    </a:t>
            </a:r>
            <a:r>
              <a:rPr lang="en-US" altLang="zh-CN" sz="2800" b="0" err="1"/>
              <a:t>printf("%c</a:t>
            </a:r>
            <a:r>
              <a:rPr lang="en-US" altLang="zh-CN" sz="2800" b="0"/>
              <a:t>, %</a:t>
            </a:r>
            <a:r>
              <a:rPr lang="en-US" altLang="zh-CN" sz="2800" b="0" err="1"/>
              <a:t>d\n</a:t>
            </a:r>
            <a:r>
              <a:rPr lang="en-US" altLang="zh-CN" sz="2800" b="0"/>
              <a:t>", </a:t>
            </a:r>
            <a:r>
              <a:rPr lang="en-US" altLang="zh-CN" sz="2800" b="0" err="1"/>
              <a:t>ch</a:t>
            </a:r>
            <a:r>
              <a:rPr lang="en-US" altLang="zh-CN" sz="2800" b="0"/>
              <a:t> - 'a' + 'A', </a:t>
            </a:r>
            <a:r>
              <a:rPr lang="en-US" altLang="zh-CN" sz="2800" b="0" err="1">
                <a:solidFill>
                  <a:srgbClr val="CC0066"/>
                </a:solidFill>
              </a:rPr>
              <a:t>ch</a:t>
            </a:r>
            <a:r>
              <a:rPr lang="en-US" altLang="zh-CN" sz="2800" b="0">
                <a:solidFill>
                  <a:srgbClr val="CC0066"/>
                </a:solidFill>
              </a:rPr>
              <a:t> - 'a' + 'A'</a:t>
            </a:r>
            <a:r>
              <a:rPr lang="en-US" altLang="zh-CN" sz="2800" b="0"/>
              <a:t>); </a:t>
            </a:r>
            <a:endParaRPr lang="en-US" altLang="zh-CN" sz="2800" b="0"/>
          </a:p>
          <a:p>
            <a:pPr algn="just" eaLnBrk="1" hangingPunct="1">
              <a:lnSpc>
                <a:spcPct val="80000"/>
              </a:lnSpc>
              <a:buNone/>
            </a:pPr>
            <a:r>
              <a:rPr lang="en-US" altLang="zh-CN" sz="2800" b="0"/>
              <a:t>    return 0;</a:t>
            </a:r>
            <a:endParaRPr lang="en-US" altLang="zh-CN" sz="2800" b="0"/>
          </a:p>
          <a:p>
            <a:pPr algn="just" eaLnBrk="1" hangingPunct="1">
              <a:lnSpc>
                <a:spcPct val="80000"/>
              </a:lnSpc>
              <a:buNone/>
            </a:pPr>
            <a:r>
              <a:rPr lang="en-US" altLang="zh-CN" sz="2800" b="0"/>
              <a:t>}</a:t>
            </a:r>
            <a:endParaRPr lang="en-US" altLang="zh-CN" sz="2800" b="0"/>
          </a:p>
          <a:p>
            <a:pPr lvl="1" algn="just" eaLnBrk="1" hangingPunct="1">
              <a:lnSpc>
                <a:spcPct val="84000"/>
              </a:lnSpc>
              <a:buNone/>
            </a:pPr>
            <a:endParaRPr lang="en-US" altLang="zh-CN" sz="2400" b="0"/>
          </a:p>
        </p:txBody>
      </p:sp>
      <p:grpSp>
        <p:nvGrpSpPr>
          <p:cNvPr id="2" name="Group 15"/>
          <p:cNvGrpSpPr/>
          <p:nvPr/>
        </p:nvGrpSpPr>
        <p:grpSpPr>
          <a:xfrm>
            <a:off x="1981200" y="5257800"/>
            <a:ext cx="5562600" cy="822325"/>
            <a:chOff x="1248" y="3312"/>
            <a:chExt cx="3504" cy="518"/>
          </a:xfrm>
        </p:grpSpPr>
        <p:sp>
          <p:nvSpPr>
            <p:cNvPr id="49157" name="Line 6"/>
            <p:cNvSpPr/>
            <p:nvPr/>
          </p:nvSpPr>
          <p:spPr>
            <a:xfrm>
              <a:off x="1728" y="3456"/>
              <a:ext cx="624" cy="0"/>
            </a:xfrm>
            <a:prstGeom prst="line">
              <a:avLst/>
            </a:prstGeom>
            <a:ln w="38100" cap="sq" cmpd="sng">
              <a:solidFill>
                <a:srgbClr val="CC0066"/>
              </a:solidFill>
              <a:prstDash val="solid"/>
              <a:round/>
              <a:headEnd type="none" w="sm" len="sm"/>
              <a:tailEnd type="triangle" w="med" len="med"/>
            </a:ln>
          </p:spPr>
        </p:sp>
        <p:sp>
          <p:nvSpPr>
            <p:cNvPr id="49158" name="Line 7"/>
            <p:cNvSpPr/>
            <p:nvPr/>
          </p:nvSpPr>
          <p:spPr>
            <a:xfrm flipV="1">
              <a:off x="1728" y="3648"/>
              <a:ext cx="624" cy="0"/>
            </a:xfrm>
            <a:prstGeom prst="line">
              <a:avLst/>
            </a:prstGeom>
            <a:ln w="38100" cap="sq" cmpd="sng">
              <a:solidFill>
                <a:schemeClr val="bg2"/>
              </a:solidFill>
              <a:prstDash val="solid"/>
              <a:round/>
              <a:headEnd type="none" w="sm" len="sm"/>
              <a:tailEnd type="triangle" w="med" len="med"/>
            </a:ln>
          </p:spPr>
        </p:sp>
        <p:sp>
          <p:nvSpPr>
            <p:cNvPr id="49159" name="Text Box 8"/>
            <p:cNvSpPr txBox="1"/>
            <p:nvPr/>
          </p:nvSpPr>
          <p:spPr>
            <a:xfrm>
              <a:off x="2400" y="3408"/>
              <a:ext cx="1152" cy="288"/>
            </a:xfrm>
            <a:prstGeom prst="rect">
              <a:avLst/>
            </a:prstGeom>
            <a:solidFill>
              <a:schemeClr val="folHlink"/>
            </a:solidFill>
            <a:ln w="12700">
              <a:noFill/>
            </a:ln>
          </p:spPr>
          <p:txBody>
            <a:bodyPr anchor="t" anchorCtr="0">
              <a:spAutoFit/>
            </a:bodyPr>
            <a:p>
              <a:pPr algn="ctr" eaLnBrk="0" hangingPunct="0">
                <a:spcBef>
                  <a:spcPct val="50000"/>
                </a:spcBef>
              </a:pPr>
              <a:r>
                <a:rPr lang="zh-CN" altLang="en-US" sz="2400" b="1" dirty="0">
                  <a:latin typeface="Arial" panose="02080604020202020204" pitchFamily="34" charset="0"/>
                </a:rPr>
                <a:t>0110 0010</a:t>
              </a:r>
              <a:endParaRPr lang="zh-CN" altLang="en-US" sz="2400" b="1" dirty="0">
                <a:latin typeface="Arial" panose="02080604020202020204" pitchFamily="34" charset="0"/>
              </a:endParaRPr>
            </a:p>
          </p:txBody>
        </p:sp>
        <p:sp>
          <p:nvSpPr>
            <p:cNvPr id="49160" name="Text Box 9"/>
            <p:cNvSpPr txBox="1"/>
            <p:nvPr/>
          </p:nvSpPr>
          <p:spPr>
            <a:xfrm>
              <a:off x="1248" y="3312"/>
              <a:ext cx="528" cy="518"/>
            </a:xfrm>
            <a:prstGeom prst="rect">
              <a:avLst/>
            </a:prstGeom>
            <a:noFill/>
            <a:ln w="12700">
              <a:noFill/>
            </a:ln>
          </p:spPr>
          <p:txBody>
            <a:bodyPr anchor="t" anchorCtr="0">
              <a:spAutoFit/>
            </a:bodyPr>
            <a:p>
              <a:pPr algn="ctr" eaLnBrk="0" fontAlgn="ctr" hangingPunct="0"/>
              <a:r>
                <a:rPr lang="zh-CN" altLang="en-US" sz="2400" b="1" dirty="0">
                  <a:latin typeface="Arial" panose="02080604020202020204" pitchFamily="34" charset="0"/>
                </a:rPr>
                <a:t>'</a:t>
              </a:r>
              <a:r>
                <a:rPr lang="en-US" altLang="zh-CN" sz="2400" b="1">
                  <a:latin typeface="Arial" panose="02080604020202020204" pitchFamily="34" charset="0"/>
                </a:rPr>
                <a:t>b'</a:t>
              </a:r>
              <a:endParaRPr lang="en-US" altLang="zh-CN" sz="2400" b="1">
                <a:latin typeface="Arial" panose="02080604020202020204" pitchFamily="34" charset="0"/>
              </a:endParaRPr>
            </a:p>
            <a:p>
              <a:pPr algn="ctr" eaLnBrk="0" fontAlgn="ctr" hangingPunct="0"/>
              <a:r>
                <a:rPr lang="zh-CN" altLang="en-US" sz="2400" b="1" dirty="0">
                  <a:latin typeface="Arial" panose="02080604020202020204" pitchFamily="34" charset="0"/>
                </a:rPr>
                <a:t>98</a:t>
              </a:r>
              <a:endParaRPr lang="en-US" altLang="zh-CN" sz="2400" b="1">
                <a:latin typeface="Arial" panose="02080604020202020204" pitchFamily="34" charset="0"/>
              </a:endParaRPr>
            </a:p>
          </p:txBody>
        </p:sp>
        <p:sp>
          <p:nvSpPr>
            <p:cNvPr id="49161" name="Text Box 10"/>
            <p:cNvSpPr txBox="1"/>
            <p:nvPr/>
          </p:nvSpPr>
          <p:spPr>
            <a:xfrm>
              <a:off x="4224" y="3312"/>
              <a:ext cx="528" cy="518"/>
            </a:xfrm>
            <a:prstGeom prst="rect">
              <a:avLst/>
            </a:prstGeom>
            <a:noFill/>
            <a:ln w="12700">
              <a:noFill/>
            </a:ln>
          </p:spPr>
          <p:txBody>
            <a:bodyPr anchor="t" anchorCtr="0">
              <a:spAutoFit/>
            </a:bodyPr>
            <a:p>
              <a:pPr algn="ctr" eaLnBrk="0" fontAlgn="ctr" hangingPunct="0"/>
              <a:r>
                <a:rPr lang="zh-CN" altLang="en-US" sz="2400" b="1" dirty="0">
                  <a:latin typeface="Arial" panose="02080604020202020204" pitchFamily="34" charset="0"/>
                </a:rPr>
                <a:t>'</a:t>
              </a:r>
              <a:r>
                <a:rPr lang="en-US" altLang="zh-CN" sz="2400" b="1">
                  <a:latin typeface="Arial" panose="02080604020202020204" pitchFamily="34" charset="0"/>
                </a:rPr>
                <a:t>b'</a:t>
              </a:r>
              <a:endParaRPr lang="en-US" altLang="zh-CN" sz="2400" b="1">
                <a:latin typeface="Arial" panose="02080604020202020204" pitchFamily="34" charset="0"/>
              </a:endParaRPr>
            </a:p>
            <a:p>
              <a:pPr algn="ctr" eaLnBrk="0" fontAlgn="ctr" hangingPunct="0"/>
              <a:r>
                <a:rPr lang="zh-CN" altLang="en-US" sz="2400" b="1" dirty="0">
                  <a:latin typeface="Arial" panose="02080604020202020204" pitchFamily="34" charset="0"/>
                </a:rPr>
                <a:t>98</a:t>
              </a:r>
              <a:endParaRPr lang="en-US" altLang="zh-CN" sz="2400" b="1">
                <a:latin typeface="Arial" panose="02080604020202020204" pitchFamily="34" charset="0"/>
              </a:endParaRPr>
            </a:p>
          </p:txBody>
        </p:sp>
        <p:sp>
          <p:nvSpPr>
            <p:cNvPr id="49162" name="Line 11"/>
            <p:cNvSpPr/>
            <p:nvPr/>
          </p:nvSpPr>
          <p:spPr>
            <a:xfrm>
              <a:off x="3552" y="3456"/>
              <a:ext cx="624" cy="0"/>
            </a:xfrm>
            <a:prstGeom prst="line">
              <a:avLst/>
            </a:prstGeom>
            <a:ln w="38100" cap="sq" cmpd="sng">
              <a:solidFill>
                <a:srgbClr val="CC0066"/>
              </a:solidFill>
              <a:prstDash val="solid"/>
              <a:round/>
              <a:headEnd type="none" w="sm" len="sm"/>
              <a:tailEnd type="triangle" w="med" len="med"/>
            </a:ln>
          </p:spPr>
        </p:sp>
        <p:sp>
          <p:nvSpPr>
            <p:cNvPr id="49163" name="Line 12"/>
            <p:cNvSpPr/>
            <p:nvPr/>
          </p:nvSpPr>
          <p:spPr>
            <a:xfrm flipV="1">
              <a:off x="3552" y="3648"/>
              <a:ext cx="624" cy="0"/>
            </a:xfrm>
            <a:prstGeom prst="line">
              <a:avLst/>
            </a:prstGeom>
            <a:ln w="38100" cap="sq" cmpd="sng">
              <a:solidFill>
                <a:schemeClr val="bg2"/>
              </a:solidFill>
              <a:prstDash val="solid"/>
              <a:round/>
              <a:headEnd type="none" w="sm" len="sm"/>
              <a:tailEnd type="triangle" w="med" len="med"/>
            </a:ln>
          </p:spPr>
        </p:sp>
      </p:grpSp>
      <p:sp>
        <p:nvSpPr>
          <p:cNvPr id="361485" name="Rectangle 13"/>
          <p:cNvSpPr/>
          <p:nvPr/>
        </p:nvSpPr>
        <p:spPr>
          <a:xfrm>
            <a:off x="6659563" y="1700213"/>
            <a:ext cx="1295400" cy="2054225"/>
          </a:xfrm>
          <a:prstGeom prst="rect">
            <a:avLst/>
          </a:prstGeom>
          <a:noFill/>
          <a:ln w="12700" cap="flat" cmpd="sng">
            <a:solidFill>
              <a:schemeClr val="tx1"/>
            </a:solidFill>
            <a:prstDash val="sysDot"/>
            <a:miter/>
            <a:headEnd type="none" w="sm" len="sm"/>
            <a:tailEnd type="none" w="sm" len="sm"/>
          </a:ln>
        </p:spPr>
        <p:txBody>
          <a:bodyPr anchor="t" anchorCtr="0">
            <a:spAutoFit/>
          </a:bodyPr>
          <a:p>
            <a:pPr eaLnBrk="0" hangingPunct="0">
              <a:lnSpc>
                <a:spcPct val="114000"/>
              </a:lnSpc>
              <a:spcBef>
                <a:spcPts val="600"/>
              </a:spcBef>
            </a:pPr>
            <a:r>
              <a:rPr lang="en-US" altLang="zh-CN" sz="2800" b="1">
                <a:latin typeface="Arial" panose="02080604020202020204" pitchFamily="34" charset="0"/>
              </a:rPr>
              <a:t>b, 98</a:t>
            </a:r>
            <a:endParaRPr lang="en-US" altLang="zh-CN" sz="2800" b="1">
              <a:latin typeface="Arial" panose="02080604020202020204" pitchFamily="34" charset="0"/>
            </a:endParaRPr>
          </a:p>
          <a:p>
            <a:pPr eaLnBrk="0" hangingPunct="0">
              <a:lnSpc>
                <a:spcPct val="114000"/>
              </a:lnSpc>
            </a:pPr>
            <a:r>
              <a:rPr lang="en-US" altLang="zh-CN" sz="2800" b="1">
                <a:latin typeface="Arial" panose="02080604020202020204" pitchFamily="34" charset="0"/>
              </a:rPr>
              <a:t>b, 98</a:t>
            </a:r>
            <a:endParaRPr lang="en-US" altLang="zh-CN" sz="2800" b="1">
              <a:latin typeface="Arial" panose="02080604020202020204" pitchFamily="34" charset="0"/>
            </a:endParaRPr>
          </a:p>
          <a:p>
            <a:pPr eaLnBrk="0" hangingPunct="0">
              <a:lnSpc>
                <a:spcPct val="114000"/>
              </a:lnSpc>
            </a:pPr>
            <a:r>
              <a:rPr lang="en-US" altLang="zh-CN" sz="2800" b="1">
                <a:latin typeface="Arial" panose="02080604020202020204" pitchFamily="34" charset="0"/>
              </a:rPr>
              <a:t>a, 97</a:t>
            </a:r>
            <a:endParaRPr lang="en-US" altLang="zh-CN" sz="2800" b="1">
              <a:latin typeface="Arial" panose="02080604020202020204" pitchFamily="34" charset="0"/>
            </a:endParaRPr>
          </a:p>
          <a:p>
            <a:pPr eaLnBrk="0" hangingPunct="0">
              <a:lnSpc>
                <a:spcPct val="114000"/>
              </a:lnSpc>
            </a:pPr>
            <a:r>
              <a:rPr lang="en-US" altLang="zh-CN" sz="2800" b="1">
                <a:latin typeface="Arial" panose="02080604020202020204" pitchFamily="34" charset="0"/>
              </a:rPr>
              <a:t>B, 66</a:t>
            </a:r>
            <a:endParaRPr lang="en-US" altLang="zh-CN" sz="2800" b="1">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1485"/>
                                        </p:tgtEl>
                                        <p:attrNameLst>
                                          <p:attrName>style.visibility</p:attrName>
                                        </p:attrNameLst>
                                      </p:cBhvr>
                                      <p:to>
                                        <p:strVal val="visible"/>
                                      </p:to>
                                    </p:set>
                                    <p:anim calcmode="lin" valueType="num">
                                      <p:cBhvr additive="base">
                                        <p:cTn id="7" dur="500" fill="hold"/>
                                        <p:tgtEl>
                                          <p:spTgt spid="361485"/>
                                        </p:tgtEl>
                                        <p:attrNameLst>
                                          <p:attrName>ppt_x</p:attrName>
                                        </p:attrNameLst>
                                      </p:cBhvr>
                                      <p:tavLst>
                                        <p:tav tm="0">
                                          <p:val>
                                            <p:strVal val="0-#ppt_w/2"/>
                                          </p:val>
                                        </p:tav>
                                        <p:tav tm="100000">
                                          <p:val>
                                            <p:strVal val="#ppt_x"/>
                                          </p:val>
                                        </p:tav>
                                      </p:tavLst>
                                    </p:anim>
                                    <p:anim calcmode="lin" valueType="num">
                                      <p:cBhvr additive="base">
                                        <p:cTn id="8" dur="500" fill="hold"/>
                                        <p:tgtEl>
                                          <p:spTgt spid="36148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85"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idx="1"/>
          </p:nvPr>
        </p:nvSpPr>
        <p:spPr>
          <a:xfrm>
            <a:off x="179388" y="260350"/>
            <a:ext cx="7372350" cy="3200400"/>
          </a:xfrm>
        </p:spPr>
        <p:txBody>
          <a:bodyPr vert="horz" wrap="square" lIns="91440" tIns="45720" rIns="91440" bIns="45720" anchor="t" anchorCtr="0"/>
          <a:p>
            <a:pPr algn="just" eaLnBrk="1" hangingPunct="1">
              <a:lnSpc>
                <a:spcPct val="80000"/>
              </a:lnSpc>
              <a:buNone/>
            </a:pPr>
            <a:r>
              <a:rPr lang="en-US" altLang="zh-CN" sz="2400" b="0"/>
              <a:t># include &lt;</a:t>
            </a:r>
            <a:r>
              <a:rPr lang="en-US" altLang="zh-CN" sz="2400" b="0" err="1"/>
              <a:t>stdio.h</a:t>
            </a:r>
            <a:r>
              <a:rPr lang="en-US" altLang="zh-CN" sz="2400" b="0"/>
              <a:t>&gt;</a:t>
            </a:r>
            <a:endParaRPr lang="en-US" altLang="zh-CN" sz="2400" b="0"/>
          </a:p>
          <a:p>
            <a:pPr algn="just" eaLnBrk="1" hangingPunct="1">
              <a:lnSpc>
                <a:spcPct val="80000"/>
              </a:lnSpc>
              <a:buNone/>
            </a:pPr>
            <a:r>
              <a:rPr lang="en-US" altLang="zh-CN" sz="2400" b="0" err="1"/>
              <a:t>int</a:t>
            </a:r>
            <a:r>
              <a:rPr lang="en-US" altLang="zh-CN" sz="2400" b="0"/>
              <a:t> main( )</a:t>
            </a:r>
            <a:endParaRPr lang="en-US" altLang="zh-CN" sz="2400" b="0"/>
          </a:p>
          <a:p>
            <a:pPr algn="just" eaLnBrk="1" hangingPunct="1">
              <a:lnSpc>
                <a:spcPct val="80000"/>
              </a:lnSpc>
              <a:buNone/>
            </a:pPr>
            <a:r>
              <a:rPr lang="en-US" altLang="zh-CN" sz="2400" b="0"/>
              <a:t>{   char </a:t>
            </a:r>
            <a:r>
              <a:rPr lang="en-US" altLang="zh-CN" sz="2400" b="0" err="1"/>
              <a:t>ch</a:t>
            </a:r>
            <a:r>
              <a:rPr lang="en-US" altLang="zh-CN" sz="2400" b="0"/>
              <a:t>;</a:t>
            </a:r>
            <a:endParaRPr lang="en-US" altLang="zh-CN" sz="2400" b="0"/>
          </a:p>
          <a:p>
            <a:pPr algn="just" eaLnBrk="1" hangingPunct="1">
              <a:lnSpc>
                <a:spcPct val="80000"/>
              </a:lnSpc>
              <a:buNone/>
            </a:pPr>
            <a:endParaRPr lang="en-US" altLang="zh-CN" sz="2400" b="0"/>
          </a:p>
          <a:p>
            <a:pPr algn="just" eaLnBrk="1" hangingPunct="1">
              <a:lnSpc>
                <a:spcPct val="80000"/>
              </a:lnSpc>
              <a:buNone/>
            </a:pPr>
            <a:r>
              <a:rPr lang="en-US" altLang="zh-CN" sz="2400" b="0"/>
              <a:t>    </a:t>
            </a:r>
            <a:r>
              <a:rPr lang="en-US" altLang="zh-CN" sz="2400" b="0" err="1"/>
              <a:t>ch</a:t>
            </a:r>
            <a:r>
              <a:rPr lang="en-US" altLang="zh-CN" sz="2400" b="0"/>
              <a:t> = 'b';</a:t>
            </a:r>
            <a:endParaRPr lang="en-US" altLang="zh-CN" sz="2400" b="0"/>
          </a:p>
          <a:p>
            <a:pPr algn="just" eaLnBrk="1" hangingPunct="1">
              <a:lnSpc>
                <a:spcPct val="80000"/>
              </a:lnSpc>
              <a:buNone/>
            </a:pPr>
            <a:r>
              <a:rPr lang="en-US" altLang="zh-CN" sz="2400" b="0"/>
              <a:t>    </a:t>
            </a:r>
            <a:r>
              <a:rPr lang="en-US" altLang="zh-CN" sz="2400" b="0" err="1"/>
              <a:t>printf("%c</a:t>
            </a:r>
            <a:r>
              <a:rPr lang="en-US" altLang="zh-CN" sz="2400" b="0"/>
              <a:t>, %</a:t>
            </a:r>
            <a:r>
              <a:rPr lang="en-US" altLang="zh-CN" sz="2400" b="0" err="1"/>
              <a:t>d\n</a:t>
            </a:r>
            <a:r>
              <a:rPr lang="en-US" altLang="zh-CN" sz="2400" b="0"/>
              <a:t>", </a:t>
            </a:r>
            <a:r>
              <a:rPr lang="en-US" altLang="zh-CN" sz="2400" b="0" err="1"/>
              <a:t>ch</a:t>
            </a:r>
            <a:r>
              <a:rPr lang="en-US" altLang="zh-CN" sz="2400" b="0"/>
              <a:t>, </a:t>
            </a:r>
            <a:r>
              <a:rPr lang="en-US" altLang="zh-CN" sz="2400" b="0" err="1"/>
              <a:t>ch</a:t>
            </a:r>
            <a:r>
              <a:rPr lang="en-US" altLang="zh-CN" sz="2400" b="0"/>
              <a:t>);</a:t>
            </a:r>
            <a:endParaRPr lang="en-US" altLang="zh-CN" sz="2400" b="0"/>
          </a:p>
          <a:p>
            <a:pPr algn="just" eaLnBrk="1" hangingPunct="1">
              <a:lnSpc>
                <a:spcPct val="80000"/>
              </a:lnSpc>
              <a:buNone/>
            </a:pPr>
            <a:r>
              <a:rPr lang="en-US" altLang="zh-CN" sz="2400" b="0"/>
              <a:t>    return 0;</a:t>
            </a:r>
            <a:endParaRPr lang="en-US" altLang="zh-CN" sz="2400" b="0"/>
          </a:p>
          <a:p>
            <a:pPr algn="just" eaLnBrk="1" hangingPunct="1">
              <a:lnSpc>
                <a:spcPct val="80000"/>
              </a:lnSpc>
              <a:buNone/>
            </a:pPr>
            <a:r>
              <a:rPr lang="en-US" altLang="zh-CN" sz="2400" b="0"/>
              <a:t>}</a:t>
            </a:r>
            <a:endParaRPr lang="en-US" altLang="zh-CN" sz="2400" b="0"/>
          </a:p>
        </p:txBody>
      </p:sp>
      <p:grpSp>
        <p:nvGrpSpPr>
          <p:cNvPr id="50178" name="Group 18"/>
          <p:cNvGrpSpPr/>
          <p:nvPr/>
        </p:nvGrpSpPr>
        <p:grpSpPr>
          <a:xfrm>
            <a:off x="1676400" y="2895600"/>
            <a:ext cx="5791200" cy="1322388"/>
            <a:chOff x="1056" y="1824"/>
            <a:chExt cx="3648" cy="833"/>
          </a:xfrm>
        </p:grpSpPr>
        <p:sp>
          <p:nvSpPr>
            <p:cNvPr id="50179" name="Line 4"/>
            <p:cNvSpPr/>
            <p:nvPr/>
          </p:nvSpPr>
          <p:spPr>
            <a:xfrm>
              <a:off x="1680" y="2034"/>
              <a:ext cx="624" cy="174"/>
            </a:xfrm>
            <a:prstGeom prst="line">
              <a:avLst/>
            </a:prstGeom>
            <a:ln w="38100" cap="sq" cmpd="sng">
              <a:solidFill>
                <a:schemeClr val="bg2"/>
              </a:solidFill>
              <a:prstDash val="solid"/>
              <a:round/>
              <a:headEnd type="none" w="sm" len="sm"/>
              <a:tailEnd type="triangle" w="med" len="med"/>
            </a:ln>
          </p:spPr>
        </p:sp>
        <p:sp>
          <p:nvSpPr>
            <p:cNvPr id="50180" name="Line 5"/>
            <p:cNvSpPr/>
            <p:nvPr/>
          </p:nvSpPr>
          <p:spPr>
            <a:xfrm flipV="1">
              <a:off x="1728" y="2400"/>
              <a:ext cx="624" cy="0"/>
            </a:xfrm>
            <a:prstGeom prst="line">
              <a:avLst/>
            </a:prstGeom>
            <a:ln w="38100" cap="sq" cmpd="sng">
              <a:solidFill>
                <a:srgbClr val="CC0066"/>
              </a:solidFill>
              <a:prstDash val="solid"/>
              <a:round/>
              <a:headEnd type="none" w="sm" len="sm"/>
              <a:tailEnd type="triangle" w="med" len="med"/>
            </a:ln>
          </p:spPr>
        </p:sp>
        <p:sp>
          <p:nvSpPr>
            <p:cNvPr id="50181" name="Line 6"/>
            <p:cNvSpPr/>
            <p:nvPr/>
          </p:nvSpPr>
          <p:spPr>
            <a:xfrm flipV="1">
              <a:off x="3504" y="2016"/>
              <a:ext cx="576" cy="144"/>
            </a:xfrm>
            <a:prstGeom prst="line">
              <a:avLst/>
            </a:prstGeom>
            <a:ln w="38100" cap="sq" cmpd="sng">
              <a:solidFill>
                <a:schemeClr val="bg2"/>
              </a:solidFill>
              <a:prstDash val="solid"/>
              <a:round/>
              <a:headEnd type="none" w="sm" len="sm"/>
              <a:tailEnd type="triangle" w="med" len="med"/>
            </a:ln>
          </p:spPr>
        </p:sp>
        <p:sp>
          <p:nvSpPr>
            <p:cNvPr id="50182" name="Text Box 7"/>
            <p:cNvSpPr txBox="1"/>
            <p:nvPr/>
          </p:nvSpPr>
          <p:spPr>
            <a:xfrm>
              <a:off x="2352" y="2160"/>
              <a:ext cx="1152" cy="251"/>
            </a:xfrm>
            <a:prstGeom prst="rect">
              <a:avLst/>
            </a:prstGeom>
            <a:solidFill>
              <a:schemeClr val="folHlink"/>
            </a:solidFill>
            <a:ln w="12700">
              <a:noFill/>
            </a:ln>
          </p:spPr>
          <p:txBody>
            <a:bodyPr anchor="t" anchorCtr="0">
              <a:spAutoFit/>
            </a:bodyPr>
            <a:p>
              <a:pPr algn="ctr" eaLnBrk="0" hangingPunct="0">
                <a:spcBef>
                  <a:spcPct val="50000"/>
                </a:spcBef>
              </a:pPr>
              <a:r>
                <a:rPr lang="zh-CN" altLang="en-US" sz="2000" b="1" dirty="0">
                  <a:latin typeface="Arial" panose="02080604020202020204" pitchFamily="34" charset="0"/>
                </a:rPr>
                <a:t>0110 0010</a:t>
              </a:r>
              <a:endParaRPr lang="zh-CN" altLang="en-US" sz="2000" b="1" dirty="0">
                <a:latin typeface="Arial" panose="02080604020202020204" pitchFamily="34" charset="0"/>
              </a:endParaRPr>
            </a:p>
          </p:txBody>
        </p:sp>
        <p:sp>
          <p:nvSpPr>
            <p:cNvPr id="50183" name="Text Box 8"/>
            <p:cNvSpPr txBox="1"/>
            <p:nvPr/>
          </p:nvSpPr>
          <p:spPr>
            <a:xfrm>
              <a:off x="4224" y="1824"/>
              <a:ext cx="480" cy="833"/>
            </a:xfrm>
            <a:prstGeom prst="rect">
              <a:avLst/>
            </a:prstGeom>
            <a:noFill/>
            <a:ln w="12700">
              <a:noFill/>
            </a:ln>
          </p:spPr>
          <p:txBody>
            <a:bodyPr anchor="t" anchorCtr="0">
              <a:spAutoFit/>
            </a:bodyPr>
            <a:p>
              <a:pPr eaLnBrk="0" fontAlgn="ctr" hangingPunct="0"/>
              <a:r>
                <a:rPr lang="zh-CN" altLang="en-US" sz="2000" b="1" dirty="0">
                  <a:latin typeface="Arial" panose="02080604020202020204" pitchFamily="34" charset="0"/>
                </a:rPr>
                <a:t>'</a:t>
              </a:r>
              <a:r>
                <a:rPr lang="en-US" altLang="zh-CN" sz="2000" b="1">
                  <a:latin typeface="Arial" panose="02080604020202020204" pitchFamily="34" charset="0"/>
                </a:rPr>
                <a:t>b'</a:t>
              </a:r>
              <a:endParaRPr lang="en-US" altLang="zh-CN" sz="2000" b="1">
                <a:latin typeface="Arial" panose="02080604020202020204" pitchFamily="34" charset="0"/>
              </a:endParaRPr>
            </a:p>
            <a:p>
              <a:pPr eaLnBrk="0" fontAlgn="ctr" hangingPunct="0"/>
              <a:r>
                <a:rPr lang="zh-CN" altLang="en-US" sz="2000" b="1" dirty="0">
                  <a:latin typeface="Arial" panose="02080604020202020204" pitchFamily="34" charset="0"/>
                </a:rPr>
                <a:t>98</a:t>
              </a:r>
              <a:endParaRPr lang="en-US" altLang="zh-CN" sz="2000" b="1">
                <a:latin typeface="Arial" panose="02080604020202020204" pitchFamily="34" charset="0"/>
              </a:endParaRPr>
            </a:p>
            <a:p>
              <a:pPr eaLnBrk="0" fontAlgn="ctr" hangingPunct="0"/>
              <a:r>
                <a:rPr lang="zh-CN" altLang="en-US" sz="2000" b="1" dirty="0">
                  <a:latin typeface="Arial" panose="02080604020202020204" pitchFamily="34" charset="0"/>
                </a:rPr>
                <a:t>142</a:t>
              </a:r>
              <a:endParaRPr lang="zh-CN" altLang="en-US" sz="2000" b="1" dirty="0">
                <a:latin typeface="Arial" panose="02080604020202020204" pitchFamily="34" charset="0"/>
              </a:endParaRPr>
            </a:p>
            <a:p>
              <a:pPr eaLnBrk="0" fontAlgn="ctr" hangingPunct="0"/>
              <a:r>
                <a:rPr lang="en-US" altLang="zh-CN" sz="2000" b="1">
                  <a:latin typeface="Arial" panose="02080604020202020204" pitchFamily="34" charset="0"/>
                </a:rPr>
                <a:t>62</a:t>
              </a:r>
              <a:endParaRPr lang="en-US" altLang="zh-CN" sz="2000" b="1">
                <a:latin typeface="Arial" panose="02080604020202020204" pitchFamily="34" charset="0"/>
              </a:endParaRPr>
            </a:p>
          </p:txBody>
        </p:sp>
        <p:sp>
          <p:nvSpPr>
            <p:cNvPr id="50184" name="Line 9"/>
            <p:cNvSpPr/>
            <p:nvPr/>
          </p:nvSpPr>
          <p:spPr>
            <a:xfrm flipV="1">
              <a:off x="3504" y="2256"/>
              <a:ext cx="672" cy="0"/>
            </a:xfrm>
            <a:prstGeom prst="line">
              <a:avLst/>
            </a:prstGeom>
            <a:ln w="38100" cap="sq" cmpd="sng">
              <a:solidFill>
                <a:srgbClr val="CC0066"/>
              </a:solidFill>
              <a:prstDash val="solid"/>
              <a:round/>
              <a:headEnd type="none" w="sm" len="sm"/>
              <a:tailEnd type="triangle" w="med" len="med"/>
            </a:ln>
          </p:spPr>
        </p:sp>
        <p:sp>
          <p:nvSpPr>
            <p:cNvPr id="50185" name="Line 10"/>
            <p:cNvSpPr/>
            <p:nvPr/>
          </p:nvSpPr>
          <p:spPr>
            <a:xfrm>
              <a:off x="3504" y="2400"/>
              <a:ext cx="624" cy="192"/>
            </a:xfrm>
            <a:prstGeom prst="line">
              <a:avLst/>
            </a:prstGeom>
            <a:ln w="38100" cap="sq" cmpd="sng">
              <a:solidFill>
                <a:srgbClr val="CC0066"/>
              </a:solidFill>
              <a:prstDash val="solid"/>
              <a:round/>
              <a:headEnd type="none" w="sm" len="sm"/>
              <a:tailEnd type="triangle" w="med" len="med"/>
            </a:ln>
          </p:spPr>
        </p:sp>
        <p:sp>
          <p:nvSpPr>
            <p:cNvPr id="50186" name="Line 11"/>
            <p:cNvSpPr/>
            <p:nvPr/>
          </p:nvSpPr>
          <p:spPr>
            <a:xfrm flipV="1">
              <a:off x="3504" y="2352"/>
              <a:ext cx="672" cy="0"/>
            </a:xfrm>
            <a:prstGeom prst="line">
              <a:avLst/>
            </a:prstGeom>
            <a:ln w="38100" cap="sq" cmpd="sng">
              <a:solidFill>
                <a:srgbClr val="CC0066"/>
              </a:solidFill>
              <a:prstDash val="solid"/>
              <a:round/>
              <a:headEnd type="none" w="sm" len="sm"/>
              <a:tailEnd type="triangle" w="med" len="med"/>
            </a:ln>
          </p:spPr>
        </p:sp>
        <p:sp>
          <p:nvSpPr>
            <p:cNvPr id="50187" name="Text Box 12"/>
            <p:cNvSpPr txBox="1"/>
            <p:nvPr/>
          </p:nvSpPr>
          <p:spPr>
            <a:xfrm>
              <a:off x="1056" y="1824"/>
              <a:ext cx="576" cy="833"/>
            </a:xfrm>
            <a:prstGeom prst="rect">
              <a:avLst/>
            </a:prstGeom>
            <a:noFill/>
            <a:ln w="12700">
              <a:noFill/>
            </a:ln>
          </p:spPr>
          <p:txBody>
            <a:bodyPr anchor="t" anchorCtr="0">
              <a:spAutoFit/>
            </a:bodyPr>
            <a:p>
              <a:pPr algn="r" eaLnBrk="0" fontAlgn="ctr" hangingPunct="0"/>
              <a:r>
                <a:rPr lang="zh-CN" altLang="en-US" sz="2000" b="1" dirty="0">
                  <a:latin typeface="Arial" panose="02080604020202020204" pitchFamily="34" charset="0"/>
                </a:rPr>
                <a:t>'</a:t>
              </a:r>
              <a:r>
                <a:rPr lang="en-US" altLang="zh-CN" sz="2000" b="1">
                  <a:latin typeface="Arial" panose="02080604020202020204" pitchFamily="34" charset="0"/>
                </a:rPr>
                <a:t>b'</a:t>
              </a:r>
              <a:endParaRPr lang="en-US" altLang="zh-CN" sz="2000" b="1">
                <a:latin typeface="Arial" panose="02080604020202020204" pitchFamily="34" charset="0"/>
              </a:endParaRPr>
            </a:p>
            <a:p>
              <a:pPr algn="r" eaLnBrk="0" fontAlgn="ctr" hangingPunct="0"/>
              <a:r>
                <a:rPr lang="zh-CN" altLang="en-US" sz="2000" b="1" dirty="0">
                  <a:latin typeface="Arial" panose="02080604020202020204" pitchFamily="34" charset="0"/>
                </a:rPr>
                <a:t>98</a:t>
              </a:r>
              <a:endParaRPr lang="en-US" altLang="zh-CN" sz="2000" b="1">
                <a:latin typeface="Arial" panose="02080604020202020204" pitchFamily="34" charset="0"/>
              </a:endParaRPr>
            </a:p>
            <a:p>
              <a:pPr algn="r" eaLnBrk="0" fontAlgn="ctr" hangingPunct="0"/>
              <a:r>
                <a:rPr lang="zh-CN" altLang="en-US" sz="2000" b="1" dirty="0">
                  <a:latin typeface="Arial" panose="02080604020202020204" pitchFamily="34" charset="0"/>
                </a:rPr>
                <a:t>0142</a:t>
              </a:r>
              <a:endParaRPr lang="zh-CN" altLang="en-US" sz="2000" b="1" dirty="0">
                <a:latin typeface="Arial" panose="02080604020202020204" pitchFamily="34" charset="0"/>
              </a:endParaRPr>
            </a:p>
            <a:p>
              <a:pPr algn="r" eaLnBrk="0" fontAlgn="ctr" hangingPunct="0"/>
              <a:r>
                <a:rPr lang="en-US" altLang="zh-CN" sz="2000" b="1">
                  <a:latin typeface="Arial" panose="02080604020202020204" pitchFamily="34" charset="0"/>
                </a:rPr>
                <a:t>0x62</a:t>
              </a:r>
              <a:endParaRPr lang="en-US" altLang="zh-CN" sz="2000" b="1">
                <a:latin typeface="Arial" panose="02080604020202020204" pitchFamily="34" charset="0"/>
              </a:endParaRPr>
            </a:p>
          </p:txBody>
        </p:sp>
        <p:sp>
          <p:nvSpPr>
            <p:cNvPr id="50188" name="Line 13"/>
            <p:cNvSpPr/>
            <p:nvPr/>
          </p:nvSpPr>
          <p:spPr>
            <a:xfrm flipV="1">
              <a:off x="1728" y="2274"/>
              <a:ext cx="624" cy="0"/>
            </a:xfrm>
            <a:prstGeom prst="line">
              <a:avLst/>
            </a:prstGeom>
            <a:ln w="38100" cap="sq" cmpd="sng">
              <a:solidFill>
                <a:srgbClr val="CC0066"/>
              </a:solidFill>
              <a:prstDash val="solid"/>
              <a:round/>
              <a:headEnd type="none" w="sm" len="sm"/>
              <a:tailEnd type="triangle" w="med" len="med"/>
            </a:ln>
          </p:spPr>
        </p:sp>
        <p:sp>
          <p:nvSpPr>
            <p:cNvPr id="50189" name="Line 14"/>
            <p:cNvSpPr/>
            <p:nvPr/>
          </p:nvSpPr>
          <p:spPr>
            <a:xfrm flipV="1">
              <a:off x="1776" y="2466"/>
              <a:ext cx="576" cy="144"/>
            </a:xfrm>
            <a:prstGeom prst="line">
              <a:avLst/>
            </a:prstGeom>
            <a:ln w="38100" cap="sq" cmpd="sng">
              <a:solidFill>
                <a:srgbClr val="CC0066"/>
              </a:solidFill>
              <a:prstDash val="solid"/>
              <a:round/>
              <a:headEnd type="none" w="sm" len="sm"/>
              <a:tailEnd type="triangle" w="med" len="med"/>
            </a:ln>
          </p:spPr>
        </p:sp>
      </p:grpSp>
      <p:sp>
        <p:nvSpPr>
          <p:cNvPr id="362511" name="Text Box 15"/>
          <p:cNvSpPr txBox="1"/>
          <p:nvPr/>
        </p:nvSpPr>
        <p:spPr>
          <a:xfrm>
            <a:off x="6191250" y="4438650"/>
            <a:ext cx="1790700" cy="1630363"/>
          </a:xfrm>
          <a:prstGeom prst="rect">
            <a:avLst/>
          </a:prstGeom>
          <a:noFill/>
          <a:ln w="12700">
            <a:noFill/>
          </a:ln>
        </p:spPr>
        <p:txBody>
          <a:bodyPr wrap="square" anchor="t" anchorCtr="0">
            <a:spAutoFit/>
          </a:bodyPr>
          <a:p>
            <a:pPr eaLnBrk="0" fontAlgn="ctr" hangingPunct="0"/>
            <a:r>
              <a:rPr lang="en-US" altLang="zh-CN" sz="2000" b="1" err="1">
                <a:latin typeface="Arial" panose="02080604020202020204" pitchFamily="34" charset="0"/>
              </a:rPr>
              <a:t>printf</a:t>
            </a:r>
            <a:endParaRPr lang="en-US" altLang="zh-CN" sz="2000" b="1">
              <a:latin typeface="Arial" panose="02080604020202020204" pitchFamily="34" charset="0"/>
            </a:endParaRPr>
          </a:p>
          <a:p>
            <a:pPr eaLnBrk="0" fontAlgn="ctr" hangingPunct="0"/>
            <a:r>
              <a:rPr lang="zh-CN" altLang="en-US" sz="2000" b="1" dirty="0">
                <a:latin typeface="Arial" panose="02080604020202020204" pitchFamily="34" charset="0"/>
              </a:rPr>
              <a:t>'</a:t>
            </a:r>
            <a:r>
              <a:rPr lang="en-US" altLang="zh-CN" sz="2000" b="1">
                <a:latin typeface="Arial" panose="02080604020202020204" pitchFamily="34" charset="0"/>
              </a:rPr>
              <a:t>b'     %c </a:t>
            </a:r>
            <a:endParaRPr lang="en-US" altLang="zh-CN" sz="2000" b="1">
              <a:latin typeface="Arial" panose="02080604020202020204" pitchFamily="34" charset="0"/>
            </a:endParaRPr>
          </a:p>
          <a:p>
            <a:pPr eaLnBrk="0" fontAlgn="ctr" hangingPunct="0"/>
            <a:r>
              <a:rPr lang="zh-CN" altLang="en-US" sz="2000" b="1" dirty="0">
                <a:latin typeface="Arial" panose="02080604020202020204" pitchFamily="34" charset="0"/>
              </a:rPr>
              <a:t>98    %</a:t>
            </a:r>
            <a:r>
              <a:rPr lang="en-US" altLang="zh-CN" sz="2000" b="1">
                <a:latin typeface="Arial" panose="02080604020202020204" pitchFamily="34" charset="0"/>
              </a:rPr>
              <a:t>d</a:t>
            </a:r>
            <a:endParaRPr lang="en-US" altLang="zh-CN" sz="2000" b="1">
              <a:latin typeface="Arial" panose="02080604020202020204" pitchFamily="34" charset="0"/>
            </a:endParaRPr>
          </a:p>
          <a:p>
            <a:pPr eaLnBrk="0" fontAlgn="ctr" hangingPunct="0"/>
            <a:r>
              <a:rPr lang="zh-CN" altLang="en-US" sz="2000" b="1" dirty="0">
                <a:latin typeface="Arial" panose="02080604020202020204" pitchFamily="34" charset="0"/>
              </a:rPr>
              <a:t>142  %</a:t>
            </a:r>
            <a:r>
              <a:rPr lang="en-US" altLang="zh-CN" sz="2000" b="1">
                <a:latin typeface="Arial" panose="02080604020202020204" pitchFamily="34" charset="0"/>
              </a:rPr>
              <a:t>o</a:t>
            </a:r>
            <a:endParaRPr lang="en-US" altLang="zh-CN" sz="2000" b="1">
              <a:latin typeface="Arial" panose="02080604020202020204" pitchFamily="34" charset="0"/>
            </a:endParaRPr>
          </a:p>
          <a:p>
            <a:pPr eaLnBrk="0" fontAlgn="ctr" hangingPunct="0"/>
            <a:r>
              <a:rPr lang="en-US" altLang="zh-CN" sz="2000" b="1">
                <a:latin typeface="Arial" panose="02080604020202020204" pitchFamily="34" charset="0"/>
              </a:rPr>
              <a:t>62    %x</a:t>
            </a:r>
            <a:endParaRPr lang="en-US" altLang="zh-CN" sz="2000" b="1">
              <a:latin typeface="Arial" panose="02080604020202020204" pitchFamily="34" charset="0"/>
            </a:endParaRPr>
          </a:p>
        </p:txBody>
      </p:sp>
      <p:sp>
        <p:nvSpPr>
          <p:cNvPr id="362512" name="Text Box 16"/>
          <p:cNvSpPr txBox="1"/>
          <p:nvPr/>
        </p:nvSpPr>
        <p:spPr>
          <a:xfrm>
            <a:off x="1260475" y="4438650"/>
            <a:ext cx="1895475" cy="1692275"/>
          </a:xfrm>
          <a:prstGeom prst="rect">
            <a:avLst/>
          </a:prstGeom>
          <a:noFill/>
          <a:ln w="12700">
            <a:noFill/>
          </a:ln>
        </p:spPr>
        <p:txBody>
          <a:bodyPr wrap="square" anchor="t" anchorCtr="0">
            <a:spAutoFit/>
          </a:bodyPr>
          <a:p>
            <a:pPr eaLnBrk="0" fontAlgn="ctr" hangingPunct="0"/>
            <a:r>
              <a:rPr lang="en-US" altLang="zh-CN" sz="2400" b="1">
                <a:latin typeface="Arial" panose="02080604020202020204" pitchFamily="34" charset="0"/>
              </a:rPr>
              <a:t>       </a:t>
            </a:r>
            <a:r>
              <a:rPr lang="en-US" altLang="zh-CN" sz="2000" b="1" err="1">
                <a:latin typeface="Arial" panose="02080604020202020204" pitchFamily="34" charset="0"/>
              </a:rPr>
              <a:t>scanf</a:t>
            </a:r>
            <a:endParaRPr lang="en-US" altLang="zh-CN" sz="2000" b="1">
              <a:latin typeface="Arial" panose="02080604020202020204" pitchFamily="34" charset="0"/>
            </a:endParaRPr>
          </a:p>
          <a:p>
            <a:pPr eaLnBrk="0" fontAlgn="ctr" hangingPunct="0"/>
            <a:r>
              <a:rPr lang="zh-CN" altLang="en-US" sz="2000" b="1" dirty="0">
                <a:latin typeface="Arial" panose="02080604020202020204" pitchFamily="34" charset="0"/>
              </a:rPr>
              <a:t>'</a:t>
            </a:r>
            <a:r>
              <a:rPr lang="en-US" altLang="zh-CN" sz="2000" b="1">
                <a:latin typeface="Arial" panose="02080604020202020204" pitchFamily="34" charset="0"/>
              </a:rPr>
              <a:t>b'     %c     </a:t>
            </a:r>
            <a:endParaRPr lang="en-US" altLang="zh-CN" sz="2000" b="1">
              <a:latin typeface="Arial" panose="02080604020202020204" pitchFamily="34" charset="0"/>
            </a:endParaRPr>
          </a:p>
          <a:p>
            <a:pPr eaLnBrk="0" fontAlgn="ctr" hangingPunct="0"/>
            <a:r>
              <a:rPr lang="zh-CN" altLang="en-US" sz="2000" b="1" dirty="0">
                <a:latin typeface="Arial" panose="02080604020202020204" pitchFamily="34" charset="0"/>
              </a:rPr>
              <a:t>98    %</a:t>
            </a:r>
            <a:r>
              <a:rPr lang="en-US" altLang="zh-CN" sz="2000" b="1">
                <a:latin typeface="Arial" panose="02080604020202020204" pitchFamily="34" charset="0"/>
              </a:rPr>
              <a:t>d</a:t>
            </a:r>
            <a:endParaRPr lang="en-US" altLang="zh-CN" sz="2000" b="1">
              <a:latin typeface="Arial" panose="02080604020202020204" pitchFamily="34" charset="0"/>
            </a:endParaRPr>
          </a:p>
          <a:p>
            <a:pPr eaLnBrk="0" fontAlgn="ctr" hangingPunct="0"/>
            <a:r>
              <a:rPr lang="zh-CN" altLang="en-US" sz="2000" b="1" dirty="0">
                <a:latin typeface="Arial" panose="02080604020202020204" pitchFamily="34" charset="0"/>
              </a:rPr>
              <a:t>142  %</a:t>
            </a:r>
            <a:r>
              <a:rPr lang="en-US" altLang="zh-CN" sz="2000" b="1">
                <a:latin typeface="Arial" panose="02080604020202020204" pitchFamily="34" charset="0"/>
              </a:rPr>
              <a:t>o</a:t>
            </a:r>
            <a:endParaRPr lang="en-US" altLang="zh-CN" sz="2000" b="1">
              <a:latin typeface="Arial" panose="02080604020202020204" pitchFamily="34" charset="0"/>
            </a:endParaRPr>
          </a:p>
          <a:p>
            <a:pPr eaLnBrk="0" fontAlgn="ctr" hangingPunct="0"/>
            <a:r>
              <a:rPr lang="en-US" altLang="zh-CN" sz="2000" b="1">
                <a:latin typeface="Arial" panose="02080604020202020204" pitchFamily="34" charset="0"/>
              </a:rPr>
              <a:t>62    %x</a:t>
            </a:r>
            <a:endParaRPr lang="en-US" altLang="zh-CN" sz="2000" b="1">
              <a:latin typeface="Arial" panose="02080604020202020204" pitchFamily="34" charset="0"/>
            </a:endParaRPr>
          </a:p>
        </p:txBody>
      </p:sp>
      <p:sp>
        <p:nvSpPr>
          <p:cNvPr id="362513" name="Rectangle 17"/>
          <p:cNvSpPr/>
          <p:nvPr/>
        </p:nvSpPr>
        <p:spPr>
          <a:xfrm>
            <a:off x="539750" y="1628775"/>
            <a:ext cx="2879725" cy="457200"/>
          </a:xfrm>
          <a:prstGeom prst="rect">
            <a:avLst/>
          </a:prstGeom>
          <a:solidFill>
            <a:schemeClr val="folHlink"/>
          </a:solidFill>
          <a:ln w="9525">
            <a:noFill/>
          </a:ln>
        </p:spPr>
        <p:txBody>
          <a:bodyPr lIns="92075" tIns="46038" rIns="92075" bIns="46038" anchor="t" anchorCtr="0"/>
          <a:p>
            <a:pPr marL="342900" indent="-342900" algn="just">
              <a:lnSpc>
                <a:spcPct val="84000"/>
              </a:lnSpc>
              <a:spcBef>
                <a:spcPct val="20000"/>
              </a:spcBef>
              <a:buClr>
                <a:schemeClr val="bg2"/>
              </a:buClr>
              <a:buSzPct val="75000"/>
              <a:buFont typeface="Wingdings" panose="05000000000000000000" pitchFamily="2" charset="2"/>
            </a:pPr>
            <a:r>
              <a:rPr lang="en-US" altLang="zh-CN" sz="2000" b="1" err="1">
                <a:latin typeface="Arial" panose="02080604020202020204" pitchFamily="34" charset="0"/>
              </a:rPr>
              <a:t>scanf("%c</a:t>
            </a:r>
            <a:r>
              <a:rPr lang="en-US" altLang="zh-CN" sz="2000" b="1">
                <a:latin typeface="Arial" panose="02080604020202020204" pitchFamily="34" charset="0"/>
              </a:rPr>
              <a:t>", &amp;</a:t>
            </a:r>
            <a:r>
              <a:rPr lang="en-US" altLang="zh-CN" sz="2000" b="1" err="1">
                <a:latin typeface="Arial" panose="02080604020202020204" pitchFamily="34" charset="0"/>
              </a:rPr>
              <a:t>ch</a:t>
            </a:r>
            <a:r>
              <a:rPr lang="en-US" altLang="zh-CN" sz="2000" b="1">
                <a:latin typeface="Arial" panose="02080604020202020204" pitchFamily="34" charset="0"/>
              </a:rPr>
              <a:t>);</a:t>
            </a:r>
            <a:endParaRPr lang="zh-CN" altLang="zh-CN" sz="2000" b="1" dirty="0">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2513"/>
                                        </p:tgtEl>
                                        <p:attrNameLst>
                                          <p:attrName>style.visibility</p:attrName>
                                        </p:attrNameLst>
                                      </p:cBhvr>
                                      <p:to>
                                        <p:strVal val="visible"/>
                                      </p:to>
                                    </p:set>
                                    <p:anim calcmode="lin" valueType="num">
                                      <p:cBhvr additive="base">
                                        <p:cTn id="7" dur="500" fill="hold"/>
                                        <p:tgtEl>
                                          <p:spTgt spid="362513"/>
                                        </p:tgtEl>
                                        <p:attrNameLst>
                                          <p:attrName>ppt_x</p:attrName>
                                        </p:attrNameLst>
                                      </p:cBhvr>
                                      <p:tavLst>
                                        <p:tav tm="0">
                                          <p:val>
                                            <p:strVal val="0-#ppt_w/2"/>
                                          </p:val>
                                        </p:tav>
                                        <p:tav tm="100000">
                                          <p:val>
                                            <p:strVal val="#ppt_x"/>
                                          </p:val>
                                        </p:tav>
                                      </p:tavLst>
                                    </p:anim>
                                    <p:anim calcmode="lin" valueType="num">
                                      <p:cBhvr additive="base">
                                        <p:cTn id="8" dur="500" fill="hold"/>
                                        <p:tgtEl>
                                          <p:spTgt spid="3625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2512"/>
                                        </p:tgtEl>
                                        <p:attrNameLst>
                                          <p:attrName>style.visibility</p:attrName>
                                        </p:attrNameLst>
                                      </p:cBhvr>
                                      <p:to>
                                        <p:strVal val="visible"/>
                                      </p:to>
                                    </p:set>
                                    <p:anim calcmode="lin" valueType="num">
                                      <p:cBhvr additive="base">
                                        <p:cTn id="13" dur="500" fill="hold"/>
                                        <p:tgtEl>
                                          <p:spTgt spid="362512"/>
                                        </p:tgtEl>
                                        <p:attrNameLst>
                                          <p:attrName>ppt_x</p:attrName>
                                        </p:attrNameLst>
                                      </p:cBhvr>
                                      <p:tavLst>
                                        <p:tav tm="0">
                                          <p:val>
                                            <p:strVal val="0-#ppt_w/2"/>
                                          </p:val>
                                        </p:tav>
                                        <p:tav tm="100000">
                                          <p:val>
                                            <p:strVal val="#ppt_x"/>
                                          </p:val>
                                        </p:tav>
                                      </p:tavLst>
                                    </p:anim>
                                    <p:anim calcmode="lin" valueType="num">
                                      <p:cBhvr additive="base">
                                        <p:cTn id="14" dur="500" fill="hold"/>
                                        <p:tgtEl>
                                          <p:spTgt spid="3625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2511"/>
                                        </p:tgtEl>
                                        <p:attrNameLst>
                                          <p:attrName>style.visibility</p:attrName>
                                        </p:attrNameLst>
                                      </p:cBhvr>
                                      <p:to>
                                        <p:strVal val="visible"/>
                                      </p:to>
                                    </p:set>
                                    <p:anim calcmode="lin" valueType="num">
                                      <p:cBhvr additive="base">
                                        <p:cTn id="19" dur="500" fill="hold"/>
                                        <p:tgtEl>
                                          <p:spTgt spid="362511"/>
                                        </p:tgtEl>
                                        <p:attrNameLst>
                                          <p:attrName>ppt_x</p:attrName>
                                        </p:attrNameLst>
                                      </p:cBhvr>
                                      <p:tavLst>
                                        <p:tav tm="0">
                                          <p:val>
                                            <p:strVal val="0-#ppt_w/2"/>
                                          </p:val>
                                        </p:tav>
                                        <p:tav tm="100000">
                                          <p:val>
                                            <p:strVal val="#ppt_x"/>
                                          </p:val>
                                        </p:tav>
                                      </p:tavLst>
                                    </p:anim>
                                    <p:anim calcmode="lin" valueType="num">
                                      <p:cBhvr additive="base">
                                        <p:cTn id="20" dur="500" fill="hold"/>
                                        <p:tgtEl>
                                          <p:spTgt spid="3625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11" grpId="0"/>
      <p:bldP spid="362512" grpId="0"/>
      <p:bldP spid="362513"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5435600" y="549275"/>
            <a:ext cx="2879725" cy="93662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字符运算</a:t>
            </a:r>
            <a:endParaRPr lang="zh-CN" altLang="en-US" b="0" dirty="0">
              <a:sym typeface="+mn-ea"/>
            </a:endParaRPr>
          </a:p>
        </p:txBody>
      </p:sp>
      <p:sp>
        <p:nvSpPr>
          <p:cNvPr id="363523" name="Rectangle 3"/>
          <p:cNvSpPr>
            <a:spLocks noGrp="1"/>
          </p:cNvSpPr>
          <p:nvPr>
            <p:ph idx="1"/>
          </p:nvPr>
        </p:nvSpPr>
        <p:spPr>
          <a:xfrm>
            <a:off x="395288" y="765175"/>
            <a:ext cx="4248150" cy="2514600"/>
          </a:xfrm>
        </p:spPr>
        <p:txBody>
          <a:bodyPr vert="horz" wrap="square" lIns="91440" tIns="45720" rIns="91440" bIns="45720" anchor="t" anchorCtr="0"/>
          <a:p>
            <a:pPr eaLnBrk="1" hangingPunct="1">
              <a:lnSpc>
                <a:spcPct val="105000"/>
              </a:lnSpc>
            </a:pPr>
            <a:r>
              <a:rPr lang="zh-CN" altLang="en-US" sz="2800" b="0" dirty="0">
                <a:latin typeface="宋体" pitchFamily="2" charset="-122"/>
              </a:rPr>
              <a:t>大小写英文字母转换 </a:t>
            </a:r>
            <a:endParaRPr lang="zh-CN" altLang="en-US" sz="2800" b="0" dirty="0">
              <a:latin typeface="宋体" pitchFamily="2" charset="-122"/>
            </a:endParaRPr>
          </a:p>
          <a:p>
            <a:pPr lvl="1" eaLnBrk="1" hangingPunct="1">
              <a:lnSpc>
                <a:spcPct val="85000"/>
              </a:lnSpc>
              <a:buNone/>
            </a:pPr>
            <a:r>
              <a:rPr lang="en-US" altLang="zh-CN" sz="2400" b="0"/>
              <a:t>'b' - 'a' = 'B' - 'A' </a:t>
            </a:r>
            <a:endParaRPr lang="en-US" altLang="zh-CN" sz="2400" b="0"/>
          </a:p>
          <a:p>
            <a:pPr lvl="1" eaLnBrk="1" hangingPunct="1">
              <a:lnSpc>
                <a:spcPct val="85000"/>
              </a:lnSpc>
              <a:buNone/>
            </a:pPr>
            <a:r>
              <a:rPr lang="en-US" altLang="zh-CN" sz="2400" b="0"/>
              <a:t>…… </a:t>
            </a:r>
            <a:endParaRPr lang="en-US" altLang="zh-CN" sz="2400" b="0"/>
          </a:p>
          <a:p>
            <a:pPr lvl="1" eaLnBrk="1" hangingPunct="1">
              <a:lnSpc>
                <a:spcPct val="85000"/>
              </a:lnSpc>
              <a:buNone/>
            </a:pPr>
            <a:r>
              <a:rPr lang="en-US" altLang="zh-CN" sz="2400" b="0"/>
              <a:t>'z' - 'a' = 'Z' - 'A' </a:t>
            </a:r>
            <a:endParaRPr lang="en-US" altLang="zh-CN" sz="2400" b="0"/>
          </a:p>
          <a:p>
            <a:pPr lvl="1" eaLnBrk="1" hangingPunct="1">
              <a:lnSpc>
                <a:spcPct val="85000"/>
              </a:lnSpc>
              <a:buNone/>
            </a:pPr>
            <a:endParaRPr lang="zh-CN" altLang="en-US" sz="2400" b="0" dirty="0"/>
          </a:p>
          <a:p>
            <a:pPr lvl="1" eaLnBrk="1" hangingPunct="1">
              <a:lnSpc>
                <a:spcPct val="85000"/>
              </a:lnSpc>
              <a:buNone/>
            </a:pPr>
            <a:r>
              <a:rPr lang="en-US" altLang="zh-CN" sz="2400" b="0"/>
              <a:t>'m'  </a:t>
            </a:r>
            <a:r>
              <a:rPr lang="en-US" altLang="zh-CN" sz="2400" b="0">
                <a:sym typeface="Wingdings" panose="05000000000000000000" pitchFamily="2" charset="2"/>
              </a:rPr>
              <a:t> </a:t>
            </a:r>
            <a:r>
              <a:rPr lang="en-US" altLang="zh-CN" sz="2400" b="0"/>
              <a:t> 'M' </a:t>
            </a:r>
            <a:endParaRPr lang="zh-CN" altLang="en-US" sz="2400" b="0" dirty="0"/>
          </a:p>
        </p:txBody>
      </p:sp>
      <p:sp>
        <p:nvSpPr>
          <p:cNvPr id="51204" name="Rectangle 4"/>
          <p:cNvSpPr/>
          <p:nvPr/>
        </p:nvSpPr>
        <p:spPr>
          <a:xfrm>
            <a:off x="381000" y="3733800"/>
            <a:ext cx="3543300" cy="2133600"/>
          </a:xfrm>
          <a:prstGeom prst="rect">
            <a:avLst/>
          </a:prstGeom>
          <a:noFill/>
          <a:ln w="9525">
            <a:noFill/>
          </a:ln>
        </p:spPr>
        <p:txBody>
          <a:bodyPr lIns="92075" tIns="46038" rIns="92075" bIns="46038" anchor="t" anchorCtr="0"/>
          <a:p>
            <a:pPr marL="342900" indent="-342900">
              <a:lnSpc>
                <a:spcPct val="105000"/>
              </a:lnSpc>
              <a:spcBef>
                <a:spcPct val="20000"/>
              </a:spcBef>
              <a:buClr>
                <a:srgbClr val="33CCCC"/>
              </a:buClr>
              <a:buSzPct val="80000"/>
              <a:buFont typeface="Wingdings" panose="05000000000000000000" pitchFamily="2" charset="2"/>
              <a:buChar char="l"/>
            </a:pPr>
            <a:endParaRPr lang="zh-CN" altLang="en-US" sz="2800" b="1" dirty="0">
              <a:latin typeface="宋体" pitchFamily="2" charset="-122"/>
            </a:endParaRPr>
          </a:p>
        </p:txBody>
      </p:sp>
      <p:sp>
        <p:nvSpPr>
          <p:cNvPr id="363525" name="Rectangle 5"/>
          <p:cNvSpPr/>
          <p:nvPr/>
        </p:nvSpPr>
        <p:spPr>
          <a:xfrm>
            <a:off x="3492500" y="2636838"/>
            <a:ext cx="1550988" cy="914400"/>
          </a:xfrm>
          <a:prstGeom prst="rect">
            <a:avLst/>
          </a:prstGeom>
          <a:solidFill>
            <a:schemeClr val="folHlink"/>
          </a:solidFill>
          <a:ln w="9525">
            <a:noFill/>
          </a:ln>
        </p:spPr>
        <p:txBody>
          <a:bodyPr lIns="92075" tIns="46038" rIns="92075" bIns="46038" anchor="t" anchorCtr="0"/>
          <a:p>
            <a:pPr marL="342900" indent="-342900">
              <a:lnSpc>
                <a:spcPct val="80000"/>
              </a:lnSpc>
              <a:spcBef>
                <a:spcPct val="20000"/>
              </a:spcBef>
              <a:buClr>
                <a:schemeClr val="bg2"/>
              </a:buClr>
              <a:buSzPct val="75000"/>
              <a:buFont typeface="Wingdings" panose="05000000000000000000" pitchFamily="2" charset="2"/>
            </a:pPr>
            <a:r>
              <a:rPr lang="en-US" altLang="zh-CN" sz="2800">
                <a:latin typeface="Arial" panose="02080604020202020204" pitchFamily="34" charset="0"/>
              </a:rPr>
              <a:t>'a'-'A'</a:t>
            </a:r>
            <a:endParaRPr lang="en-US" altLang="zh-CN" sz="2800">
              <a:latin typeface="Arial" panose="02080604020202020204" pitchFamily="34" charset="0"/>
            </a:endParaRPr>
          </a:p>
          <a:p>
            <a:pPr marL="342900" indent="-342900">
              <a:lnSpc>
                <a:spcPct val="80000"/>
              </a:lnSpc>
              <a:spcBef>
                <a:spcPct val="20000"/>
              </a:spcBef>
              <a:buClr>
                <a:schemeClr val="bg2"/>
              </a:buClr>
              <a:buSzPct val="75000"/>
              <a:buFont typeface="Wingdings" panose="05000000000000000000" pitchFamily="2" charset="2"/>
            </a:pPr>
            <a:r>
              <a:rPr lang="en-US" altLang="zh-CN" sz="2800">
                <a:latin typeface="Arial" panose="02080604020202020204" pitchFamily="34" charset="0"/>
              </a:rPr>
              <a:t>'A'-'a'</a:t>
            </a:r>
            <a:endParaRPr lang="zh-CN" altLang="zh-CN" sz="2800" dirty="0">
              <a:latin typeface="Arial" panose="02080604020202020204" pitchFamily="34" charset="0"/>
            </a:endParaRPr>
          </a:p>
        </p:txBody>
      </p:sp>
      <p:sp>
        <p:nvSpPr>
          <p:cNvPr id="363526" name="Rectangle 6"/>
          <p:cNvSpPr/>
          <p:nvPr/>
        </p:nvSpPr>
        <p:spPr>
          <a:xfrm>
            <a:off x="3995738" y="5589588"/>
            <a:ext cx="1012825" cy="381000"/>
          </a:xfrm>
          <a:prstGeom prst="rect">
            <a:avLst/>
          </a:prstGeom>
          <a:solidFill>
            <a:schemeClr val="folHlink"/>
          </a:solidFill>
          <a:ln w="9525">
            <a:noFill/>
          </a:ln>
        </p:spPr>
        <p:txBody>
          <a:bodyPr lIns="92075" tIns="46038" rIns="92075" bIns="46038" anchor="t" anchorCtr="0"/>
          <a:p>
            <a:pPr marL="342900" indent="-342900">
              <a:lnSpc>
                <a:spcPct val="80000"/>
              </a:lnSpc>
              <a:spcBef>
                <a:spcPct val="20000"/>
              </a:spcBef>
              <a:buClr>
                <a:schemeClr val="bg2"/>
              </a:buClr>
              <a:buSzPct val="75000"/>
              <a:buFont typeface="Wingdings" panose="05000000000000000000" pitchFamily="2" charset="2"/>
            </a:pPr>
            <a:r>
              <a:rPr lang="en-US" altLang="zh-CN" sz="2800">
                <a:latin typeface="Arial" panose="02080604020202020204" pitchFamily="34" charset="0"/>
              </a:rPr>
              <a:t>'0'</a:t>
            </a:r>
            <a:endParaRPr lang="en-US" altLang="zh-CN" sz="2800" dirty="0">
              <a:latin typeface="Arial" panose="02080604020202020204" pitchFamily="34" charset="0"/>
            </a:endParaRPr>
          </a:p>
        </p:txBody>
      </p:sp>
      <p:sp>
        <p:nvSpPr>
          <p:cNvPr id="363527" name="Rectangle 7"/>
          <p:cNvSpPr/>
          <p:nvPr/>
        </p:nvSpPr>
        <p:spPr>
          <a:xfrm>
            <a:off x="5148263" y="2708275"/>
            <a:ext cx="3698875" cy="973138"/>
          </a:xfrm>
          <a:prstGeom prst="rect">
            <a:avLst/>
          </a:prstGeom>
          <a:noFill/>
          <a:ln w="9525">
            <a:noFill/>
          </a:ln>
        </p:spPr>
        <p:txBody>
          <a:bodyPr lIns="92075" tIns="46038" rIns="92075" bIns="46038" anchor="t" anchorCtr="0"/>
          <a:p>
            <a:pPr marL="342900" indent="-342900">
              <a:lnSpc>
                <a:spcPct val="105000"/>
              </a:lnSpc>
              <a:spcBef>
                <a:spcPct val="20000"/>
              </a:spcBef>
              <a:buClr>
                <a:srgbClr val="33CCCC"/>
              </a:buClr>
              <a:buSzPct val="80000"/>
              <a:buFont typeface="Wingdings" panose="05000000000000000000" pitchFamily="2" charset="2"/>
              <a:buChar char="l"/>
            </a:pPr>
            <a:r>
              <a:rPr lang="en-US" altLang="zh-CN" sz="2400">
                <a:latin typeface="Arial" panose="02080604020202020204" pitchFamily="34" charset="0"/>
                <a:ea typeface="华文仿宋" pitchFamily="2" charset="-122"/>
              </a:rPr>
              <a:t>'m' - 'a' + 'A' = 'M'</a:t>
            </a:r>
            <a:endParaRPr lang="en-US" altLang="zh-CN" sz="2400">
              <a:latin typeface="Arial" panose="02080604020202020204" pitchFamily="34" charset="0"/>
              <a:ea typeface="华文仿宋" pitchFamily="2" charset="-122"/>
            </a:endParaRPr>
          </a:p>
          <a:p>
            <a:pPr marL="342900" indent="-342900">
              <a:lnSpc>
                <a:spcPct val="105000"/>
              </a:lnSpc>
              <a:spcBef>
                <a:spcPct val="20000"/>
              </a:spcBef>
              <a:buClr>
                <a:srgbClr val="33CCCC"/>
              </a:buClr>
              <a:buSzPct val="80000"/>
              <a:buFont typeface="Wingdings" panose="05000000000000000000" pitchFamily="2" charset="2"/>
              <a:buChar char="l"/>
            </a:pPr>
            <a:r>
              <a:rPr lang="en-US" altLang="zh-CN" sz="2400">
                <a:latin typeface="Arial" panose="02080604020202020204" pitchFamily="34" charset="0"/>
                <a:ea typeface="华文仿宋" pitchFamily="2" charset="-122"/>
              </a:rPr>
              <a:t>'M' - 'A' + 'a' = 'm'</a:t>
            </a:r>
            <a:endParaRPr lang="zh-CN" altLang="en-US" sz="2400" dirty="0">
              <a:latin typeface="Arial" panose="02080604020202020204" pitchFamily="34" charset="0"/>
              <a:ea typeface="华文仿宋" pitchFamily="2" charset="-122"/>
            </a:endParaRPr>
          </a:p>
        </p:txBody>
      </p:sp>
      <p:sp>
        <p:nvSpPr>
          <p:cNvPr id="363528" name="Rectangle 8"/>
          <p:cNvSpPr/>
          <p:nvPr/>
        </p:nvSpPr>
        <p:spPr>
          <a:xfrm>
            <a:off x="5795963" y="5084763"/>
            <a:ext cx="2890837" cy="1066800"/>
          </a:xfrm>
          <a:prstGeom prst="rect">
            <a:avLst/>
          </a:prstGeom>
          <a:noFill/>
          <a:ln w="9525">
            <a:noFill/>
          </a:ln>
        </p:spPr>
        <p:txBody>
          <a:bodyPr lIns="92075" tIns="46038" rIns="92075" bIns="46038" anchor="t" anchorCtr="0"/>
          <a:p>
            <a:pPr marL="342900" indent="-342900">
              <a:lnSpc>
                <a:spcPct val="105000"/>
              </a:lnSpc>
              <a:spcBef>
                <a:spcPct val="20000"/>
              </a:spcBef>
              <a:buClr>
                <a:srgbClr val="33CCCC"/>
              </a:buClr>
              <a:buSzPct val="80000"/>
              <a:buFont typeface="Wingdings" panose="05000000000000000000" pitchFamily="2" charset="2"/>
              <a:buChar char="l"/>
            </a:pPr>
            <a:r>
              <a:rPr lang="en-US" altLang="zh-CN" sz="2400">
                <a:latin typeface="Arial" panose="02080604020202020204" pitchFamily="34" charset="0"/>
                <a:ea typeface="华文仿宋" pitchFamily="2" charset="-122"/>
              </a:rPr>
              <a:t>'8' - '0' = 8</a:t>
            </a:r>
            <a:endParaRPr lang="en-US" altLang="zh-CN" sz="2400">
              <a:latin typeface="Arial" panose="02080604020202020204" pitchFamily="34" charset="0"/>
              <a:ea typeface="华文仿宋" pitchFamily="2" charset="-122"/>
            </a:endParaRPr>
          </a:p>
          <a:p>
            <a:pPr marL="342900" indent="-342900">
              <a:lnSpc>
                <a:spcPct val="105000"/>
              </a:lnSpc>
              <a:spcBef>
                <a:spcPct val="20000"/>
              </a:spcBef>
              <a:buClr>
                <a:srgbClr val="33CCCC"/>
              </a:buClr>
              <a:buSzPct val="80000"/>
              <a:buFont typeface="Wingdings" panose="05000000000000000000" pitchFamily="2" charset="2"/>
              <a:buChar char="l"/>
            </a:pPr>
            <a:r>
              <a:rPr lang="en-US" altLang="zh-CN" sz="2400">
                <a:latin typeface="Arial" panose="02080604020202020204" pitchFamily="34" charset="0"/>
                <a:ea typeface="华文仿宋" pitchFamily="2" charset="-122"/>
              </a:rPr>
              <a:t>8 + '0' = '8'</a:t>
            </a:r>
            <a:endParaRPr lang="zh-CN" altLang="en-US" sz="2400" dirty="0">
              <a:latin typeface="Arial" panose="02080604020202020204" pitchFamily="34" charset="0"/>
              <a:ea typeface="华文仿宋" pitchFamily="2" charset="-122"/>
            </a:endParaRPr>
          </a:p>
        </p:txBody>
      </p:sp>
      <p:sp>
        <p:nvSpPr>
          <p:cNvPr id="363529" name="Rectangle 9"/>
          <p:cNvSpPr/>
          <p:nvPr/>
        </p:nvSpPr>
        <p:spPr>
          <a:xfrm>
            <a:off x="468313" y="3644900"/>
            <a:ext cx="3743325" cy="2514600"/>
          </a:xfrm>
          <a:prstGeom prst="rect">
            <a:avLst/>
          </a:prstGeom>
          <a:noFill/>
          <a:ln w="9525">
            <a:noFill/>
          </a:ln>
        </p:spPr>
        <p:txBody>
          <a:bodyPr anchor="t" anchorCtr="0"/>
          <a:p>
            <a:pPr marL="342900" indent="-342900">
              <a:lnSpc>
                <a:spcPct val="105000"/>
              </a:lnSpc>
              <a:spcBef>
                <a:spcPct val="20000"/>
              </a:spcBef>
              <a:buClr>
                <a:schemeClr val="bg2"/>
              </a:buClr>
              <a:buSzPct val="75000"/>
              <a:buFont typeface="Wingdings" panose="05000000000000000000" pitchFamily="2" charset="2"/>
              <a:buChar char="n"/>
            </a:pPr>
            <a:r>
              <a:rPr lang="zh-CN" altLang="en-US" sz="2800" dirty="0">
                <a:latin typeface="Arial" panose="02080604020202020204" pitchFamily="34" charset="0"/>
              </a:rPr>
              <a:t>数字字符和数字</a:t>
            </a:r>
            <a:r>
              <a:rPr lang="zh-CN" altLang="en-US" sz="2800" dirty="0">
                <a:latin typeface="宋体" pitchFamily="2" charset="-122"/>
              </a:rPr>
              <a:t>转换 </a:t>
            </a:r>
            <a:endParaRPr lang="zh-CN" altLang="en-US" sz="2800" dirty="0">
              <a:latin typeface="宋体" pitchFamily="2" charset="-122"/>
            </a:endParaRPr>
          </a:p>
          <a:p>
            <a:pPr marL="742950" lvl="1" indent="-285750" eaLnBrk="1" hangingPunct="1">
              <a:spcBef>
                <a:spcPct val="20000"/>
              </a:spcBef>
              <a:buClr>
                <a:schemeClr val="accent2"/>
              </a:buClr>
              <a:buSzPct val="80000"/>
              <a:buFont typeface="Wingdings" panose="05000000000000000000" pitchFamily="2" charset="2"/>
            </a:pPr>
            <a:r>
              <a:rPr lang="en-US" altLang="zh-CN" sz="2400">
                <a:latin typeface="Arial" panose="02080604020202020204" pitchFamily="34" charset="0"/>
              </a:rPr>
              <a:t>9 - 0 = '9' - '0' </a:t>
            </a:r>
            <a:endParaRPr lang="en-US" altLang="zh-CN" sz="2400">
              <a:latin typeface="Arial" panose="02080604020202020204" pitchFamily="34" charset="0"/>
            </a:endParaRPr>
          </a:p>
          <a:p>
            <a:pPr marL="742950" lvl="1" indent="-285750" eaLnBrk="1" hangingPunct="1">
              <a:spcBef>
                <a:spcPct val="20000"/>
              </a:spcBef>
              <a:buClr>
                <a:schemeClr val="accent2"/>
              </a:buClr>
              <a:buSzPct val="80000"/>
              <a:buFont typeface="Wingdings" panose="05000000000000000000" pitchFamily="2" charset="2"/>
            </a:pPr>
            <a:r>
              <a:rPr lang="en-US" altLang="zh-CN" sz="2400">
                <a:latin typeface="Arial" panose="02080604020202020204" pitchFamily="34" charset="0"/>
              </a:rPr>
              <a:t>'9' = 9 + '0'</a:t>
            </a:r>
            <a:endParaRPr lang="en-US" altLang="zh-CN" sz="2400">
              <a:latin typeface="Arial" panose="02080604020202020204" pitchFamily="34" charset="0"/>
            </a:endParaRPr>
          </a:p>
          <a:p>
            <a:pPr marL="742950" lvl="1" indent="-285750" eaLnBrk="1" hangingPunct="1">
              <a:spcBef>
                <a:spcPct val="20000"/>
              </a:spcBef>
              <a:buClr>
                <a:schemeClr val="accent2"/>
              </a:buClr>
              <a:buSzPct val="80000"/>
              <a:buFont typeface="Wingdings" panose="05000000000000000000" pitchFamily="2" charset="2"/>
            </a:pPr>
            <a:endParaRPr lang="en-US" altLang="zh-CN" sz="2400">
              <a:latin typeface="Arial" panose="02080604020202020204" pitchFamily="34" charset="0"/>
            </a:endParaRPr>
          </a:p>
          <a:p>
            <a:pPr marL="742950" lvl="1" indent="-285750" eaLnBrk="1" hangingPunct="1">
              <a:spcBef>
                <a:spcPct val="20000"/>
              </a:spcBef>
              <a:buClr>
                <a:schemeClr val="accent2"/>
              </a:buClr>
              <a:buSzPct val="80000"/>
              <a:buFont typeface="Wingdings" panose="05000000000000000000" pitchFamily="2" charset="2"/>
            </a:pPr>
            <a:r>
              <a:rPr lang="en-US" altLang="zh-CN" sz="2400">
                <a:latin typeface="Arial" panose="02080604020202020204" pitchFamily="34" charset="0"/>
              </a:rPr>
              <a:t>'8'  </a:t>
            </a:r>
            <a:r>
              <a:rPr lang="en-US" altLang="zh-CN" sz="2400">
                <a:latin typeface="Arial" panose="02080604020202020204" pitchFamily="34" charset="0"/>
                <a:sym typeface="Wingdings" panose="05000000000000000000" pitchFamily="2" charset="2"/>
              </a:rPr>
              <a:t> 8</a:t>
            </a:r>
            <a:endParaRPr lang="zh-CN" altLang="en-US" sz="2400" dirty="0">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3523">
                                            <p:txEl>
                                              <p:charRg st="0" end="1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63523">
                                            <p:txEl>
                                              <p:charRg st="11" end="3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63523">
                                            <p:txEl>
                                              <p:charRg st="34" end="38"/>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63523">
                                            <p:txEl>
                                              <p:charRg st="38" end="6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63523">
                                            <p:txEl>
                                              <p:charRg st="62" end="7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3525"/>
                                        </p:tgtEl>
                                        <p:attrNameLst>
                                          <p:attrName>style.visibility</p:attrName>
                                        </p:attrNameLst>
                                      </p:cBhvr>
                                      <p:to>
                                        <p:strVal val="visible"/>
                                      </p:to>
                                    </p:set>
                                    <p:anim calcmode="lin" valueType="num">
                                      <p:cBhvr additive="base">
                                        <p:cTn id="19" dur="500" fill="hold"/>
                                        <p:tgtEl>
                                          <p:spTgt spid="363525"/>
                                        </p:tgtEl>
                                        <p:attrNameLst>
                                          <p:attrName>ppt_x</p:attrName>
                                        </p:attrNameLst>
                                      </p:cBhvr>
                                      <p:tavLst>
                                        <p:tav tm="0">
                                          <p:val>
                                            <p:strVal val="0-#ppt_w/2"/>
                                          </p:val>
                                        </p:tav>
                                        <p:tav tm="100000">
                                          <p:val>
                                            <p:strVal val="#ppt_x"/>
                                          </p:val>
                                        </p:tav>
                                      </p:tavLst>
                                    </p:anim>
                                    <p:anim calcmode="lin" valueType="num">
                                      <p:cBhvr additive="base">
                                        <p:cTn id="20" dur="500" fill="hold"/>
                                        <p:tgtEl>
                                          <p:spTgt spid="36352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3527">
                                            <p:txEl>
                                              <p:charRg st="0" end="22"/>
                                            </p:txEl>
                                          </p:spTgt>
                                        </p:tgtEl>
                                        <p:attrNameLst>
                                          <p:attrName>style.visibility</p:attrName>
                                        </p:attrNameLst>
                                      </p:cBhvr>
                                      <p:to>
                                        <p:strVal val="visible"/>
                                      </p:to>
                                    </p:set>
                                    <p:anim calcmode="lin" valueType="num">
                                      <p:cBhvr additive="base">
                                        <p:cTn id="25" dur="500" fill="hold"/>
                                        <p:tgtEl>
                                          <p:spTgt spid="363527">
                                            <p:txEl>
                                              <p:charRg st="0" end="2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3527">
                                            <p:txEl>
                                              <p:charRg st="0" end="2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3527">
                                            <p:txEl>
                                              <p:charRg st="22" end="44"/>
                                            </p:txEl>
                                          </p:spTgt>
                                        </p:tgtEl>
                                        <p:attrNameLst>
                                          <p:attrName>style.visibility</p:attrName>
                                        </p:attrNameLst>
                                      </p:cBhvr>
                                      <p:to>
                                        <p:strVal val="visible"/>
                                      </p:to>
                                    </p:set>
                                    <p:anim calcmode="lin" valueType="num">
                                      <p:cBhvr additive="base">
                                        <p:cTn id="31" dur="500" fill="hold"/>
                                        <p:tgtEl>
                                          <p:spTgt spid="363527">
                                            <p:txEl>
                                              <p:charRg st="22" end="4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63527">
                                            <p:txEl>
                                              <p:charRg st="22" end="4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363529">
                                            <p:txEl>
                                              <p:charRg st="0"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499"/>
                                          </p:stCondLst>
                                        </p:cTn>
                                        <p:tgtEl>
                                          <p:spTgt spid="363529">
                                            <p:txEl>
                                              <p:charRg st="11" end="3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499"/>
                                          </p:stCondLst>
                                        </p:cTn>
                                        <p:tgtEl>
                                          <p:spTgt spid="363529">
                                            <p:txEl>
                                              <p:charRg st="30" end="4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499"/>
                                          </p:stCondLst>
                                        </p:cTn>
                                        <p:tgtEl>
                                          <p:spTgt spid="363529">
                                            <p:txEl>
                                              <p:charRg st="45" end="5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363526"/>
                                        </p:tgtEl>
                                        <p:attrNameLst>
                                          <p:attrName>style.visibility</p:attrName>
                                        </p:attrNameLst>
                                      </p:cBhvr>
                                      <p:to>
                                        <p:strVal val="visible"/>
                                      </p:to>
                                    </p:set>
                                    <p:anim calcmode="lin" valueType="num">
                                      <p:cBhvr additive="base">
                                        <p:cTn id="47" dur="500" fill="hold"/>
                                        <p:tgtEl>
                                          <p:spTgt spid="363526"/>
                                        </p:tgtEl>
                                        <p:attrNameLst>
                                          <p:attrName>ppt_x</p:attrName>
                                        </p:attrNameLst>
                                      </p:cBhvr>
                                      <p:tavLst>
                                        <p:tav tm="0">
                                          <p:val>
                                            <p:strVal val="0-#ppt_w/2"/>
                                          </p:val>
                                        </p:tav>
                                        <p:tav tm="100000">
                                          <p:val>
                                            <p:strVal val="#ppt_x"/>
                                          </p:val>
                                        </p:tav>
                                      </p:tavLst>
                                    </p:anim>
                                    <p:anim calcmode="lin" valueType="num">
                                      <p:cBhvr additive="base">
                                        <p:cTn id="48" dur="500" fill="hold"/>
                                        <p:tgtEl>
                                          <p:spTgt spid="363526"/>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363528">
                                            <p:txEl>
                                              <p:charRg st="0" end="14"/>
                                            </p:txEl>
                                          </p:spTgt>
                                        </p:tgtEl>
                                        <p:attrNameLst>
                                          <p:attrName>style.visibility</p:attrName>
                                        </p:attrNameLst>
                                      </p:cBhvr>
                                      <p:to>
                                        <p:strVal val="visible"/>
                                      </p:to>
                                    </p:set>
                                    <p:anim calcmode="lin" valueType="num">
                                      <p:cBhvr additive="base">
                                        <p:cTn id="53" dur="500" fill="hold"/>
                                        <p:tgtEl>
                                          <p:spTgt spid="363528">
                                            <p:txEl>
                                              <p:charRg st="0" end="14"/>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363528">
                                            <p:txEl>
                                              <p:charRg st="0" end="14"/>
                                            </p:txEl>
                                          </p:spTgt>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363528">
                                            <p:txEl>
                                              <p:charRg st="14" end="28"/>
                                            </p:txEl>
                                          </p:spTgt>
                                        </p:tgtEl>
                                        <p:attrNameLst>
                                          <p:attrName>style.visibility</p:attrName>
                                        </p:attrNameLst>
                                      </p:cBhvr>
                                      <p:to>
                                        <p:strVal val="visible"/>
                                      </p:to>
                                    </p:set>
                                    <p:anim calcmode="lin" valueType="num">
                                      <p:cBhvr additive="base">
                                        <p:cTn id="59" dur="500" fill="hold"/>
                                        <p:tgtEl>
                                          <p:spTgt spid="363528">
                                            <p:txEl>
                                              <p:charRg st="14" end="28"/>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363528">
                                            <p:txEl>
                                              <p:charRg st="14" end="2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p:bldP spid="363525" grpId="0" bldLvl="0" animBg="1"/>
      <p:bldP spid="363526" grpId="0" bldLvl="0" animBg="1"/>
      <p:bldP spid="363527" grpId="0" bldLvl="2" build="p"/>
      <p:bldP spid="363528" grpId="0" bldLvl="2" build="p"/>
      <p:bldP spid="36352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Chap</a:t>
            </a:r>
            <a:r>
              <a:rPr lang="zh-CN" altLang="en-US" b="0" dirty="0">
                <a:sym typeface="+mn-ea"/>
              </a:rPr>
              <a:t> </a:t>
            </a:r>
            <a:r>
              <a:rPr lang="zh-CN" altLang="en-US" b="0" dirty="0">
                <a:sym typeface="+mn-ea"/>
              </a:rPr>
              <a:t>6  </a:t>
            </a:r>
            <a:r>
              <a:rPr lang="zh-CN" altLang="en-US" b="0" dirty="0">
                <a:sym typeface="+mn-ea"/>
              </a:rPr>
              <a:t>数据类型和表达式 </a:t>
            </a:r>
            <a:endParaRPr lang="zh-CN" altLang="en-US" b="0" dirty="0">
              <a:sym typeface="+mn-ea"/>
            </a:endParaRPr>
          </a:p>
        </p:txBody>
      </p:sp>
      <p:sp>
        <p:nvSpPr>
          <p:cNvPr id="7171" name="Rectangle 3"/>
          <p:cNvSpPr>
            <a:spLocks noGrp="1"/>
          </p:cNvSpPr>
          <p:nvPr>
            <p:ph idx="1"/>
          </p:nvPr>
        </p:nvSpPr>
        <p:spPr>
          <a:xfrm>
            <a:off x="900113" y="2133600"/>
            <a:ext cx="7200900" cy="3743325"/>
          </a:xfrm>
        </p:spPr>
        <p:txBody>
          <a:bodyPr vert="horz" wrap="square" lIns="91440" tIns="45720" rIns="91440" bIns="45720" anchor="t" anchorCtr="0"/>
          <a:p>
            <a:pPr marL="476250" indent="-476250" eaLnBrk="1" hangingPunct="1">
              <a:spcBef>
                <a:spcPct val="40000"/>
              </a:spcBef>
              <a:buNone/>
            </a:pPr>
            <a:r>
              <a:rPr lang="en-US" altLang="zh-CN" b="0"/>
              <a:t>6.1  数据的存储和基本数据类型</a:t>
            </a:r>
            <a:r>
              <a:rPr lang="en-US" altLang="zh-CN" b="0"/>
              <a:t> </a:t>
            </a:r>
            <a:endParaRPr lang="en-US" altLang="zh-CN" b="0"/>
          </a:p>
          <a:p>
            <a:pPr marL="476250" indent="-476250" algn="l" eaLnBrk="1" hangingPunct="1">
              <a:spcBef>
                <a:spcPct val="40000"/>
              </a:spcBef>
              <a:buNone/>
            </a:pPr>
            <a:r>
              <a:rPr lang="en-US" altLang="zh-CN" b="0"/>
              <a:t>6.2  常量和变量 </a:t>
            </a:r>
            <a:endParaRPr lang="en-US" altLang="zh-CN" b="0"/>
          </a:p>
          <a:p>
            <a:pPr marL="476250" indent="-476250" algn="l" eaLnBrk="1" hangingPunct="1">
              <a:spcBef>
                <a:spcPct val="40000"/>
              </a:spcBef>
              <a:buNone/>
            </a:pPr>
            <a:r>
              <a:rPr lang="en-US" altLang="zh-CN" b="0"/>
              <a:t>6.3  数据的输入和输出</a:t>
            </a:r>
            <a:endParaRPr lang="en-US" altLang="zh-CN" b="0"/>
          </a:p>
          <a:p>
            <a:pPr marL="476250" indent="-476250" eaLnBrk="1" hangingPunct="1">
              <a:spcBef>
                <a:spcPct val="40000"/>
              </a:spcBef>
              <a:buNone/>
            </a:pPr>
            <a:r>
              <a:rPr lang="en-US" altLang="zh-CN" b="0">
                <a:solidFill>
                  <a:srgbClr val="FF0000"/>
                </a:solidFill>
              </a:rPr>
              <a:t>6.4  </a:t>
            </a:r>
            <a:r>
              <a:rPr lang="zh-CN" altLang="en-US" b="0" dirty="0">
                <a:solidFill>
                  <a:srgbClr val="FF0000"/>
                </a:solidFill>
                <a:latin typeface="宋体" pitchFamily="2" charset="-122"/>
              </a:rPr>
              <a:t>类型转换</a:t>
            </a:r>
            <a:endParaRPr lang="zh-CN" altLang="en-US" b="0" dirty="0">
              <a:solidFill>
                <a:srgbClr val="FF0000"/>
              </a:solidFill>
            </a:endParaRPr>
          </a:p>
          <a:p>
            <a:pPr marL="476250" indent="-476250" eaLnBrk="1" hangingPunct="1">
              <a:spcBef>
                <a:spcPct val="40000"/>
              </a:spcBef>
              <a:buNone/>
            </a:pPr>
            <a:r>
              <a:rPr lang="en-US" altLang="zh-CN" b="0"/>
              <a:t>6.5  </a:t>
            </a:r>
            <a:r>
              <a:rPr lang="zh-CN" altLang="en-US" b="0" dirty="0">
                <a:latin typeface="宋体" pitchFamily="2" charset="-122"/>
              </a:rPr>
              <a:t>表达式</a:t>
            </a:r>
            <a:endParaRPr lang="zh-CN" altLang="en-US" b="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idx="1"/>
          </p:nvPr>
        </p:nvSpPr>
        <p:spPr>
          <a:xfrm>
            <a:off x="762000" y="1524000"/>
            <a:ext cx="7924800" cy="4419600"/>
          </a:xfrm>
        </p:spPr>
        <p:txBody>
          <a:bodyPr vert="horz" wrap="square" lIns="91440" tIns="45720" rIns="91440" bIns="45720" anchor="t" anchorCtr="0"/>
          <a:p>
            <a:pPr algn="just" eaLnBrk="1" hangingPunct="1">
              <a:buNone/>
            </a:pPr>
            <a:r>
              <a:rPr lang="zh-CN" altLang="en-US" b="0" dirty="0"/>
              <a:t>不同类型数据的混合运算，先转换为同一类型，再运算。</a:t>
            </a:r>
            <a:endParaRPr lang="zh-CN" altLang="en-US" b="0" dirty="0"/>
          </a:p>
          <a:p>
            <a:pPr algn="just" eaLnBrk="1" hangingPunct="1">
              <a:lnSpc>
                <a:spcPct val="120000"/>
              </a:lnSpc>
              <a:spcBef>
                <a:spcPct val="50000"/>
              </a:spcBef>
              <a:buClr>
                <a:schemeClr val="tx2"/>
              </a:buClr>
              <a:buFontTx/>
              <a:buNone/>
            </a:pPr>
            <a:r>
              <a:rPr lang="en-US" altLang="zh-CN" b="0"/>
              <a:t>6.4.1 </a:t>
            </a:r>
            <a:r>
              <a:rPr lang="zh-CN" altLang="en-US" b="0" dirty="0"/>
              <a:t>自动类型转换</a:t>
            </a:r>
            <a:endParaRPr lang="zh-CN" altLang="en-US" b="0" dirty="0"/>
          </a:p>
          <a:p>
            <a:pPr lvl="1" algn="just" eaLnBrk="1" hangingPunct="1">
              <a:lnSpc>
                <a:spcPct val="120000"/>
              </a:lnSpc>
              <a:spcBef>
                <a:spcPct val="50000"/>
              </a:spcBef>
            </a:pPr>
            <a:r>
              <a:rPr lang="zh-CN" altLang="en-US" b="0" dirty="0">
                <a:latin typeface="宋体" pitchFamily="2" charset="-122"/>
              </a:rPr>
              <a:t>非赋值运算的类型转换</a:t>
            </a:r>
            <a:endParaRPr lang="zh-CN" altLang="en-US" b="0" dirty="0">
              <a:latin typeface="宋体" pitchFamily="2" charset="-122"/>
            </a:endParaRPr>
          </a:p>
          <a:p>
            <a:pPr lvl="1" algn="just" eaLnBrk="1" hangingPunct="1">
              <a:lnSpc>
                <a:spcPct val="120000"/>
              </a:lnSpc>
              <a:spcBef>
                <a:spcPct val="50000"/>
              </a:spcBef>
            </a:pPr>
            <a:r>
              <a:rPr lang="zh-CN" altLang="en-US" b="0" dirty="0">
                <a:latin typeface="宋体" pitchFamily="2" charset="-122"/>
              </a:rPr>
              <a:t>赋值运算的类型转换</a:t>
            </a:r>
            <a:endParaRPr lang="zh-CN" altLang="en-US" b="0" dirty="0">
              <a:latin typeface="宋体" pitchFamily="2" charset="-122"/>
            </a:endParaRPr>
          </a:p>
          <a:p>
            <a:pPr algn="just" eaLnBrk="1" hangingPunct="1">
              <a:lnSpc>
                <a:spcPct val="120000"/>
              </a:lnSpc>
              <a:spcBef>
                <a:spcPct val="50000"/>
              </a:spcBef>
              <a:buClr>
                <a:schemeClr val="tx2"/>
              </a:buClr>
              <a:buFontTx/>
              <a:buNone/>
            </a:pPr>
            <a:r>
              <a:rPr lang="en-US" altLang="zh-CN" b="0"/>
              <a:t>6.4.2 </a:t>
            </a:r>
            <a:r>
              <a:rPr lang="zh-CN" altLang="en-US" b="0" dirty="0"/>
              <a:t>强制类型转换</a:t>
            </a:r>
            <a:endParaRPr lang="zh-CN" altLang="en-US" b="0" dirty="0"/>
          </a:p>
        </p:txBody>
      </p:sp>
      <p:sp>
        <p:nvSpPr>
          <p:cNvPr id="52227" name="Rectangle 3"/>
          <p:cNvSpPr>
            <a:spLocks noGrp="1"/>
          </p:cNvSpPr>
          <p:nvPr>
            <p:ph type="title"/>
          </p:nvPr>
        </p:nvSpPr>
        <p:spPr>
          <a:xfrm>
            <a:off x="533400" y="457200"/>
            <a:ext cx="8153400" cy="9144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6.4  </a:t>
            </a:r>
            <a:r>
              <a:rPr lang="zh-CN" altLang="en-US" b="0" dirty="0">
                <a:sym typeface="+mn-ea"/>
              </a:rPr>
              <a:t>类型转换</a:t>
            </a:r>
            <a:endParaRPr lang="zh-CN" altLang="en-US" b="0" dirty="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xfrm>
            <a:off x="107950" y="476250"/>
            <a:ext cx="8893175" cy="865188"/>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6.4.1 </a:t>
            </a:r>
            <a:r>
              <a:rPr lang="zh-CN" altLang="en-US" b="0" dirty="0">
                <a:sym typeface="+mn-ea"/>
              </a:rPr>
              <a:t>自动类型转换（非赋值运算）</a:t>
            </a:r>
            <a:endParaRPr lang="zh-CN" altLang="en-US" b="0" dirty="0">
              <a:sym typeface="+mn-ea"/>
            </a:endParaRPr>
          </a:p>
        </p:txBody>
      </p:sp>
      <p:sp>
        <p:nvSpPr>
          <p:cNvPr id="365571" name="Rectangle 3"/>
          <p:cNvSpPr>
            <a:spLocks noGrp="1"/>
          </p:cNvSpPr>
          <p:nvPr>
            <p:ph idx="1"/>
          </p:nvPr>
        </p:nvSpPr>
        <p:spPr>
          <a:xfrm>
            <a:off x="827088" y="1557338"/>
            <a:ext cx="5486400" cy="1295400"/>
          </a:xfrm>
        </p:spPr>
        <p:txBody>
          <a:bodyPr vert="horz" wrap="square" lIns="91440" tIns="45720" rIns="91440" bIns="45720" anchor="t" anchorCtr="0"/>
          <a:p>
            <a:pPr marL="533400" indent="-533400" algn="just" eaLnBrk="1" hangingPunct="1"/>
            <a:r>
              <a:rPr lang="zh-CN" altLang="en-US" sz="2400" b="0" dirty="0"/>
              <a:t>水平方向：自动</a:t>
            </a:r>
            <a:endParaRPr lang="zh-CN" altLang="en-US" sz="2400" b="0" dirty="0"/>
          </a:p>
          <a:p>
            <a:pPr marL="533400" indent="-533400" algn="just" eaLnBrk="1" hangingPunct="1"/>
            <a:r>
              <a:rPr lang="zh-CN" altLang="en-US" sz="2400" b="0" dirty="0"/>
              <a:t>垂直方向：低 </a:t>
            </a:r>
            <a:r>
              <a:rPr lang="zh-CN" altLang="en-US" sz="2400" b="0" dirty="0">
                <a:sym typeface="Wingdings" panose="05000000000000000000" pitchFamily="2" charset="2"/>
              </a:rPr>
              <a:t> 高</a:t>
            </a:r>
            <a:r>
              <a:rPr lang="zh-CN" altLang="en-US" sz="2400" b="0" dirty="0"/>
              <a:t> </a:t>
            </a:r>
            <a:endParaRPr lang="zh-CN" altLang="en-US" sz="2400" b="0" dirty="0"/>
          </a:p>
        </p:txBody>
      </p:sp>
      <p:grpSp>
        <p:nvGrpSpPr>
          <p:cNvPr id="54276" name="Group 11"/>
          <p:cNvGrpSpPr/>
          <p:nvPr/>
        </p:nvGrpSpPr>
        <p:grpSpPr>
          <a:xfrm>
            <a:off x="1447800" y="2971800"/>
            <a:ext cx="6781800" cy="2895600"/>
            <a:chOff x="912" y="1872"/>
            <a:chExt cx="4272" cy="1824"/>
          </a:xfrm>
        </p:grpSpPr>
        <p:sp>
          <p:nvSpPr>
            <p:cNvPr id="54277" name="Text Box 5"/>
            <p:cNvSpPr txBox="1"/>
            <p:nvPr/>
          </p:nvSpPr>
          <p:spPr>
            <a:xfrm>
              <a:off x="912" y="1872"/>
              <a:ext cx="4272" cy="1824"/>
            </a:xfrm>
            <a:prstGeom prst="rect">
              <a:avLst/>
            </a:prstGeom>
            <a:noFill/>
            <a:ln w="9525">
              <a:noFill/>
            </a:ln>
          </p:spPr>
          <p:txBody>
            <a:bodyPr anchor="t" anchorCtr="0"/>
            <a:p>
              <a:pPr algn="just" eaLnBrk="0" hangingPunct="0"/>
              <a:r>
                <a:rPr lang="zh-CN" altLang="en-US" sz="2000" dirty="0">
                  <a:latin typeface="Arial" panose="02080604020202020204" pitchFamily="34" charset="0"/>
                </a:rPr>
                <a:t>高           </a:t>
              </a:r>
              <a:r>
                <a:rPr lang="en-US" altLang="zh-CN" sz="2000">
                  <a:latin typeface="Arial" panose="02080604020202020204" pitchFamily="34" charset="0"/>
                </a:rPr>
                <a:t>double             </a:t>
              </a:r>
              <a:r>
                <a:rPr lang="en-US" altLang="zh-CN" sz="2000">
                  <a:solidFill>
                    <a:srgbClr val="CC0066"/>
                  </a:solidFill>
                  <a:latin typeface="Arial" panose="02080604020202020204" pitchFamily="34" charset="0"/>
                  <a:sym typeface="Wingdings" panose="05000000000000000000" pitchFamily="2" charset="2"/>
                </a:rPr>
                <a:t></a:t>
              </a:r>
              <a:r>
                <a:rPr lang="en-US" altLang="zh-CN" sz="2000">
                  <a:latin typeface="Arial" panose="02080604020202020204" pitchFamily="34" charset="0"/>
                  <a:sym typeface="Wingdings" panose="05000000000000000000" pitchFamily="2" charset="2"/>
                </a:rPr>
                <a:t>   </a:t>
              </a:r>
              <a:r>
                <a:rPr lang="en-US" altLang="zh-CN" sz="2000">
                  <a:latin typeface="Arial" panose="02080604020202020204" pitchFamily="34" charset="0"/>
                </a:rPr>
                <a:t>float</a:t>
              </a:r>
              <a:endParaRPr lang="en-US" altLang="zh-CN" sz="2000">
                <a:latin typeface="Arial" panose="02080604020202020204" pitchFamily="34" charset="0"/>
              </a:endParaRPr>
            </a:p>
            <a:p>
              <a:pPr algn="just" eaLnBrk="0" hangingPunct="0"/>
              <a:r>
                <a:rPr lang="en-US" altLang="zh-CN" sz="2000">
                  <a:latin typeface="Arial" panose="02080604020202020204" pitchFamily="34" charset="0"/>
                </a:rPr>
                <a:t>                  </a:t>
              </a:r>
              <a:endParaRPr lang="en-US" altLang="zh-CN" sz="2000">
                <a:latin typeface="Arial" panose="02080604020202020204" pitchFamily="34" charset="0"/>
              </a:endParaRPr>
            </a:p>
            <a:p>
              <a:pPr algn="just" eaLnBrk="0" hangingPunct="0"/>
              <a:r>
                <a:rPr lang="en-US" altLang="zh-CN" sz="2000">
                  <a:latin typeface="Arial" panose="02080604020202020204" pitchFamily="34" charset="0"/>
                </a:rPr>
                <a:t>               unsigned long </a:t>
              </a:r>
              <a:r>
                <a:rPr lang="en-US" altLang="zh-CN" sz="2000">
                  <a:solidFill>
                    <a:srgbClr val="CC0066"/>
                  </a:solidFill>
                  <a:latin typeface="Arial" panose="02080604020202020204" pitchFamily="34" charset="0"/>
                  <a:sym typeface="Wingdings" panose="05000000000000000000" pitchFamily="2" charset="2"/>
                </a:rPr>
                <a:t></a:t>
              </a:r>
              <a:r>
                <a:rPr lang="en-US" altLang="zh-CN" sz="2000">
                  <a:latin typeface="Arial" panose="02080604020202020204" pitchFamily="34" charset="0"/>
                </a:rPr>
                <a:t>   long</a:t>
              </a:r>
              <a:endParaRPr lang="en-US" altLang="zh-CN" sz="2000">
                <a:latin typeface="Arial" panose="02080604020202020204" pitchFamily="34" charset="0"/>
              </a:endParaRPr>
            </a:p>
            <a:p>
              <a:pPr algn="just" eaLnBrk="0" hangingPunct="0"/>
              <a:r>
                <a:rPr lang="en-US" altLang="zh-CN" sz="2000">
                  <a:latin typeface="Arial" panose="02080604020202020204" pitchFamily="34" charset="0"/>
                </a:rPr>
                <a:t>                  </a:t>
              </a:r>
              <a:endParaRPr lang="en-US" altLang="zh-CN" sz="2000">
                <a:latin typeface="Arial" panose="02080604020202020204" pitchFamily="34" charset="0"/>
              </a:endParaRPr>
            </a:p>
            <a:p>
              <a:pPr algn="just" eaLnBrk="0" hangingPunct="0"/>
              <a:r>
                <a:rPr lang="en-US" altLang="zh-CN" sz="2000">
                  <a:latin typeface="Arial" panose="02080604020202020204" pitchFamily="34" charset="0"/>
                </a:rPr>
                <a:t>               unsigned         </a:t>
              </a:r>
              <a:r>
                <a:rPr lang="en-US" altLang="zh-CN" sz="2000">
                  <a:solidFill>
                    <a:srgbClr val="CC0066"/>
                  </a:solidFill>
                  <a:latin typeface="Arial" panose="02080604020202020204" pitchFamily="34" charset="0"/>
                  <a:sym typeface="Wingdings" panose="05000000000000000000" pitchFamily="2" charset="2"/>
                </a:rPr>
                <a:t></a:t>
              </a:r>
              <a:r>
                <a:rPr lang="en-US" altLang="zh-CN" sz="2000">
                  <a:latin typeface="Arial" panose="02080604020202020204" pitchFamily="34" charset="0"/>
                </a:rPr>
                <a:t>  unsigned short</a:t>
              </a:r>
              <a:endParaRPr lang="en-US" altLang="zh-CN" sz="2000">
                <a:latin typeface="Arial" panose="02080604020202020204" pitchFamily="34" charset="0"/>
              </a:endParaRPr>
            </a:p>
            <a:p>
              <a:pPr algn="just" eaLnBrk="0" hangingPunct="0"/>
              <a:r>
                <a:rPr lang="en-US" altLang="zh-CN" sz="2000">
                  <a:latin typeface="Arial" panose="02080604020202020204" pitchFamily="34" charset="0"/>
                </a:rPr>
                <a:t>                 </a:t>
              </a:r>
              <a:endParaRPr lang="en-US" altLang="zh-CN" sz="2000">
                <a:latin typeface="Arial" panose="02080604020202020204" pitchFamily="34" charset="0"/>
              </a:endParaRPr>
            </a:p>
            <a:p>
              <a:pPr algn="just" eaLnBrk="0" hangingPunct="0"/>
              <a:r>
                <a:rPr lang="zh-CN" altLang="en-US" sz="2000" dirty="0">
                  <a:latin typeface="Arial" panose="02080604020202020204" pitchFamily="34" charset="0"/>
                </a:rPr>
                <a:t>低          </a:t>
              </a:r>
              <a:r>
                <a:rPr lang="en-US" altLang="zh-CN" sz="2000" dirty="0">
                  <a:latin typeface="Arial" panose="02080604020202020204" pitchFamily="34" charset="0"/>
                </a:rPr>
                <a:t> </a:t>
              </a:r>
              <a:r>
                <a:rPr lang="zh-CN" altLang="en-US" sz="2000" dirty="0">
                  <a:latin typeface="Arial" panose="02080604020202020204" pitchFamily="34" charset="0"/>
                </a:rPr>
                <a:t> </a:t>
              </a:r>
              <a:r>
                <a:rPr lang="en-US" altLang="zh-CN" sz="2000" err="1">
                  <a:latin typeface="Arial" panose="02080604020202020204" pitchFamily="34" charset="0"/>
                </a:rPr>
                <a:t>int</a:t>
              </a:r>
              <a:r>
                <a:rPr lang="en-US" altLang="zh-CN" sz="2000">
                  <a:latin typeface="Arial" panose="02080604020202020204" pitchFamily="34" charset="0"/>
                </a:rPr>
                <a:t>                    </a:t>
              </a:r>
              <a:r>
                <a:rPr lang="en-US" altLang="zh-CN" sz="2000">
                  <a:solidFill>
                    <a:srgbClr val="CC0066"/>
                  </a:solidFill>
                  <a:latin typeface="Arial" panose="02080604020202020204" pitchFamily="34" charset="0"/>
                  <a:sym typeface="Wingdings" panose="05000000000000000000" pitchFamily="2" charset="2"/>
                </a:rPr>
                <a:t></a:t>
              </a:r>
              <a:r>
                <a:rPr lang="en-US" altLang="zh-CN" sz="2000">
                  <a:latin typeface="Arial" panose="02080604020202020204" pitchFamily="34" charset="0"/>
                </a:rPr>
                <a:t>   char, short</a:t>
              </a:r>
              <a:endParaRPr lang="en-US" altLang="zh-CN" sz="2000">
                <a:latin typeface="Arial" panose="02080604020202020204" pitchFamily="34" charset="0"/>
              </a:endParaRPr>
            </a:p>
          </p:txBody>
        </p:sp>
        <p:sp>
          <p:nvSpPr>
            <p:cNvPr id="54278" name="Line 6"/>
            <p:cNvSpPr/>
            <p:nvPr/>
          </p:nvSpPr>
          <p:spPr>
            <a:xfrm flipV="1">
              <a:off x="1043" y="2214"/>
              <a:ext cx="0" cy="768"/>
            </a:xfrm>
            <a:prstGeom prst="line">
              <a:avLst/>
            </a:prstGeom>
            <a:ln w="38100" cap="flat" cmpd="sng">
              <a:solidFill>
                <a:schemeClr val="bg2"/>
              </a:solidFill>
              <a:prstDash val="solid"/>
              <a:round/>
              <a:headEnd type="none" w="med" len="med"/>
              <a:tailEnd type="arrow" w="med" len="med"/>
            </a:ln>
          </p:spPr>
        </p:sp>
        <p:sp>
          <p:nvSpPr>
            <p:cNvPr id="54279" name="Line 7"/>
            <p:cNvSpPr/>
            <p:nvPr/>
          </p:nvSpPr>
          <p:spPr>
            <a:xfrm flipV="1">
              <a:off x="1734" y="2070"/>
              <a:ext cx="0" cy="192"/>
            </a:xfrm>
            <a:prstGeom prst="line">
              <a:avLst/>
            </a:prstGeom>
            <a:ln w="38100" cap="flat" cmpd="sng">
              <a:solidFill>
                <a:srgbClr val="33CC33"/>
              </a:solidFill>
              <a:prstDash val="solid"/>
              <a:round/>
              <a:headEnd type="none" w="med" len="med"/>
              <a:tailEnd type="arrow" w="med" len="med"/>
            </a:ln>
          </p:spPr>
        </p:sp>
        <p:sp>
          <p:nvSpPr>
            <p:cNvPr id="54280" name="Line 8"/>
            <p:cNvSpPr/>
            <p:nvPr/>
          </p:nvSpPr>
          <p:spPr>
            <a:xfrm flipV="1">
              <a:off x="1734" y="2550"/>
              <a:ext cx="0" cy="192"/>
            </a:xfrm>
            <a:prstGeom prst="line">
              <a:avLst/>
            </a:prstGeom>
            <a:ln w="38100" cap="flat" cmpd="sng">
              <a:solidFill>
                <a:srgbClr val="33CC33"/>
              </a:solidFill>
              <a:prstDash val="solid"/>
              <a:round/>
              <a:headEnd type="none" w="med" len="med"/>
              <a:tailEnd type="arrow" w="med" len="med"/>
            </a:ln>
          </p:spPr>
        </p:sp>
        <p:sp>
          <p:nvSpPr>
            <p:cNvPr id="54281" name="Line 9"/>
            <p:cNvSpPr/>
            <p:nvPr/>
          </p:nvSpPr>
          <p:spPr>
            <a:xfrm flipV="1">
              <a:off x="1734" y="2982"/>
              <a:ext cx="0" cy="192"/>
            </a:xfrm>
            <a:prstGeom prst="line">
              <a:avLst/>
            </a:prstGeom>
            <a:ln w="38100" cap="flat" cmpd="sng">
              <a:solidFill>
                <a:srgbClr val="00FF00"/>
              </a:solidFill>
              <a:prstDash val="solid"/>
              <a:round/>
              <a:headEnd type="none" w="med" len="med"/>
              <a:tailEnd type="arrow" w="med" len="med"/>
            </a:ln>
          </p:spPr>
        </p:sp>
      </p:grpSp>
      <p:sp>
        <p:nvSpPr>
          <p:cNvPr id="54282" name="Rectangle 3"/>
          <p:cNvSpPr>
            <a:spLocks noGrp="1"/>
          </p:cNvSpPr>
          <p:nvPr/>
        </p:nvSpPr>
        <p:spPr>
          <a:xfrm>
            <a:off x="5795963" y="1412875"/>
            <a:ext cx="3078162" cy="1630363"/>
          </a:xfrm>
          <a:prstGeom prst="rect">
            <a:avLst/>
          </a:prstGeom>
          <a:noFill/>
          <a:ln w="9525">
            <a:noFill/>
          </a:ln>
        </p:spPr>
        <p:txBody>
          <a:bodyPr wrap="square" lIns="91440" tIns="45720" rIns="91440" bIns="45720" anchor="t" anchorCtr="0"/>
          <a:p>
            <a:pPr marL="990600" lvl="1" indent="-533400" algn="just" rtl="0" eaLnBrk="1" fontAlgn="base" hangingPunct="1">
              <a:lnSpc>
                <a:spcPct val="90000"/>
              </a:lnSpc>
              <a:spcBef>
                <a:spcPct val="20000"/>
              </a:spcBef>
              <a:spcAft>
                <a:spcPct val="0"/>
              </a:spcAft>
              <a:buClr>
                <a:schemeClr val="accent2"/>
              </a:buClr>
              <a:buSzPct val="80000"/>
              <a:buFont typeface="Wingdings" panose="05000000000000000000" pitchFamily="2" charset="2"/>
              <a:buNone/>
            </a:pPr>
            <a:r>
              <a:rPr lang="zh-CN" altLang="en-US" sz="2000" b="1" dirty="0">
                <a:solidFill>
                  <a:schemeClr val="tx1"/>
                </a:solidFill>
                <a:latin typeface="Arial" panose="02080604020202020204" pitchFamily="34" charset="0"/>
                <a:ea typeface="宋体" pitchFamily="2" charset="-122"/>
              </a:rPr>
              <a:t>'</a:t>
            </a:r>
            <a:r>
              <a:rPr lang="en-US" altLang="zh-CN" sz="2000" b="1">
                <a:solidFill>
                  <a:schemeClr val="tx1"/>
                </a:solidFill>
                <a:latin typeface="Arial" panose="02080604020202020204" pitchFamily="34" charset="0"/>
                <a:ea typeface="宋体" pitchFamily="2" charset="-122"/>
              </a:rPr>
              <a:t>A' + 12 – 10.05 </a:t>
            </a:r>
            <a:endParaRPr lang="en-US" altLang="zh-CN" sz="2000" b="1">
              <a:solidFill>
                <a:schemeClr val="tx1"/>
              </a:solidFill>
              <a:latin typeface="Arial" panose="02080604020202020204" pitchFamily="34" charset="0"/>
              <a:ea typeface="宋体" pitchFamily="2" charset="-122"/>
            </a:endParaRPr>
          </a:p>
          <a:p>
            <a:pPr marL="990600" lvl="1" indent="-533400" algn="just" rtl="0" eaLnBrk="1" fontAlgn="base" hangingPunct="1">
              <a:lnSpc>
                <a:spcPct val="90000"/>
              </a:lnSpc>
              <a:spcBef>
                <a:spcPct val="20000"/>
              </a:spcBef>
              <a:spcAft>
                <a:spcPct val="0"/>
              </a:spcAft>
              <a:buClr>
                <a:schemeClr val="accent2"/>
              </a:buClr>
              <a:buSzPct val="80000"/>
              <a:buFont typeface="Wingdings" panose="05000000000000000000" pitchFamily="2" charset="2"/>
              <a:buNone/>
            </a:pPr>
            <a:r>
              <a:rPr lang="en-US" altLang="zh-CN" sz="2000" b="1">
                <a:solidFill>
                  <a:schemeClr val="tx1"/>
                </a:solidFill>
                <a:latin typeface="Arial" panose="02080604020202020204" pitchFamily="34" charset="0"/>
                <a:ea typeface="宋体" pitchFamily="2" charset="-122"/>
              </a:rPr>
              <a:t>65</a:t>
            </a:r>
            <a:endParaRPr lang="en-US" altLang="zh-CN" sz="2000" b="1">
              <a:solidFill>
                <a:schemeClr val="tx1"/>
              </a:solidFill>
              <a:latin typeface="Arial" panose="02080604020202020204" pitchFamily="34" charset="0"/>
              <a:ea typeface="宋体" pitchFamily="2" charset="-122"/>
            </a:endParaRPr>
          </a:p>
          <a:p>
            <a:pPr marL="990600" lvl="1" indent="-533400" algn="just" rtl="0" eaLnBrk="1" fontAlgn="base" hangingPunct="1">
              <a:lnSpc>
                <a:spcPct val="90000"/>
              </a:lnSpc>
              <a:spcBef>
                <a:spcPct val="20000"/>
              </a:spcBef>
              <a:spcAft>
                <a:spcPct val="0"/>
              </a:spcAft>
              <a:buClr>
                <a:schemeClr val="accent2"/>
              </a:buClr>
              <a:buSzPct val="80000"/>
              <a:buFont typeface="Wingdings" panose="05000000000000000000" pitchFamily="2" charset="2"/>
              <a:buNone/>
            </a:pPr>
            <a:r>
              <a:rPr lang="en-US" altLang="zh-CN" sz="2000" b="1">
                <a:solidFill>
                  <a:schemeClr val="tx1"/>
                </a:solidFill>
                <a:latin typeface="Arial" panose="02080604020202020204" pitchFamily="34" charset="0"/>
                <a:ea typeface="宋体" pitchFamily="2" charset="-122"/>
              </a:rPr>
              <a:t>77</a:t>
            </a:r>
            <a:endParaRPr lang="en-US" altLang="zh-CN" sz="2000" b="1">
              <a:solidFill>
                <a:schemeClr val="tx1"/>
              </a:solidFill>
              <a:latin typeface="Arial" panose="02080604020202020204" pitchFamily="34" charset="0"/>
              <a:ea typeface="宋体" pitchFamily="2" charset="-122"/>
            </a:endParaRPr>
          </a:p>
          <a:p>
            <a:pPr marL="990600" lvl="1" indent="-533400" algn="just" rtl="0" eaLnBrk="1" fontAlgn="base" hangingPunct="1">
              <a:lnSpc>
                <a:spcPct val="90000"/>
              </a:lnSpc>
              <a:spcBef>
                <a:spcPct val="20000"/>
              </a:spcBef>
              <a:spcAft>
                <a:spcPct val="0"/>
              </a:spcAft>
              <a:buClr>
                <a:schemeClr val="accent2"/>
              </a:buClr>
              <a:buSzPct val="80000"/>
              <a:buFont typeface="Wingdings" panose="05000000000000000000" pitchFamily="2" charset="2"/>
              <a:buNone/>
            </a:pPr>
            <a:r>
              <a:rPr lang="en-US" altLang="zh-CN" sz="2000" b="1">
                <a:solidFill>
                  <a:schemeClr val="tx1"/>
                </a:solidFill>
                <a:latin typeface="Arial" panose="02080604020202020204" pitchFamily="34" charset="0"/>
                <a:ea typeface="宋体" pitchFamily="2" charset="-122"/>
              </a:rPr>
              <a:t>66.95</a:t>
            </a:r>
            <a:endParaRPr lang="en-US" altLang="zh-CN" sz="2000" b="1">
              <a:solidFill>
                <a:schemeClr val="tx1"/>
              </a:solidFill>
              <a:latin typeface="Arial" panose="02080604020202020204"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5571">
                                            <p:txEl>
                                              <p:charRg st="0" end="8"/>
                                            </p:txEl>
                                          </p:spTgt>
                                        </p:tgtEl>
                                        <p:attrNameLst>
                                          <p:attrName>style.visibility</p:attrName>
                                        </p:attrNameLst>
                                      </p:cBhvr>
                                      <p:to>
                                        <p:strVal val="visible"/>
                                      </p:to>
                                    </p:set>
                                    <p:anim calcmode="lin" valueType="num">
                                      <p:cBhvr additive="base">
                                        <p:cTn id="7" dur="500" fill="hold"/>
                                        <p:tgtEl>
                                          <p:spTgt spid="365571">
                                            <p:txEl>
                                              <p:charRg st="0" end="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5571">
                                            <p:txEl>
                                              <p:charRg st="0" end="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5571">
                                            <p:txEl>
                                              <p:charRg st="8" end="20"/>
                                            </p:txEl>
                                          </p:spTgt>
                                        </p:tgtEl>
                                        <p:attrNameLst>
                                          <p:attrName>style.visibility</p:attrName>
                                        </p:attrNameLst>
                                      </p:cBhvr>
                                      <p:to>
                                        <p:strVal val="visible"/>
                                      </p:to>
                                    </p:set>
                                    <p:anim calcmode="lin" valueType="num">
                                      <p:cBhvr additive="base">
                                        <p:cTn id="13" dur="500" fill="hold"/>
                                        <p:tgtEl>
                                          <p:spTgt spid="365571">
                                            <p:txEl>
                                              <p:charRg st="8" end="2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5571">
                                            <p:txEl>
                                              <p:charRg st="8" end="2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ldLvl="2"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xfrm>
            <a:off x="539750" y="476250"/>
            <a:ext cx="7772400"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自动类型转换（赋值运算）</a:t>
            </a:r>
            <a:endParaRPr lang="zh-CN" altLang="en-US" b="0" dirty="0">
              <a:sym typeface="+mn-ea"/>
            </a:endParaRPr>
          </a:p>
        </p:txBody>
      </p:sp>
      <p:sp>
        <p:nvSpPr>
          <p:cNvPr id="55299" name="Rectangle 3"/>
          <p:cNvSpPr>
            <a:spLocks noGrp="1"/>
          </p:cNvSpPr>
          <p:nvPr>
            <p:ph idx="1"/>
          </p:nvPr>
        </p:nvSpPr>
        <p:spPr>
          <a:xfrm>
            <a:off x="609600" y="1524000"/>
            <a:ext cx="8077200" cy="1828800"/>
          </a:xfrm>
        </p:spPr>
        <p:txBody>
          <a:bodyPr vert="horz" wrap="square" lIns="91440" tIns="45720" rIns="91440" bIns="45720" anchor="t" anchorCtr="0"/>
          <a:p>
            <a:pPr marL="533400" indent="-533400" algn="just" eaLnBrk="1" hangingPunct="1">
              <a:lnSpc>
                <a:spcPct val="90000"/>
              </a:lnSpc>
              <a:buNone/>
            </a:pPr>
            <a:r>
              <a:rPr lang="zh-CN" altLang="en-US" sz="2800" b="0" dirty="0">
                <a:solidFill>
                  <a:srgbClr val="CC0066"/>
                </a:solidFill>
                <a:latin typeface="宋体" pitchFamily="2" charset="-122"/>
              </a:rPr>
              <a:t>变量</a:t>
            </a:r>
            <a:r>
              <a:rPr lang="zh-CN" altLang="en-US" sz="2800" b="0" dirty="0">
                <a:solidFill>
                  <a:srgbClr val="FFFF00"/>
                </a:solidFill>
                <a:latin typeface="宋体" pitchFamily="2" charset="-122"/>
              </a:rPr>
              <a:t> </a:t>
            </a:r>
            <a:r>
              <a:rPr lang="en-US" altLang="zh-CN" sz="2800" b="0"/>
              <a:t>=</a:t>
            </a:r>
            <a:r>
              <a:rPr lang="zh-CN" altLang="en-US" sz="2800" b="0" dirty="0">
                <a:latin typeface="宋体" pitchFamily="2" charset="-122"/>
              </a:rPr>
              <a:t> </a:t>
            </a:r>
            <a:r>
              <a:rPr lang="zh-CN" altLang="en-US" sz="2800" b="0" dirty="0">
                <a:solidFill>
                  <a:schemeClr val="bg2"/>
                </a:solidFill>
                <a:latin typeface="宋体" pitchFamily="2" charset="-122"/>
              </a:rPr>
              <a:t>表达式</a:t>
            </a:r>
            <a:endParaRPr lang="zh-CN" altLang="en-US" sz="2800" b="0" dirty="0">
              <a:solidFill>
                <a:schemeClr val="bg2"/>
              </a:solidFill>
              <a:latin typeface="宋体" pitchFamily="2" charset="-122"/>
            </a:endParaRPr>
          </a:p>
          <a:p>
            <a:pPr marL="533400" indent="-533400" algn="just" eaLnBrk="1" hangingPunct="1">
              <a:lnSpc>
                <a:spcPct val="90000"/>
              </a:lnSpc>
              <a:buNone/>
            </a:pPr>
            <a:endParaRPr lang="zh-CN" altLang="en-US" sz="2800" b="0" dirty="0">
              <a:solidFill>
                <a:srgbClr val="FF9933"/>
              </a:solidFill>
              <a:latin typeface="宋体" pitchFamily="2" charset="-122"/>
            </a:endParaRPr>
          </a:p>
          <a:p>
            <a:pPr marL="533400" indent="-533400" algn="just" eaLnBrk="1" hangingPunct="1">
              <a:lnSpc>
                <a:spcPct val="90000"/>
              </a:lnSpc>
            </a:pPr>
            <a:r>
              <a:rPr lang="zh-CN" altLang="en-US" sz="2800" b="0" dirty="0">
                <a:latin typeface="宋体" pitchFamily="2" charset="-122"/>
              </a:rPr>
              <a:t>计算赋值运算符右侧</a:t>
            </a:r>
            <a:r>
              <a:rPr lang="zh-CN" altLang="en-US" sz="2800" b="0" dirty="0">
                <a:solidFill>
                  <a:schemeClr val="bg2"/>
                </a:solidFill>
                <a:latin typeface="宋体" pitchFamily="2" charset="-122"/>
                <a:ea typeface="仿宋_GB2312" pitchFamily="49" charset="-122"/>
              </a:rPr>
              <a:t>表达式</a:t>
            </a:r>
            <a:r>
              <a:rPr lang="zh-CN" altLang="en-US" sz="2800" b="0" dirty="0">
                <a:latin typeface="宋体" pitchFamily="2" charset="-122"/>
              </a:rPr>
              <a:t>的值</a:t>
            </a:r>
            <a:endParaRPr lang="zh-CN" altLang="en-US" sz="2800" b="0" dirty="0">
              <a:latin typeface="宋体" pitchFamily="2" charset="-122"/>
            </a:endParaRPr>
          </a:p>
          <a:p>
            <a:pPr marL="533400" indent="-533400" algn="just" eaLnBrk="1" hangingPunct="1">
              <a:lnSpc>
                <a:spcPct val="90000"/>
              </a:lnSpc>
            </a:pPr>
            <a:r>
              <a:rPr lang="zh-CN" altLang="en-US" sz="2800" b="0" dirty="0">
                <a:latin typeface="宋体" pitchFamily="2" charset="-122"/>
              </a:rPr>
              <a:t>将赋值运算符右侧</a:t>
            </a:r>
            <a:r>
              <a:rPr lang="zh-CN" altLang="en-US" sz="2800" b="0" dirty="0">
                <a:solidFill>
                  <a:schemeClr val="bg2"/>
                </a:solidFill>
                <a:latin typeface="宋体" pitchFamily="2" charset="-122"/>
                <a:ea typeface="仿宋_GB2312" pitchFamily="49" charset="-122"/>
              </a:rPr>
              <a:t>表达式</a:t>
            </a:r>
            <a:r>
              <a:rPr lang="zh-CN" altLang="en-US" sz="2800" b="0" dirty="0">
                <a:latin typeface="宋体" pitchFamily="2" charset="-122"/>
              </a:rPr>
              <a:t>的值赋给左侧的</a:t>
            </a:r>
            <a:r>
              <a:rPr lang="zh-CN" altLang="en-US" sz="2800" b="0" dirty="0">
                <a:solidFill>
                  <a:srgbClr val="CC0066"/>
                </a:solidFill>
                <a:latin typeface="宋体" pitchFamily="2" charset="-122"/>
                <a:ea typeface="仿宋_GB2312" pitchFamily="49" charset="-122"/>
              </a:rPr>
              <a:t>变量</a:t>
            </a:r>
            <a:endParaRPr lang="zh-CN" altLang="en-US" sz="2800" b="0" dirty="0">
              <a:solidFill>
                <a:srgbClr val="CC0066"/>
              </a:solidFill>
              <a:latin typeface="宋体" pitchFamily="2" charset="-122"/>
            </a:endParaRPr>
          </a:p>
        </p:txBody>
      </p:sp>
      <p:sp>
        <p:nvSpPr>
          <p:cNvPr id="367620" name="AutoShape 4"/>
          <p:cNvSpPr/>
          <p:nvPr/>
        </p:nvSpPr>
        <p:spPr>
          <a:xfrm>
            <a:off x="2590800" y="4496594"/>
            <a:ext cx="5257800" cy="1555750"/>
          </a:xfrm>
          <a:prstGeom prst="wedgeRectCallout">
            <a:avLst>
              <a:gd name="adj1" fmla="val -56704"/>
              <a:gd name="adj2" fmla="val -115037"/>
            </a:avLst>
          </a:prstGeom>
          <a:noFill/>
          <a:ln w="12700" cap="sq" cmpd="sng">
            <a:solidFill>
              <a:schemeClr val="accent1"/>
            </a:solidFill>
            <a:prstDash val="solid"/>
            <a:miter/>
            <a:headEnd type="none" w="sm" len="sm"/>
            <a:tailEnd type="none" w="sm" len="sm"/>
          </a:ln>
        </p:spPr>
        <p:txBody>
          <a:bodyPr anchor="ctr" anchorCtr="0">
            <a:spAutoFit/>
          </a:bodyPr>
          <a:p>
            <a:pPr algn="just">
              <a:spcBef>
                <a:spcPct val="20000"/>
              </a:spcBef>
              <a:buClr>
                <a:srgbClr val="33CCCC"/>
              </a:buClr>
              <a:buSzPct val="110000"/>
            </a:pPr>
            <a:r>
              <a:rPr lang="zh-CN" altLang="en-US" sz="2800" dirty="0">
                <a:latin typeface="宋体" pitchFamily="2" charset="-122"/>
              </a:rPr>
              <a:t>将赋值运算符右侧表达式的类型</a:t>
            </a:r>
            <a:endParaRPr lang="zh-CN" altLang="en-US" sz="2800" dirty="0">
              <a:latin typeface="宋体" pitchFamily="2" charset="-122"/>
            </a:endParaRPr>
          </a:p>
          <a:p>
            <a:pPr algn="just">
              <a:spcBef>
                <a:spcPct val="20000"/>
              </a:spcBef>
              <a:buClr>
                <a:srgbClr val="33CCCC"/>
              </a:buClr>
              <a:buSzPct val="110000"/>
            </a:pPr>
            <a:r>
              <a:rPr lang="zh-CN" altLang="en-US" sz="2800" dirty="0">
                <a:latin typeface="宋体" pitchFamily="2" charset="-122"/>
              </a:rPr>
              <a:t>自动转换成</a:t>
            </a:r>
            <a:endParaRPr lang="zh-CN" altLang="en-US" sz="2800" dirty="0">
              <a:latin typeface="宋体" pitchFamily="2" charset="-122"/>
            </a:endParaRPr>
          </a:p>
          <a:p>
            <a:pPr algn="just">
              <a:spcBef>
                <a:spcPct val="20000"/>
              </a:spcBef>
              <a:buClr>
                <a:srgbClr val="33CCCC"/>
              </a:buClr>
              <a:buSzPct val="110000"/>
            </a:pPr>
            <a:r>
              <a:rPr lang="zh-CN" altLang="en-US" sz="2800" dirty="0">
                <a:latin typeface="宋体" pitchFamily="2" charset="-122"/>
              </a:rPr>
              <a:t>赋值号左侧变量的类型</a:t>
            </a:r>
            <a:endParaRPr lang="zh-CN" altLang="en-US" sz="28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7620"/>
                                        </p:tgtEl>
                                        <p:attrNameLst>
                                          <p:attrName>style.visibility</p:attrName>
                                        </p:attrNameLst>
                                      </p:cBhvr>
                                      <p:to>
                                        <p:strVal val="visible"/>
                                      </p:to>
                                    </p:set>
                                    <p:anim calcmode="lin" valueType="num">
                                      <p:cBhvr additive="base">
                                        <p:cTn id="7" dur="500" fill="hold"/>
                                        <p:tgtEl>
                                          <p:spTgt spid="367620"/>
                                        </p:tgtEl>
                                        <p:attrNameLst>
                                          <p:attrName>ppt_x</p:attrName>
                                        </p:attrNameLst>
                                      </p:cBhvr>
                                      <p:tavLst>
                                        <p:tav tm="0">
                                          <p:val>
                                            <p:strVal val="0-#ppt_w/2"/>
                                          </p:val>
                                        </p:tav>
                                        <p:tav tm="100000">
                                          <p:val>
                                            <p:strVal val="#ppt_x"/>
                                          </p:val>
                                        </p:tav>
                                      </p:tavLst>
                                    </p:anim>
                                    <p:anim calcmode="lin" valueType="num">
                                      <p:cBhvr additive="base">
                                        <p:cTn id="8" dur="500" fill="hold"/>
                                        <p:tgtEl>
                                          <p:spTgt spid="3676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0"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xfrm>
            <a:off x="755650" y="404813"/>
            <a:ext cx="7772400"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自动类型转换（赋值运算）</a:t>
            </a:r>
            <a:endParaRPr lang="zh-CN" altLang="en-US" b="0" dirty="0">
              <a:sym typeface="+mn-ea"/>
            </a:endParaRPr>
          </a:p>
        </p:txBody>
      </p:sp>
      <p:sp>
        <p:nvSpPr>
          <p:cNvPr id="56323" name="Rectangle 3"/>
          <p:cNvSpPr>
            <a:spLocks noGrp="1"/>
          </p:cNvSpPr>
          <p:nvPr>
            <p:ph idx="1"/>
          </p:nvPr>
        </p:nvSpPr>
        <p:spPr>
          <a:xfrm>
            <a:off x="547688" y="1587500"/>
            <a:ext cx="2286000" cy="990600"/>
          </a:xfrm>
        </p:spPr>
        <p:txBody>
          <a:bodyPr vert="horz" wrap="square" lIns="91440" tIns="45720" rIns="91440" bIns="45720" anchor="t" anchorCtr="0"/>
          <a:p>
            <a:pPr marL="990600" lvl="1" indent="-533400" algn="just" eaLnBrk="1" hangingPunct="1">
              <a:lnSpc>
                <a:spcPct val="90000"/>
              </a:lnSpc>
              <a:buNone/>
            </a:pPr>
            <a:r>
              <a:rPr lang="en-US" altLang="zh-CN" sz="2400" b="0"/>
              <a:t>double x;</a:t>
            </a:r>
            <a:endParaRPr lang="en-US" altLang="zh-CN" sz="2400" b="0"/>
          </a:p>
          <a:p>
            <a:pPr marL="990600" lvl="1" indent="-533400" algn="just" eaLnBrk="1" hangingPunct="1">
              <a:lnSpc>
                <a:spcPct val="90000"/>
              </a:lnSpc>
              <a:buNone/>
            </a:pPr>
            <a:r>
              <a:rPr lang="en-US" altLang="zh-CN" sz="2400" b="0"/>
              <a:t>x = 1;</a:t>
            </a:r>
            <a:endParaRPr lang="en-US" altLang="zh-CN" sz="2400" b="0"/>
          </a:p>
        </p:txBody>
      </p:sp>
      <p:sp>
        <p:nvSpPr>
          <p:cNvPr id="368644" name="Text Box 4"/>
          <p:cNvSpPr txBox="1"/>
          <p:nvPr/>
        </p:nvSpPr>
        <p:spPr>
          <a:xfrm>
            <a:off x="972185" y="3398520"/>
            <a:ext cx="1130935" cy="386080"/>
          </a:xfrm>
          <a:prstGeom prst="rect">
            <a:avLst/>
          </a:prstGeom>
          <a:noFill/>
          <a:ln w="28575" cmpd="sng">
            <a:solidFill>
              <a:schemeClr val="accent1">
                <a:shade val="50000"/>
              </a:schemeClr>
            </a:solidFill>
            <a:prstDash val="solid"/>
          </a:ln>
        </p:spPr>
        <p:txBody>
          <a:bodyPr wrap="square" anchor="t" anchorCtr="0">
            <a:spAutoFit/>
          </a:bodyPr>
          <a:p>
            <a:pPr>
              <a:lnSpc>
                <a:spcPct val="80000"/>
              </a:lnSpc>
              <a:spcBef>
                <a:spcPct val="20000"/>
              </a:spcBef>
              <a:buClr>
                <a:srgbClr val="33CCCC"/>
              </a:buClr>
              <a:buSzPct val="80000"/>
              <a:buFont typeface="Wingdings" panose="05000000000000000000" pitchFamily="2" charset="2"/>
            </a:pPr>
            <a:r>
              <a:rPr lang="en-US" altLang="zh-CN" sz="2400">
                <a:solidFill>
                  <a:schemeClr val="bg2"/>
                </a:solidFill>
                <a:latin typeface="Arial" panose="02080604020202020204" pitchFamily="34" charset="0"/>
                <a:ea typeface="仿宋_GB2312" pitchFamily="49" charset="-122"/>
              </a:rPr>
              <a:t>x = ?</a:t>
            </a:r>
            <a:endParaRPr lang="en-US" altLang="zh-CN" sz="2400" dirty="0">
              <a:solidFill>
                <a:schemeClr val="bg2"/>
              </a:solidFill>
              <a:latin typeface="Arial" panose="02080604020202020204" pitchFamily="34" charset="0"/>
              <a:ea typeface="仿宋_GB2312" pitchFamily="49" charset="-122"/>
            </a:endParaRPr>
          </a:p>
        </p:txBody>
      </p:sp>
      <p:sp>
        <p:nvSpPr>
          <p:cNvPr id="368645" name="Rectangle 5"/>
          <p:cNvSpPr/>
          <p:nvPr/>
        </p:nvSpPr>
        <p:spPr>
          <a:xfrm>
            <a:off x="4662488" y="1663700"/>
            <a:ext cx="3505200" cy="1981200"/>
          </a:xfrm>
          <a:prstGeom prst="rect">
            <a:avLst/>
          </a:prstGeom>
          <a:noFill/>
          <a:ln w="9525">
            <a:noFill/>
          </a:ln>
        </p:spPr>
        <p:txBody>
          <a:bodyPr wrap="square" lIns="91440" tIns="45720" rIns="91440" bIns="45720" anchor="t" anchorCtr="0"/>
          <a:p>
            <a:pPr marL="990600" lvl="1" indent="-533400" algn="just">
              <a:lnSpc>
                <a:spcPct val="90000"/>
              </a:lnSpc>
              <a:spcBef>
                <a:spcPct val="20000"/>
              </a:spcBef>
              <a:buClr>
                <a:schemeClr val="accent2"/>
              </a:buClr>
              <a:buSzPct val="80000"/>
            </a:pPr>
            <a:r>
              <a:rPr lang="en-US" altLang="zh-CN" sz="2400">
                <a:latin typeface="Arial" panose="02080604020202020204" pitchFamily="34" charset="0"/>
                <a:ea typeface="宋体" pitchFamily="2" charset="-122"/>
              </a:rPr>
              <a:t>short a = 1000;</a:t>
            </a:r>
            <a:endParaRPr lang="en-US" altLang="zh-CN" sz="2400">
              <a:latin typeface="Arial" panose="02080604020202020204" pitchFamily="34" charset="0"/>
              <a:ea typeface="宋体" pitchFamily="2" charset="-122"/>
            </a:endParaRPr>
          </a:p>
          <a:p>
            <a:pPr marL="990600" lvl="1" indent="-533400" algn="just">
              <a:lnSpc>
                <a:spcPct val="90000"/>
              </a:lnSpc>
              <a:spcBef>
                <a:spcPct val="20000"/>
              </a:spcBef>
              <a:buClr>
                <a:schemeClr val="accent2"/>
              </a:buClr>
              <a:buSzPct val="80000"/>
            </a:pPr>
            <a:r>
              <a:rPr lang="en-US" altLang="zh-CN" sz="2400">
                <a:latin typeface="Arial" panose="02080604020202020204" pitchFamily="34" charset="0"/>
                <a:ea typeface="宋体" pitchFamily="2" charset="-122"/>
              </a:rPr>
              <a:t>char b = 'A';</a:t>
            </a:r>
            <a:endParaRPr lang="en-US" altLang="zh-CN" sz="2400">
              <a:latin typeface="Arial" panose="02080604020202020204" pitchFamily="34" charset="0"/>
              <a:ea typeface="宋体" pitchFamily="2" charset="-122"/>
            </a:endParaRPr>
          </a:p>
          <a:p>
            <a:pPr marL="990600" lvl="1" indent="-533400" algn="just">
              <a:lnSpc>
                <a:spcPct val="90000"/>
              </a:lnSpc>
              <a:spcBef>
                <a:spcPct val="20000"/>
              </a:spcBef>
              <a:buClr>
                <a:schemeClr val="accent2"/>
              </a:buClr>
              <a:buSzPct val="80000"/>
            </a:pPr>
            <a:r>
              <a:rPr lang="en-US" altLang="zh-CN" sz="2400">
                <a:latin typeface="Arial" panose="02080604020202020204" pitchFamily="34" charset="0"/>
                <a:ea typeface="宋体" pitchFamily="2" charset="-122"/>
              </a:rPr>
              <a:t>long c;</a:t>
            </a:r>
            <a:endParaRPr lang="en-US" altLang="zh-CN" sz="2400">
              <a:latin typeface="Arial" panose="02080604020202020204" pitchFamily="34" charset="0"/>
              <a:ea typeface="宋体" pitchFamily="2" charset="-122"/>
            </a:endParaRPr>
          </a:p>
          <a:p>
            <a:pPr marL="990600" lvl="1" indent="-533400" algn="just">
              <a:lnSpc>
                <a:spcPct val="90000"/>
              </a:lnSpc>
              <a:spcBef>
                <a:spcPct val="20000"/>
              </a:spcBef>
              <a:buClr>
                <a:schemeClr val="accent2"/>
              </a:buClr>
              <a:buSzPct val="80000"/>
            </a:pPr>
            <a:r>
              <a:rPr lang="en-US" altLang="zh-CN" sz="2400">
                <a:latin typeface="Arial" panose="02080604020202020204" pitchFamily="34" charset="0"/>
                <a:ea typeface="宋体" pitchFamily="2" charset="-122"/>
              </a:rPr>
              <a:t>c = a + b;</a:t>
            </a:r>
            <a:endParaRPr lang="en-US" altLang="zh-CN" sz="2400">
              <a:latin typeface="Arial" panose="02080604020202020204" pitchFamily="34" charset="0"/>
              <a:ea typeface="宋体" pitchFamily="2" charset="-122"/>
            </a:endParaRPr>
          </a:p>
        </p:txBody>
      </p:sp>
      <p:sp>
        <p:nvSpPr>
          <p:cNvPr id="368646" name="Text Box 6"/>
          <p:cNvSpPr txBox="1"/>
          <p:nvPr/>
        </p:nvSpPr>
        <p:spPr>
          <a:xfrm>
            <a:off x="5220335" y="3398520"/>
            <a:ext cx="1212850" cy="386080"/>
          </a:xfrm>
          <a:prstGeom prst="rect">
            <a:avLst/>
          </a:prstGeom>
          <a:noFill/>
          <a:ln w="28575" cmpd="sng">
            <a:solidFill>
              <a:schemeClr val="accent1">
                <a:shade val="50000"/>
              </a:schemeClr>
            </a:solidFill>
            <a:prstDash val="solid"/>
          </a:ln>
        </p:spPr>
        <p:txBody>
          <a:bodyPr wrap="square" anchor="t" anchorCtr="0">
            <a:spAutoFit/>
          </a:bodyPr>
          <a:p>
            <a:pPr>
              <a:lnSpc>
                <a:spcPct val="80000"/>
              </a:lnSpc>
              <a:spcBef>
                <a:spcPct val="20000"/>
              </a:spcBef>
              <a:buClr>
                <a:srgbClr val="33CCCC"/>
              </a:buClr>
              <a:buSzPct val="80000"/>
              <a:buFont typeface="Wingdings" panose="05000000000000000000" pitchFamily="2" charset="2"/>
            </a:pPr>
            <a:r>
              <a:rPr lang="en-US" altLang="zh-CN" sz="2400">
                <a:solidFill>
                  <a:schemeClr val="bg2"/>
                </a:solidFill>
                <a:latin typeface="Arial" panose="02080604020202020204" pitchFamily="34" charset="0"/>
              </a:rPr>
              <a:t>c = ?</a:t>
            </a:r>
            <a:endParaRPr lang="en-US" altLang="zh-CN" sz="2400" dirty="0">
              <a:solidFill>
                <a:schemeClr val="bg2"/>
              </a:solidFill>
              <a:latin typeface="Arial" panose="02080604020202020204" pitchFamily="34" charset="0"/>
            </a:endParaRPr>
          </a:p>
        </p:txBody>
      </p:sp>
      <p:sp>
        <p:nvSpPr>
          <p:cNvPr id="368647" name="Rectangle 7"/>
          <p:cNvSpPr/>
          <p:nvPr/>
        </p:nvSpPr>
        <p:spPr>
          <a:xfrm>
            <a:off x="609600" y="4325620"/>
            <a:ext cx="3429000" cy="1066800"/>
          </a:xfrm>
          <a:prstGeom prst="rect">
            <a:avLst/>
          </a:prstGeom>
          <a:noFill/>
          <a:ln w="9525">
            <a:noFill/>
          </a:ln>
        </p:spPr>
        <p:txBody>
          <a:bodyPr wrap="square" lIns="91440" tIns="45720" rIns="91440" bIns="45720" anchor="t" anchorCtr="0"/>
          <a:p>
            <a:pPr marL="990600" lvl="1" indent="-533400" algn="just">
              <a:lnSpc>
                <a:spcPct val="90000"/>
              </a:lnSpc>
              <a:spcBef>
                <a:spcPct val="20000"/>
              </a:spcBef>
              <a:buClr>
                <a:schemeClr val="accent2"/>
              </a:buClr>
              <a:buSzPct val="80000"/>
            </a:pPr>
            <a:r>
              <a:rPr lang="en-US" altLang="zh-CN" sz="2400">
                <a:latin typeface="Arial" panose="02080604020202020204" pitchFamily="34" charset="0"/>
                <a:ea typeface="宋体" pitchFamily="2" charset="-122"/>
              </a:rPr>
              <a:t>int ai;</a:t>
            </a:r>
            <a:endParaRPr lang="en-US" altLang="zh-CN" sz="2400">
              <a:latin typeface="Arial" panose="02080604020202020204" pitchFamily="34" charset="0"/>
              <a:ea typeface="宋体" pitchFamily="2" charset="-122"/>
            </a:endParaRPr>
          </a:p>
          <a:p>
            <a:pPr marL="990600" lvl="1" indent="-533400" algn="just">
              <a:lnSpc>
                <a:spcPct val="90000"/>
              </a:lnSpc>
              <a:spcBef>
                <a:spcPct val="20000"/>
              </a:spcBef>
              <a:buClr>
                <a:schemeClr val="accent2"/>
              </a:buClr>
              <a:buSzPct val="80000"/>
            </a:pPr>
            <a:r>
              <a:rPr lang="en-US" altLang="zh-CN" sz="2400">
                <a:latin typeface="Arial" panose="02080604020202020204" pitchFamily="34" charset="0"/>
                <a:ea typeface="宋体" pitchFamily="2" charset="-122"/>
              </a:rPr>
              <a:t>ai = 2.56;</a:t>
            </a:r>
            <a:endParaRPr lang="en-US" altLang="zh-CN" sz="2400">
              <a:latin typeface="Arial" panose="02080604020202020204" pitchFamily="34" charset="0"/>
              <a:ea typeface="宋体" pitchFamily="2" charset="-122"/>
            </a:endParaRPr>
          </a:p>
        </p:txBody>
      </p:sp>
      <p:sp>
        <p:nvSpPr>
          <p:cNvPr id="368648" name="Text Box 8"/>
          <p:cNvSpPr txBox="1"/>
          <p:nvPr/>
        </p:nvSpPr>
        <p:spPr>
          <a:xfrm>
            <a:off x="1043940" y="5544820"/>
            <a:ext cx="1466850" cy="386080"/>
          </a:xfrm>
          <a:prstGeom prst="rect">
            <a:avLst/>
          </a:prstGeom>
          <a:noFill/>
          <a:ln w="28575" cmpd="sng">
            <a:solidFill>
              <a:schemeClr val="accent1">
                <a:shade val="50000"/>
              </a:schemeClr>
            </a:solidFill>
            <a:prstDash val="solid"/>
          </a:ln>
        </p:spPr>
        <p:txBody>
          <a:bodyPr wrap="square" anchor="t" anchorCtr="0">
            <a:spAutoFit/>
          </a:bodyPr>
          <a:p>
            <a:pPr>
              <a:lnSpc>
                <a:spcPct val="80000"/>
              </a:lnSpc>
              <a:spcBef>
                <a:spcPct val="20000"/>
              </a:spcBef>
              <a:buClr>
                <a:srgbClr val="33CCCC"/>
              </a:buClr>
              <a:buSzPct val="80000"/>
              <a:buFont typeface="Wingdings" panose="05000000000000000000" pitchFamily="2" charset="2"/>
            </a:pPr>
            <a:r>
              <a:rPr lang="en-US" altLang="zh-CN" sz="2400" err="1">
                <a:solidFill>
                  <a:schemeClr val="bg2"/>
                </a:solidFill>
                <a:latin typeface="Arial" panose="02080604020202020204" pitchFamily="34" charset="0"/>
              </a:rPr>
              <a:t>ai</a:t>
            </a:r>
            <a:r>
              <a:rPr lang="en-US" altLang="zh-CN" sz="2400">
                <a:solidFill>
                  <a:schemeClr val="bg2"/>
                </a:solidFill>
                <a:latin typeface="Arial" panose="02080604020202020204" pitchFamily="34" charset="0"/>
              </a:rPr>
              <a:t> = ?</a:t>
            </a:r>
            <a:endParaRPr lang="zh-CN" altLang="zh-CN" sz="2400" dirty="0">
              <a:solidFill>
                <a:schemeClr val="bg2"/>
              </a:solidFill>
              <a:latin typeface="Arial" panose="02080604020202020204" pitchFamily="34" charset="0"/>
            </a:endParaRPr>
          </a:p>
        </p:txBody>
      </p:sp>
      <p:sp>
        <p:nvSpPr>
          <p:cNvPr id="368649" name="Rectangle 9"/>
          <p:cNvSpPr/>
          <p:nvPr/>
        </p:nvSpPr>
        <p:spPr>
          <a:xfrm>
            <a:off x="4800600" y="4038600"/>
            <a:ext cx="4013200" cy="1066800"/>
          </a:xfrm>
          <a:prstGeom prst="rect">
            <a:avLst/>
          </a:prstGeom>
          <a:noFill/>
          <a:ln w="9525">
            <a:noFill/>
          </a:ln>
        </p:spPr>
        <p:txBody>
          <a:bodyPr wrap="square" lIns="91440" tIns="45720" rIns="91440" bIns="45720" anchor="t" anchorCtr="0"/>
          <a:p>
            <a:pPr marL="990600" lvl="1" indent="-533400" algn="just">
              <a:lnSpc>
                <a:spcPct val="70000"/>
              </a:lnSpc>
              <a:spcBef>
                <a:spcPct val="16000"/>
              </a:spcBef>
              <a:buClr>
                <a:schemeClr val="accent2"/>
              </a:buClr>
              <a:buSzPct val="80000"/>
            </a:pPr>
            <a:r>
              <a:rPr lang="en-US" altLang="zh-CN" sz="2400">
                <a:latin typeface="Arial" panose="02080604020202020204" pitchFamily="34" charset="0"/>
                <a:ea typeface="宋体" pitchFamily="2" charset="-122"/>
              </a:rPr>
              <a:t>short bi;</a:t>
            </a:r>
            <a:endParaRPr lang="en-US" altLang="zh-CN" sz="2400">
              <a:latin typeface="Arial" panose="02080604020202020204" pitchFamily="34" charset="0"/>
              <a:ea typeface="宋体" pitchFamily="2" charset="-122"/>
            </a:endParaRPr>
          </a:p>
          <a:p>
            <a:pPr marL="990600" lvl="1" indent="-533400" algn="just">
              <a:lnSpc>
                <a:spcPct val="70000"/>
              </a:lnSpc>
              <a:spcBef>
                <a:spcPct val="16000"/>
              </a:spcBef>
              <a:buClr>
                <a:schemeClr val="accent2"/>
              </a:buClr>
              <a:buSzPct val="80000"/>
            </a:pPr>
            <a:r>
              <a:rPr lang="en-US" altLang="zh-CN" sz="2400">
                <a:latin typeface="Arial" panose="02080604020202020204" pitchFamily="34" charset="0"/>
                <a:ea typeface="宋体" pitchFamily="2" charset="-122"/>
              </a:rPr>
              <a:t>bi = 0x12345678L</a:t>
            </a:r>
            <a:endParaRPr lang="en-US" altLang="zh-CN" sz="2400">
              <a:latin typeface="Arial" panose="02080604020202020204" pitchFamily="34" charset="0"/>
              <a:ea typeface="宋体" pitchFamily="2" charset="-122"/>
            </a:endParaRPr>
          </a:p>
        </p:txBody>
      </p:sp>
      <p:sp>
        <p:nvSpPr>
          <p:cNvPr id="368650" name="Text Box 10"/>
          <p:cNvSpPr txBox="1"/>
          <p:nvPr/>
        </p:nvSpPr>
        <p:spPr>
          <a:xfrm>
            <a:off x="5292090" y="5517515"/>
            <a:ext cx="1262063" cy="386080"/>
          </a:xfrm>
          <a:prstGeom prst="rect">
            <a:avLst/>
          </a:prstGeom>
          <a:noFill/>
          <a:ln w="28575" cmpd="sng">
            <a:solidFill>
              <a:schemeClr val="accent1">
                <a:shade val="50000"/>
              </a:schemeClr>
            </a:solidFill>
            <a:prstDash val="solid"/>
          </a:ln>
        </p:spPr>
        <p:txBody>
          <a:bodyPr wrap="square" anchor="t" anchorCtr="0">
            <a:spAutoFit/>
          </a:bodyPr>
          <a:p>
            <a:pPr>
              <a:lnSpc>
                <a:spcPct val="80000"/>
              </a:lnSpc>
              <a:spcBef>
                <a:spcPct val="20000"/>
              </a:spcBef>
              <a:buClr>
                <a:srgbClr val="33CCCC"/>
              </a:buClr>
              <a:buSzPct val="80000"/>
              <a:buFont typeface="Wingdings" panose="05000000000000000000" pitchFamily="2" charset="2"/>
            </a:pPr>
            <a:r>
              <a:rPr lang="en-US" altLang="zh-CN" sz="2400">
                <a:solidFill>
                  <a:schemeClr val="bg2"/>
                </a:solidFill>
                <a:latin typeface="Arial" panose="02080604020202020204" pitchFamily="34" charset="0"/>
              </a:rPr>
              <a:t>bi = ?</a:t>
            </a:r>
            <a:endParaRPr lang="en-US" altLang="zh-CN" sz="2400" dirty="0">
              <a:solidFill>
                <a:schemeClr val="bg2"/>
              </a:solidFill>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44"/>
                                        </p:tgtEl>
                                        <p:attrNameLst>
                                          <p:attrName>style.visibility</p:attrName>
                                        </p:attrNameLst>
                                      </p:cBhvr>
                                      <p:to>
                                        <p:strVal val="visible"/>
                                      </p:to>
                                    </p:set>
                                    <p:anim calcmode="lin" valueType="num">
                                      <p:cBhvr additive="base">
                                        <p:cTn id="7" dur="500" fill="hold"/>
                                        <p:tgtEl>
                                          <p:spTgt spid="368644"/>
                                        </p:tgtEl>
                                        <p:attrNameLst>
                                          <p:attrName>ppt_x</p:attrName>
                                        </p:attrNameLst>
                                      </p:cBhvr>
                                      <p:tavLst>
                                        <p:tav tm="0">
                                          <p:val>
                                            <p:strVal val="0-#ppt_w/2"/>
                                          </p:val>
                                        </p:tav>
                                        <p:tav tm="100000">
                                          <p:val>
                                            <p:strVal val="#ppt_x"/>
                                          </p:val>
                                        </p:tav>
                                      </p:tavLst>
                                    </p:anim>
                                    <p:anim calcmode="lin" valueType="num">
                                      <p:cBhvr additive="base">
                                        <p:cTn id="8" dur="500" fill="hold"/>
                                        <p:tgtEl>
                                          <p:spTgt spid="3686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645"/>
                                        </p:tgtEl>
                                        <p:attrNameLst>
                                          <p:attrName>style.visibility</p:attrName>
                                        </p:attrNameLst>
                                      </p:cBhvr>
                                      <p:to>
                                        <p:strVal val="visible"/>
                                      </p:to>
                                    </p:set>
                                    <p:anim calcmode="lin" valueType="num">
                                      <p:cBhvr additive="base">
                                        <p:cTn id="13" dur="500" fill="hold"/>
                                        <p:tgtEl>
                                          <p:spTgt spid="368645"/>
                                        </p:tgtEl>
                                        <p:attrNameLst>
                                          <p:attrName>ppt_x</p:attrName>
                                        </p:attrNameLst>
                                      </p:cBhvr>
                                      <p:tavLst>
                                        <p:tav tm="0">
                                          <p:val>
                                            <p:strVal val="0-#ppt_w/2"/>
                                          </p:val>
                                        </p:tav>
                                        <p:tav tm="100000">
                                          <p:val>
                                            <p:strVal val="#ppt_x"/>
                                          </p:val>
                                        </p:tav>
                                      </p:tavLst>
                                    </p:anim>
                                    <p:anim calcmode="lin" valueType="num">
                                      <p:cBhvr additive="base">
                                        <p:cTn id="14" dur="500" fill="hold"/>
                                        <p:tgtEl>
                                          <p:spTgt spid="36864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8646"/>
                                        </p:tgtEl>
                                        <p:attrNameLst>
                                          <p:attrName>style.visibility</p:attrName>
                                        </p:attrNameLst>
                                      </p:cBhvr>
                                      <p:to>
                                        <p:strVal val="visible"/>
                                      </p:to>
                                    </p:set>
                                    <p:anim calcmode="lin" valueType="num">
                                      <p:cBhvr additive="base">
                                        <p:cTn id="19" dur="500" fill="hold"/>
                                        <p:tgtEl>
                                          <p:spTgt spid="368646"/>
                                        </p:tgtEl>
                                        <p:attrNameLst>
                                          <p:attrName>ppt_x</p:attrName>
                                        </p:attrNameLst>
                                      </p:cBhvr>
                                      <p:tavLst>
                                        <p:tav tm="0">
                                          <p:val>
                                            <p:strVal val="0-#ppt_w/2"/>
                                          </p:val>
                                        </p:tav>
                                        <p:tav tm="100000">
                                          <p:val>
                                            <p:strVal val="#ppt_x"/>
                                          </p:val>
                                        </p:tav>
                                      </p:tavLst>
                                    </p:anim>
                                    <p:anim calcmode="lin" valueType="num">
                                      <p:cBhvr additive="base">
                                        <p:cTn id="20" dur="500" fill="hold"/>
                                        <p:tgtEl>
                                          <p:spTgt spid="36864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8647"/>
                                        </p:tgtEl>
                                        <p:attrNameLst>
                                          <p:attrName>style.visibility</p:attrName>
                                        </p:attrNameLst>
                                      </p:cBhvr>
                                      <p:to>
                                        <p:strVal val="visible"/>
                                      </p:to>
                                    </p:set>
                                    <p:anim calcmode="lin" valueType="num">
                                      <p:cBhvr additive="base">
                                        <p:cTn id="25" dur="500" fill="hold"/>
                                        <p:tgtEl>
                                          <p:spTgt spid="368647"/>
                                        </p:tgtEl>
                                        <p:attrNameLst>
                                          <p:attrName>ppt_x</p:attrName>
                                        </p:attrNameLst>
                                      </p:cBhvr>
                                      <p:tavLst>
                                        <p:tav tm="0">
                                          <p:val>
                                            <p:strVal val="0-#ppt_w/2"/>
                                          </p:val>
                                        </p:tav>
                                        <p:tav tm="100000">
                                          <p:val>
                                            <p:strVal val="#ppt_x"/>
                                          </p:val>
                                        </p:tav>
                                      </p:tavLst>
                                    </p:anim>
                                    <p:anim calcmode="lin" valueType="num">
                                      <p:cBhvr additive="base">
                                        <p:cTn id="26" dur="500" fill="hold"/>
                                        <p:tgtEl>
                                          <p:spTgt spid="36864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8648"/>
                                        </p:tgtEl>
                                        <p:attrNameLst>
                                          <p:attrName>style.visibility</p:attrName>
                                        </p:attrNameLst>
                                      </p:cBhvr>
                                      <p:to>
                                        <p:strVal val="visible"/>
                                      </p:to>
                                    </p:set>
                                    <p:anim calcmode="lin" valueType="num">
                                      <p:cBhvr additive="base">
                                        <p:cTn id="31" dur="500" fill="hold"/>
                                        <p:tgtEl>
                                          <p:spTgt spid="368648"/>
                                        </p:tgtEl>
                                        <p:attrNameLst>
                                          <p:attrName>ppt_x</p:attrName>
                                        </p:attrNameLst>
                                      </p:cBhvr>
                                      <p:tavLst>
                                        <p:tav tm="0">
                                          <p:val>
                                            <p:strVal val="0-#ppt_w/2"/>
                                          </p:val>
                                        </p:tav>
                                        <p:tav tm="100000">
                                          <p:val>
                                            <p:strVal val="#ppt_x"/>
                                          </p:val>
                                        </p:tav>
                                      </p:tavLst>
                                    </p:anim>
                                    <p:anim calcmode="lin" valueType="num">
                                      <p:cBhvr additive="base">
                                        <p:cTn id="32" dur="500" fill="hold"/>
                                        <p:tgtEl>
                                          <p:spTgt spid="36864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68649"/>
                                        </p:tgtEl>
                                        <p:attrNameLst>
                                          <p:attrName>style.visibility</p:attrName>
                                        </p:attrNameLst>
                                      </p:cBhvr>
                                      <p:to>
                                        <p:strVal val="visible"/>
                                      </p:to>
                                    </p:set>
                                    <p:anim calcmode="lin" valueType="num">
                                      <p:cBhvr additive="base">
                                        <p:cTn id="37" dur="500" fill="hold"/>
                                        <p:tgtEl>
                                          <p:spTgt spid="368649"/>
                                        </p:tgtEl>
                                        <p:attrNameLst>
                                          <p:attrName>ppt_x</p:attrName>
                                        </p:attrNameLst>
                                      </p:cBhvr>
                                      <p:tavLst>
                                        <p:tav tm="0">
                                          <p:val>
                                            <p:strVal val="0-#ppt_w/2"/>
                                          </p:val>
                                        </p:tav>
                                        <p:tav tm="100000">
                                          <p:val>
                                            <p:strVal val="#ppt_x"/>
                                          </p:val>
                                        </p:tav>
                                      </p:tavLst>
                                    </p:anim>
                                    <p:anim calcmode="lin" valueType="num">
                                      <p:cBhvr additive="base">
                                        <p:cTn id="38" dur="500" fill="hold"/>
                                        <p:tgtEl>
                                          <p:spTgt spid="368649"/>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8650"/>
                                        </p:tgtEl>
                                        <p:attrNameLst>
                                          <p:attrName>style.visibility</p:attrName>
                                        </p:attrNameLst>
                                      </p:cBhvr>
                                      <p:to>
                                        <p:strVal val="visible"/>
                                      </p:to>
                                    </p:set>
                                    <p:anim calcmode="lin" valueType="num">
                                      <p:cBhvr additive="base">
                                        <p:cTn id="43" dur="500" fill="hold"/>
                                        <p:tgtEl>
                                          <p:spTgt spid="368650"/>
                                        </p:tgtEl>
                                        <p:attrNameLst>
                                          <p:attrName>ppt_x</p:attrName>
                                        </p:attrNameLst>
                                      </p:cBhvr>
                                      <p:tavLst>
                                        <p:tav tm="0">
                                          <p:val>
                                            <p:strVal val="0-#ppt_w/2"/>
                                          </p:val>
                                        </p:tav>
                                        <p:tav tm="100000">
                                          <p:val>
                                            <p:strVal val="#ppt_x"/>
                                          </p:val>
                                        </p:tav>
                                      </p:tavLst>
                                    </p:anim>
                                    <p:anim calcmode="lin" valueType="num">
                                      <p:cBhvr additive="base">
                                        <p:cTn id="44" dur="500" fill="hold"/>
                                        <p:tgtEl>
                                          <p:spTgt spid="3686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4" grpId="0" bldLvl="0" animBg="1"/>
      <p:bldP spid="368645" grpId="0"/>
      <p:bldP spid="368646" grpId="0" bldLvl="0" animBg="1"/>
      <p:bldP spid="368647" grpId="0"/>
      <p:bldP spid="368648" grpId="0" bldLvl="0" animBg="1"/>
      <p:bldP spid="368649" grpId="0"/>
      <p:bldP spid="368650"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xfrm>
            <a:off x="684213" y="404813"/>
            <a:ext cx="7772400"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5.4.2  强制类型转换</a:t>
            </a:r>
            <a:endParaRPr lang="zh-CN" altLang="en-US" b="0" dirty="0">
              <a:sym typeface="+mn-ea"/>
            </a:endParaRPr>
          </a:p>
        </p:txBody>
      </p:sp>
      <p:sp>
        <p:nvSpPr>
          <p:cNvPr id="370691" name="Rectangle 3"/>
          <p:cNvSpPr>
            <a:spLocks noGrp="1"/>
          </p:cNvSpPr>
          <p:nvPr>
            <p:ph idx="1"/>
          </p:nvPr>
        </p:nvSpPr>
        <p:spPr>
          <a:xfrm>
            <a:off x="762000" y="1550988"/>
            <a:ext cx="4953000" cy="4038600"/>
          </a:xfrm>
        </p:spPr>
        <p:txBody>
          <a:bodyPr vert="horz" wrap="square" lIns="91440" tIns="45720" rIns="91440" bIns="45720" anchor="t" anchorCtr="0"/>
          <a:p>
            <a:pPr marL="533400" indent="-533400" algn="just" eaLnBrk="1" hangingPunct="1">
              <a:lnSpc>
                <a:spcPct val="90000"/>
              </a:lnSpc>
              <a:buNone/>
            </a:pPr>
            <a:r>
              <a:rPr lang="zh-CN" altLang="en-US" b="0" dirty="0"/>
              <a:t>强制类型转换运算符</a:t>
            </a:r>
            <a:endParaRPr lang="zh-CN" altLang="en-US" b="0" dirty="0"/>
          </a:p>
          <a:p>
            <a:pPr marL="990600" lvl="1" indent="-533400" algn="just" eaLnBrk="1" hangingPunct="1">
              <a:lnSpc>
                <a:spcPct val="90000"/>
              </a:lnSpc>
              <a:buNone/>
            </a:pPr>
            <a:r>
              <a:rPr lang="zh-CN" altLang="en-US" b="0" dirty="0">
                <a:solidFill>
                  <a:srgbClr val="CC0066"/>
                </a:solidFill>
              </a:rPr>
              <a:t>(类型名)</a:t>
            </a:r>
            <a:r>
              <a:rPr lang="zh-CN" altLang="en-US" b="0" dirty="0">
                <a:solidFill>
                  <a:schemeClr val="accent1"/>
                </a:solidFill>
              </a:rPr>
              <a:t>  </a:t>
            </a:r>
            <a:r>
              <a:rPr lang="zh-CN" altLang="en-US" b="0" dirty="0"/>
              <a:t>表达式</a:t>
            </a:r>
            <a:endParaRPr lang="zh-CN" altLang="en-US" b="0" dirty="0"/>
          </a:p>
          <a:p>
            <a:pPr marL="990600" lvl="1" indent="-533400" algn="just" eaLnBrk="1" hangingPunct="1">
              <a:lnSpc>
                <a:spcPct val="90000"/>
              </a:lnSpc>
              <a:buNone/>
            </a:pPr>
            <a:endParaRPr lang="zh-CN" altLang="en-US" b="0" dirty="0"/>
          </a:p>
          <a:p>
            <a:pPr marL="990600" lvl="1" indent="-533400" algn="just" eaLnBrk="1" hangingPunct="1">
              <a:lnSpc>
                <a:spcPct val="90000"/>
              </a:lnSpc>
              <a:buNone/>
            </a:pPr>
            <a:endParaRPr lang="en-US" altLang="zh-CN" b="0"/>
          </a:p>
          <a:p>
            <a:pPr marL="990600" lvl="1" indent="-533400" algn="just" eaLnBrk="1" hangingPunct="1">
              <a:buNone/>
            </a:pPr>
            <a:r>
              <a:rPr lang="en-US" altLang="zh-CN" b="0"/>
              <a:t>(double)3</a:t>
            </a:r>
            <a:endParaRPr lang="en-US" altLang="zh-CN" b="0"/>
          </a:p>
          <a:p>
            <a:pPr marL="990600" lvl="1" indent="-533400" algn="just" eaLnBrk="1" hangingPunct="1">
              <a:buNone/>
            </a:pPr>
            <a:r>
              <a:rPr lang="en-US" altLang="zh-CN" b="0"/>
              <a:t>(int)3.8</a:t>
            </a:r>
            <a:endParaRPr lang="en-US" altLang="zh-CN" b="0"/>
          </a:p>
          <a:p>
            <a:pPr marL="990600" lvl="1" indent="-533400" algn="just" eaLnBrk="1" hangingPunct="1">
              <a:buNone/>
            </a:pPr>
            <a:r>
              <a:rPr lang="en-US" altLang="zh-CN" b="0"/>
              <a:t>(double)(5/2)</a:t>
            </a:r>
            <a:endParaRPr lang="en-US" altLang="zh-CN" b="0"/>
          </a:p>
          <a:p>
            <a:pPr marL="990600" lvl="1" indent="-533400" algn="just" eaLnBrk="1" hangingPunct="1">
              <a:buNone/>
            </a:pPr>
            <a:r>
              <a:rPr lang="en-US" altLang="zh-CN" b="0"/>
              <a:t>(double)5/2</a:t>
            </a:r>
            <a:endParaRPr lang="en-US" altLang="zh-CN" b="0"/>
          </a:p>
        </p:txBody>
      </p:sp>
      <p:sp>
        <p:nvSpPr>
          <p:cNvPr id="370692" name="Text Box 4"/>
          <p:cNvSpPr txBox="1"/>
          <p:nvPr/>
        </p:nvSpPr>
        <p:spPr>
          <a:xfrm>
            <a:off x="3810000" y="3532188"/>
            <a:ext cx="1143000" cy="1891665"/>
          </a:xfrm>
          <a:prstGeom prst="rect">
            <a:avLst/>
          </a:prstGeom>
          <a:noFill/>
          <a:ln w="12700" cap="rnd" cmpd="sng">
            <a:solidFill>
              <a:schemeClr val="tx1"/>
            </a:solidFill>
            <a:prstDash val="sysDot"/>
            <a:miter/>
            <a:headEnd type="none" w="sm" len="sm"/>
            <a:tailEnd type="none" w="sm" len="sm"/>
          </a:ln>
        </p:spPr>
        <p:txBody>
          <a:bodyPr anchor="t" anchorCtr="0">
            <a:spAutoFit/>
          </a:bodyPr>
          <a:p>
            <a:pPr indent="282575" eaLnBrk="0" hangingPunct="0">
              <a:spcBef>
                <a:spcPts val="200"/>
              </a:spcBef>
            </a:pPr>
            <a:r>
              <a:rPr lang="en-US" altLang="zh-CN" sz="2800">
                <a:latin typeface="Arial" panose="02080604020202020204" pitchFamily="34" charset="0"/>
              </a:rPr>
              <a:t>3.0</a:t>
            </a:r>
            <a:endParaRPr lang="en-US" altLang="zh-CN" sz="2800">
              <a:latin typeface="Arial" panose="02080604020202020204" pitchFamily="34" charset="0"/>
            </a:endParaRPr>
          </a:p>
          <a:p>
            <a:pPr indent="282575" eaLnBrk="0" hangingPunct="0">
              <a:spcBef>
                <a:spcPts val="200"/>
              </a:spcBef>
            </a:pPr>
            <a:r>
              <a:rPr lang="en-US" altLang="zh-CN" sz="2800">
                <a:latin typeface="Arial" panose="02080604020202020204" pitchFamily="34" charset="0"/>
              </a:rPr>
              <a:t>3</a:t>
            </a:r>
            <a:endParaRPr lang="en-US" altLang="zh-CN" sz="2800">
              <a:latin typeface="Arial" panose="02080604020202020204" pitchFamily="34" charset="0"/>
            </a:endParaRPr>
          </a:p>
          <a:p>
            <a:pPr indent="282575" eaLnBrk="0" hangingPunct="0">
              <a:spcBef>
                <a:spcPts val="200"/>
              </a:spcBef>
            </a:pPr>
            <a:r>
              <a:rPr lang="en-US" altLang="zh-CN" sz="2800">
                <a:latin typeface="Arial" panose="02080604020202020204" pitchFamily="34" charset="0"/>
              </a:rPr>
              <a:t>2.0</a:t>
            </a:r>
            <a:endParaRPr lang="en-US" altLang="zh-CN" sz="2800">
              <a:latin typeface="Arial" panose="02080604020202020204" pitchFamily="34" charset="0"/>
            </a:endParaRPr>
          </a:p>
          <a:p>
            <a:pPr indent="282575" eaLnBrk="0" hangingPunct="0">
              <a:spcBef>
                <a:spcPts val="200"/>
              </a:spcBef>
            </a:pPr>
            <a:r>
              <a:rPr lang="en-US" altLang="zh-CN" sz="2800">
                <a:latin typeface="Arial" panose="02080604020202020204" pitchFamily="34" charset="0"/>
              </a:rPr>
              <a:t>2.5</a:t>
            </a:r>
            <a:endParaRPr lang="en-US" altLang="zh-CN" sz="2800">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0691">
                                            <p:txEl>
                                              <p:charRg st="0" end="10"/>
                                            </p:txEl>
                                          </p:spTgt>
                                        </p:tgtEl>
                                        <p:attrNameLst>
                                          <p:attrName>style.visibility</p:attrName>
                                        </p:attrNameLst>
                                      </p:cBhvr>
                                      <p:to>
                                        <p:strVal val="visible"/>
                                      </p:to>
                                    </p:set>
                                    <p:anim calcmode="lin" valueType="num">
                                      <p:cBhvr additive="base">
                                        <p:cTn id="7" dur="500" fill="hold"/>
                                        <p:tgtEl>
                                          <p:spTgt spid="370691">
                                            <p:txEl>
                                              <p:charRg st="0" end="1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0691">
                                            <p:txEl>
                                              <p:charRg st="0" end="1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70691">
                                            <p:txEl>
                                              <p:charRg st="10" end="21"/>
                                            </p:txEl>
                                          </p:spTgt>
                                        </p:tgtEl>
                                        <p:attrNameLst>
                                          <p:attrName>style.visibility</p:attrName>
                                        </p:attrNameLst>
                                      </p:cBhvr>
                                      <p:to>
                                        <p:strVal val="visible"/>
                                      </p:to>
                                    </p:set>
                                    <p:anim calcmode="lin" valueType="num">
                                      <p:cBhvr additive="base">
                                        <p:cTn id="11" dur="500" fill="hold"/>
                                        <p:tgtEl>
                                          <p:spTgt spid="370691">
                                            <p:txEl>
                                              <p:charRg st="10" end="2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70691">
                                            <p:txEl>
                                              <p:charRg st="10" end="2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70691">
                                            <p:txEl>
                                              <p:charRg st="23" end="33"/>
                                            </p:txEl>
                                          </p:spTgt>
                                        </p:tgtEl>
                                        <p:attrNameLst>
                                          <p:attrName>style.visibility</p:attrName>
                                        </p:attrNameLst>
                                      </p:cBhvr>
                                      <p:to>
                                        <p:strVal val="visible"/>
                                      </p:to>
                                    </p:set>
                                    <p:anim calcmode="lin" valueType="num">
                                      <p:cBhvr additive="base">
                                        <p:cTn id="15" dur="500" fill="hold"/>
                                        <p:tgtEl>
                                          <p:spTgt spid="370691">
                                            <p:txEl>
                                              <p:charRg st="23" end="3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70691">
                                            <p:txEl>
                                              <p:charRg st="23" end="33"/>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70691">
                                            <p:txEl>
                                              <p:charRg st="33" end="42"/>
                                            </p:txEl>
                                          </p:spTgt>
                                        </p:tgtEl>
                                        <p:attrNameLst>
                                          <p:attrName>style.visibility</p:attrName>
                                        </p:attrNameLst>
                                      </p:cBhvr>
                                      <p:to>
                                        <p:strVal val="visible"/>
                                      </p:to>
                                    </p:set>
                                    <p:anim calcmode="lin" valueType="num">
                                      <p:cBhvr additive="base">
                                        <p:cTn id="19" dur="500" fill="hold"/>
                                        <p:tgtEl>
                                          <p:spTgt spid="370691">
                                            <p:txEl>
                                              <p:charRg st="33" end="4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70691">
                                            <p:txEl>
                                              <p:charRg st="33" end="4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70691">
                                            <p:txEl>
                                              <p:charRg st="42" end="56"/>
                                            </p:txEl>
                                          </p:spTgt>
                                        </p:tgtEl>
                                        <p:attrNameLst>
                                          <p:attrName>style.visibility</p:attrName>
                                        </p:attrNameLst>
                                      </p:cBhvr>
                                      <p:to>
                                        <p:strVal val="visible"/>
                                      </p:to>
                                    </p:set>
                                    <p:anim calcmode="lin" valueType="num">
                                      <p:cBhvr additive="base">
                                        <p:cTn id="23" dur="500" fill="hold"/>
                                        <p:tgtEl>
                                          <p:spTgt spid="370691">
                                            <p:txEl>
                                              <p:charRg st="42" end="56"/>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70691">
                                            <p:txEl>
                                              <p:charRg st="42" end="56"/>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70691">
                                            <p:txEl>
                                              <p:charRg st="56" end="68"/>
                                            </p:txEl>
                                          </p:spTgt>
                                        </p:tgtEl>
                                        <p:attrNameLst>
                                          <p:attrName>style.visibility</p:attrName>
                                        </p:attrNameLst>
                                      </p:cBhvr>
                                      <p:to>
                                        <p:strVal val="visible"/>
                                      </p:to>
                                    </p:set>
                                    <p:anim calcmode="lin" valueType="num">
                                      <p:cBhvr additive="base">
                                        <p:cTn id="27" dur="500" fill="hold"/>
                                        <p:tgtEl>
                                          <p:spTgt spid="370691">
                                            <p:txEl>
                                              <p:charRg st="56" end="68"/>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70691">
                                            <p:txEl>
                                              <p:charRg st="56" end="68"/>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370692"/>
                                        </p:tgtEl>
                                        <p:attrNameLst>
                                          <p:attrName>style.visibility</p:attrName>
                                        </p:attrNameLst>
                                      </p:cBhvr>
                                      <p:to>
                                        <p:strVal val="visible"/>
                                      </p:to>
                                    </p:set>
                                    <p:anim calcmode="lin" valueType="num">
                                      <p:cBhvr additive="base">
                                        <p:cTn id="33" dur="500" fill="hold"/>
                                        <p:tgtEl>
                                          <p:spTgt spid="370692"/>
                                        </p:tgtEl>
                                        <p:attrNameLst>
                                          <p:attrName>ppt_x</p:attrName>
                                        </p:attrNameLst>
                                      </p:cBhvr>
                                      <p:tavLst>
                                        <p:tav tm="0">
                                          <p:val>
                                            <p:strVal val="0-#ppt_w/2"/>
                                          </p:val>
                                        </p:tav>
                                        <p:tav tm="100000">
                                          <p:val>
                                            <p:strVal val="#ppt_x"/>
                                          </p:val>
                                        </p:tav>
                                      </p:tavLst>
                                    </p:anim>
                                    <p:anim calcmode="lin" valueType="num">
                                      <p:cBhvr additive="base">
                                        <p:cTn id="34" dur="500" fill="hold"/>
                                        <p:tgtEl>
                                          <p:spTgt spid="3706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1" grpId="0" build="p"/>
      <p:bldP spid="370692"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a:xfrm>
            <a:off x="684213" y="333375"/>
            <a:ext cx="7772400"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强制类型转换示例</a:t>
            </a:r>
            <a:endParaRPr lang="zh-CN" altLang="en-US" b="0" dirty="0">
              <a:sym typeface="+mn-ea"/>
            </a:endParaRPr>
          </a:p>
        </p:txBody>
      </p:sp>
      <p:sp>
        <p:nvSpPr>
          <p:cNvPr id="58371" name="Rectangle 3"/>
          <p:cNvSpPr>
            <a:spLocks noGrp="1"/>
          </p:cNvSpPr>
          <p:nvPr>
            <p:ph idx="1"/>
          </p:nvPr>
        </p:nvSpPr>
        <p:spPr>
          <a:xfrm>
            <a:off x="395288" y="1341438"/>
            <a:ext cx="8623300" cy="5241925"/>
          </a:xfrm>
        </p:spPr>
        <p:txBody>
          <a:bodyPr vert="horz" wrap="square" lIns="91440" tIns="45720" rIns="91440" bIns="45720" anchor="t" anchorCtr="0"/>
          <a:p>
            <a:pPr marL="533400" indent="-533400" algn="just" eaLnBrk="1" hangingPunct="1">
              <a:lnSpc>
                <a:spcPct val="90000"/>
              </a:lnSpc>
              <a:buNone/>
            </a:pPr>
            <a:r>
              <a:rPr lang="en-US" altLang="zh-CN" sz="2400" b="0"/>
              <a:t># include &lt;</a:t>
            </a:r>
            <a:r>
              <a:rPr lang="en-US" altLang="zh-CN" sz="2400" b="0" err="1"/>
              <a:t>stdio.h</a:t>
            </a:r>
            <a:r>
              <a:rPr lang="en-US" altLang="zh-CN" sz="2400" b="0"/>
              <a:t>&gt;</a:t>
            </a:r>
            <a:endParaRPr lang="en-US" altLang="zh-CN" sz="2400" b="0"/>
          </a:p>
          <a:p>
            <a:pPr marL="533400" indent="-533400" algn="just" eaLnBrk="1" hangingPunct="1">
              <a:lnSpc>
                <a:spcPct val="90000"/>
              </a:lnSpc>
              <a:buNone/>
            </a:pPr>
            <a:r>
              <a:rPr lang="en-US" altLang="zh-CN" sz="2400" b="0" err="1"/>
              <a:t>int</a:t>
            </a:r>
            <a:r>
              <a:rPr lang="en-US" altLang="zh-CN" sz="2400" b="0"/>
              <a:t> </a:t>
            </a:r>
            <a:r>
              <a:rPr lang="en-US" altLang="zh-CN" sz="2400" b="0" err="1"/>
              <a:t>main(void</a:t>
            </a:r>
            <a:r>
              <a:rPr lang="en-US" altLang="zh-CN" sz="2400" b="0"/>
              <a:t>)</a:t>
            </a:r>
            <a:endParaRPr lang="en-US" altLang="zh-CN" sz="2400" b="0"/>
          </a:p>
          <a:p>
            <a:pPr marL="533400" indent="-533400" algn="just" eaLnBrk="1" hangingPunct="1">
              <a:lnSpc>
                <a:spcPct val="90000"/>
              </a:lnSpc>
              <a:buNone/>
            </a:pPr>
            <a:r>
              <a:rPr lang="en-US" altLang="zh-CN" sz="2400" b="0"/>
              <a:t>{ </a:t>
            </a:r>
            <a:r>
              <a:rPr lang="en-US" altLang="zh-CN" sz="2400" b="0">
                <a:ea typeface="Arial Unicode MS" pitchFamily="34" charset="-122"/>
              </a:rPr>
              <a:t> </a:t>
            </a:r>
            <a:endParaRPr lang="en-US" altLang="zh-CN" sz="2400" b="0">
              <a:ea typeface="Arial Unicode MS" pitchFamily="34" charset="-122"/>
            </a:endParaRPr>
          </a:p>
          <a:p>
            <a:pPr marL="533400" indent="-533400" algn="just" eaLnBrk="1" hangingPunct="1">
              <a:lnSpc>
                <a:spcPct val="90000"/>
              </a:lnSpc>
              <a:buNone/>
            </a:pPr>
            <a:r>
              <a:rPr lang="en-US" altLang="zh-CN" sz="2400" b="0">
                <a:ea typeface="Arial Unicode MS" pitchFamily="34" charset="-122"/>
              </a:rPr>
              <a:t>     </a:t>
            </a:r>
            <a:r>
              <a:rPr lang="en-US" altLang="zh-CN" sz="2400" b="0" err="1">
                <a:ea typeface="Arial Unicode MS" pitchFamily="34" charset="-122"/>
              </a:rPr>
              <a:t>int</a:t>
            </a:r>
            <a:r>
              <a:rPr lang="en-US" altLang="zh-CN" sz="2400" b="0">
                <a:ea typeface="Arial Unicode MS" pitchFamily="34" charset="-122"/>
              </a:rPr>
              <a:t> i;</a:t>
            </a:r>
            <a:endParaRPr lang="en-US" altLang="zh-CN" sz="2400" b="0">
              <a:ea typeface="Arial Unicode MS" pitchFamily="34" charset="-122"/>
            </a:endParaRPr>
          </a:p>
          <a:p>
            <a:pPr marL="533400" indent="-533400" algn="just" eaLnBrk="1" hangingPunct="1">
              <a:lnSpc>
                <a:spcPct val="90000"/>
              </a:lnSpc>
              <a:buNone/>
            </a:pPr>
            <a:r>
              <a:rPr lang="en-US" altLang="zh-CN" sz="2400" b="0">
                <a:ea typeface="Arial Unicode MS" pitchFamily="34" charset="-122"/>
              </a:rPr>
              <a:t>     double x;</a:t>
            </a:r>
            <a:endParaRPr lang="en-US" altLang="zh-CN" sz="2400" b="0">
              <a:ea typeface="Arial Unicode MS" pitchFamily="34" charset="-122"/>
            </a:endParaRPr>
          </a:p>
          <a:p>
            <a:pPr marL="533400" indent="-533400" algn="just" eaLnBrk="1" hangingPunct="1">
              <a:lnSpc>
                <a:spcPct val="90000"/>
              </a:lnSpc>
              <a:buNone/>
            </a:pPr>
            <a:r>
              <a:rPr lang="en-US" altLang="zh-CN" sz="2400" b="0">
                <a:ea typeface="Arial Unicode MS" pitchFamily="34" charset="-122"/>
              </a:rPr>
              <a:t> </a:t>
            </a:r>
            <a:endParaRPr lang="en-US" altLang="zh-CN" sz="2400" b="0">
              <a:ea typeface="Arial Unicode MS" pitchFamily="34" charset="-122"/>
            </a:endParaRPr>
          </a:p>
          <a:p>
            <a:pPr marL="533400" indent="-533400" algn="just" eaLnBrk="1" hangingPunct="1">
              <a:lnSpc>
                <a:spcPct val="90000"/>
              </a:lnSpc>
              <a:buNone/>
            </a:pPr>
            <a:r>
              <a:rPr lang="en-US" altLang="zh-CN" sz="2400" b="0">
                <a:ea typeface="Arial Unicode MS" pitchFamily="34" charset="-122"/>
              </a:rPr>
              <a:t>    x = 3.8;</a:t>
            </a:r>
            <a:endParaRPr lang="en-US" altLang="zh-CN" sz="2400" b="0">
              <a:ea typeface="Arial Unicode MS" pitchFamily="34" charset="-122"/>
            </a:endParaRPr>
          </a:p>
          <a:p>
            <a:pPr marL="533400" indent="-533400" algn="just" eaLnBrk="1" hangingPunct="1">
              <a:lnSpc>
                <a:spcPct val="90000"/>
              </a:lnSpc>
              <a:buNone/>
            </a:pPr>
            <a:r>
              <a:rPr lang="en-US" altLang="zh-CN" sz="2400" b="0">
                <a:ea typeface="Arial Unicode MS" pitchFamily="34" charset="-122"/>
              </a:rPr>
              <a:t>    i = (</a:t>
            </a:r>
            <a:r>
              <a:rPr lang="en-US" altLang="zh-CN" sz="2400" b="0" err="1">
                <a:ea typeface="Arial Unicode MS" pitchFamily="34" charset="-122"/>
              </a:rPr>
              <a:t>int</a:t>
            </a:r>
            <a:r>
              <a:rPr lang="en-US" altLang="zh-CN" sz="2400" b="0">
                <a:ea typeface="Arial Unicode MS" pitchFamily="34" charset="-122"/>
              </a:rPr>
              <a:t>) x;</a:t>
            </a:r>
            <a:endParaRPr lang="en-US" altLang="zh-CN" sz="2400" b="0">
              <a:ea typeface="Arial Unicode MS" pitchFamily="34" charset="-122"/>
            </a:endParaRPr>
          </a:p>
          <a:p>
            <a:pPr marL="533400" indent="-533400" algn="just" eaLnBrk="1" hangingPunct="1">
              <a:lnSpc>
                <a:spcPct val="90000"/>
              </a:lnSpc>
              <a:buNone/>
            </a:pPr>
            <a:r>
              <a:rPr lang="en-US" altLang="zh-CN" sz="2400" b="0">
                <a:ea typeface="Arial Unicode MS" pitchFamily="34" charset="-122"/>
              </a:rPr>
              <a:t>    </a:t>
            </a:r>
            <a:r>
              <a:rPr lang="en-US" altLang="zh-CN" sz="2400" b="0" err="1">
                <a:ea typeface="Arial Unicode MS" pitchFamily="34" charset="-122"/>
              </a:rPr>
              <a:t>printf("x</a:t>
            </a:r>
            <a:r>
              <a:rPr lang="en-US" altLang="zh-CN" sz="2400" b="0">
                <a:ea typeface="Arial Unicode MS" pitchFamily="34" charset="-122"/>
              </a:rPr>
              <a:t> = %f, i = %d \n", x, i);</a:t>
            </a:r>
            <a:endParaRPr lang="en-US" altLang="zh-CN" sz="2400" b="0">
              <a:ea typeface="Arial Unicode MS" pitchFamily="34" charset="-122"/>
            </a:endParaRPr>
          </a:p>
          <a:p>
            <a:pPr marL="533400" indent="-533400" algn="just" eaLnBrk="1" hangingPunct="1">
              <a:lnSpc>
                <a:spcPct val="90000"/>
              </a:lnSpc>
              <a:buNone/>
            </a:pPr>
            <a:r>
              <a:rPr lang="en-US" altLang="zh-CN" sz="2400" b="0">
                <a:ea typeface="Arial Unicode MS" pitchFamily="34" charset="-122"/>
              </a:rPr>
              <a:t>    </a:t>
            </a:r>
            <a:r>
              <a:rPr lang="en-US" altLang="zh-CN" sz="2400" b="0" err="1">
                <a:ea typeface="Arial Unicode MS" pitchFamily="34" charset="-122"/>
              </a:rPr>
              <a:t>printf("(double)(int)x</a:t>
            </a:r>
            <a:r>
              <a:rPr lang="en-US" altLang="zh-CN" sz="2400" b="0">
                <a:ea typeface="Arial Unicode MS" pitchFamily="34" charset="-122"/>
              </a:rPr>
              <a:t> = %</a:t>
            </a:r>
            <a:r>
              <a:rPr lang="en-US" altLang="zh-CN" sz="2400" b="0" err="1">
                <a:ea typeface="Arial Unicode MS" pitchFamily="34" charset="-122"/>
              </a:rPr>
              <a:t>f\n</a:t>
            </a:r>
            <a:r>
              <a:rPr lang="en-US" altLang="zh-CN" sz="2400" b="0">
                <a:ea typeface="Arial Unicode MS" pitchFamily="34" charset="-122"/>
              </a:rPr>
              <a:t>", (</a:t>
            </a:r>
            <a:r>
              <a:rPr lang="en-US" altLang="zh-CN" sz="2400" b="0" err="1">
                <a:ea typeface="Arial Unicode MS" pitchFamily="34" charset="-122"/>
              </a:rPr>
              <a:t>double)(int)x</a:t>
            </a:r>
            <a:r>
              <a:rPr lang="en-US" altLang="zh-CN" sz="2400" b="0">
                <a:ea typeface="Arial Unicode MS" pitchFamily="34" charset="-122"/>
              </a:rPr>
              <a:t>); </a:t>
            </a:r>
            <a:endParaRPr lang="en-US" altLang="zh-CN" sz="2400" b="0">
              <a:ea typeface="Arial Unicode MS" pitchFamily="34" charset="-122"/>
            </a:endParaRPr>
          </a:p>
          <a:p>
            <a:pPr marL="533400" indent="-533400" algn="just" eaLnBrk="1" hangingPunct="1">
              <a:lnSpc>
                <a:spcPct val="90000"/>
              </a:lnSpc>
              <a:buNone/>
            </a:pPr>
            <a:r>
              <a:rPr lang="en-US" altLang="zh-CN" sz="2400" b="0">
                <a:ea typeface="Arial Unicode MS" pitchFamily="34" charset="-122"/>
              </a:rPr>
              <a:t>    </a:t>
            </a:r>
            <a:r>
              <a:rPr lang="en-US" altLang="zh-CN" sz="2400" b="0" err="1">
                <a:ea typeface="Arial Unicode MS" pitchFamily="34" charset="-122"/>
              </a:rPr>
              <a:t>printf</a:t>
            </a:r>
            <a:r>
              <a:rPr lang="en-US" altLang="zh-CN" sz="2400" b="0">
                <a:ea typeface="Arial Unicode MS" pitchFamily="34" charset="-122"/>
              </a:rPr>
              <a:t>(" x mod 3 = %</a:t>
            </a:r>
            <a:r>
              <a:rPr lang="en-US" altLang="zh-CN" sz="2400" b="0" err="1">
                <a:ea typeface="Arial Unicode MS" pitchFamily="34" charset="-122"/>
              </a:rPr>
              <a:t>d\n</a:t>
            </a:r>
            <a:r>
              <a:rPr lang="en-US" altLang="zh-CN" sz="2400" b="0">
                <a:ea typeface="Arial Unicode MS" pitchFamily="34" charset="-122"/>
              </a:rPr>
              <a:t>", (</a:t>
            </a:r>
            <a:r>
              <a:rPr lang="en-US" altLang="zh-CN" sz="2400" b="0" err="1">
                <a:ea typeface="Arial Unicode MS" pitchFamily="34" charset="-122"/>
              </a:rPr>
              <a:t>int)x</a:t>
            </a:r>
            <a:r>
              <a:rPr lang="en-US" altLang="zh-CN" sz="2400" b="0">
                <a:ea typeface="Arial Unicode MS" pitchFamily="34" charset="-122"/>
              </a:rPr>
              <a:t> % 3);  </a:t>
            </a:r>
            <a:endParaRPr lang="en-US" altLang="zh-CN" sz="2400" b="0">
              <a:ea typeface="Arial Unicode MS" pitchFamily="34" charset="-122"/>
            </a:endParaRPr>
          </a:p>
          <a:p>
            <a:pPr marL="533400" indent="-533400" algn="just" eaLnBrk="1" hangingPunct="1">
              <a:lnSpc>
                <a:spcPct val="90000"/>
              </a:lnSpc>
              <a:buNone/>
            </a:pPr>
            <a:r>
              <a:rPr lang="zh-CN" altLang="en-US" sz="2400" b="0" dirty="0">
                <a:ea typeface="Arial Unicode MS" pitchFamily="34" charset="-122"/>
              </a:rPr>
              <a:t>    </a:t>
            </a:r>
            <a:r>
              <a:rPr lang="en-US" altLang="zh-CN" sz="2400" b="0">
                <a:ea typeface="Arial Unicode MS" pitchFamily="34" charset="-122"/>
              </a:rPr>
              <a:t>return 0;</a:t>
            </a:r>
            <a:endParaRPr lang="en-US" altLang="zh-CN" sz="2400" b="0">
              <a:ea typeface="Arial Unicode MS" pitchFamily="34" charset="-122"/>
            </a:endParaRPr>
          </a:p>
          <a:p>
            <a:pPr marL="533400" indent="-533400" algn="just" eaLnBrk="1" hangingPunct="1">
              <a:lnSpc>
                <a:spcPct val="90000"/>
              </a:lnSpc>
              <a:buNone/>
            </a:pPr>
            <a:r>
              <a:rPr lang="en-US" altLang="zh-CN" sz="2400" b="0"/>
              <a:t>}</a:t>
            </a:r>
            <a:endParaRPr lang="en-US" altLang="zh-CN" sz="2400" b="0"/>
          </a:p>
        </p:txBody>
      </p:sp>
      <p:sp>
        <p:nvSpPr>
          <p:cNvPr id="373765" name="Text Box 5"/>
          <p:cNvSpPr txBox="1"/>
          <p:nvPr/>
        </p:nvSpPr>
        <p:spPr>
          <a:xfrm>
            <a:off x="3529013" y="1916113"/>
            <a:ext cx="5299075" cy="1250315"/>
          </a:xfrm>
          <a:prstGeom prst="rect">
            <a:avLst/>
          </a:prstGeom>
          <a:noFill/>
          <a:ln w="12700" cap="rnd" cmpd="sng">
            <a:solidFill>
              <a:schemeClr val="tx1"/>
            </a:solidFill>
            <a:prstDash val="sysDot"/>
            <a:miter/>
            <a:headEnd type="none" w="sm" len="sm"/>
            <a:tailEnd type="none" w="sm" len="sm"/>
          </a:ln>
        </p:spPr>
        <p:txBody>
          <a:bodyPr wrap="square" anchor="t" anchorCtr="0">
            <a:spAutoFit/>
          </a:bodyPr>
          <a:p>
            <a:pPr indent="282575" eaLnBrk="0" hangingPunct="0">
              <a:spcBef>
                <a:spcPts val="200"/>
              </a:spcBef>
            </a:pPr>
            <a:r>
              <a:rPr lang="en-US" altLang="zh-CN" sz="2400">
                <a:latin typeface="Arial" panose="02080604020202020204" pitchFamily="34" charset="0"/>
                <a:ea typeface="Arial Unicode MS" pitchFamily="34" charset="-122"/>
              </a:rPr>
              <a:t>x = 3.800000, i = 3</a:t>
            </a:r>
            <a:endParaRPr lang="en-US" altLang="zh-CN" sz="2400">
              <a:latin typeface="Arial" panose="02080604020202020204" pitchFamily="34" charset="0"/>
              <a:ea typeface="Arial Unicode MS" pitchFamily="34" charset="-122"/>
            </a:endParaRPr>
          </a:p>
          <a:p>
            <a:pPr indent="282575" algn="just" eaLnBrk="0" hangingPunct="0">
              <a:spcBef>
                <a:spcPts val="200"/>
              </a:spcBef>
            </a:pPr>
            <a:r>
              <a:rPr lang="en-US" altLang="zh-CN" sz="2400">
                <a:latin typeface="Arial" panose="02080604020202020204" pitchFamily="34" charset="0"/>
                <a:ea typeface="Arial Unicode MS" pitchFamily="34" charset="-122"/>
              </a:rPr>
              <a:t>(</a:t>
            </a:r>
            <a:r>
              <a:rPr lang="en-US" altLang="zh-CN" sz="2400" err="1">
                <a:latin typeface="Arial" panose="02080604020202020204" pitchFamily="34" charset="0"/>
                <a:ea typeface="Arial Unicode MS" pitchFamily="34" charset="-122"/>
              </a:rPr>
              <a:t>double)(int)x</a:t>
            </a:r>
            <a:r>
              <a:rPr lang="en-US" altLang="zh-CN" sz="2400">
                <a:latin typeface="Arial" panose="02080604020202020204" pitchFamily="34" charset="0"/>
                <a:ea typeface="Arial Unicode MS" pitchFamily="34" charset="-122"/>
              </a:rPr>
              <a:t> = 3.000000</a:t>
            </a:r>
            <a:endParaRPr lang="en-US" altLang="zh-CN" sz="2400">
              <a:latin typeface="Arial" panose="02080604020202020204" pitchFamily="34" charset="0"/>
              <a:ea typeface="Arial Unicode MS" pitchFamily="34" charset="-122"/>
            </a:endParaRPr>
          </a:p>
          <a:p>
            <a:pPr indent="282575" algn="just" eaLnBrk="0" hangingPunct="0">
              <a:spcBef>
                <a:spcPts val="200"/>
              </a:spcBef>
            </a:pPr>
            <a:r>
              <a:rPr lang="en-US" altLang="zh-CN" sz="2400">
                <a:latin typeface="Arial" panose="02080604020202020204" pitchFamily="34" charset="0"/>
                <a:ea typeface="Arial Unicode MS" pitchFamily="34" charset="-122"/>
              </a:rPr>
              <a:t>x mod 3 = 0</a:t>
            </a:r>
            <a:endParaRPr lang="en-US" altLang="zh-CN" sz="2400">
              <a:latin typeface="Arial" panose="02080604020202020204" pitchFamily="34" charset="0"/>
              <a:ea typeface="Arial Unicode MS"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3765"/>
                                        </p:tgtEl>
                                        <p:attrNameLst>
                                          <p:attrName>style.visibility</p:attrName>
                                        </p:attrNameLst>
                                      </p:cBhvr>
                                      <p:to>
                                        <p:strVal val="visible"/>
                                      </p:to>
                                    </p:set>
                                    <p:anim calcmode="lin" valueType="num">
                                      <p:cBhvr additive="base">
                                        <p:cTn id="7" dur="500" fill="hold"/>
                                        <p:tgtEl>
                                          <p:spTgt spid="373765"/>
                                        </p:tgtEl>
                                        <p:attrNameLst>
                                          <p:attrName>ppt_x</p:attrName>
                                        </p:attrNameLst>
                                      </p:cBhvr>
                                      <p:tavLst>
                                        <p:tav tm="0">
                                          <p:val>
                                            <p:strVal val="0-#ppt_w/2"/>
                                          </p:val>
                                        </p:tav>
                                        <p:tav tm="100000">
                                          <p:val>
                                            <p:strVal val="#ppt_x"/>
                                          </p:val>
                                        </p:tav>
                                      </p:tavLst>
                                    </p:anim>
                                    <p:anim calcmode="lin" valueType="num">
                                      <p:cBhvr additive="base">
                                        <p:cTn id="8" dur="500" fill="hold"/>
                                        <p:tgtEl>
                                          <p:spTgt spid="3737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3765">
                                            <p:txEl>
                                              <p:charRg st="0" end="20"/>
                                            </p:txEl>
                                          </p:spTgt>
                                        </p:tgtEl>
                                        <p:attrNameLst>
                                          <p:attrName>style.visibility</p:attrName>
                                        </p:attrNameLst>
                                      </p:cBhvr>
                                      <p:to>
                                        <p:strVal val="visible"/>
                                      </p:to>
                                    </p:set>
                                    <p:anim calcmode="lin" valueType="num">
                                      <p:cBhvr additive="base">
                                        <p:cTn id="13" dur="500" fill="hold"/>
                                        <p:tgtEl>
                                          <p:spTgt spid="373765">
                                            <p:txEl>
                                              <p:charRg st="0" end="2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73765">
                                            <p:txEl>
                                              <p:charRg st="0" end="2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3765">
                                            <p:txEl>
                                              <p:charRg st="20" end="46"/>
                                            </p:txEl>
                                          </p:spTgt>
                                        </p:tgtEl>
                                        <p:attrNameLst>
                                          <p:attrName>style.visibility</p:attrName>
                                        </p:attrNameLst>
                                      </p:cBhvr>
                                      <p:to>
                                        <p:strVal val="visible"/>
                                      </p:to>
                                    </p:set>
                                    <p:anim calcmode="lin" valueType="num">
                                      <p:cBhvr additive="base">
                                        <p:cTn id="19" dur="500" fill="hold"/>
                                        <p:tgtEl>
                                          <p:spTgt spid="373765">
                                            <p:txEl>
                                              <p:charRg st="20" end="4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73765">
                                            <p:txEl>
                                              <p:charRg st="20" end="46"/>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3765">
                                            <p:txEl>
                                              <p:charRg st="46" end="58"/>
                                            </p:txEl>
                                          </p:spTgt>
                                        </p:tgtEl>
                                        <p:attrNameLst>
                                          <p:attrName>style.visibility</p:attrName>
                                        </p:attrNameLst>
                                      </p:cBhvr>
                                      <p:to>
                                        <p:strVal val="visible"/>
                                      </p:to>
                                    </p:set>
                                    <p:anim calcmode="lin" valueType="num">
                                      <p:cBhvr additive="base">
                                        <p:cTn id="25" dur="500" fill="hold"/>
                                        <p:tgtEl>
                                          <p:spTgt spid="373765">
                                            <p:txEl>
                                              <p:charRg st="46" end="58"/>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73765">
                                            <p:txEl>
                                              <p:charRg st="46" end="5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animBg="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Chap</a:t>
            </a:r>
            <a:r>
              <a:rPr lang="zh-CN" altLang="en-US" b="0" dirty="0">
                <a:sym typeface="+mn-ea"/>
              </a:rPr>
              <a:t> </a:t>
            </a:r>
            <a:r>
              <a:rPr lang="zh-CN" altLang="en-US" b="0" dirty="0">
                <a:sym typeface="+mn-ea"/>
              </a:rPr>
              <a:t>6  </a:t>
            </a:r>
            <a:r>
              <a:rPr lang="zh-CN" altLang="en-US" b="0" dirty="0">
                <a:sym typeface="+mn-ea"/>
              </a:rPr>
              <a:t>数据类型和表达式 </a:t>
            </a:r>
            <a:endParaRPr lang="zh-CN" altLang="en-US" b="0" dirty="0">
              <a:sym typeface="+mn-ea"/>
            </a:endParaRPr>
          </a:p>
        </p:txBody>
      </p:sp>
      <p:sp>
        <p:nvSpPr>
          <p:cNvPr id="7171" name="Rectangle 3"/>
          <p:cNvSpPr>
            <a:spLocks noGrp="1"/>
          </p:cNvSpPr>
          <p:nvPr>
            <p:ph idx="1"/>
          </p:nvPr>
        </p:nvSpPr>
        <p:spPr>
          <a:xfrm>
            <a:off x="900113" y="2133600"/>
            <a:ext cx="7200900" cy="3743325"/>
          </a:xfrm>
        </p:spPr>
        <p:txBody>
          <a:bodyPr vert="horz" wrap="square" lIns="91440" tIns="45720" rIns="91440" bIns="45720" anchor="t" anchorCtr="0"/>
          <a:p>
            <a:pPr marL="476250" indent="-476250" eaLnBrk="1" hangingPunct="1">
              <a:spcBef>
                <a:spcPct val="40000"/>
              </a:spcBef>
              <a:buNone/>
            </a:pPr>
            <a:r>
              <a:rPr lang="en-US" altLang="zh-CN" b="0"/>
              <a:t>6.1  数据的存储和基本数据类型</a:t>
            </a:r>
            <a:r>
              <a:rPr lang="en-US" altLang="zh-CN" b="0"/>
              <a:t> </a:t>
            </a:r>
            <a:endParaRPr lang="en-US" altLang="zh-CN" b="0"/>
          </a:p>
          <a:p>
            <a:pPr marL="476250" indent="-476250" algn="l" eaLnBrk="1" hangingPunct="1">
              <a:spcBef>
                <a:spcPct val="40000"/>
              </a:spcBef>
              <a:buNone/>
            </a:pPr>
            <a:r>
              <a:rPr lang="en-US" altLang="zh-CN" b="0"/>
              <a:t>6.2  常量和变量 </a:t>
            </a:r>
            <a:endParaRPr lang="en-US" altLang="zh-CN" b="0"/>
          </a:p>
          <a:p>
            <a:pPr marL="476250" indent="-476250" algn="l" eaLnBrk="1" hangingPunct="1">
              <a:spcBef>
                <a:spcPct val="40000"/>
              </a:spcBef>
              <a:buNone/>
            </a:pPr>
            <a:r>
              <a:rPr lang="en-US" altLang="zh-CN" b="0"/>
              <a:t>6.3  数据的输入和输出</a:t>
            </a:r>
            <a:endParaRPr lang="en-US" altLang="zh-CN" b="0"/>
          </a:p>
          <a:p>
            <a:pPr marL="476250" indent="-476250" algn="l" eaLnBrk="1" hangingPunct="1">
              <a:spcBef>
                <a:spcPct val="40000"/>
              </a:spcBef>
              <a:buNone/>
            </a:pPr>
            <a:r>
              <a:rPr lang="en-US" altLang="zh-CN" b="0"/>
              <a:t>6.4  类型转换</a:t>
            </a:r>
            <a:endParaRPr lang="en-US" altLang="zh-CN" b="0"/>
          </a:p>
          <a:p>
            <a:pPr marL="476250" indent="-476250" eaLnBrk="1" hangingPunct="1">
              <a:spcBef>
                <a:spcPct val="40000"/>
              </a:spcBef>
              <a:buNone/>
            </a:pPr>
            <a:r>
              <a:rPr lang="en-US" altLang="zh-CN" b="0">
                <a:solidFill>
                  <a:srgbClr val="FF0000"/>
                </a:solidFill>
              </a:rPr>
              <a:t>6.5  </a:t>
            </a:r>
            <a:r>
              <a:rPr lang="zh-CN" altLang="en-US" b="0" dirty="0">
                <a:solidFill>
                  <a:srgbClr val="FF0000"/>
                </a:solidFill>
                <a:latin typeface="宋体" pitchFamily="2" charset="-122"/>
              </a:rPr>
              <a:t>表达式</a:t>
            </a:r>
            <a:endParaRPr lang="zh-CN" altLang="en-US" b="0" dirty="0">
              <a:solidFill>
                <a:srgbClr val="FF0000"/>
              </a:solidFill>
              <a:latin typeface="宋体"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4786" name="Rectangle 2"/>
          <p:cNvSpPr>
            <a:spLocks noGrp="1"/>
          </p:cNvSpPr>
          <p:nvPr>
            <p:ph idx="1"/>
          </p:nvPr>
        </p:nvSpPr>
        <p:spPr>
          <a:xfrm>
            <a:off x="381000" y="1447800"/>
            <a:ext cx="8153400" cy="4572000"/>
          </a:xfrm>
        </p:spPr>
        <p:txBody>
          <a:bodyPr vert="horz" wrap="square" lIns="91440" tIns="45720" rIns="91440" bIns="45720" anchor="t" anchorCtr="0"/>
          <a:p>
            <a:pPr algn="just" eaLnBrk="1" hangingPunct="1">
              <a:buClr>
                <a:schemeClr val="tx2"/>
              </a:buClr>
              <a:buFontTx/>
              <a:buNone/>
            </a:pPr>
            <a:r>
              <a:rPr lang="zh-CN" altLang="en-US" b="0" dirty="0"/>
              <a:t>表达式：由运算符和运算对象（操作数）组成的有意义的运算式子，它的值和类型由参加运算的运算符和运算对象决定。</a:t>
            </a:r>
            <a:endParaRPr lang="zh-CN" altLang="en-US" b="0" dirty="0"/>
          </a:p>
          <a:p>
            <a:pPr lvl="1" algn="just" eaLnBrk="1" hangingPunct="1"/>
            <a:r>
              <a:rPr lang="zh-CN" altLang="en-US" b="0" dirty="0"/>
              <a:t>运算符：具有运算功能的符号</a:t>
            </a:r>
            <a:endParaRPr lang="zh-CN" altLang="en-US" b="0" dirty="0"/>
          </a:p>
          <a:p>
            <a:pPr lvl="1" algn="just" eaLnBrk="1" hangingPunct="1"/>
            <a:r>
              <a:rPr lang="zh-CN" altLang="en-US" b="0" dirty="0"/>
              <a:t>运算对象：常量、变量和函数等表达式</a:t>
            </a:r>
            <a:endParaRPr lang="zh-CN" altLang="en-US" b="0" dirty="0"/>
          </a:p>
          <a:p>
            <a:pPr algn="just" eaLnBrk="1" hangingPunct="1">
              <a:buNone/>
            </a:pPr>
            <a:endParaRPr lang="zh-CN" altLang="en-US" b="0" dirty="0"/>
          </a:p>
          <a:p>
            <a:pPr algn="just" eaLnBrk="1" hangingPunct="1">
              <a:buNone/>
            </a:pPr>
            <a:r>
              <a:rPr lang="zh-CN" altLang="en-US" b="0" dirty="0"/>
              <a:t>算术表达式、赋值表达式、关系表达式、逻辑表达式、条件表达式和逗号表达式等 </a:t>
            </a:r>
            <a:endParaRPr lang="zh-CN" altLang="en-US" b="0" dirty="0">
              <a:ea typeface="Arial" panose="02080604020202020204" pitchFamily="34" charset="0"/>
            </a:endParaRPr>
          </a:p>
        </p:txBody>
      </p:sp>
      <p:sp>
        <p:nvSpPr>
          <p:cNvPr id="59395" name="Rectangle 3"/>
          <p:cNvSpPr>
            <a:spLocks noGrp="1"/>
          </p:cNvSpPr>
          <p:nvPr>
            <p:ph type="title"/>
          </p:nvPr>
        </p:nvSpPr>
        <p:spPr>
          <a:xfrm>
            <a:off x="533400" y="457200"/>
            <a:ext cx="8153400" cy="9144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 </a:t>
            </a:r>
            <a:r>
              <a:rPr lang="zh-CN" altLang="en-US" b="0" dirty="0">
                <a:sym typeface="+mn-ea"/>
              </a:rPr>
              <a:t>6.5 </a:t>
            </a:r>
            <a:r>
              <a:rPr lang="zh-CN" altLang="en-US" b="0" dirty="0">
                <a:sym typeface="+mn-ea"/>
              </a:rPr>
              <a:t>表达式 </a:t>
            </a:r>
            <a:endParaRPr lang="zh-CN" altLang="en-US" b="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4786">
                                            <p:txEl>
                                              <p:charRg st="0" end="54"/>
                                            </p:txEl>
                                          </p:spTgt>
                                        </p:tgtEl>
                                        <p:attrNameLst>
                                          <p:attrName>style.visibility</p:attrName>
                                        </p:attrNameLst>
                                      </p:cBhvr>
                                      <p:to>
                                        <p:strVal val="visible"/>
                                      </p:to>
                                    </p:set>
                                    <p:anim calcmode="lin" valueType="num">
                                      <p:cBhvr additive="base">
                                        <p:cTn id="7" dur="500" fill="hold"/>
                                        <p:tgtEl>
                                          <p:spTgt spid="374786">
                                            <p:txEl>
                                              <p:charRg st="0" end="5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4786">
                                            <p:txEl>
                                              <p:charRg st="0" end="54"/>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74786">
                                            <p:txEl>
                                              <p:charRg st="54" end="68"/>
                                            </p:txEl>
                                          </p:spTgt>
                                        </p:tgtEl>
                                        <p:attrNameLst>
                                          <p:attrName>style.visibility</p:attrName>
                                        </p:attrNameLst>
                                      </p:cBhvr>
                                      <p:to>
                                        <p:strVal val="visible"/>
                                      </p:to>
                                    </p:set>
                                    <p:anim calcmode="lin" valueType="num">
                                      <p:cBhvr additive="base">
                                        <p:cTn id="11" dur="500" fill="hold"/>
                                        <p:tgtEl>
                                          <p:spTgt spid="374786">
                                            <p:txEl>
                                              <p:charRg st="54" end="68"/>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74786">
                                            <p:txEl>
                                              <p:charRg st="54" end="68"/>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74786">
                                            <p:txEl>
                                              <p:charRg st="68" end="86"/>
                                            </p:txEl>
                                          </p:spTgt>
                                        </p:tgtEl>
                                        <p:attrNameLst>
                                          <p:attrName>style.visibility</p:attrName>
                                        </p:attrNameLst>
                                      </p:cBhvr>
                                      <p:to>
                                        <p:strVal val="visible"/>
                                      </p:to>
                                    </p:set>
                                    <p:anim calcmode="lin" valueType="num">
                                      <p:cBhvr additive="base">
                                        <p:cTn id="15" dur="500" fill="hold"/>
                                        <p:tgtEl>
                                          <p:spTgt spid="374786">
                                            <p:txEl>
                                              <p:charRg st="68" end="86"/>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74786">
                                            <p:txEl>
                                              <p:charRg st="68" end="86"/>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74786">
                                            <p:txEl>
                                              <p:charRg st="87" end="125"/>
                                            </p:txEl>
                                          </p:spTgt>
                                        </p:tgtEl>
                                        <p:attrNameLst>
                                          <p:attrName>style.visibility</p:attrName>
                                        </p:attrNameLst>
                                      </p:cBhvr>
                                      <p:to>
                                        <p:strVal val="visible"/>
                                      </p:to>
                                    </p:set>
                                    <p:anim calcmode="lin" valueType="num">
                                      <p:cBhvr additive="base">
                                        <p:cTn id="21" dur="500" fill="hold"/>
                                        <p:tgtEl>
                                          <p:spTgt spid="374786">
                                            <p:txEl>
                                              <p:charRg st="87" end="125"/>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74786">
                                            <p:txEl>
                                              <p:charRg st="87" end="12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xfrm>
            <a:off x="395288" y="333375"/>
            <a:ext cx="7772400" cy="838200"/>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6.5.1  </a:t>
            </a:r>
            <a:r>
              <a:rPr lang="zh-CN" altLang="en-US" b="0" dirty="0">
                <a:sym typeface="+mn-ea"/>
              </a:rPr>
              <a:t>算术表达式－算术运算符</a:t>
            </a:r>
            <a:endParaRPr lang="zh-CN" altLang="en-US" b="0" dirty="0">
              <a:sym typeface="+mn-ea"/>
            </a:endParaRPr>
          </a:p>
        </p:txBody>
      </p:sp>
      <p:sp>
        <p:nvSpPr>
          <p:cNvPr id="61443" name="Rectangle 3"/>
          <p:cNvSpPr>
            <a:spLocks noGrp="1"/>
          </p:cNvSpPr>
          <p:nvPr>
            <p:ph idx="1"/>
          </p:nvPr>
        </p:nvSpPr>
        <p:spPr>
          <a:xfrm>
            <a:off x="468313" y="1196975"/>
            <a:ext cx="8153400" cy="5334000"/>
          </a:xfrm>
        </p:spPr>
        <p:txBody>
          <a:bodyPr vert="horz" wrap="square" lIns="91440" tIns="45720" rIns="91440" bIns="45720" anchor="t" anchorCtr="0"/>
          <a:p>
            <a:pPr marL="609600" indent="-609600" algn="just" eaLnBrk="1" hangingPunct="1"/>
            <a:r>
              <a:rPr lang="zh-CN" altLang="en-US" sz="2800" b="0" dirty="0">
                <a:latin typeface="宋体" pitchFamily="2" charset="-122"/>
              </a:rPr>
              <a:t>单目  </a:t>
            </a:r>
            <a:r>
              <a:rPr lang="zh-CN" altLang="en-US" sz="2800" b="0" dirty="0">
                <a:solidFill>
                  <a:schemeClr val="bg2"/>
                </a:solidFill>
              </a:rPr>
              <a:t>+   -   ++   --</a:t>
            </a:r>
            <a:endParaRPr lang="zh-CN" altLang="en-US" sz="2800" b="0" dirty="0">
              <a:solidFill>
                <a:schemeClr val="bg2"/>
              </a:solidFill>
            </a:endParaRPr>
          </a:p>
          <a:p>
            <a:pPr marL="609600" indent="-609600" algn="just" eaLnBrk="1" hangingPunct="1"/>
            <a:r>
              <a:rPr lang="zh-CN" altLang="en-US" sz="2800" b="0" dirty="0">
                <a:latin typeface="宋体" pitchFamily="2" charset="-122"/>
              </a:rPr>
              <a:t>双目  </a:t>
            </a:r>
            <a:r>
              <a:rPr lang="zh-CN" altLang="en-US" sz="2800" b="0" dirty="0">
                <a:solidFill>
                  <a:schemeClr val="bg2"/>
                </a:solidFill>
              </a:rPr>
              <a:t>+   -     *     /     %</a:t>
            </a:r>
            <a:endParaRPr lang="zh-CN" altLang="en-US" sz="2800" b="0" dirty="0">
              <a:solidFill>
                <a:schemeClr val="bg2"/>
              </a:solidFill>
            </a:endParaRPr>
          </a:p>
          <a:p>
            <a:pPr marL="609600" indent="-609600" algn="just" eaLnBrk="1" hangingPunct="1">
              <a:buNone/>
            </a:pPr>
            <a:r>
              <a:rPr lang="zh-CN" altLang="en-US" sz="2800" b="0" dirty="0"/>
              <a:t>注意</a:t>
            </a:r>
            <a:endParaRPr lang="zh-CN" altLang="en-US" sz="2800" b="0" dirty="0"/>
          </a:p>
          <a:p>
            <a:pPr marL="990600" lvl="1" indent="-533400" algn="just" eaLnBrk="1" hangingPunct="1"/>
            <a:r>
              <a:rPr lang="zh-CN" altLang="en-US" sz="2400" b="0" dirty="0">
                <a:solidFill>
                  <a:srgbClr val="CC0066"/>
                </a:solidFill>
              </a:rPr>
              <a:t>/   </a:t>
            </a:r>
            <a:r>
              <a:rPr lang="zh-CN" altLang="en-US" sz="2400" b="0" dirty="0"/>
              <a:t>整数除整数，得整数</a:t>
            </a:r>
            <a:endParaRPr lang="zh-CN" altLang="en-US" sz="2400" b="0" dirty="0"/>
          </a:p>
          <a:p>
            <a:pPr marL="1371600" lvl="2" indent="-457200" algn="just" eaLnBrk="1" hangingPunct="1">
              <a:buNone/>
            </a:pPr>
            <a:r>
              <a:rPr lang="zh-CN" altLang="en-US" b="0" dirty="0"/>
              <a:t>1/4 = 0，10/3 = 3</a:t>
            </a:r>
            <a:endParaRPr lang="zh-CN" altLang="en-US" b="0" dirty="0"/>
          </a:p>
          <a:p>
            <a:pPr marL="990600" lvl="1" indent="-533400" algn="just" eaLnBrk="1" hangingPunct="1"/>
            <a:r>
              <a:rPr lang="zh-CN" altLang="en-US" sz="2400" b="0" dirty="0">
                <a:solidFill>
                  <a:srgbClr val="CC0066"/>
                </a:solidFill>
              </a:rPr>
              <a:t>%   </a:t>
            </a:r>
            <a:r>
              <a:rPr lang="zh-CN" altLang="en-US" sz="2400" b="0" dirty="0"/>
              <a:t>模(求余)：</a:t>
            </a:r>
            <a:r>
              <a:rPr lang="en-US" altLang="zh-CN" sz="2400" b="0"/>
              <a:t> </a:t>
            </a:r>
            <a:r>
              <a:rPr lang="zh-CN" altLang="en-US" sz="2400" b="0" dirty="0"/>
              <a:t>针对整型数据</a:t>
            </a:r>
            <a:endParaRPr lang="zh-CN" altLang="en-US" sz="2400" b="0" dirty="0"/>
          </a:p>
          <a:p>
            <a:pPr marL="1371600" lvl="2" indent="-457200" algn="just" eaLnBrk="1" hangingPunct="1">
              <a:buNone/>
            </a:pPr>
            <a:r>
              <a:rPr lang="zh-CN" altLang="en-US" b="0" dirty="0"/>
              <a:t>5%6 = 5，9%4 = 1，100%4 = 0</a:t>
            </a:r>
            <a:endParaRPr lang="zh-CN" altLang="en-US" b="0" dirty="0"/>
          </a:p>
          <a:p>
            <a:pPr marL="990600" lvl="1" indent="-533400" algn="just" eaLnBrk="1" hangingPunct="1"/>
            <a:r>
              <a:rPr lang="zh-CN" altLang="en-US" sz="2400" b="0" dirty="0">
                <a:solidFill>
                  <a:srgbClr val="CC0066"/>
                </a:solidFill>
              </a:rPr>
              <a:t>+</a:t>
            </a:r>
            <a:r>
              <a:rPr lang="zh-CN" altLang="en-US" sz="2400" b="0" dirty="0"/>
              <a:t>  </a:t>
            </a:r>
            <a:r>
              <a:rPr lang="zh-CN" altLang="en-US" sz="2400" b="0" dirty="0">
                <a:latin typeface="宋体" pitchFamily="2" charset="-122"/>
              </a:rPr>
              <a:t>和</a:t>
            </a:r>
            <a:r>
              <a:rPr lang="zh-CN" altLang="en-US" sz="2400" b="0" dirty="0"/>
              <a:t>  </a:t>
            </a:r>
            <a:r>
              <a:rPr lang="zh-CN" altLang="en-US" sz="2400" b="0" dirty="0">
                <a:solidFill>
                  <a:srgbClr val="CC0066"/>
                </a:solidFill>
              </a:rPr>
              <a:t>–</a:t>
            </a:r>
            <a:r>
              <a:rPr lang="zh-CN" altLang="en-US" sz="2400" b="0" dirty="0"/>
              <a:t> </a:t>
            </a:r>
            <a:endParaRPr lang="zh-CN" altLang="en-US" sz="2400" b="0" dirty="0"/>
          </a:p>
          <a:p>
            <a:pPr marL="1371600" lvl="2" indent="-457200" algn="just" eaLnBrk="1" hangingPunct="1"/>
            <a:r>
              <a:rPr lang="zh-CN" altLang="en-US" sz="2000" b="0" dirty="0">
                <a:latin typeface="宋体" pitchFamily="2" charset="-122"/>
              </a:rPr>
              <a:t>单目运算符，</a:t>
            </a:r>
            <a:r>
              <a:rPr lang="zh-CN" altLang="en-US" sz="2000" b="0" dirty="0"/>
              <a:t> +10 </a:t>
            </a:r>
            <a:r>
              <a:rPr lang="zh-CN" altLang="en-US" sz="2000" b="0" dirty="0">
                <a:latin typeface="宋体" pitchFamily="2" charset="-122"/>
              </a:rPr>
              <a:t>和</a:t>
            </a:r>
            <a:r>
              <a:rPr lang="zh-CN" altLang="en-US" sz="2000" b="0" dirty="0"/>
              <a:t> –10</a:t>
            </a:r>
            <a:endParaRPr lang="zh-CN" altLang="en-US" sz="2000" b="0" dirty="0"/>
          </a:p>
          <a:p>
            <a:pPr marL="1371600" lvl="2" indent="-457200" algn="just" eaLnBrk="1" hangingPunct="1"/>
            <a:r>
              <a:rPr lang="zh-CN" altLang="en-US" sz="2000" b="0" dirty="0">
                <a:latin typeface="宋体" pitchFamily="2" charset="-122"/>
              </a:rPr>
              <a:t>双目运算符，</a:t>
            </a:r>
            <a:r>
              <a:rPr lang="zh-CN" altLang="en-US" sz="2000" b="0" dirty="0"/>
              <a:t> </a:t>
            </a:r>
            <a:r>
              <a:rPr lang="en-US" altLang="zh-CN" sz="2000" b="0"/>
              <a:t>x+10 </a:t>
            </a:r>
            <a:r>
              <a:rPr lang="zh-CN" altLang="en-US" sz="2000" b="0" dirty="0">
                <a:latin typeface="宋体" pitchFamily="2" charset="-122"/>
              </a:rPr>
              <a:t>和 </a:t>
            </a:r>
            <a:r>
              <a:rPr lang="en-US" altLang="zh-CN" sz="2000" b="0"/>
              <a:t>y –10</a:t>
            </a:r>
            <a:endParaRPr lang="en-US" altLang="zh-CN" sz="2000" b="0"/>
          </a:p>
          <a:p>
            <a:pPr marL="990600" lvl="1" indent="-533400" algn="just" eaLnBrk="1" hangingPunct="1"/>
            <a:r>
              <a:rPr lang="en-US" altLang="zh-CN" sz="2400" b="0"/>
              <a:t> </a:t>
            </a:r>
            <a:r>
              <a:rPr lang="zh-CN" altLang="en-US" sz="2400" b="0" dirty="0">
                <a:latin typeface="宋体" pitchFamily="2" charset="-122"/>
              </a:rPr>
              <a:t>双目运算符两侧操作数的类型要相同，否则，自动类型转换后，再运算。</a:t>
            </a:r>
            <a:endParaRPr lang="zh-CN" altLang="zh-CN" sz="2400" b="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xfrm>
            <a:off x="457200" y="457200"/>
            <a:ext cx="7210425" cy="955675"/>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自增运算符++和自减运算符--</a:t>
            </a:r>
            <a:endParaRPr lang="zh-CN" altLang="en-US" b="0" dirty="0">
              <a:sym typeface="+mn-ea"/>
            </a:endParaRPr>
          </a:p>
        </p:txBody>
      </p:sp>
      <p:sp>
        <p:nvSpPr>
          <p:cNvPr id="407555" name="Rectangle 3"/>
          <p:cNvSpPr>
            <a:spLocks noGrp="1"/>
          </p:cNvSpPr>
          <p:nvPr>
            <p:ph idx="1"/>
          </p:nvPr>
        </p:nvSpPr>
        <p:spPr>
          <a:xfrm>
            <a:off x="539750" y="1484313"/>
            <a:ext cx="8229600" cy="4572000"/>
          </a:xfrm>
        </p:spPr>
        <p:txBody>
          <a:bodyPr vert="horz" wrap="square" lIns="91440" tIns="45720" rIns="91440" bIns="45720" anchor="t" anchorCtr="0"/>
          <a:p>
            <a:pPr lvl="1" eaLnBrk="1" hangingPunct="1">
              <a:buNone/>
            </a:pPr>
            <a:r>
              <a:rPr lang="en-US" altLang="zh-CN" sz="2400" b="0" err="1"/>
              <a:t>int</a:t>
            </a:r>
            <a:r>
              <a:rPr lang="en-US" altLang="zh-CN" sz="2400" b="0"/>
              <a:t>  n;</a:t>
            </a:r>
            <a:endParaRPr lang="en-US" altLang="zh-CN" sz="2400" b="0"/>
          </a:p>
          <a:p>
            <a:pPr lvl="1" eaLnBrk="1" hangingPunct="1">
              <a:buNone/>
            </a:pPr>
            <a:r>
              <a:rPr lang="en-US" altLang="zh-CN" b="0">
                <a:solidFill>
                  <a:srgbClr val="CC0066"/>
                </a:solidFill>
              </a:rPr>
              <a:t>n++  ++n   n--   --n</a:t>
            </a:r>
            <a:r>
              <a:rPr lang="en-US" altLang="zh-CN" sz="2400" b="0"/>
              <a:t> </a:t>
            </a:r>
            <a:r>
              <a:rPr lang="zh-CN" altLang="en-US" sz="2400" b="0" dirty="0"/>
              <a:t>（只适合变量运算）</a:t>
            </a:r>
            <a:endParaRPr lang="en-US" altLang="zh-CN" sz="2400" b="0">
              <a:solidFill>
                <a:schemeClr val="tx2"/>
              </a:solidFill>
            </a:endParaRPr>
          </a:p>
          <a:p>
            <a:pPr lvl="1" eaLnBrk="1" hangingPunct="1"/>
            <a:r>
              <a:rPr lang="zh-CN" altLang="en-US" b="0" dirty="0"/>
              <a:t>使变量的值增1或减1</a:t>
            </a:r>
            <a:endParaRPr lang="zh-CN" altLang="en-US" b="0" dirty="0"/>
          </a:p>
          <a:p>
            <a:pPr lvl="2" eaLnBrk="1" hangingPunct="1">
              <a:buNone/>
            </a:pPr>
            <a:r>
              <a:rPr lang="zh-CN" altLang="en-US" sz="2800" b="0" dirty="0">
                <a:solidFill>
                  <a:srgbClr val="CC0066"/>
                </a:solidFill>
              </a:rPr>
              <a:t>++</a:t>
            </a:r>
            <a:r>
              <a:rPr lang="en-US" altLang="zh-CN" sz="2800" b="0">
                <a:solidFill>
                  <a:srgbClr val="CC0066"/>
                </a:solidFill>
              </a:rPr>
              <a:t>n </a:t>
            </a:r>
            <a:r>
              <a:rPr lang="en-US" altLang="zh-CN" b="0">
                <a:solidFill>
                  <a:srgbClr val="CC0066"/>
                </a:solidFill>
              </a:rPr>
              <a:t> </a:t>
            </a:r>
            <a:r>
              <a:rPr lang="en-US" altLang="zh-CN" sz="2800" b="0">
                <a:solidFill>
                  <a:srgbClr val="CC0066"/>
                </a:solidFill>
              </a:rPr>
              <a:t>n++</a:t>
            </a:r>
            <a:r>
              <a:rPr lang="en-US" altLang="zh-CN" sz="2800" b="0">
                <a:solidFill>
                  <a:srgbClr val="FF9933"/>
                </a:solidFill>
              </a:rPr>
              <a:t>      </a:t>
            </a:r>
            <a:r>
              <a:rPr lang="en-US" altLang="zh-CN" b="0"/>
              <a:t>n = n + 1</a:t>
            </a:r>
            <a:endParaRPr lang="en-US" altLang="zh-CN" b="0"/>
          </a:p>
          <a:p>
            <a:pPr lvl="2" eaLnBrk="1" hangingPunct="1">
              <a:buNone/>
            </a:pPr>
            <a:r>
              <a:rPr lang="zh-CN" altLang="en-US" sz="2800" b="0" dirty="0">
                <a:solidFill>
                  <a:srgbClr val="CC0066"/>
                </a:solidFill>
              </a:rPr>
              <a:t>--</a:t>
            </a:r>
            <a:r>
              <a:rPr lang="en-US" altLang="zh-CN" sz="2800" b="0">
                <a:solidFill>
                  <a:srgbClr val="CC0066"/>
                </a:solidFill>
              </a:rPr>
              <a:t>n</a:t>
            </a:r>
            <a:r>
              <a:rPr lang="en-US" altLang="zh-CN" b="0">
                <a:solidFill>
                  <a:srgbClr val="CC0066"/>
                </a:solidFill>
              </a:rPr>
              <a:t>    </a:t>
            </a:r>
            <a:r>
              <a:rPr lang="en-US" altLang="zh-CN" sz="2800" b="0">
                <a:solidFill>
                  <a:srgbClr val="CC0066"/>
                </a:solidFill>
              </a:rPr>
              <a:t>n--</a:t>
            </a:r>
            <a:r>
              <a:rPr lang="en-US" altLang="zh-CN" sz="2800" b="0">
                <a:solidFill>
                  <a:srgbClr val="FF9933"/>
                </a:solidFill>
              </a:rPr>
              <a:t>        </a:t>
            </a:r>
            <a:r>
              <a:rPr lang="en-US" altLang="zh-CN" b="0"/>
              <a:t>n = n - 1</a:t>
            </a:r>
            <a:endParaRPr lang="en-US" altLang="zh-CN" b="0"/>
          </a:p>
          <a:p>
            <a:pPr lvl="1" eaLnBrk="1" hangingPunct="1"/>
            <a:r>
              <a:rPr lang="zh-CN" altLang="en-US" b="0" dirty="0"/>
              <a:t>取变量的值作为表达式的值</a:t>
            </a:r>
            <a:endParaRPr lang="zh-CN" altLang="en-US" b="0" dirty="0"/>
          </a:p>
          <a:p>
            <a:pPr lvl="2" eaLnBrk="1" hangingPunct="1">
              <a:buNone/>
            </a:pPr>
            <a:r>
              <a:rPr lang="zh-CN" altLang="en-US" sz="2800" b="0" dirty="0">
                <a:solidFill>
                  <a:srgbClr val="CC0066"/>
                </a:solidFill>
              </a:rPr>
              <a:t>++</a:t>
            </a:r>
            <a:r>
              <a:rPr lang="en-US" altLang="zh-CN" sz="2800" b="0" err="1">
                <a:solidFill>
                  <a:srgbClr val="CC0066"/>
                </a:solidFill>
              </a:rPr>
              <a:t>n</a:t>
            </a:r>
            <a:r>
              <a:rPr lang="en-US" altLang="zh-CN" b="0" err="1"/>
              <a:t>：n</a:t>
            </a:r>
            <a:r>
              <a:rPr lang="en-US" altLang="zh-CN" b="0"/>
              <a:t> = n + 1；</a:t>
            </a:r>
            <a:r>
              <a:rPr lang="zh-CN" altLang="en-US" b="0" dirty="0"/>
              <a:t>取</a:t>
            </a:r>
            <a:r>
              <a:rPr lang="en-US" altLang="zh-CN" b="0"/>
              <a:t>n</a:t>
            </a:r>
            <a:r>
              <a:rPr lang="zh-CN" altLang="en-US" b="0" dirty="0"/>
              <a:t>值作为表达式 ++</a:t>
            </a:r>
            <a:r>
              <a:rPr lang="en-US" altLang="zh-CN" b="0"/>
              <a:t>n </a:t>
            </a:r>
            <a:r>
              <a:rPr lang="zh-CN" altLang="en-US" b="0" dirty="0"/>
              <a:t>的值</a:t>
            </a:r>
            <a:endParaRPr lang="zh-CN" altLang="en-US" b="0" dirty="0"/>
          </a:p>
          <a:p>
            <a:pPr lvl="2" eaLnBrk="1" hangingPunct="1">
              <a:buNone/>
            </a:pPr>
            <a:r>
              <a:rPr lang="en-US" altLang="zh-CN" sz="2800" b="0">
                <a:solidFill>
                  <a:srgbClr val="CC0066"/>
                </a:solidFill>
              </a:rPr>
              <a:t>n++</a:t>
            </a:r>
            <a:r>
              <a:rPr lang="en-US" altLang="zh-CN" b="0"/>
              <a:t>：</a:t>
            </a:r>
            <a:r>
              <a:rPr lang="zh-CN" altLang="en-US" b="0" dirty="0"/>
              <a:t>取</a:t>
            </a:r>
            <a:r>
              <a:rPr lang="en-US" altLang="zh-CN" b="0"/>
              <a:t>n</a:t>
            </a:r>
            <a:r>
              <a:rPr lang="zh-CN" altLang="en-US" b="0" dirty="0"/>
              <a:t>值作为表达式 </a:t>
            </a:r>
            <a:r>
              <a:rPr lang="en-US" altLang="zh-CN" b="0"/>
              <a:t>n</a:t>
            </a:r>
            <a:r>
              <a:rPr lang="zh-CN" altLang="en-US" b="0" dirty="0"/>
              <a:t>++ 的值；</a:t>
            </a:r>
            <a:r>
              <a:rPr lang="en-US" altLang="zh-CN" b="0"/>
              <a:t>n = n + 1</a:t>
            </a:r>
            <a:endParaRPr lang="zh-CN" altLang="zh-CN"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7555">
                                            <p:txEl>
                                              <p:charRg st="0" end="8"/>
                                            </p:txEl>
                                          </p:spTgt>
                                        </p:tgtEl>
                                        <p:attrNameLst>
                                          <p:attrName>style.visibility</p:attrName>
                                        </p:attrNameLst>
                                      </p:cBhvr>
                                      <p:to>
                                        <p:strVal val="visible"/>
                                      </p:to>
                                    </p:set>
                                    <p:anim calcmode="lin" valueType="num">
                                      <p:cBhvr additive="base">
                                        <p:cTn id="7" dur="500" fill="hold"/>
                                        <p:tgtEl>
                                          <p:spTgt spid="407555">
                                            <p:txEl>
                                              <p:charRg st="0" end="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7555">
                                            <p:txEl>
                                              <p:charRg st="0" end="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7555">
                                            <p:txEl>
                                              <p:charRg st="8" end="39"/>
                                            </p:txEl>
                                          </p:spTgt>
                                        </p:tgtEl>
                                        <p:attrNameLst>
                                          <p:attrName>style.visibility</p:attrName>
                                        </p:attrNameLst>
                                      </p:cBhvr>
                                      <p:to>
                                        <p:strVal val="visible"/>
                                      </p:to>
                                    </p:set>
                                    <p:anim calcmode="lin" valueType="num">
                                      <p:cBhvr additive="base">
                                        <p:cTn id="13" dur="500" fill="hold"/>
                                        <p:tgtEl>
                                          <p:spTgt spid="407555">
                                            <p:txEl>
                                              <p:charRg st="8" end="39"/>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7555">
                                            <p:txEl>
                                              <p:charRg st="8" end="39"/>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7555">
                                            <p:txEl>
                                              <p:charRg st="39" end="50"/>
                                            </p:txEl>
                                          </p:spTgt>
                                        </p:tgtEl>
                                        <p:attrNameLst>
                                          <p:attrName>style.visibility</p:attrName>
                                        </p:attrNameLst>
                                      </p:cBhvr>
                                      <p:to>
                                        <p:strVal val="visible"/>
                                      </p:to>
                                    </p:set>
                                    <p:anim calcmode="lin" valueType="num">
                                      <p:cBhvr additive="base">
                                        <p:cTn id="19" dur="500" fill="hold"/>
                                        <p:tgtEl>
                                          <p:spTgt spid="407555">
                                            <p:txEl>
                                              <p:charRg st="39" end="5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7555">
                                            <p:txEl>
                                              <p:charRg st="39" end="5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7555">
                                            <p:txEl>
                                              <p:charRg st="50" end="74"/>
                                            </p:txEl>
                                          </p:spTgt>
                                        </p:tgtEl>
                                        <p:attrNameLst>
                                          <p:attrName>style.visibility</p:attrName>
                                        </p:attrNameLst>
                                      </p:cBhvr>
                                      <p:to>
                                        <p:strVal val="visible"/>
                                      </p:to>
                                    </p:set>
                                    <p:anim calcmode="lin" valueType="num">
                                      <p:cBhvr additive="base">
                                        <p:cTn id="25" dur="500" fill="hold"/>
                                        <p:tgtEl>
                                          <p:spTgt spid="407555">
                                            <p:txEl>
                                              <p:charRg st="50" end="7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7555">
                                            <p:txEl>
                                              <p:charRg st="50" end="7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7555">
                                            <p:txEl>
                                              <p:charRg st="74" end="102"/>
                                            </p:txEl>
                                          </p:spTgt>
                                        </p:tgtEl>
                                        <p:attrNameLst>
                                          <p:attrName>style.visibility</p:attrName>
                                        </p:attrNameLst>
                                      </p:cBhvr>
                                      <p:to>
                                        <p:strVal val="visible"/>
                                      </p:to>
                                    </p:set>
                                    <p:anim calcmode="lin" valueType="num">
                                      <p:cBhvr additive="base">
                                        <p:cTn id="31" dur="500" fill="hold"/>
                                        <p:tgtEl>
                                          <p:spTgt spid="407555">
                                            <p:txEl>
                                              <p:charRg st="74" end="10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07555">
                                            <p:txEl>
                                              <p:charRg st="74" end="102"/>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07555">
                                            <p:txEl>
                                              <p:charRg st="102" end="115"/>
                                            </p:txEl>
                                          </p:spTgt>
                                        </p:tgtEl>
                                        <p:attrNameLst>
                                          <p:attrName>style.visibility</p:attrName>
                                        </p:attrNameLst>
                                      </p:cBhvr>
                                      <p:to>
                                        <p:strVal val="visible"/>
                                      </p:to>
                                    </p:set>
                                    <p:anim calcmode="lin" valueType="num">
                                      <p:cBhvr additive="base">
                                        <p:cTn id="37" dur="500" fill="hold"/>
                                        <p:tgtEl>
                                          <p:spTgt spid="407555">
                                            <p:txEl>
                                              <p:charRg st="102" end="11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07555">
                                            <p:txEl>
                                              <p:charRg st="102" end="11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07555">
                                            <p:txEl>
                                              <p:charRg st="115" end="145"/>
                                            </p:txEl>
                                          </p:spTgt>
                                        </p:tgtEl>
                                        <p:attrNameLst>
                                          <p:attrName>style.visibility</p:attrName>
                                        </p:attrNameLst>
                                      </p:cBhvr>
                                      <p:to>
                                        <p:strVal val="visible"/>
                                      </p:to>
                                    </p:set>
                                    <p:anim calcmode="lin" valueType="num">
                                      <p:cBhvr additive="base">
                                        <p:cTn id="43" dur="500" fill="hold"/>
                                        <p:tgtEl>
                                          <p:spTgt spid="407555">
                                            <p:txEl>
                                              <p:charRg st="115" end="14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07555">
                                            <p:txEl>
                                              <p:charRg st="115" end="145"/>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07555">
                                            <p:txEl>
                                              <p:charRg st="145" end="175"/>
                                            </p:txEl>
                                          </p:spTgt>
                                        </p:tgtEl>
                                        <p:attrNameLst>
                                          <p:attrName>style.visibility</p:attrName>
                                        </p:attrNameLst>
                                      </p:cBhvr>
                                      <p:to>
                                        <p:strVal val="visible"/>
                                      </p:to>
                                    </p:set>
                                    <p:anim calcmode="lin" valueType="num">
                                      <p:cBhvr additive="base">
                                        <p:cTn id="49" dur="500" fill="hold"/>
                                        <p:tgtEl>
                                          <p:spTgt spid="407555">
                                            <p:txEl>
                                              <p:charRg st="145" end="175"/>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07555">
                                            <p:txEl>
                                              <p:charRg st="145" end="17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ldLvl="3"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457200" y="457200"/>
            <a:ext cx="7067550" cy="12430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自增运算和自减运算</a:t>
            </a:r>
            <a:endParaRPr lang="zh-CN" altLang="en-US" b="0" dirty="0">
              <a:sym typeface="+mn-ea"/>
            </a:endParaRPr>
          </a:p>
        </p:txBody>
      </p:sp>
      <p:sp>
        <p:nvSpPr>
          <p:cNvPr id="63491" name="Rectangle 3"/>
          <p:cNvSpPr>
            <a:spLocks noGrp="1"/>
          </p:cNvSpPr>
          <p:nvPr>
            <p:ph idx="1"/>
          </p:nvPr>
        </p:nvSpPr>
        <p:spPr>
          <a:xfrm>
            <a:off x="2554288" y="1981200"/>
            <a:ext cx="2763837" cy="2898775"/>
          </a:xfrm>
        </p:spPr>
        <p:txBody>
          <a:bodyPr vert="horz" wrap="square" lIns="91440" tIns="45720" rIns="91440" bIns="45720" anchor="t" anchorCtr="0"/>
          <a:p>
            <a:pPr marL="819150" lvl="1" algn="just" eaLnBrk="1" hangingPunct="1">
              <a:lnSpc>
                <a:spcPct val="85000"/>
              </a:lnSpc>
              <a:buNone/>
            </a:pPr>
            <a:r>
              <a:rPr lang="en-US" altLang="zh-CN" b="0" err="1"/>
              <a:t>int</a:t>
            </a:r>
            <a:r>
              <a:rPr lang="en-US" altLang="zh-CN" b="0"/>
              <a:t> n, m;</a:t>
            </a:r>
            <a:endParaRPr lang="en-US" altLang="zh-CN" b="0"/>
          </a:p>
          <a:p>
            <a:pPr marL="819150" lvl="1" algn="just" eaLnBrk="1" hangingPunct="1">
              <a:lnSpc>
                <a:spcPct val="85000"/>
              </a:lnSpc>
              <a:buNone/>
            </a:pPr>
            <a:endParaRPr lang="en-US" altLang="zh-CN" b="0"/>
          </a:p>
          <a:p>
            <a:pPr marL="819150" lvl="1" algn="just" eaLnBrk="1" hangingPunct="1">
              <a:lnSpc>
                <a:spcPct val="85000"/>
              </a:lnSpc>
              <a:buNone/>
            </a:pPr>
            <a:r>
              <a:rPr lang="en-US" altLang="zh-CN" b="0"/>
              <a:t>n=2;</a:t>
            </a:r>
            <a:endParaRPr lang="en-US" altLang="zh-CN" b="0"/>
          </a:p>
          <a:p>
            <a:pPr marL="819150" lvl="1" algn="just" eaLnBrk="1" hangingPunct="1">
              <a:lnSpc>
                <a:spcPct val="85000"/>
              </a:lnSpc>
              <a:buNone/>
            </a:pPr>
            <a:r>
              <a:rPr lang="en-US" altLang="zh-CN" b="0"/>
              <a:t>m=++n;</a:t>
            </a:r>
            <a:endParaRPr lang="en-US" altLang="zh-CN" b="0"/>
          </a:p>
          <a:p>
            <a:pPr marL="819150" lvl="1" algn="just" eaLnBrk="1" hangingPunct="1">
              <a:lnSpc>
                <a:spcPct val="85000"/>
              </a:lnSpc>
              <a:buNone/>
            </a:pPr>
            <a:endParaRPr lang="en-US" altLang="zh-CN" b="0"/>
          </a:p>
          <a:p>
            <a:pPr marL="819150" lvl="1" algn="just" eaLnBrk="1" hangingPunct="1">
              <a:lnSpc>
                <a:spcPct val="85000"/>
              </a:lnSpc>
              <a:buNone/>
            </a:pPr>
            <a:r>
              <a:rPr lang="en-US" altLang="zh-CN" b="0"/>
              <a:t>n=2;</a:t>
            </a:r>
            <a:endParaRPr lang="en-US" altLang="zh-CN" b="0"/>
          </a:p>
          <a:p>
            <a:pPr marL="819150" lvl="1" algn="just" eaLnBrk="1" hangingPunct="1">
              <a:lnSpc>
                <a:spcPct val="85000"/>
              </a:lnSpc>
              <a:buNone/>
            </a:pPr>
            <a:r>
              <a:rPr lang="en-US" altLang="zh-CN" b="0"/>
              <a:t>m=n++;</a:t>
            </a:r>
            <a:endParaRPr lang="en-US" altLang="zh-CN" b="0">
              <a:solidFill>
                <a:schemeClr val="tx2"/>
              </a:solidFill>
              <a:latin typeface="宋体" pitchFamily="2" charset="-122"/>
            </a:endParaRPr>
          </a:p>
        </p:txBody>
      </p:sp>
      <p:sp>
        <p:nvSpPr>
          <p:cNvPr id="408580" name="Rectangle 4"/>
          <p:cNvSpPr txBox="1"/>
          <p:nvPr/>
        </p:nvSpPr>
        <p:spPr>
          <a:xfrm>
            <a:off x="4800600" y="2900363"/>
            <a:ext cx="923925" cy="386080"/>
          </a:xfrm>
          <a:prstGeom prst="rect">
            <a:avLst/>
          </a:prstGeom>
          <a:solidFill>
            <a:schemeClr val="folHlink"/>
          </a:solidFill>
          <a:ln w="12700">
            <a:noFill/>
          </a:ln>
        </p:spPr>
        <p:txBody>
          <a:bodyPr wrap="square" lIns="91440" tIns="45720" rIns="91440" bIns="45720" anchor="t" anchorCtr="0">
            <a:spAutoFit/>
          </a:bodyPr>
          <a:p>
            <a:pPr>
              <a:lnSpc>
                <a:spcPct val="80000"/>
              </a:lnSpc>
              <a:spcBef>
                <a:spcPct val="20000"/>
              </a:spcBef>
              <a:buClr>
                <a:srgbClr val="33CCCC"/>
              </a:buClr>
              <a:buSzPct val="80000"/>
            </a:pPr>
            <a:r>
              <a:rPr lang="en-US" altLang="zh-CN" sz="2400">
                <a:latin typeface="Arial" panose="02080604020202020204" pitchFamily="34" charset="0"/>
              </a:rPr>
              <a:t>n=3</a:t>
            </a:r>
            <a:endParaRPr lang="en-US" altLang="zh-CN" sz="2400">
              <a:latin typeface="Arial" panose="02080604020202020204" pitchFamily="34" charset="0"/>
            </a:endParaRPr>
          </a:p>
        </p:txBody>
      </p:sp>
      <p:sp>
        <p:nvSpPr>
          <p:cNvPr id="408581" name="Rectangle 5"/>
          <p:cNvSpPr txBox="1"/>
          <p:nvPr/>
        </p:nvSpPr>
        <p:spPr>
          <a:xfrm>
            <a:off x="4800600" y="4264025"/>
            <a:ext cx="923925" cy="386080"/>
          </a:xfrm>
          <a:prstGeom prst="rect">
            <a:avLst/>
          </a:prstGeom>
          <a:solidFill>
            <a:schemeClr val="folHlink"/>
          </a:solidFill>
          <a:ln w="12700">
            <a:noFill/>
          </a:ln>
        </p:spPr>
        <p:txBody>
          <a:bodyPr wrap="square" lIns="91440" tIns="45720" rIns="91440" bIns="45720" anchor="t" anchorCtr="0">
            <a:spAutoFit/>
          </a:bodyPr>
          <a:p>
            <a:pPr>
              <a:lnSpc>
                <a:spcPct val="80000"/>
              </a:lnSpc>
              <a:spcBef>
                <a:spcPct val="20000"/>
              </a:spcBef>
              <a:buClr>
                <a:srgbClr val="33CCCC"/>
              </a:buClr>
              <a:buSzPct val="80000"/>
            </a:pPr>
            <a:r>
              <a:rPr lang="en-US" altLang="zh-CN" sz="2400">
                <a:latin typeface="Arial" panose="02080604020202020204" pitchFamily="34" charset="0"/>
              </a:rPr>
              <a:t>n=3</a:t>
            </a:r>
            <a:endParaRPr lang="en-US" altLang="zh-CN" sz="2400">
              <a:latin typeface="Arial" panose="02080604020202020204" pitchFamily="34" charset="0"/>
            </a:endParaRPr>
          </a:p>
        </p:txBody>
      </p:sp>
      <p:sp>
        <p:nvSpPr>
          <p:cNvPr id="408582" name="Rectangle 6"/>
          <p:cNvSpPr txBox="1"/>
          <p:nvPr/>
        </p:nvSpPr>
        <p:spPr>
          <a:xfrm>
            <a:off x="6172200" y="2900363"/>
            <a:ext cx="1066800" cy="386080"/>
          </a:xfrm>
          <a:prstGeom prst="rect">
            <a:avLst/>
          </a:prstGeom>
          <a:solidFill>
            <a:schemeClr val="folHlink"/>
          </a:solidFill>
          <a:ln w="12700">
            <a:noFill/>
          </a:ln>
        </p:spPr>
        <p:txBody>
          <a:bodyPr wrap="square" lIns="91440" tIns="45720" rIns="91440" bIns="45720" anchor="t" anchorCtr="0">
            <a:spAutoFit/>
          </a:bodyPr>
          <a:p>
            <a:pPr>
              <a:lnSpc>
                <a:spcPct val="80000"/>
              </a:lnSpc>
              <a:spcBef>
                <a:spcPct val="20000"/>
              </a:spcBef>
              <a:buClr>
                <a:srgbClr val="33CCCC"/>
              </a:buClr>
              <a:buSzPct val="80000"/>
            </a:pPr>
            <a:r>
              <a:rPr lang="en-US" altLang="zh-CN" sz="2400">
                <a:latin typeface="Arial" panose="02080604020202020204" pitchFamily="34" charset="0"/>
              </a:rPr>
              <a:t>m=3</a:t>
            </a:r>
            <a:endParaRPr lang="en-US" altLang="zh-CN" sz="2400">
              <a:latin typeface="Arial" panose="02080604020202020204" pitchFamily="34" charset="0"/>
            </a:endParaRPr>
          </a:p>
        </p:txBody>
      </p:sp>
      <p:sp>
        <p:nvSpPr>
          <p:cNvPr id="408583" name="Rectangle 7"/>
          <p:cNvSpPr txBox="1"/>
          <p:nvPr/>
        </p:nvSpPr>
        <p:spPr>
          <a:xfrm>
            <a:off x="6227763" y="4292600"/>
            <a:ext cx="1060450" cy="386080"/>
          </a:xfrm>
          <a:prstGeom prst="rect">
            <a:avLst/>
          </a:prstGeom>
          <a:solidFill>
            <a:schemeClr val="folHlink"/>
          </a:solidFill>
          <a:ln w="12700">
            <a:noFill/>
          </a:ln>
        </p:spPr>
        <p:txBody>
          <a:bodyPr wrap="square" lIns="91440" tIns="45720" rIns="91440" bIns="45720" anchor="t" anchorCtr="0">
            <a:spAutoFit/>
          </a:bodyPr>
          <a:p>
            <a:pPr>
              <a:lnSpc>
                <a:spcPct val="80000"/>
              </a:lnSpc>
              <a:spcBef>
                <a:spcPct val="20000"/>
              </a:spcBef>
              <a:buClr>
                <a:srgbClr val="33CCCC"/>
              </a:buClr>
              <a:buSzPct val="80000"/>
            </a:pPr>
            <a:r>
              <a:rPr lang="en-US" altLang="zh-CN" sz="2400">
                <a:latin typeface="Arial" panose="02080604020202020204" pitchFamily="34" charset="0"/>
              </a:rPr>
              <a:t>m=2</a:t>
            </a:r>
            <a:endParaRPr lang="en-US" altLang="zh-CN" sz="2400">
              <a:latin typeface="Arial" panose="02080604020202020204" pitchFamily="34" charset="0"/>
            </a:endParaRPr>
          </a:p>
        </p:txBody>
      </p:sp>
      <p:sp>
        <p:nvSpPr>
          <p:cNvPr id="408584" name="Rectangle 8"/>
          <p:cNvSpPr txBox="1"/>
          <p:nvPr/>
        </p:nvSpPr>
        <p:spPr>
          <a:xfrm>
            <a:off x="1592263" y="4292600"/>
            <a:ext cx="1395412" cy="755015"/>
          </a:xfrm>
          <a:prstGeom prst="rect">
            <a:avLst/>
          </a:prstGeom>
          <a:solidFill>
            <a:schemeClr val="folHlink"/>
          </a:solidFill>
          <a:ln w="12700">
            <a:noFill/>
          </a:ln>
        </p:spPr>
        <p:txBody>
          <a:bodyPr wrap="square" lIns="91440" tIns="45720" rIns="91440" bIns="45720" anchor="t" anchorCtr="0">
            <a:spAutoFit/>
          </a:bodyPr>
          <a:p>
            <a:pPr>
              <a:lnSpc>
                <a:spcPct val="80000"/>
              </a:lnSpc>
              <a:spcBef>
                <a:spcPct val="20000"/>
              </a:spcBef>
              <a:buClr>
                <a:srgbClr val="33CCCC"/>
              </a:buClr>
              <a:buSzPct val="80000"/>
            </a:pPr>
            <a:r>
              <a:rPr lang="en-US" altLang="zh-CN" sz="2400">
                <a:latin typeface="Arial" panose="02080604020202020204" pitchFamily="34" charset="0"/>
              </a:rPr>
              <a:t>m=n</a:t>
            </a:r>
            <a:endParaRPr lang="en-US" altLang="zh-CN" sz="2400">
              <a:latin typeface="Arial" panose="02080604020202020204" pitchFamily="34" charset="0"/>
            </a:endParaRPr>
          </a:p>
          <a:p>
            <a:pPr>
              <a:lnSpc>
                <a:spcPct val="80000"/>
              </a:lnSpc>
              <a:spcBef>
                <a:spcPct val="20000"/>
              </a:spcBef>
              <a:buClr>
                <a:srgbClr val="33CCCC"/>
              </a:buClr>
              <a:buSzPct val="80000"/>
            </a:pPr>
            <a:r>
              <a:rPr lang="en-US" altLang="zh-CN" sz="2400">
                <a:latin typeface="Arial" panose="02080604020202020204" pitchFamily="34" charset="0"/>
              </a:rPr>
              <a:t>n=n+1</a:t>
            </a:r>
            <a:endParaRPr lang="en-US" altLang="zh-CN" sz="2400">
              <a:latin typeface="Arial" panose="02080604020202020204" pitchFamily="34" charset="0"/>
            </a:endParaRPr>
          </a:p>
        </p:txBody>
      </p:sp>
      <p:sp>
        <p:nvSpPr>
          <p:cNvPr id="408585" name="Text Box 9"/>
          <p:cNvSpPr txBox="1"/>
          <p:nvPr/>
        </p:nvSpPr>
        <p:spPr>
          <a:xfrm>
            <a:off x="1304925" y="2924175"/>
            <a:ext cx="1611313" cy="755015"/>
          </a:xfrm>
          <a:prstGeom prst="rect">
            <a:avLst/>
          </a:prstGeom>
          <a:solidFill>
            <a:schemeClr val="folHlink"/>
          </a:solidFill>
          <a:ln w="12700">
            <a:noFill/>
          </a:ln>
        </p:spPr>
        <p:txBody>
          <a:bodyPr wrap="square" anchor="t" anchorCtr="0">
            <a:spAutoFit/>
          </a:bodyPr>
          <a:p>
            <a:pPr>
              <a:lnSpc>
                <a:spcPct val="80000"/>
              </a:lnSpc>
              <a:spcBef>
                <a:spcPct val="20000"/>
              </a:spcBef>
              <a:buClr>
                <a:srgbClr val="33CCCC"/>
              </a:buClr>
              <a:buSzPct val="80000"/>
              <a:buFont typeface="Wingdings" panose="05000000000000000000" pitchFamily="2" charset="2"/>
            </a:pPr>
            <a:r>
              <a:rPr lang="en-US" altLang="zh-CN" sz="2400">
                <a:latin typeface="Arial" panose="02080604020202020204" pitchFamily="34" charset="0"/>
              </a:rPr>
              <a:t>n=n+1</a:t>
            </a:r>
            <a:endParaRPr lang="en-US" altLang="zh-CN" sz="2400">
              <a:latin typeface="Arial" panose="02080604020202020204" pitchFamily="34" charset="0"/>
            </a:endParaRPr>
          </a:p>
          <a:p>
            <a:pPr>
              <a:lnSpc>
                <a:spcPct val="80000"/>
              </a:lnSpc>
              <a:spcBef>
                <a:spcPct val="20000"/>
              </a:spcBef>
              <a:buClr>
                <a:srgbClr val="33CCCC"/>
              </a:buClr>
              <a:buSzPct val="80000"/>
              <a:buFont typeface="Wingdings" panose="05000000000000000000" pitchFamily="2" charset="2"/>
            </a:pPr>
            <a:r>
              <a:rPr lang="en-US" altLang="zh-CN" sz="2400">
                <a:latin typeface="Arial" panose="02080604020202020204" pitchFamily="34" charset="0"/>
              </a:rPr>
              <a:t>m=n</a:t>
            </a:r>
            <a:endParaRPr lang="zh-CN" altLang="zh-CN" sz="2400" dirty="0">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8580"/>
                                        </p:tgtEl>
                                        <p:attrNameLst>
                                          <p:attrName>style.visibility</p:attrName>
                                        </p:attrNameLst>
                                      </p:cBhvr>
                                      <p:to>
                                        <p:strVal val="visible"/>
                                      </p:to>
                                    </p:set>
                                    <p:anim calcmode="lin" valueType="num">
                                      <p:cBhvr additive="base">
                                        <p:cTn id="7" dur="500" fill="hold"/>
                                        <p:tgtEl>
                                          <p:spTgt spid="408580"/>
                                        </p:tgtEl>
                                        <p:attrNameLst>
                                          <p:attrName>ppt_x</p:attrName>
                                        </p:attrNameLst>
                                      </p:cBhvr>
                                      <p:tavLst>
                                        <p:tav tm="0">
                                          <p:val>
                                            <p:strVal val="0-#ppt_w/2"/>
                                          </p:val>
                                        </p:tav>
                                        <p:tav tm="100000">
                                          <p:val>
                                            <p:strVal val="#ppt_x"/>
                                          </p:val>
                                        </p:tav>
                                      </p:tavLst>
                                    </p:anim>
                                    <p:anim calcmode="lin" valueType="num">
                                      <p:cBhvr additive="base">
                                        <p:cTn id="8" dur="500" fill="hold"/>
                                        <p:tgtEl>
                                          <p:spTgt spid="4085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8581"/>
                                        </p:tgtEl>
                                        <p:attrNameLst>
                                          <p:attrName>style.visibility</p:attrName>
                                        </p:attrNameLst>
                                      </p:cBhvr>
                                      <p:to>
                                        <p:strVal val="visible"/>
                                      </p:to>
                                    </p:set>
                                    <p:anim calcmode="lin" valueType="num">
                                      <p:cBhvr additive="base">
                                        <p:cTn id="13" dur="500" fill="hold"/>
                                        <p:tgtEl>
                                          <p:spTgt spid="408581"/>
                                        </p:tgtEl>
                                        <p:attrNameLst>
                                          <p:attrName>ppt_x</p:attrName>
                                        </p:attrNameLst>
                                      </p:cBhvr>
                                      <p:tavLst>
                                        <p:tav tm="0">
                                          <p:val>
                                            <p:strVal val="0-#ppt_w/2"/>
                                          </p:val>
                                        </p:tav>
                                        <p:tav tm="100000">
                                          <p:val>
                                            <p:strVal val="#ppt_x"/>
                                          </p:val>
                                        </p:tav>
                                      </p:tavLst>
                                    </p:anim>
                                    <p:anim calcmode="lin" valueType="num">
                                      <p:cBhvr additive="base">
                                        <p:cTn id="14" dur="500" fill="hold"/>
                                        <p:tgtEl>
                                          <p:spTgt spid="40858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8582"/>
                                        </p:tgtEl>
                                        <p:attrNameLst>
                                          <p:attrName>style.visibility</p:attrName>
                                        </p:attrNameLst>
                                      </p:cBhvr>
                                      <p:to>
                                        <p:strVal val="visible"/>
                                      </p:to>
                                    </p:set>
                                    <p:anim calcmode="lin" valueType="num">
                                      <p:cBhvr additive="base">
                                        <p:cTn id="19" dur="500" fill="hold"/>
                                        <p:tgtEl>
                                          <p:spTgt spid="408582"/>
                                        </p:tgtEl>
                                        <p:attrNameLst>
                                          <p:attrName>ppt_x</p:attrName>
                                        </p:attrNameLst>
                                      </p:cBhvr>
                                      <p:tavLst>
                                        <p:tav tm="0">
                                          <p:val>
                                            <p:strVal val="0-#ppt_w/2"/>
                                          </p:val>
                                        </p:tav>
                                        <p:tav tm="100000">
                                          <p:val>
                                            <p:strVal val="#ppt_x"/>
                                          </p:val>
                                        </p:tav>
                                      </p:tavLst>
                                    </p:anim>
                                    <p:anim calcmode="lin" valueType="num">
                                      <p:cBhvr additive="base">
                                        <p:cTn id="20" dur="500" fill="hold"/>
                                        <p:tgtEl>
                                          <p:spTgt spid="40858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8583"/>
                                        </p:tgtEl>
                                        <p:attrNameLst>
                                          <p:attrName>style.visibility</p:attrName>
                                        </p:attrNameLst>
                                      </p:cBhvr>
                                      <p:to>
                                        <p:strVal val="visible"/>
                                      </p:to>
                                    </p:set>
                                    <p:anim calcmode="lin" valueType="num">
                                      <p:cBhvr additive="base">
                                        <p:cTn id="25" dur="500" fill="hold"/>
                                        <p:tgtEl>
                                          <p:spTgt spid="408583"/>
                                        </p:tgtEl>
                                        <p:attrNameLst>
                                          <p:attrName>ppt_x</p:attrName>
                                        </p:attrNameLst>
                                      </p:cBhvr>
                                      <p:tavLst>
                                        <p:tav tm="0">
                                          <p:val>
                                            <p:strVal val="0-#ppt_w/2"/>
                                          </p:val>
                                        </p:tav>
                                        <p:tav tm="100000">
                                          <p:val>
                                            <p:strVal val="#ppt_x"/>
                                          </p:val>
                                        </p:tav>
                                      </p:tavLst>
                                    </p:anim>
                                    <p:anim calcmode="lin" valueType="num">
                                      <p:cBhvr additive="base">
                                        <p:cTn id="26" dur="500" fill="hold"/>
                                        <p:tgtEl>
                                          <p:spTgt spid="40858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8585"/>
                                        </p:tgtEl>
                                        <p:attrNameLst>
                                          <p:attrName>style.visibility</p:attrName>
                                        </p:attrNameLst>
                                      </p:cBhvr>
                                      <p:to>
                                        <p:strVal val="visible"/>
                                      </p:to>
                                    </p:set>
                                    <p:anim calcmode="lin" valueType="num">
                                      <p:cBhvr additive="base">
                                        <p:cTn id="31" dur="500" fill="hold"/>
                                        <p:tgtEl>
                                          <p:spTgt spid="408585"/>
                                        </p:tgtEl>
                                        <p:attrNameLst>
                                          <p:attrName>ppt_x</p:attrName>
                                        </p:attrNameLst>
                                      </p:cBhvr>
                                      <p:tavLst>
                                        <p:tav tm="0">
                                          <p:val>
                                            <p:strVal val="0-#ppt_w/2"/>
                                          </p:val>
                                        </p:tav>
                                        <p:tav tm="100000">
                                          <p:val>
                                            <p:strVal val="#ppt_x"/>
                                          </p:val>
                                        </p:tav>
                                      </p:tavLst>
                                    </p:anim>
                                    <p:anim calcmode="lin" valueType="num">
                                      <p:cBhvr additive="base">
                                        <p:cTn id="32" dur="500" fill="hold"/>
                                        <p:tgtEl>
                                          <p:spTgt spid="40858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08584"/>
                                        </p:tgtEl>
                                        <p:attrNameLst>
                                          <p:attrName>style.visibility</p:attrName>
                                        </p:attrNameLst>
                                      </p:cBhvr>
                                      <p:to>
                                        <p:strVal val="visible"/>
                                      </p:to>
                                    </p:set>
                                    <p:anim calcmode="lin" valueType="num">
                                      <p:cBhvr additive="base">
                                        <p:cTn id="37" dur="500" fill="hold"/>
                                        <p:tgtEl>
                                          <p:spTgt spid="408584"/>
                                        </p:tgtEl>
                                        <p:attrNameLst>
                                          <p:attrName>ppt_x</p:attrName>
                                        </p:attrNameLst>
                                      </p:cBhvr>
                                      <p:tavLst>
                                        <p:tav tm="0">
                                          <p:val>
                                            <p:strVal val="0-#ppt_w/2"/>
                                          </p:val>
                                        </p:tav>
                                        <p:tav tm="100000">
                                          <p:val>
                                            <p:strVal val="#ppt_x"/>
                                          </p:val>
                                        </p:tav>
                                      </p:tavLst>
                                    </p:anim>
                                    <p:anim calcmode="lin" valueType="num">
                                      <p:cBhvr additive="base">
                                        <p:cTn id="38" dur="500" fill="hold"/>
                                        <p:tgtEl>
                                          <p:spTgt spid="4085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0" grpId="0" bldLvl="0" animBg="1"/>
      <p:bldP spid="408581" grpId="0" bldLvl="0" animBg="1"/>
      <p:bldP spid="408582" grpId="0" bldLvl="0" animBg="1"/>
      <p:bldP spid="408583" grpId="0" bldLvl="0" animBg="1"/>
      <p:bldP spid="408584" grpId="0" bldLvl="0" animBg="1"/>
      <p:bldP spid="408585"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539750" y="404813"/>
            <a:ext cx="7772400"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算术运算符的优先级和结合性</a:t>
            </a:r>
            <a:endParaRPr lang="zh-CN" altLang="en-US" b="0" dirty="0">
              <a:sym typeface="+mn-ea"/>
            </a:endParaRPr>
          </a:p>
        </p:txBody>
      </p:sp>
      <p:sp>
        <p:nvSpPr>
          <p:cNvPr id="64515" name="Rectangle 3"/>
          <p:cNvSpPr>
            <a:spLocks noGrp="1"/>
          </p:cNvSpPr>
          <p:nvPr>
            <p:ph idx="1"/>
          </p:nvPr>
        </p:nvSpPr>
        <p:spPr>
          <a:xfrm>
            <a:off x="533400" y="1219200"/>
            <a:ext cx="3810000" cy="2667000"/>
          </a:xfrm>
        </p:spPr>
        <p:txBody>
          <a:bodyPr vert="horz" wrap="square" lIns="91440" tIns="45720" rIns="91440" bIns="45720" anchor="t" anchorCtr="0"/>
          <a:p>
            <a:pPr lvl="1" algn="just" eaLnBrk="1" hangingPunct="1">
              <a:buNone/>
            </a:pPr>
            <a:r>
              <a:rPr lang="zh-CN" altLang="en-US" b="0" dirty="0">
                <a:latin typeface="宋体" pitchFamily="2" charset="-122"/>
              </a:rPr>
              <a:t>单目 </a:t>
            </a:r>
            <a:r>
              <a:rPr lang="zh-CN" altLang="en-US" b="0" dirty="0">
                <a:solidFill>
                  <a:schemeClr val="bg2"/>
                </a:solidFill>
              </a:rPr>
              <a:t>+  -  ++  --</a:t>
            </a:r>
            <a:endParaRPr lang="en-US" altLang="zh-CN" b="0">
              <a:solidFill>
                <a:schemeClr val="bg2"/>
              </a:solidFill>
            </a:endParaRPr>
          </a:p>
          <a:p>
            <a:pPr lvl="1" algn="just" eaLnBrk="1" hangingPunct="1">
              <a:buNone/>
            </a:pPr>
            <a:endParaRPr lang="zh-CN" altLang="en-US" b="0" dirty="0">
              <a:solidFill>
                <a:srgbClr val="FF9933"/>
              </a:solidFill>
            </a:endParaRPr>
          </a:p>
          <a:p>
            <a:pPr lvl="1" algn="just" eaLnBrk="1" hangingPunct="1">
              <a:buNone/>
            </a:pPr>
            <a:r>
              <a:rPr lang="zh-CN" altLang="en-US" b="0" dirty="0">
                <a:latin typeface="宋体" pitchFamily="2" charset="-122"/>
              </a:rPr>
              <a:t>双目 </a:t>
            </a:r>
            <a:r>
              <a:rPr lang="zh-CN" altLang="en-US" b="0" dirty="0">
                <a:solidFill>
                  <a:schemeClr val="bg2"/>
                </a:solidFill>
              </a:rPr>
              <a:t>*  /  %</a:t>
            </a:r>
            <a:endParaRPr lang="zh-CN" altLang="en-US" b="0" dirty="0">
              <a:solidFill>
                <a:schemeClr val="bg2"/>
              </a:solidFill>
            </a:endParaRPr>
          </a:p>
          <a:p>
            <a:pPr lvl="1" algn="just" eaLnBrk="1" hangingPunct="1">
              <a:buNone/>
            </a:pPr>
            <a:endParaRPr lang="zh-CN" altLang="en-US" b="0" dirty="0">
              <a:solidFill>
                <a:srgbClr val="FF9933"/>
              </a:solidFill>
            </a:endParaRPr>
          </a:p>
          <a:p>
            <a:pPr lvl="1" algn="just" eaLnBrk="1" hangingPunct="1">
              <a:buNone/>
            </a:pPr>
            <a:r>
              <a:rPr lang="zh-CN" altLang="en-US" b="0" dirty="0">
                <a:latin typeface="宋体" pitchFamily="2" charset="-122"/>
              </a:rPr>
              <a:t>双目 </a:t>
            </a:r>
            <a:r>
              <a:rPr lang="zh-CN" altLang="en-US" b="0" dirty="0">
                <a:solidFill>
                  <a:schemeClr val="bg2"/>
                </a:solidFill>
              </a:rPr>
              <a:t>+  -</a:t>
            </a:r>
            <a:endParaRPr lang="zh-CN" altLang="zh-CN" b="0" dirty="0">
              <a:solidFill>
                <a:schemeClr val="bg2"/>
              </a:solidFill>
            </a:endParaRPr>
          </a:p>
        </p:txBody>
      </p:sp>
      <p:grpSp>
        <p:nvGrpSpPr>
          <p:cNvPr id="2" name="Group 4"/>
          <p:cNvGrpSpPr/>
          <p:nvPr/>
        </p:nvGrpSpPr>
        <p:grpSpPr>
          <a:xfrm>
            <a:off x="4495800" y="1371600"/>
            <a:ext cx="685800" cy="2460626"/>
            <a:chOff x="2832" y="1392"/>
            <a:chExt cx="432" cy="1550"/>
          </a:xfrm>
        </p:grpSpPr>
        <p:sp>
          <p:nvSpPr>
            <p:cNvPr id="64517" name="Text Box 5"/>
            <p:cNvSpPr txBox="1"/>
            <p:nvPr/>
          </p:nvSpPr>
          <p:spPr>
            <a:xfrm>
              <a:off x="2832" y="1392"/>
              <a:ext cx="432" cy="1550"/>
            </a:xfrm>
            <a:prstGeom prst="rect">
              <a:avLst/>
            </a:prstGeom>
            <a:noFill/>
            <a:ln w="12700">
              <a:noFill/>
            </a:ln>
          </p:spPr>
          <p:txBody>
            <a:bodyPr anchor="t" anchorCtr="0">
              <a:spAutoFit/>
            </a:bodyPr>
            <a:p>
              <a:pPr algn="ctr">
                <a:spcBef>
                  <a:spcPct val="50000"/>
                </a:spcBef>
              </a:pPr>
              <a:r>
                <a:rPr lang="zh-CN" altLang="en-US" sz="2800" dirty="0">
                  <a:solidFill>
                    <a:srgbClr val="CC0066"/>
                  </a:solidFill>
                  <a:latin typeface="Times New Roman" pitchFamily="18" charset="0"/>
                </a:rPr>
                <a:t>高</a:t>
              </a:r>
              <a:endParaRPr lang="zh-CN" altLang="en-US" sz="2800" dirty="0">
                <a:solidFill>
                  <a:srgbClr val="CC0066"/>
                </a:solidFill>
                <a:latin typeface="Times New Roman" pitchFamily="18" charset="0"/>
              </a:endParaRPr>
            </a:p>
            <a:p>
              <a:pPr algn="ctr">
                <a:spcBef>
                  <a:spcPct val="50000"/>
                </a:spcBef>
              </a:pPr>
              <a:endParaRPr lang="zh-CN" altLang="en-US" sz="2800" dirty="0">
                <a:solidFill>
                  <a:srgbClr val="FFFF00"/>
                </a:solidFill>
                <a:latin typeface="Times New Roman" pitchFamily="18" charset="0"/>
              </a:endParaRPr>
            </a:p>
            <a:p>
              <a:pPr algn="ctr">
                <a:spcBef>
                  <a:spcPct val="50000"/>
                </a:spcBef>
              </a:pPr>
              <a:endParaRPr lang="zh-CN" altLang="en-US" sz="2800" dirty="0">
                <a:solidFill>
                  <a:srgbClr val="FFFF00"/>
                </a:solidFill>
                <a:latin typeface="Times New Roman" pitchFamily="18" charset="0"/>
              </a:endParaRPr>
            </a:p>
            <a:p>
              <a:pPr algn="ctr">
                <a:spcBef>
                  <a:spcPct val="50000"/>
                </a:spcBef>
              </a:pPr>
              <a:r>
                <a:rPr lang="zh-CN" altLang="en-US" sz="2800" dirty="0">
                  <a:solidFill>
                    <a:srgbClr val="CC0066"/>
                  </a:solidFill>
                  <a:latin typeface="Times New Roman" pitchFamily="18" charset="0"/>
                </a:rPr>
                <a:t>低</a:t>
              </a:r>
              <a:endParaRPr lang="zh-CN" altLang="en-US" sz="2800" dirty="0">
                <a:solidFill>
                  <a:srgbClr val="CC0066"/>
                </a:solidFill>
                <a:latin typeface="Times New Roman" pitchFamily="18" charset="0"/>
              </a:endParaRPr>
            </a:p>
          </p:txBody>
        </p:sp>
        <p:sp>
          <p:nvSpPr>
            <p:cNvPr id="64518" name="Line 6"/>
            <p:cNvSpPr/>
            <p:nvPr/>
          </p:nvSpPr>
          <p:spPr>
            <a:xfrm flipV="1">
              <a:off x="3024" y="1776"/>
              <a:ext cx="0" cy="768"/>
            </a:xfrm>
            <a:prstGeom prst="line">
              <a:avLst/>
            </a:prstGeom>
            <a:ln w="38100" cap="sq" cmpd="dbl">
              <a:solidFill>
                <a:schemeClr val="tx2"/>
              </a:solidFill>
              <a:prstDash val="solid"/>
              <a:round/>
              <a:headEnd type="none" w="sm" len="sm"/>
              <a:tailEnd type="triangle" w="med" len="lg"/>
            </a:ln>
          </p:spPr>
        </p:sp>
      </p:grpSp>
      <p:sp>
        <p:nvSpPr>
          <p:cNvPr id="377863" name="Text Box 7"/>
          <p:cNvSpPr txBox="1"/>
          <p:nvPr/>
        </p:nvSpPr>
        <p:spPr>
          <a:xfrm>
            <a:off x="6324600" y="1295400"/>
            <a:ext cx="1905000" cy="521970"/>
          </a:xfrm>
          <a:prstGeom prst="rect">
            <a:avLst/>
          </a:prstGeom>
          <a:noFill/>
          <a:ln w="12700">
            <a:noFill/>
          </a:ln>
        </p:spPr>
        <p:txBody>
          <a:bodyPr anchor="t" anchorCtr="0">
            <a:spAutoFit/>
          </a:bodyPr>
          <a:p>
            <a:pPr algn="ctr" eaLnBrk="0" hangingPunct="0">
              <a:spcBef>
                <a:spcPct val="50000"/>
              </a:spcBef>
            </a:pPr>
            <a:r>
              <a:rPr lang="zh-CN" altLang="en-US" sz="2800" dirty="0">
                <a:solidFill>
                  <a:srgbClr val="CC0066"/>
                </a:solidFill>
                <a:latin typeface="Arial" panose="02080604020202020204" pitchFamily="34" charset="0"/>
              </a:rPr>
              <a:t>从右向左</a:t>
            </a:r>
            <a:endParaRPr lang="zh-CN" altLang="en-US" sz="2800" dirty="0">
              <a:solidFill>
                <a:srgbClr val="CC0066"/>
              </a:solidFill>
              <a:latin typeface="Arial" panose="02080604020202020204" pitchFamily="34" charset="0"/>
            </a:endParaRPr>
          </a:p>
        </p:txBody>
      </p:sp>
      <p:sp>
        <p:nvSpPr>
          <p:cNvPr id="377864" name="Rectangle 8"/>
          <p:cNvSpPr/>
          <p:nvPr/>
        </p:nvSpPr>
        <p:spPr>
          <a:xfrm>
            <a:off x="914400" y="4038600"/>
            <a:ext cx="5943600" cy="1600200"/>
          </a:xfrm>
          <a:prstGeom prst="rect">
            <a:avLst/>
          </a:prstGeom>
          <a:noFill/>
          <a:ln w="9525">
            <a:noFill/>
          </a:ln>
        </p:spPr>
        <p:txBody>
          <a:bodyPr lIns="92075" tIns="46038" rIns="92075" bIns="46038" anchor="t" anchorCtr="0"/>
          <a:p>
            <a:pPr marL="742950" lvl="1" indent="-285750" algn="just" eaLnBrk="1" hangingPunct="1">
              <a:spcBef>
                <a:spcPct val="20000"/>
              </a:spcBef>
              <a:buClr>
                <a:srgbClr val="33CCCC"/>
              </a:buClr>
              <a:buSzPct val="110000"/>
            </a:pPr>
            <a:r>
              <a:rPr lang="zh-CN" altLang="en-US" sz="2800" dirty="0">
                <a:latin typeface="Arial" panose="02080604020202020204" pitchFamily="34" charset="0"/>
                <a:ea typeface="仿宋_GB2312" pitchFamily="49" charset="-122"/>
              </a:rPr>
              <a:t>-5 + 3%2 = (-5) + (3%2) = -4</a:t>
            </a:r>
            <a:endParaRPr lang="zh-CN" altLang="en-US" sz="2800" dirty="0">
              <a:latin typeface="Arial" panose="02080604020202020204" pitchFamily="34" charset="0"/>
              <a:ea typeface="仿宋_GB2312" pitchFamily="49" charset="-122"/>
            </a:endParaRPr>
          </a:p>
          <a:p>
            <a:pPr marL="742950" lvl="1" indent="-285750" algn="just" eaLnBrk="1" hangingPunct="1">
              <a:spcBef>
                <a:spcPct val="20000"/>
              </a:spcBef>
              <a:buClr>
                <a:srgbClr val="33CCCC"/>
              </a:buClr>
              <a:buSzPct val="110000"/>
            </a:pPr>
            <a:r>
              <a:rPr lang="zh-CN" altLang="en-US" sz="2800" dirty="0">
                <a:latin typeface="Arial" panose="02080604020202020204" pitchFamily="34" charset="0"/>
                <a:ea typeface="仿宋_GB2312" pitchFamily="49" charset="-122"/>
              </a:rPr>
              <a:t>3 * 5 % 3 = (3*5) % 3 = 0</a:t>
            </a:r>
            <a:endParaRPr lang="zh-CN" altLang="en-US" sz="2800" dirty="0">
              <a:latin typeface="Arial" panose="02080604020202020204" pitchFamily="34" charset="0"/>
              <a:ea typeface="仿宋_GB2312" pitchFamily="49" charset="-122"/>
            </a:endParaRPr>
          </a:p>
          <a:p>
            <a:pPr marL="742950" lvl="1" indent="-285750" algn="just" eaLnBrk="1" hangingPunct="1">
              <a:spcBef>
                <a:spcPct val="20000"/>
              </a:spcBef>
              <a:buClr>
                <a:srgbClr val="33CCCC"/>
              </a:buClr>
              <a:buSzPct val="110000"/>
            </a:pPr>
            <a:r>
              <a:rPr lang="en-US" altLang="zh-CN" sz="2800">
                <a:latin typeface="Arial" panose="02080604020202020204" pitchFamily="34" charset="0"/>
                <a:ea typeface="仿宋_GB2312" pitchFamily="49" charset="-122"/>
              </a:rPr>
              <a:t>-i++           </a:t>
            </a:r>
            <a:endParaRPr lang="en-US" altLang="zh-CN" sz="2800">
              <a:solidFill>
                <a:srgbClr val="FF3300"/>
              </a:solidFill>
              <a:latin typeface="Arial" panose="02080604020202020204" pitchFamily="34" charset="0"/>
            </a:endParaRPr>
          </a:p>
        </p:txBody>
      </p:sp>
      <p:sp>
        <p:nvSpPr>
          <p:cNvPr id="377865" name="Text Box 9"/>
          <p:cNvSpPr txBox="1"/>
          <p:nvPr/>
        </p:nvSpPr>
        <p:spPr>
          <a:xfrm>
            <a:off x="2627948" y="5157470"/>
            <a:ext cx="1970087" cy="435610"/>
          </a:xfrm>
          <a:prstGeom prst="rect">
            <a:avLst/>
          </a:prstGeom>
          <a:solidFill>
            <a:schemeClr val="folHlink"/>
          </a:solidFill>
          <a:ln w="12700">
            <a:noFill/>
          </a:ln>
        </p:spPr>
        <p:txBody>
          <a:bodyPr wrap="square" anchor="t" anchorCtr="0">
            <a:spAutoFit/>
          </a:bodyPr>
          <a:p>
            <a:pPr>
              <a:lnSpc>
                <a:spcPct val="80000"/>
              </a:lnSpc>
              <a:spcBef>
                <a:spcPct val="20000"/>
              </a:spcBef>
              <a:buClr>
                <a:srgbClr val="33CCCC"/>
              </a:buClr>
              <a:buSzPct val="80000"/>
              <a:buFont typeface="Wingdings" panose="05000000000000000000" pitchFamily="2" charset="2"/>
            </a:pPr>
            <a:r>
              <a:rPr lang="en-US" altLang="zh-CN" sz="2800">
                <a:latin typeface="Arial" panose="02080604020202020204" pitchFamily="34" charset="0"/>
              </a:rPr>
              <a:t>-(i++)</a:t>
            </a:r>
            <a:endParaRPr lang="en-US" altLang="zh-CN" sz="2800" dirty="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7863"/>
                                        </p:tgtEl>
                                        <p:attrNameLst>
                                          <p:attrName>style.visibility</p:attrName>
                                        </p:attrNameLst>
                                      </p:cBhvr>
                                      <p:to>
                                        <p:strVal val="visible"/>
                                      </p:to>
                                    </p:set>
                                    <p:anim calcmode="lin" valueType="num">
                                      <p:cBhvr additive="base">
                                        <p:cTn id="13" dur="500" fill="hold"/>
                                        <p:tgtEl>
                                          <p:spTgt spid="377863"/>
                                        </p:tgtEl>
                                        <p:attrNameLst>
                                          <p:attrName>ppt_x</p:attrName>
                                        </p:attrNameLst>
                                      </p:cBhvr>
                                      <p:tavLst>
                                        <p:tav tm="0">
                                          <p:val>
                                            <p:strVal val="0-#ppt_w/2"/>
                                          </p:val>
                                        </p:tav>
                                        <p:tav tm="100000">
                                          <p:val>
                                            <p:strVal val="#ppt_x"/>
                                          </p:val>
                                        </p:tav>
                                      </p:tavLst>
                                    </p:anim>
                                    <p:anim calcmode="lin" valueType="num">
                                      <p:cBhvr additive="base">
                                        <p:cTn id="14" dur="500" fill="hold"/>
                                        <p:tgtEl>
                                          <p:spTgt spid="37786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7864">
                                            <p:txEl>
                                              <p:charRg st="0" end="29"/>
                                            </p:txEl>
                                          </p:spTgt>
                                        </p:tgtEl>
                                        <p:attrNameLst>
                                          <p:attrName>style.visibility</p:attrName>
                                        </p:attrNameLst>
                                      </p:cBhvr>
                                      <p:to>
                                        <p:strVal val="visible"/>
                                      </p:to>
                                    </p:set>
                                    <p:anim calcmode="lin" valueType="num">
                                      <p:cBhvr additive="base">
                                        <p:cTn id="19" dur="500" fill="hold"/>
                                        <p:tgtEl>
                                          <p:spTgt spid="377864">
                                            <p:txEl>
                                              <p:charRg st="0" end="2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77864">
                                            <p:txEl>
                                              <p:charRg st="0" end="29"/>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7864">
                                            <p:txEl>
                                              <p:charRg st="29" end="55"/>
                                            </p:txEl>
                                          </p:spTgt>
                                        </p:tgtEl>
                                        <p:attrNameLst>
                                          <p:attrName>style.visibility</p:attrName>
                                        </p:attrNameLst>
                                      </p:cBhvr>
                                      <p:to>
                                        <p:strVal val="visible"/>
                                      </p:to>
                                    </p:set>
                                    <p:anim calcmode="lin" valueType="num">
                                      <p:cBhvr additive="base">
                                        <p:cTn id="25" dur="500" fill="hold"/>
                                        <p:tgtEl>
                                          <p:spTgt spid="377864">
                                            <p:txEl>
                                              <p:charRg st="29" end="5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77864">
                                            <p:txEl>
                                              <p:charRg st="29" end="5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77864">
                                            <p:txEl>
                                              <p:charRg st="55" end="71"/>
                                            </p:txEl>
                                          </p:spTgt>
                                        </p:tgtEl>
                                        <p:attrNameLst>
                                          <p:attrName>style.visibility</p:attrName>
                                        </p:attrNameLst>
                                      </p:cBhvr>
                                      <p:to>
                                        <p:strVal val="visible"/>
                                      </p:to>
                                    </p:set>
                                    <p:anim calcmode="lin" valueType="num">
                                      <p:cBhvr additive="base">
                                        <p:cTn id="31" dur="500" fill="hold"/>
                                        <p:tgtEl>
                                          <p:spTgt spid="377864">
                                            <p:txEl>
                                              <p:charRg st="55" end="7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77864">
                                            <p:txEl>
                                              <p:charRg st="55" end="71"/>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77865"/>
                                        </p:tgtEl>
                                        <p:attrNameLst>
                                          <p:attrName>style.visibility</p:attrName>
                                        </p:attrNameLst>
                                      </p:cBhvr>
                                      <p:to>
                                        <p:strVal val="visible"/>
                                      </p:to>
                                    </p:set>
                                    <p:anim calcmode="lin" valueType="num">
                                      <p:cBhvr additive="base">
                                        <p:cTn id="37" dur="500" fill="hold"/>
                                        <p:tgtEl>
                                          <p:spTgt spid="377865"/>
                                        </p:tgtEl>
                                        <p:attrNameLst>
                                          <p:attrName>ppt_x</p:attrName>
                                        </p:attrNameLst>
                                      </p:cBhvr>
                                      <p:tavLst>
                                        <p:tav tm="0">
                                          <p:val>
                                            <p:strVal val="0-#ppt_w/2"/>
                                          </p:val>
                                        </p:tav>
                                        <p:tav tm="100000">
                                          <p:val>
                                            <p:strVal val="#ppt_x"/>
                                          </p:val>
                                        </p:tav>
                                      </p:tavLst>
                                    </p:anim>
                                    <p:anim calcmode="lin" valueType="num">
                                      <p:cBhvr additive="base">
                                        <p:cTn id="38" dur="500" fill="hold"/>
                                        <p:tgtEl>
                                          <p:spTgt spid="3778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3" grpId="0"/>
      <p:bldP spid="377864" grpId="0" bldLvl="3" build="p"/>
      <p:bldP spid="377865"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xfrm>
            <a:off x="611188" y="404813"/>
            <a:ext cx="7772400" cy="8382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写出</a:t>
            </a:r>
            <a:r>
              <a:rPr lang="zh-CN" altLang="en-US" b="0" dirty="0">
                <a:sym typeface="+mn-ea"/>
              </a:rPr>
              <a:t>C</a:t>
            </a:r>
            <a:r>
              <a:rPr lang="zh-CN" altLang="en-US" b="0" dirty="0">
                <a:sym typeface="+mn-ea"/>
              </a:rPr>
              <a:t>表达式</a:t>
            </a:r>
            <a:endParaRPr lang="zh-CN" altLang="en-US" b="0" dirty="0">
              <a:sym typeface="+mn-ea"/>
            </a:endParaRPr>
          </a:p>
        </p:txBody>
      </p:sp>
      <p:sp>
        <p:nvSpPr>
          <p:cNvPr id="65539" name="Rectangle 3"/>
          <p:cNvSpPr>
            <a:spLocks noGrp="1"/>
          </p:cNvSpPr>
          <p:nvPr>
            <p:ph idx="1"/>
          </p:nvPr>
        </p:nvSpPr>
        <p:spPr>
          <a:xfrm>
            <a:off x="539750" y="1628775"/>
            <a:ext cx="6553200" cy="2590800"/>
          </a:xfrm>
        </p:spPr>
        <p:txBody>
          <a:bodyPr vert="horz" wrap="square" lIns="91440" tIns="45720" rIns="91440" bIns="45720" anchor="t" anchorCtr="0"/>
          <a:p>
            <a:pPr algn="just" eaLnBrk="1" hangingPunct="1">
              <a:buNone/>
            </a:pPr>
            <a:r>
              <a:rPr lang="zh-CN" altLang="en-US" sz="2800" b="0" dirty="0"/>
              <a:t>数学式    </a:t>
            </a:r>
            <a:r>
              <a:rPr lang="en-US" altLang="zh-CN" sz="2800" b="0">
                <a:sym typeface="Wingdings" panose="05000000000000000000" pitchFamily="2" charset="2"/>
              </a:rPr>
              <a:t></a:t>
            </a:r>
            <a:r>
              <a:rPr lang="en-US" altLang="zh-CN" sz="2800" b="0"/>
              <a:t>   C</a:t>
            </a:r>
            <a:r>
              <a:rPr lang="zh-CN" altLang="en-US" sz="2800" b="0" dirty="0"/>
              <a:t>算术表达式</a:t>
            </a:r>
            <a:endParaRPr lang="zh-CN" altLang="en-US" sz="2800" b="0" dirty="0"/>
          </a:p>
          <a:p>
            <a:pPr lvl="1" algn="just" eaLnBrk="1" hangingPunct="1">
              <a:buNone/>
            </a:pPr>
            <a:endParaRPr lang="en-US" altLang="zh-CN" sz="2400" b="0"/>
          </a:p>
          <a:p>
            <a:pPr algn="just" eaLnBrk="1" hangingPunct="1">
              <a:buNone/>
            </a:pPr>
            <a:r>
              <a:rPr lang="en-US" altLang="zh-CN" sz="2800" b="0" err="1"/>
              <a:t>s(s-a)(s-b)(s-c</a:t>
            </a:r>
            <a:r>
              <a:rPr lang="en-US" altLang="zh-CN" sz="2800" b="0"/>
              <a:t>)</a:t>
            </a:r>
            <a:endParaRPr lang="zh-CN" altLang="en-US" sz="2800" b="0" dirty="0"/>
          </a:p>
          <a:p>
            <a:pPr algn="just" eaLnBrk="1" hangingPunct="1">
              <a:buNone/>
            </a:pPr>
            <a:endParaRPr lang="zh-CN" altLang="en-US" sz="2800" b="0" dirty="0"/>
          </a:p>
          <a:p>
            <a:pPr algn="just" eaLnBrk="1" hangingPunct="1">
              <a:buNone/>
            </a:pPr>
            <a:r>
              <a:rPr lang="zh-CN" altLang="en-US" sz="2800" b="0" dirty="0"/>
              <a:t>(</a:t>
            </a:r>
            <a:r>
              <a:rPr lang="en-US" altLang="zh-CN" sz="2800" b="0"/>
              <a:t>x+2)e</a:t>
            </a:r>
            <a:r>
              <a:rPr lang="en-US" altLang="zh-CN" sz="2800" b="0" baseline="30000"/>
              <a:t>2x</a:t>
            </a:r>
            <a:endParaRPr lang="en-US" altLang="zh-CN" sz="2800" b="0" baseline="30000"/>
          </a:p>
        </p:txBody>
      </p:sp>
      <p:sp>
        <p:nvSpPr>
          <p:cNvPr id="65540" name="Rectangle 7"/>
          <p:cNvSpPr/>
          <p:nvPr/>
        </p:nvSpPr>
        <p:spPr>
          <a:xfrm>
            <a:off x="4129088" y="3238500"/>
            <a:ext cx="9144000" cy="0"/>
          </a:xfrm>
          <a:prstGeom prst="rect">
            <a:avLst/>
          </a:prstGeom>
          <a:noFill/>
          <a:ln w="9525">
            <a:noFill/>
          </a:ln>
        </p:spPr>
        <p:txBody>
          <a:bodyPr lIns="92075" tIns="46038" rIns="92075" bIns="46038" anchor="t" anchorCtr="0">
            <a:spAutoFit/>
          </a:bodyPr>
          <a:p>
            <a:endParaRPr lang="zh-CN" altLang="en-US" dirty="0">
              <a:latin typeface="Arial" panose="02080604020202020204" pitchFamily="34" charset="0"/>
            </a:endParaRPr>
          </a:p>
        </p:txBody>
      </p:sp>
      <p:graphicFrame>
        <p:nvGraphicFramePr>
          <p:cNvPr id="65541" name="Object 6"/>
          <p:cNvGraphicFramePr/>
          <p:nvPr/>
        </p:nvGraphicFramePr>
        <p:xfrm>
          <a:off x="611188" y="4365625"/>
          <a:ext cx="1828800" cy="785813"/>
        </p:xfrm>
        <a:graphic>
          <a:graphicData uri="http://schemas.openxmlformats.org/presentationml/2006/ole">
            <mc:AlternateContent xmlns:mc="http://schemas.openxmlformats.org/markup-compatibility/2006">
              <mc:Choice xmlns:v="urn:schemas-microsoft-com:vml" Requires="v">
                <p:oleObj spid="_x0000_s3077" name="" r:id="rId1" imgW="1054100" imgH="444500" progId="Equation.DSMT4">
                  <p:embed/>
                </p:oleObj>
              </mc:Choice>
              <mc:Fallback>
                <p:oleObj name="" r:id="rId1" imgW="1054100" imgH="444500" progId="Equation.DSMT4">
                  <p:embed/>
                  <p:pic>
                    <p:nvPicPr>
                      <p:cNvPr id="0" name="图片 3076"/>
                      <p:cNvPicPr/>
                      <p:nvPr/>
                    </p:nvPicPr>
                    <p:blipFill>
                      <a:blip r:embed="rId2"/>
                      <a:stretch>
                        <a:fillRect/>
                      </a:stretch>
                    </p:blipFill>
                    <p:spPr>
                      <a:xfrm>
                        <a:off x="611188" y="4365625"/>
                        <a:ext cx="1828800" cy="785813"/>
                      </a:xfrm>
                      <a:prstGeom prst="rect">
                        <a:avLst/>
                      </a:prstGeom>
                      <a:noFill/>
                      <a:ln w="38100">
                        <a:noFill/>
                        <a:miter/>
                      </a:ln>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xfrm>
            <a:off x="457200" y="457200"/>
            <a:ext cx="6923088" cy="10271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6.5.2  </a:t>
            </a:r>
            <a:r>
              <a:rPr lang="zh-CN" altLang="en-US" b="0" dirty="0">
                <a:sym typeface="+mn-ea"/>
              </a:rPr>
              <a:t>赋值</a:t>
            </a:r>
            <a:r>
              <a:rPr lang="zh-CN" altLang="en-US" b="0" dirty="0">
                <a:sym typeface="+mn-ea"/>
              </a:rPr>
              <a:t>表达式</a:t>
            </a:r>
            <a:endParaRPr lang="zh-CN" altLang="en-US" b="0" dirty="0">
              <a:sym typeface="+mn-ea"/>
            </a:endParaRPr>
          </a:p>
        </p:txBody>
      </p:sp>
      <p:sp>
        <p:nvSpPr>
          <p:cNvPr id="382979" name="Rectangle 3"/>
          <p:cNvSpPr>
            <a:spLocks noGrp="1"/>
          </p:cNvSpPr>
          <p:nvPr>
            <p:ph idx="1"/>
          </p:nvPr>
        </p:nvSpPr>
        <p:spPr>
          <a:xfrm>
            <a:off x="755650" y="2133600"/>
            <a:ext cx="7696200" cy="2895600"/>
          </a:xfrm>
        </p:spPr>
        <p:txBody>
          <a:bodyPr vert="horz" wrap="square" lIns="91440" tIns="45720" rIns="91440" bIns="45720" anchor="t" anchorCtr="0"/>
          <a:p>
            <a:pPr algn="just" eaLnBrk="1" hangingPunct="1"/>
            <a:r>
              <a:rPr lang="zh-CN" altLang="en-US" b="0" dirty="0">
                <a:latin typeface="宋体" pitchFamily="2" charset="-122"/>
              </a:rPr>
              <a:t>赋值运算符  </a:t>
            </a:r>
            <a:r>
              <a:rPr lang="en-US" altLang="en-US" b="0">
                <a:solidFill>
                  <a:srgbClr val="CC0066"/>
                </a:solidFill>
              </a:rPr>
              <a:t>=</a:t>
            </a:r>
            <a:endParaRPr lang="en-US" altLang="en-US" b="0">
              <a:solidFill>
                <a:srgbClr val="CC0066"/>
              </a:solidFill>
            </a:endParaRPr>
          </a:p>
          <a:p>
            <a:pPr lvl="1" algn="just" eaLnBrk="1" hangingPunct="1">
              <a:buNone/>
            </a:pPr>
            <a:r>
              <a:rPr lang="en-US" altLang="zh-CN" b="0"/>
              <a:t>x = 3*4</a:t>
            </a:r>
            <a:endParaRPr lang="en-US" altLang="zh-CN" b="0">
              <a:latin typeface="宋体" pitchFamily="2" charset="-122"/>
            </a:endParaRPr>
          </a:p>
          <a:p>
            <a:pPr lvl="1" algn="just" eaLnBrk="1" hangingPunct="1">
              <a:buNone/>
            </a:pPr>
            <a:r>
              <a:rPr lang="zh-CN" altLang="en-US" b="0" dirty="0">
                <a:latin typeface="宋体" pitchFamily="2" charset="-122"/>
              </a:rPr>
              <a:t>优先级较低，结合性从右向左</a:t>
            </a:r>
            <a:endParaRPr lang="zh-CN" altLang="en-US" b="0" dirty="0">
              <a:latin typeface="宋体" pitchFamily="2" charset="-122"/>
            </a:endParaRPr>
          </a:p>
          <a:p>
            <a:pPr lvl="1" algn="just" eaLnBrk="1" hangingPunct="1">
              <a:buNone/>
            </a:pPr>
            <a:r>
              <a:rPr lang="en-US" altLang="zh-CN" b="0"/>
              <a:t>x = y = 3</a:t>
            </a:r>
            <a:r>
              <a:rPr lang="en-US" altLang="zh-CN" b="0">
                <a:latin typeface="宋体" pitchFamily="2" charset="-122"/>
              </a:rPr>
              <a:t> </a:t>
            </a:r>
            <a:endParaRPr lang="en-US" altLang="zh-CN" b="0">
              <a:latin typeface="宋体" pitchFamily="2" charset="-122"/>
            </a:endParaRPr>
          </a:p>
        </p:txBody>
      </p:sp>
      <p:sp>
        <p:nvSpPr>
          <p:cNvPr id="382982" name="Rectangle 6"/>
          <p:cNvSpPr/>
          <p:nvPr/>
        </p:nvSpPr>
        <p:spPr>
          <a:xfrm>
            <a:off x="1094899" y="4508500"/>
            <a:ext cx="2155190" cy="478155"/>
          </a:xfrm>
          <a:prstGeom prst="rect">
            <a:avLst/>
          </a:prstGeom>
          <a:noFill/>
          <a:ln w="9525">
            <a:noFill/>
          </a:ln>
        </p:spPr>
        <p:txBody>
          <a:bodyPr wrap="none" lIns="92075" tIns="46038" rIns="92075" bIns="46038" anchor="t" anchorCtr="0">
            <a:spAutoFit/>
          </a:bodyPr>
          <a:p>
            <a:pPr algn="just">
              <a:lnSpc>
                <a:spcPct val="90000"/>
              </a:lnSpc>
              <a:spcBef>
                <a:spcPct val="20000"/>
              </a:spcBef>
              <a:buClr>
                <a:schemeClr val="tx2"/>
              </a:buClr>
              <a:buSzPct val="80000"/>
            </a:pPr>
            <a:r>
              <a:rPr lang="en-US" altLang="zh-CN" sz="2800">
                <a:latin typeface="Arial" panose="02080604020202020204" pitchFamily="34" charset="0"/>
              </a:rPr>
              <a:t>x = (y = 3)</a:t>
            </a:r>
            <a:endParaRPr lang="en-US" altLang="zh-CN" sz="2800" dirty="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2979">
                                            <p:txEl>
                                              <p:charRg st="0" end="9"/>
                                            </p:txEl>
                                          </p:spTgt>
                                        </p:tgtEl>
                                        <p:attrNameLst>
                                          <p:attrName>style.visibility</p:attrName>
                                        </p:attrNameLst>
                                      </p:cBhvr>
                                      <p:to>
                                        <p:strVal val="visible"/>
                                      </p:to>
                                    </p:set>
                                    <p:anim calcmode="lin" valueType="num">
                                      <p:cBhvr additive="base">
                                        <p:cTn id="7" dur="500" fill="hold"/>
                                        <p:tgtEl>
                                          <p:spTgt spid="382979">
                                            <p:txEl>
                                              <p:charRg st="0" end="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2979">
                                            <p:txEl>
                                              <p:charRg st="0" end="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2979">
                                            <p:txEl>
                                              <p:charRg st="9" end="17"/>
                                            </p:txEl>
                                          </p:spTgt>
                                        </p:tgtEl>
                                        <p:attrNameLst>
                                          <p:attrName>style.visibility</p:attrName>
                                        </p:attrNameLst>
                                      </p:cBhvr>
                                      <p:to>
                                        <p:strVal val="visible"/>
                                      </p:to>
                                    </p:set>
                                    <p:anim calcmode="lin" valueType="num">
                                      <p:cBhvr additive="base">
                                        <p:cTn id="13" dur="500" fill="hold"/>
                                        <p:tgtEl>
                                          <p:spTgt spid="382979">
                                            <p:txEl>
                                              <p:charRg st="9" end="1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2979">
                                            <p:txEl>
                                              <p:charRg st="9" end="17"/>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2979">
                                            <p:txEl>
                                              <p:charRg st="17" end="31"/>
                                            </p:txEl>
                                          </p:spTgt>
                                        </p:tgtEl>
                                        <p:attrNameLst>
                                          <p:attrName>style.visibility</p:attrName>
                                        </p:attrNameLst>
                                      </p:cBhvr>
                                      <p:to>
                                        <p:strVal val="visible"/>
                                      </p:to>
                                    </p:set>
                                    <p:anim calcmode="lin" valueType="num">
                                      <p:cBhvr additive="base">
                                        <p:cTn id="19" dur="500" fill="hold"/>
                                        <p:tgtEl>
                                          <p:spTgt spid="382979">
                                            <p:txEl>
                                              <p:charRg st="17" end="3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82979">
                                            <p:txEl>
                                              <p:charRg st="17" end="3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82979">
                                            <p:txEl>
                                              <p:charRg st="31" end="42"/>
                                            </p:txEl>
                                          </p:spTgt>
                                        </p:tgtEl>
                                        <p:attrNameLst>
                                          <p:attrName>style.visibility</p:attrName>
                                        </p:attrNameLst>
                                      </p:cBhvr>
                                      <p:to>
                                        <p:strVal val="visible"/>
                                      </p:to>
                                    </p:set>
                                    <p:anim calcmode="lin" valueType="num">
                                      <p:cBhvr additive="base">
                                        <p:cTn id="25" dur="500" fill="hold"/>
                                        <p:tgtEl>
                                          <p:spTgt spid="382979">
                                            <p:txEl>
                                              <p:charRg st="31" end="4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82979">
                                            <p:txEl>
                                              <p:charRg st="31" end="4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82982"/>
                                        </p:tgtEl>
                                        <p:attrNameLst>
                                          <p:attrName>style.visibility</p:attrName>
                                        </p:attrNameLst>
                                      </p:cBhvr>
                                      <p:to>
                                        <p:strVal val="visible"/>
                                      </p:to>
                                    </p:set>
                                    <p:anim calcmode="lin" valueType="num">
                                      <p:cBhvr additive="base">
                                        <p:cTn id="31" dur="500" fill="hold"/>
                                        <p:tgtEl>
                                          <p:spTgt spid="382982"/>
                                        </p:tgtEl>
                                        <p:attrNameLst>
                                          <p:attrName>ppt_x</p:attrName>
                                        </p:attrNameLst>
                                      </p:cBhvr>
                                      <p:tavLst>
                                        <p:tav tm="0">
                                          <p:val>
                                            <p:strVal val="0-#ppt_w/2"/>
                                          </p:val>
                                        </p:tav>
                                        <p:tav tm="100000">
                                          <p:val>
                                            <p:strVal val="#ppt_x"/>
                                          </p:val>
                                        </p:tav>
                                      </p:tavLst>
                                    </p:anim>
                                    <p:anim calcmode="lin" valueType="num">
                                      <p:cBhvr additive="base">
                                        <p:cTn id="32" dur="500" fill="hold"/>
                                        <p:tgtEl>
                                          <p:spTgt spid="3829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9" grpId="0" bldLvl="3" build="p"/>
      <p:bldP spid="38298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395288" y="549275"/>
            <a:ext cx="4043362" cy="9556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赋值表达式</a:t>
            </a:r>
            <a:endParaRPr lang="zh-CN" altLang="en-US" b="0" dirty="0">
              <a:sym typeface="+mn-ea"/>
            </a:endParaRPr>
          </a:p>
        </p:txBody>
      </p:sp>
      <p:sp>
        <p:nvSpPr>
          <p:cNvPr id="410627" name="Rectangle 3"/>
          <p:cNvSpPr>
            <a:spLocks noGrp="1"/>
          </p:cNvSpPr>
          <p:nvPr>
            <p:ph idx="1"/>
          </p:nvPr>
        </p:nvSpPr>
        <p:spPr>
          <a:xfrm>
            <a:off x="250825" y="1916113"/>
            <a:ext cx="8713788" cy="2232025"/>
          </a:xfrm>
        </p:spPr>
        <p:txBody>
          <a:bodyPr vert="horz" wrap="square" lIns="91440" tIns="45720" rIns="91440" bIns="45720" anchor="t" anchorCtr="0"/>
          <a:p>
            <a:pPr algn="just" eaLnBrk="1" hangingPunct="1">
              <a:buNone/>
            </a:pPr>
            <a:r>
              <a:rPr lang="zh-CN" altLang="en-US" b="0" dirty="0">
                <a:solidFill>
                  <a:srgbClr val="CC0066"/>
                </a:solidFill>
                <a:latin typeface="宋体" pitchFamily="2" charset="-122"/>
              </a:rPr>
              <a:t>变量</a:t>
            </a:r>
            <a:r>
              <a:rPr lang="zh-CN" altLang="en-US" b="0" dirty="0">
                <a:latin typeface="宋体" pitchFamily="2" charset="-122"/>
              </a:rPr>
              <a:t> </a:t>
            </a:r>
            <a:r>
              <a:rPr lang="en-US" altLang="zh-CN" b="0"/>
              <a:t>=</a:t>
            </a:r>
            <a:r>
              <a:rPr lang="zh-CN" altLang="en-US" b="0" dirty="0">
                <a:latin typeface="宋体" pitchFamily="2" charset="-122"/>
              </a:rPr>
              <a:t> </a:t>
            </a:r>
            <a:r>
              <a:rPr lang="zh-CN" altLang="en-US" b="0" dirty="0">
                <a:solidFill>
                  <a:schemeClr val="bg2"/>
                </a:solidFill>
                <a:latin typeface="宋体" pitchFamily="2" charset="-122"/>
              </a:rPr>
              <a:t>表达式</a:t>
            </a:r>
            <a:endParaRPr lang="zh-CN" altLang="en-US" b="0" dirty="0">
              <a:solidFill>
                <a:schemeClr val="bg2"/>
              </a:solidFill>
              <a:latin typeface="宋体" pitchFamily="2" charset="-122"/>
            </a:endParaRPr>
          </a:p>
          <a:p>
            <a:pPr lvl="1" algn="just" eaLnBrk="1" hangingPunct="1"/>
            <a:r>
              <a:rPr lang="zh-CN" altLang="en-US" b="0" dirty="0">
                <a:latin typeface="宋体" pitchFamily="2" charset="-122"/>
              </a:rPr>
              <a:t>计算赋值运算符右侧</a:t>
            </a:r>
            <a:r>
              <a:rPr lang="zh-CN" altLang="en-US" b="0" dirty="0">
                <a:solidFill>
                  <a:schemeClr val="bg2"/>
                </a:solidFill>
                <a:latin typeface="宋体" pitchFamily="2" charset="-122"/>
              </a:rPr>
              <a:t>表达式</a:t>
            </a:r>
            <a:r>
              <a:rPr lang="zh-CN" altLang="en-US" b="0" dirty="0">
                <a:latin typeface="宋体" pitchFamily="2" charset="-122"/>
              </a:rPr>
              <a:t>的值</a:t>
            </a:r>
            <a:endParaRPr lang="zh-CN" altLang="en-US" b="0" dirty="0">
              <a:latin typeface="宋体" pitchFamily="2" charset="-122"/>
            </a:endParaRPr>
          </a:p>
          <a:p>
            <a:pPr lvl="1" algn="just" eaLnBrk="1" hangingPunct="1"/>
            <a:r>
              <a:rPr lang="zh-CN" altLang="en-US" b="0" dirty="0">
                <a:latin typeface="宋体" pitchFamily="2" charset="-122"/>
              </a:rPr>
              <a:t>将赋值运算符右侧</a:t>
            </a:r>
            <a:r>
              <a:rPr lang="zh-CN" altLang="en-US" b="0" dirty="0">
                <a:solidFill>
                  <a:schemeClr val="bg2"/>
                </a:solidFill>
                <a:latin typeface="宋体" pitchFamily="2" charset="-122"/>
              </a:rPr>
              <a:t>表达式</a:t>
            </a:r>
            <a:r>
              <a:rPr lang="zh-CN" altLang="en-US" b="0" dirty="0">
                <a:latin typeface="宋体" pitchFamily="2" charset="-122"/>
              </a:rPr>
              <a:t>的值赋给左侧的</a:t>
            </a:r>
            <a:r>
              <a:rPr lang="zh-CN" altLang="en-US" b="0" dirty="0">
                <a:solidFill>
                  <a:srgbClr val="CC0066"/>
                </a:solidFill>
                <a:latin typeface="宋体" pitchFamily="2" charset="-122"/>
              </a:rPr>
              <a:t>变量</a:t>
            </a:r>
            <a:endParaRPr lang="zh-CN" altLang="en-US" b="0" dirty="0">
              <a:solidFill>
                <a:srgbClr val="CC0066"/>
              </a:solidFill>
              <a:latin typeface="宋体" pitchFamily="2" charset="-122"/>
            </a:endParaRPr>
          </a:p>
          <a:p>
            <a:pPr lvl="1" algn="just" eaLnBrk="1" hangingPunct="1"/>
            <a:r>
              <a:rPr lang="zh-CN" altLang="en-US" b="0" dirty="0">
                <a:latin typeface="宋体" pitchFamily="2" charset="-122"/>
              </a:rPr>
              <a:t>将赋值运算符左侧的</a:t>
            </a:r>
            <a:r>
              <a:rPr lang="zh-CN" altLang="en-US" b="0" dirty="0">
                <a:solidFill>
                  <a:srgbClr val="CC0066"/>
                </a:solidFill>
                <a:latin typeface="宋体" pitchFamily="2" charset="-122"/>
              </a:rPr>
              <a:t>变量</a:t>
            </a:r>
            <a:r>
              <a:rPr lang="zh-CN" altLang="en-US" b="0" dirty="0">
                <a:latin typeface="宋体" pitchFamily="2" charset="-122"/>
              </a:rPr>
              <a:t>的值作为表达式的值</a:t>
            </a:r>
            <a:endParaRPr lang="en-US" altLang="zh-CN" b="0"/>
          </a:p>
        </p:txBody>
      </p:sp>
      <p:sp>
        <p:nvSpPr>
          <p:cNvPr id="410629" name="Rectangle 5"/>
          <p:cNvSpPr/>
          <p:nvPr/>
        </p:nvSpPr>
        <p:spPr>
          <a:xfrm>
            <a:off x="1752600" y="1412875"/>
            <a:ext cx="7391400" cy="521970"/>
          </a:xfrm>
          <a:prstGeom prst="rect">
            <a:avLst/>
          </a:prstGeom>
          <a:noFill/>
          <a:ln w="9525">
            <a:noFill/>
          </a:ln>
        </p:spPr>
        <p:txBody>
          <a:bodyPr lIns="92075" tIns="46038" rIns="92075" bIns="46038" anchor="t" anchorCtr="0">
            <a:spAutoFit/>
          </a:bodyPr>
          <a:p>
            <a:pPr algn="just">
              <a:spcBef>
                <a:spcPct val="50000"/>
              </a:spcBef>
              <a:buClr>
                <a:srgbClr val="33CCCC"/>
              </a:buClr>
              <a:buSzPct val="110000"/>
            </a:pPr>
            <a:r>
              <a:rPr lang="zh-CN" altLang="en-US" sz="2800" dirty="0">
                <a:solidFill>
                  <a:schemeClr val="bg2"/>
                </a:solidFill>
                <a:latin typeface="仿宋_GB2312" pitchFamily="49" charset="-122"/>
                <a:ea typeface="仿宋_GB2312" pitchFamily="49" charset="-122"/>
              </a:rPr>
              <a:t>右侧表达式的类型自动转换成左侧变量的类型</a:t>
            </a:r>
            <a:endParaRPr lang="zh-CN" altLang="en-US" sz="2800" dirty="0">
              <a:solidFill>
                <a:schemeClr val="bg2"/>
              </a:solidFill>
              <a:latin typeface="仿宋_GB2312" pitchFamily="49" charset="-122"/>
              <a:ea typeface="仿宋_GB2312" pitchFamily="49" charset="-122"/>
            </a:endParaRPr>
          </a:p>
        </p:txBody>
      </p:sp>
      <p:sp>
        <p:nvSpPr>
          <p:cNvPr id="410630" name="Rectangle 6"/>
          <p:cNvSpPr/>
          <p:nvPr/>
        </p:nvSpPr>
        <p:spPr>
          <a:xfrm>
            <a:off x="1331913" y="4076700"/>
            <a:ext cx="3048000" cy="2589530"/>
          </a:xfrm>
          <a:prstGeom prst="rect">
            <a:avLst/>
          </a:prstGeom>
          <a:noFill/>
          <a:ln w="9525">
            <a:noFill/>
          </a:ln>
        </p:spPr>
        <p:txBody>
          <a:bodyPr lIns="92075" tIns="46038" rIns="92075" bIns="46038" anchor="t" anchorCtr="0">
            <a:spAutoFit/>
          </a:bodyPr>
          <a:p>
            <a:pPr algn="just">
              <a:spcBef>
                <a:spcPct val="20000"/>
              </a:spcBef>
              <a:buClr>
                <a:srgbClr val="33CCCC"/>
              </a:buClr>
              <a:buSzPct val="110000"/>
            </a:pPr>
            <a:r>
              <a:rPr lang="en-US" altLang="zh-CN" sz="2800" err="1">
                <a:latin typeface="Arial" panose="02080604020202020204" pitchFamily="34" charset="0"/>
              </a:rPr>
              <a:t>int</a:t>
            </a:r>
            <a:r>
              <a:rPr lang="en-US" altLang="zh-CN" sz="2800">
                <a:latin typeface="Arial" panose="02080604020202020204" pitchFamily="34" charset="0"/>
              </a:rPr>
              <a:t> n; </a:t>
            </a:r>
            <a:endParaRPr lang="en-US" altLang="zh-CN" sz="2800">
              <a:latin typeface="Arial" panose="02080604020202020204" pitchFamily="34" charset="0"/>
            </a:endParaRPr>
          </a:p>
          <a:p>
            <a:pPr algn="just">
              <a:spcBef>
                <a:spcPct val="20000"/>
              </a:spcBef>
              <a:buClr>
                <a:srgbClr val="33CCCC"/>
              </a:buClr>
              <a:buSzPct val="110000"/>
            </a:pPr>
            <a:r>
              <a:rPr lang="en-US" altLang="zh-CN" sz="2800">
                <a:latin typeface="Arial" panose="02080604020202020204" pitchFamily="34" charset="0"/>
              </a:rPr>
              <a:t>double x, y;</a:t>
            </a:r>
            <a:endParaRPr lang="en-US" altLang="zh-CN" sz="2800">
              <a:latin typeface="Arial" panose="02080604020202020204" pitchFamily="34" charset="0"/>
            </a:endParaRPr>
          </a:p>
          <a:p>
            <a:pPr algn="just">
              <a:spcBef>
                <a:spcPct val="20000"/>
              </a:spcBef>
              <a:buClr>
                <a:srgbClr val="33CCCC"/>
              </a:buClr>
              <a:buSzPct val="110000"/>
            </a:pPr>
            <a:r>
              <a:rPr lang="en-US" altLang="zh-CN" sz="2800">
                <a:latin typeface="Arial" panose="02080604020202020204" pitchFamily="34" charset="0"/>
              </a:rPr>
              <a:t>n = 3.14 * 2;</a:t>
            </a:r>
            <a:endParaRPr lang="en-US" altLang="zh-CN" sz="2800">
              <a:latin typeface="Arial" panose="02080604020202020204" pitchFamily="34" charset="0"/>
            </a:endParaRPr>
          </a:p>
          <a:p>
            <a:pPr algn="just">
              <a:spcBef>
                <a:spcPct val="20000"/>
              </a:spcBef>
              <a:buClr>
                <a:srgbClr val="33CCCC"/>
              </a:buClr>
              <a:buSzPct val="110000"/>
            </a:pPr>
            <a:r>
              <a:rPr lang="en-US" altLang="zh-CN" sz="2800">
                <a:latin typeface="Arial" panose="02080604020202020204" pitchFamily="34" charset="0"/>
              </a:rPr>
              <a:t>x = 10 / 4;</a:t>
            </a:r>
            <a:endParaRPr lang="en-US" altLang="zh-CN" sz="2800">
              <a:latin typeface="Arial" panose="02080604020202020204" pitchFamily="34" charset="0"/>
            </a:endParaRPr>
          </a:p>
          <a:p>
            <a:pPr algn="just">
              <a:spcBef>
                <a:spcPct val="20000"/>
              </a:spcBef>
              <a:buClr>
                <a:srgbClr val="33CCCC"/>
              </a:buClr>
              <a:buSzPct val="110000"/>
            </a:pPr>
            <a:r>
              <a:rPr lang="en-US" altLang="zh-CN" sz="2800">
                <a:latin typeface="Arial" panose="02080604020202020204" pitchFamily="34" charset="0"/>
              </a:rPr>
              <a:t>x = (y = 3);</a:t>
            </a:r>
            <a:endParaRPr lang="en-US" altLang="zh-CN" sz="2800">
              <a:latin typeface="Arial" panose="02080604020202020204" pitchFamily="34" charset="0"/>
            </a:endParaRPr>
          </a:p>
        </p:txBody>
      </p:sp>
      <p:sp>
        <p:nvSpPr>
          <p:cNvPr id="410631" name="Line 7"/>
          <p:cNvSpPr/>
          <p:nvPr/>
        </p:nvSpPr>
        <p:spPr>
          <a:xfrm>
            <a:off x="6227763" y="1844675"/>
            <a:ext cx="0" cy="1296988"/>
          </a:xfrm>
          <a:prstGeom prst="line">
            <a:avLst/>
          </a:prstGeom>
          <a:ln w="38100" cap="flat" cmpd="sng">
            <a:solidFill>
              <a:schemeClr val="bg2"/>
            </a:solidFill>
            <a:prstDash val="solid"/>
            <a:round/>
            <a:headEnd type="non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0627">
                                            <p:txEl>
                                              <p:charRg st="0" end="9"/>
                                            </p:txEl>
                                          </p:spTgt>
                                        </p:tgtEl>
                                        <p:attrNameLst>
                                          <p:attrName>style.visibility</p:attrName>
                                        </p:attrNameLst>
                                      </p:cBhvr>
                                      <p:to>
                                        <p:strVal val="visible"/>
                                      </p:to>
                                    </p:set>
                                    <p:anim calcmode="lin" valueType="num">
                                      <p:cBhvr additive="base">
                                        <p:cTn id="7" dur="500" fill="hold"/>
                                        <p:tgtEl>
                                          <p:spTgt spid="410627">
                                            <p:txEl>
                                              <p:charRg st="0" end="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10627">
                                            <p:txEl>
                                              <p:charRg st="0" end="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0627">
                                            <p:txEl>
                                              <p:charRg st="9" end="24"/>
                                            </p:txEl>
                                          </p:spTgt>
                                        </p:tgtEl>
                                        <p:attrNameLst>
                                          <p:attrName>style.visibility</p:attrName>
                                        </p:attrNameLst>
                                      </p:cBhvr>
                                      <p:to>
                                        <p:strVal val="visible"/>
                                      </p:to>
                                    </p:set>
                                    <p:anim calcmode="lin" valueType="num">
                                      <p:cBhvr additive="base">
                                        <p:cTn id="13" dur="500" fill="hold"/>
                                        <p:tgtEl>
                                          <p:spTgt spid="410627">
                                            <p:txEl>
                                              <p:charRg st="9" end="2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10627">
                                            <p:txEl>
                                              <p:charRg st="9" end="2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0627">
                                            <p:txEl>
                                              <p:charRg st="24" end="45"/>
                                            </p:txEl>
                                          </p:spTgt>
                                        </p:tgtEl>
                                        <p:attrNameLst>
                                          <p:attrName>style.visibility</p:attrName>
                                        </p:attrNameLst>
                                      </p:cBhvr>
                                      <p:to>
                                        <p:strVal val="visible"/>
                                      </p:to>
                                    </p:set>
                                    <p:anim calcmode="lin" valueType="num">
                                      <p:cBhvr additive="base">
                                        <p:cTn id="19" dur="500" fill="hold"/>
                                        <p:tgtEl>
                                          <p:spTgt spid="410627">
                                            <p:txEl>
                                              <p:charRg st="24" end="4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10627">
                                            <p:txEl>
                                              <p:charRg st="24" end="4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10627">
                                            <p:txEl>
                                              <p:charRg st="45" end="66"/>
                                            </p:txEl>
                                          </p:spTgt>
                                        </p:tgtEl>
                                        <p:attrNameLst>
                                          <p:attrName>style.visibility</p:attrName>
                                        </p:attrNameLst>
                                      </p:cBhvr>
                                      <p:to>
                                        <p:strVal val="visible"/>
                                      </p:to>
                                    </p:set>
                                    <p:anim calcmode="lin" valueType="num">
                                      <p:cBhvr additive="base">
                                        <p:cTn id="25" dur="500" fill="hold"/>
                                        <p:tgtEl>
                                          <p:spTgt spid="410627">
                                            <p:txEl>
                                              <p:charRg st="45" end="6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10627">
                                            <p:txEl>
                                              <p:charRg st="45" end="6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410631"/>
                                        </p:tgtEl>
                                        <p:attrNameLst>
                                          <p:attrName>style.visibility</p:attrName>
                                        </p:attrNameLst>
                                      </p:cBhvr>
                                      <p:to>
                                        <p:strVal val="visible"/>
                                      </p:to>
                                    </p:set>
                                    <p:animEffect transition="in" filter="wipe(down)">
                                      <p:cBhvr>
                                        <p:cTn id="31" dur="500"/>
                                        <p:tgtEl>
                                          <p:spTgt spid="410631"/>
                                        </p:tgtEl>
                                      </p:cBhvr>
                                    </p:animEffect>
                                  </p:childTnLst>
                                </p:cTn>
                              </p:par>
                            </p:childTnLst>
                          </p:cTn>
                        </p:par>
                        <p:par>
                          <p:cTn id="32" fill="hold">
                            <p:stCondLst>
                              <p:cond delay="500"/>
                            </p:stCondLst>
                            <p:childTnLst>
                              <p:par>
                                <p:cTn id="33" presetID="2" presetClass="entr" presetSubtype="8" fill="hold" grpId="0" nodeType="afterEffect">
                                  <p:stCondLst>
                                    <p:cond delay="0"/>
                                  </p:stCondLst>
                                  <p:childTnLst>
                                    <p:set>
                                      <p:cBhvr>
                                        <p:cTn id="34" dur="1" fill="hold">
                                          <p:stCondLst>
                                            <p:cond delay="0"/>
                                          </p:stCondLst>
                                        </p:cTn>
                                        <p:tgtEl>
                                          <p:spTgt spid="410629"/>
                                        </p:tgtEl>
                                        <p:attrNameLst>
                                          <p:attrName>style.visibility</p:attrName>
                                        </p:attrNameLst>
                                      </p:cBhvr>
                                      <p:to>
                                        <p:strVal val="visible"/>
                                      </p:to>
                                    </p:set>
                                    <p:anim calcmode="lin" valueType="num">
                                      <p:cBhvr additive="base">
                                        <p:cTn id="35" dur="500" fill="hold"/>
                                        <p:tgtEl>
                                          <p:spTgt spid="410629"/>
                                        </p:tgtEl>
                                        <p:attrNameLst>
                                          <p:attrName>ppt_x</p:attrName>
                                        </p:attrNameLst>
                                      </p:cBhvr>
                                      <p:tavLst>
                                        <p:tav tm="0">
                                          <p:val>
                                            <p:strVal val="0-#ppt_w/2"/>
                                          </p:val>
                                        </p:tav>
                                        <p:tav tm="100000">
                                          <p:val>
                                            <p:strVal val="#ppt_x"/>
                                          </p:val>
                                        </p:tav>
                                      </p:tavLst>
                                    </p:anim>
                                    <p:anim calcmode="lin" valueType="num">
                                      <p:cBhvr additive="base">
                                        <p:cTn id="36" dur="500" fill="hold"/>
                                        <p:tgtEl>
                                          <p:spTgt spid="41062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10630"/>
                                        </p:tgtEl>
                                        <p:attrNameLst>
                                          <p:attrName>style.visibility</p:attrName>
                                        </p:attrNameLst>
                                      </p:cBhvr>
                                      <p:to>
                                        <p:strVal val="visible"/>
                                      </p:to>
                                    </p:set>
                                    <p:anim calcmode="lin" valueType="num">
                                      <p:cBhvr additive="base">
                                        <p:cTn id="41" dur="500" fill="hold"/>
                                        <p:tgtEl>
                                          <p:spTgt spid="410630"/>
                                        </p:tgtEl>
                                        <p:attrNameLst>
                                          <p:attrName>ppt_x</p:attrName>
                                        </p:attrNameLst>
                                      </p:cBhvr>
                                      <p:tavLst>
                                        <p:tav tm="0">
                                          <p:val>
                                            <p:strVal val="0-#ppt_w/2"/>
                                          </p:val>
                                        </p:tav>
                                        <p:tav tm="100000">
                                          <p:val>
                                            <p:strVal val="#ppt_x"/>
                                          </p:val>
                                        </p:tav>
                                      </p:tavLst>
                                    </p:anim>
                                    <p:anim calcmode="lin" valueType="num">
                                      <p:cBhvr additive="base">
                                        <p:cTn id="42" dur="500" fill="hold"/>
                                        <p:tgtEl>
                                          <p:spTgt spid="4106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7" grpId="0" bldLvl="3" build="p"/>
      <p:bldP spid="410629" grpId="0"/>
      <p:bldP spid="41063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457200" y="457200"/>
            <a:ext cx="5194300" cy="9556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复合赋值运算符</a:t>
            </a:r>
            <a:endParaRPr lang="zh-CN" altLang="en-US" b="0" dirty="0">
              <a:sym typeface="+mn-ea"/>
            </a:endParaRPr>
          </a:p>
        </p:txBody>
      </p:sp>
      <p:sp>
        <p:nvSpPr>
          <p:cNvPr id="385027" name="Rectangle 3"/>
          <p:cNvSpPr>
            <a:spLocks noGrp="1"/>
          </p:cNvSpPr>
          <p:nvPr>
            <p:ph idx="1"/>
          </p:nvPr>
        </p:nvSpPr>
        <p:spPr>
          <a:xfrm>
            <a:off x="395288" y="1484313"/>
            <a:ext cx="7129462" cy="4267200"/>
          </a:xfrm>
        </p:spPr>
        <p:txBody>
          <a:bodyPr vert="horz" wrap="square" lIns="91440" tIns="45720" rIns="91440" bIns="45720" anchor="t" anchorCtr="0"/>
          <a:p>
            <a:pPr algn="just" eaLnBrk="1" hangingPunct="1">
              <a:lnSpc>
                <a:spcPct val="90000"/>
              </a:lnSpc>
            </a:pPr>
            <a:r>
              <a:rPr lang="zh-CN" altLang="en-US" b="0" dirty="0"/>
              <a:t>赋值运算符</a:t>
            </a:r>
            <a:endParaRPr lang="en-US" altLang="zh-CN" b="0"/>
          </a:p>
          <a:p>
            <a:pPr lvl="1" algn="just" eaLnBrk="1" hangingPunct="1">
              <a:lnSpc>
                <a:spcPct val="90000"/>
              </a:lnSpc>
            </a:pPr>
            <a:r>
              <a:rPr lang="zh-CN" altLang="en-US" b="0" dirty="0"/>
              <a:t>简单赋值运算符 </a:t>
            </a:r>
            <a:r>
              <a:rPr lang="zh-CN" altLang="en-US" b="0" dirty="0">
                <a:solidFill>
                  <a:srgbClr val="CC0066"/>
                </a:solidFill>
              </a:rPr>
              <a:t>=</a:t>
            </a:r>
            <a:endParaRPr lang="en-US" altLang="zh-CN" b="0">
              <a:solidFill>
                <a:srgbClr val="CC0066"/>
              </a:solidFill>
            </a:endParaRPr>
          </a:p>
          <a:p>
            <a:pPr lvl="1" algn="just" eaLnBrk="1" hangingPunct="1">
              <a:lnSpc>
                <a:spcPct val="90000"/>
              </a:lnSpc>
            </a:pPr>
            <a:r>
              <a:rPr lang="zh-CN" altLang="en-US" b="0" dirty="0"/>
              <a:t>复合赋值运算符</a:t>
            </a:r>
            <a:endParaRPr lang="zh-CN" altLang="en-US" b="0" dirty="0">
              <a:solidFill>
                <a:srgbClr val="FF9933"/>
              </a:solidFill>
            </a:endParaRPr>
          </a:p>
          <a:p>
            <a:pPr lvl="2" algn="just" eaLnBrk="1" hangingPunct="1">
              <a:lnSpc>
                <a:spcPct val="90000"/>
              </a:lnSpc>
            </a:pPr>
            <a:r>
              <a:rPr lang="zh-CN" altLang="en-US" b="0" dirty="0"/>
              <a:t>复合算术赋值运算符  </a:t>
            </a:r>
            <a:r>
              <a:rPr lang="zh-CN" altLang="en-US" b="0" dirty="0">
                <a:solidFill>
                  <a:srgbClr val="CC0066"/>
                </a:solidFill>
              </a:rPr>
              <a:t>+=  -=  *=   /=  %=</a:t>
            </a:r>
            <a:endParaRPr lang="zh-CN" altLang="en-US" b="0" dirty="0">
              <a:solidFill>
                <a:srgbClr val="CC0066"/>
              </a:solidFill>
            </a:endParaRPr>
          </a:p>
          <a:p>
            <a:pPr lvl="2" algn="just" eaLnBrk="1" hangingPunct="1">
              <a:lnSpc>
                <a:spcPct val="90000"/>
              </a:lnSpc>
            </a:pPr>
            <a:r>
              <a:rPr lang="zh-CN" altLang="en-US" b="0" dirty="0"/>
              <a:t>复合位赋值运算符</a:t>
            </a:r>
            <a:endParaRPr lang="zh-CN" altLang="en-US" b="0" dirty="0"/>
          </a:p>
          <a:p>
            <a:pPr algn="just" eaLnBrk="1" hangingPunct="1">
              <a:lnSpc>
                <a:spcPct val="90000"/>
              </a:lnSpc>
            </a:pPr>
            <a:r>
              <a:rPr lang="zh-CN" altLang="en-US" b="0" dirty="0"/>
              <a:t>赋值表达式 </a:t>
            </a:r>
            <a:endParaRPr lang="zh-CN" altLang="en-US" b="0" dirty="0"/>
          </a:p>
          <a:p>
            <a:pPr lvl="1" algn="just" eaLnBrk="1" hangingPunct="1">
              <a:lnSpc>
                <a:spcPct val="90000"/>
              </a:lnSpc>
              <a:buNone/>
            </a:pPr>
            <a:r>
              <a:rPr lang="zh-CN" altLang="en-US" b="0" dirty="0">
                <a:latin typeface="宋体" pitchFamily="2" charset="-122"/>
              </a:rPr>
              <a:t>变量</a:t>
            </a:r>
            <a:r>
              <a:rPr lang="zh-CN" altLang="en-US" b="0" dirty="0">
                <a:solidFill>
                  <a:srgbClr val="FFFF00"/>
                </a:solidFill>
                <a:latin typeface="宋体" pitchFamily="2" charset="-122"/>
              </a:rPr>
              <a:t> </a:t>
            </a:r>
            <a:r>
              <a:rPr lang="zh-CN" altLang="en-US" b="0" dirty="0">
                <a:solidFill>
                  <a:srgbClr val="CC0066"/>
                </a:solidFill>
              </a:rPr>
              <a:t>赋值运算符</a:t>
            </a:r>
            <a:r>
              <a:rPr lang="zh-CN" altLang="en-US" b="0" dirty="0">
                <a:latin typeface="宋体" pitchFamily="2" charset="-122"/>
              </a:rPr>
              <a:t> </a:t>
            </a:r>
            <a:r>
              <a:rPr lang="zh-CN" altLang="en-US" b="0" dirty="0">
                <a:solidFill>
                  <a:schemeClr val="bg2"/>
                </a:solidFill>
                <a:latin typeface="宋体" pitchFamily="2" charset="-122"/>
              </a:rPr>
              <a:t>表达式</a:t>
            </a:r>
            <a:endParaRPr lang="zh-CN" altLang="en-US" b="0" dirty="0">
              <a:solidFill>
                <a:schemeClr val="bg2"/>
              </a:solidFill>
              <a:latin typeface="宋体" pitchFamily="2" charset="-122"/>
            </a:endParaRPr>
          </a:p>
          <a:p>
            <a:pPr lvl="1" algn="just" eaLnBrk="1" hangingPunct="1">
              <a:lnSpc>
                <a:spcPct val="90000"/>
              </a:lnSpc>
              <a:buNone/>
            </a:pPr>
            <a:r>
              <a:rPr lang="en-US" altLang="zh-CN" b="0"/>
              <a:t>x </a:t>
            </a:r>
            <a:r>
              <a:rPr lang="en-US" altLang="zh-CN" b="0">
                <a:solidFill>
                  <a:srgbClr val="CC0066"/>
                </a:solidFill>
              </a:rPr>
              <a:t>+=</a:t>
            </a:r>
            <a:r>
              <a:rPr lang="en-US" altLang="zh-CN" b="0"/>
              <a:t> </a:t>
            </a:r>
            <a:r>
              <a:rPr lang="en-US" altLang="zh-CN" b="0">
                <a:solidFill>
                  <a:schemeClr val="bg2"/>
                </a:solidFill>
              </a:rPr>
              <a:t>exp</a:t>
            </a:r>
            <a:r>
              <a:rPr lang="en-US" altLang="zh-CN" b="0"/>
              <a:t> </a:t>
            </a:r>
            <a:r>
              <a:rPr lang="zh-CN" altLang="en-US" b="0" dirty="0"/>
              <a:t>等价于 </a:t>
            </a:r>
            <a:r>
              <a:rPr lang="en-US" altLang="zh-CN" b="0"/>
              <a:t>x </a:t>
            </a:r>
            <a:r>
              <a:rPr lang="en-US" altLang="zh-CN" b="0">
                <a:solidFill>
                  <a:srgbClr val="CC0066"/>
                </a:solidFill>
              </a:rPr>
              <a:t>=</a:t>
            </a:r>
            <a:r>
              <a:rPr lang="en-US" altLang="zh-CN" b="0"/>
              <a:t> x </a:t>
            </a:r>
            <a:r>
              <a:rPr lang="en-US" altLang="zh-CN" b="0">
                <a:solidFill>
                  <a:srgbClr val="CC0066"/>
                </a:solidFill>
              </a:rPr>
              <a:t>+</a:t>
            </a:r>
            <a:r>
              <a:rPr lang="en-US" altLang="zh-CN" b="0"/>
              <a:t> </a:t>
            </a:r>
            <a:r>
              <a:rPr lang="en-US" altLang="zh-CN" b="0">
                <a:solidFill>
                  <a:schemeClr val="bg2"/>
                </a:solidFill>
              </a:rPr>
              <a:t>exp</a:t>
            </a:r>
            <a:endParaRPr lang="en-US" altLang="zh-CN" b="0">
              <a:solidFill>
                <a:schemeClr val="bg2"/>
              </a:solidFill>
            </a:endParaRPr>
          </a:p>
          <a:p>
            <a:pPr lvl="1" algn="just" eaLnBrk="1" hangingPunct="1">
              <a:lnSpc>
                <a:spcPct val="90000"/>
              </a:lnSpc>
              <a:buNone/>
            </a:pPr>
            <a:r>
              <a:rPr lang="en-US" altLang="zh-CN" b="0"/>
              <a:t>x </a:t>
            </a:r>
            <a:r>
              <a:rPr lang="en-US" altLang="zh-CN" b="0">
                <a:solidFill>
                  <a:srgbClr val="CC0066"/>
                </a:solidFill>
              </a:rPr>
              <a:t>*=</a:t>
            </a:r>
            <a:r>
              <a:rPr lang="en-US" altLang="zh-CN" b="0"/>
              <a:t> y - 3</a:t>
            </a:r>
            <a:endParaRPr lang="en-US" altLang="zh-CN" b="0"/>
          </a:p>
        </p:txBody>
      </p:sp>
      <p:sp>
        <p:nvSpPr>
          <p:cNvPr id="385028" name="Text Box 4"/>
          <p:cNvSpPr txBox="1"/>
          <p:nvPr/>
        </p:nvSpPr>
        <p:spPr>
          <a:xfrm>
            <a:off x="3564255" y="5588000"/>
            <a:ext cx="3169920" cy="435610"/>
          </a:xfrm>
          <a:prstGeom prst="rect">
            <a:avLst/>
          </a:prstGeom>
          <a:noFill/>
          <a:ln w="12700">
            <a:noFill/>
          </a:ln>
        </p:spPr>
        <p:txBody>
          <a:bodyPr wrap="square" anchor="t" anchorCtr="0">
            <a:spAutoFit/>
          </a:bodyPr>
          <a:p>
            <a:pPr>
              <a:lnSpc>
                <a:spcPct val="80000"/>
              </a:lnSpc>
              <a:spcBef>
                <a:spcPct val="20000"/>
              </a:spcBef>
              <a:buClr>
                <a:srgbClr val="33CCCC"/>
              </a:buClr>
              <a:buSzPct val="80000"/>
              <a:buFont typeface="Wingdings" panose="05000000000000000000" pitchFamily="2" charset="2"/>
            </a:pPr>
            <a:r>
              <a:rPr lang="en-US" altLang="zh-CN" sz="2800">
                <a:latin typeface="Arial" panose="02080604020202020204" pitchFamily="34" charset="0"/>
              </a:rPr>
              <a:t>x </a:t>
            </a:r>
            <a:r>
              <a:rPr lang="en-US" altLang="zh-CN" sz="2800">
                <a:solidFill>
                  <a:srgbClr val="CC0066"/>
                </a:solidFill>
                <a:latin typeface="Arial" panose="02080604020202020204" pitchFamily="34" charset="0"/>
              </a:rPr>
              <a:t>=</a:t>
            </a:r>
            <a:r>
              <a:rPr lang="en-US" altLang="zh-CN" sz="2800">
                <a:latin typeface="Arial" panose="02080604020202020204" pitchFamily="34" charset="0"/>
              </a:rPr>
              <a:t> x </a:t>
            </a:r>
            <a:r>
              <a:rPr lang="en-US" altLang="zh-CN" sz="2800">
                <a:solidFill>
                  <a:srgbClr val="CC0066"/>
                </a:solidFill>
                <a:latin typeface="Arial" panose="02080604020202020204" pitchFamily="34" charset="0"/>
              </a:rPr>
              <a:t>*</a:t>
            </a:r>
            <a:r>
              <a:rPr lang="en-US" altLang="zh-CN" sz="2800">
                <a:latin typeface="Arial" panose="02080604020202020204" pitchFamily="34" charset="0"/>
              </a:rPr>
              <a:t> </a:t>
            </a:r>
            <a:r>
              <a:rPr lang="en-US" altLang="zh-CN" sz="2800">
                <a:solidFill>
                  <a:schemeClr val="bg2"/>
                </a:solidFill>
                <a:latin typeface="Arial" panose="02080604020202020204" pitchFamily="34" charset="0"/>
              </a:rPr>
              <a:t>(</a:t>
            </a:r>
            <a:r>
              <a:rPr lang="en-US" altLang="zh-CN" sz="2800">
                <a:latin typeface="Arial" panose="02080604020202020204" pitchFamily="34" charset="0"/>
              </a:rPr>
              <a:t>y-3</a:t>
            </a:r>
            <a:r>
              <a:rPr lang="en-US" altLang="zh-CN" sz="2800">
                <a:solidFill>
                  <a:schemeClr val="bg2"/>
                </a:solidFill>
                <a:latin typeface="Arial" panose="02080604020202020204" pitchFamily="34" charset="0"/>
              </a:rPr>
              <a:t>)</a:t>
            </a:r>
            <a:r>
              <a:rPr lang="en-US" altLang="zh-CN" sz="2800">
                <a:latin typeface="Arial" panose="02080604020202020204" pitchFamily="34" charset="0"/>
              </a:rPr>
              <a:t> </a:t>
            </a:r>
            <a:endParaRPr lang="zh-CN" altLang="zh-CN" sz="2800" dirty="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5027">
                                            <p:txEl>
                                              <p:charRg st="0" end="6"/>
                                            </p:txEl>
                                          </p:spTgt>
                                        </p:tgtEl>
                                        <p:attrNameLst>
                                          <p:attrName>style.visibility</p:attrName>
                                        </p:attrNameLst>
                                      </p:cBhvr>
                                      <p:to>
                                        <p:strVal val="visible"/>
                                      </p:to>
                                    </p:set>
                                    <p:anim calcmode="lin" valueType="num">
                                      <p:cBhvr additive="base">
                                        <p:cTn id="7" dur="500" fill="hold"/>
                                        <p:tgtEl>
                                          <p:spTgt spid="385027">
                                            <p:txEl>
                                              <p:charRg st="0" end="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5027">
                                            <p:txEl>
                                              <p:charRg st="0" end="6"/>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5027">
                                            <p:txEl>
                                              <p:charRg st="6" end="16"/>
                                            </p:txEl>
                                          </p:spTgt>
                                        </p:tgtEl>
                                        <p:attrNameLst>
                                          <p:attrName>style.visibility</p:attrName>
                                        </p:attrNameLst>
                                      </p:cBhvr>
                                      <p:to>
                                        <p:strVal val="visible"/>
                                      </p:to>
                                    </p:set>
                                    <p:anim calcmode="lin" valueType="num">
                                      <p:cBhvr additive="base">
                                        <p:cTn id="13" dur="500" fill="hold"/>
                                        <p:tgtEl>
                                          <p:spTgt spid="385027">
                                            <p:txEl>
                                              <p:charRg st="6" end="1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5027">
                                            <p:txEl>
                                              <p:charRg st="6" end="16"/>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5027">
                                            <p:txEl>
                                              <p:charRg st="16" end="24"/>
                                            </p:txEl>
                                          </p:spTgt>
                                        </p:tgtEl>
                                        <p:attrNameLst>
                                          <p:attrName>style.visibility</p:attrName>
                                        </p:attrNameLst>
                                      </p:cBhvr>
                                      <p:to>
                                        <p:strVal val="visible"/>
                                      </p:to>
                                    </p:set>
                                    <p:anim calcmode="lin" valueType="num">
                                      <p:cBhvr additive="base">
                                        <p:cTn id="19" dur="500" fill="hold"/>
                                        <p:tgtEl>
                                          <p:spTgt spid="385027">
                                            <p:txEl>
                                              <p:charRg st="16" end="2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85027">
                                            <p:txEl>
                                              <p:charRg st="16" end="24"/>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85027">
                                            <p:txEl>
                                              <p:charRg st="24" end="55"/>
                                            </p:txEl>
                                          </p:spTgt>
                                        </p:tgtEl>
                                        <p:attrNameLst>
                                          <p:attrName>style.visibility</p:attrName>
                                        </p:attrNameLst>
                                      </p:cBhvr>
                                      <p:to>
                                        <p:strVal val="visible"/>
                                      </p:to>
                                    </p:set>
                                    <p:anim calcmode="lin" valueType="num">
                                      <p:cBhvr additive="base">
                                        <p:cTn id="23" dur="500" fill="hold"/>
                                        <p:tgtEl>
                                          <p:spTgt spid="385027">
                                            <p:txEl>
                                              <p:charRg st="24" end="5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85027">
                                            <p:txEl>
                                              <p:charRg st="24" end="55"/>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85027">
                                            <p:txEl>
                                              <p:charRg st="55" end="64"/>
                                            </p:txEl>
                                          </p:spTgt>
                                        </p:tgtEl>
                                        <p:attrNameLst>
                                          <p:attrName>style.visibility</p:attrName>
                                        </p:attrNameLst>
                                      </p:cBhvr>
                                      <p:to>
                                        <p:strVal val="visible"/>
                                      </p:to>
                                    </p:set>
                                    <p:anim calcmode="lin" valueType="num">
                                      <p:cBhvr additive="base">
                                        <p:cTn id="27" dur="500" fill="hold"/>
                                        <p:tgtEl>
                                          <p:spTgt spid="385027">
                                            <p:txEl>
                                              <p:charRg st="55" end="6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85027">
                                            <p:txEl>
                                              <p:charRg st="55" end="64"/>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385027">
                                            <p:txEl>
                                              <p:charRg st="64" end="71"/>
                                            </p:txEl>
                                          </p:spTgt>
                                        </p:tgtEl>
                                        <p:attrNameLst>
                                          <p:attrName>style.visibility</p:attrName>
                                        </p:attrNameLst>
                                      </p:cBhvr>
                                      <p:to>
                                        <p:strVal val="visible"/>
                                      </p:to>
                                    </p:set>
                                    <p:anim calcmode="lin" valueType="num">
                                      <p:cBhvr additive="base">
                                        <p:cTn id="33" dur="500" fill="hold"/>
                                        <p:tgtEl>
                                          <p:spTgt spid="385027">
                                            <p:txEl>
                                              <p:charRg st="64" end="7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85027">
                                            <p:txEl>
                                              <p:charRg st="64" end="71"/>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385027">
                                            <p:txEl>
                                              <p:charRg st="71" end="84"/>
                                            </p:txEl>
                                          </p:spTgt>
                                        </p:tgtEl>
                                        <p:attrNameLst>
                                          <p:attrName>style.visibility</p:attrName>
                                        </p:attrNameLst>
                                      </p:cBhvr>
                                      <p:to>
                                        <p:strVal val="visible"/>
                                      </p:to>
                                    </p:set>
                                    <p:anim calcmode="lin" valueType="num">
                                      <p:cBhvr additive="base">
                                        <p:cTn id="39" dur="500" fill="hold"/>
                                        <p:tgtEl>
                                          <p:spTgt spid="385027">
                                            <p:txEl>
                                              <p:charRg st="71" end="84"/>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385027">
                                            <p:txEl>
                                              <p:charRg st="71" end="84"/>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385027">
                                            <p:txEl>
                                              <p:charRg st="84" end="109"/>
                                            </p:txEl>
                                          </p:spTgt>
                                        </p:tgtEl>
                                        <p:attrNameLst>
                                          <p:attrName>style.visibility</p:attrName>
                                        </p:attrNameLst>
                                      </p:cBhvr>
                                      <p:to>
                                        <p:strVal val="visible"/>
                                      </p:to>
                                    </p:set>
                                    <p:anim calcmode="lin" valueType="num">
                                      <p:cBhvr additive="base">
                                        <p:cTn id="45" dur="500" fill="hold"/>
                                        <p:tgtEl>
                                          <p:spTgt spid="385027">
                                            <p:txEl>
                                              <p:charRg st="84" end="109"/>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385027">
                                            <p:txEl>
                                              <p:charRg st="84" end="109"/>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385027">
                                            <p:txEl>
                                              <p:charRg st="109" end="120"/>
                                            </p:txEl>
                                          </p:spTgt>
                                        </p:tgtEl>
                                        <p:attrNameLst>
                                          <p:attrName>style.visibility</p:attrName>
                                        </p:attrNameLst>
                                      </p:cBhvr>
                                      <p:to>
                                        <p:strVal val="visible"/>
                                      </p:to>
                                    </p:set>
                                    <p:anim calcmode="lin" valueType="num">
                                      <p:cBhvr additive="base">
                                        <p:cTn id="51" dur="500" fill="hold"/>
                                        <p:tgtEl>
                                          <p:spTgt spid="385027">
                                            <p:txEl>
                                              <p:charRg st="109" end="120"/>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385027">
                                            <p:txEl>
                                              <p:charRg st="109" end="120"/>
                                            </p:txEl>
                                          </p:spTgt>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385028"/>
                                        </p:tgtEl>
                                        <p:attrNameLst>
                                          <p:attrName>style.visibility</p:attrName>
                                        </p:attrNameLst>
                                      </p:cBhvr>
                                      <p:to>
                                        <p:strVal val="visible"/>
                                      </p:to>
                                    </p:set>
                                    <p:anim calcmode="lin" valueType="num">
                                      <p:cBhvr additive="base">
                                        <p:cTn id="57" dur="500" fill="hold"/>
                                        <p:tgtEl>
                                          <p:spTgt spid="385028"/>
                                        </p:tgtEl>
                                        <p:attrNameLst>
                                          <p:attrName>ppt_x</p:attrName>
                                        </p:attrNameLst>
                                      </p:cBhvr>
                                      <p:tavLst>
                                        <p:tav tm="0">
                                          <p:val>
                                            <p:strVal val="0-#ppt_w/2"/>
                                          </p:val>
                                        </p:tav>
                                        <p:tav tm="100000">
                                          <p:val>
                                            <p:strVal val="#ppt_x"/>
                                          </p:val>
                                        </p:tav>
                                      </p:tavLst>
                                    </p:anim>
                                    <p:anim calcmode="lin" valueType="num">
                                      <p:cBhvr additive="base">
                                        <p:cTn id="58" dur="500" fill="hold"/>
                                        <p:tgtEl>
                                          <p:spTgt spid="3850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ldLvl="2" build="p"/>
      <p:bldP spid="38502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468313" y="404813"/>
            <a:ext cx="7931150" cy="823912"/>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6.5.3 </a:t>
            </a:r>
            <a:r>
              <a:rPr lang="zh-CN" altLang="en-US" b="0" dirty="0">
                <a:sym typeface="+mn-ea"/>
              </a:rPr>
              <a:t>关系表达式－关系运算符</a:t>
            </a:r>
            <a:endParaRPr lang="zh-CN" altLang="en-US" b="0" dirty="0">
              <a:sym typeface="+mn-ea"/>
            </a:endParaRPr>
          </a:p>
        </p:txBody>
      </p:sp>
      <p:sp>
        <p:nvSpPr>
          <p:cNvPr id="389123" name="Rectangle 3"/>
          <p:cNvSpPr>
            <a:spLocks noGrp="1"/>
          </p:cNvSpPr>
          <p:nvPr>
            <p:ph idx="1"/>
          </p:nvPr>
        </p:nvSpPr>
        <p:spPr>
          <a:xfrm>
            <a:off x="457200" y="1371600"/>
            <a:ext cx="8077200" cy="4114800"/>
          </a:xfrm>
        </p:spPr>
        <p:txBody>
          <a:bodyPr vert="horz" wrap="square" lIns="91440" tIns="45720" rIns="91440" bIns="45720" anchor="t" anchorCtr="0"/>
          <a:p>
            <a:pPr algn="just" eaLnBrk="1" hangingPunct="1"/>
            <a:r>
              <a:rPr lang="zh-CN" altLang="en-US" sz="2800" b="0" dirty="0"/>
              <a:t>比较两个操作数，比较的结果：</a:t>
            </a:r>
            <a:r>
              <a:rPr lang="zh-CN" altLang="en-US" sz="2800" b="0" dirty="0">
                <a:solidFill>
                  <a:srgbClr val="CC0066"/>
                </a:solidFill>
              </a:rPr>
              <a:t>真  假</a:t>
            </a:r>
            <a:endParaRPr lang="zh-CN" altLang="en-US" sz="2800" b="0" dirty="0">
              <a:solidFill>
                <a:srgbClr val="CC0066"/>
              </a:solidFill>
              <a:ea typeface="Arial Unicode MS" pitchFamily="34" charset="-122"/>
            </a:endParaRPr>
          </a:p>
          <a:p>
            <a:pPr lvl="1" algn="just" eaLnBrk="1" hangingPunct="1">
              <a:buNone/>
            </a:pPr>
            <a:r>
              <a:rPr lang="en-US" altLang="zh-CN" sz="2400" b="0">
                <a:ea typeface="Arial Unicode MS" pitchFamily="34" charset="-122"/>
              </a:rPr>
              <a:t>x </a:t>
            </a:r>
            <a:r>
              <a:rPr lang="en-US" altLang="zh-CN" sz="2400" b="0">
                <a:solidFill>
                  <a:schemeClr val="bg2"/>
                </a:solidFill>
                <a:ea typeface="Arial Unicode MS" pitchFamily="34" charset="-122"/>
              </a:rPr>
              <a:t>&lt;</a:t>
            </a:r>
            <a:r>
              <a:rPr lang="en-US" altLang="zh-CN" sz="2400" b="0">
                <a:ea typeface="Arial Unicode MS" pitchFamily="34" charset="-122"/>
              </a:rPr>
              <a:t> y     x </a:t>
            </a:r>
            <a:r>
              <a:rPr lang="en-US" altLang="zh-CN" sz="2400" b="0">
                <a:solidFill>
                  <a:schemeClr val="bg2"/>
                </a:solidFill>
                <a:ea typeface="Arial Unicode MS" pitchFamily="34" charset="-122"/>
              </a:rPr>
              <a:t>&lt;=</a:t>
            </a:r>
            <a:r>
              <a:rPr lang="en-US" altLang="zh-CN" sz="2400" b="0">
                <a:ea typeface="Arial Unicode MS" pitchFamily="34" charset="-122"/>
              </a:rPr>
              <a:t> y       x </a:t>
            </a:r>
            <a:r>
              <a:rPr lang="en-US" altLang="zh-CN" sz="2400" b="0">
                <a:solidFill>
                  <a:schemeClr val="bg2"/>
                </a:solidFill>
                <a:ea typeface="Arial Unicode MS" pitchFamily="34" charset="-122"/>
              </a:rPr>
              <a:t>==</a:t>
            </a:r>
            <a:r>
              <a:rPr lang="en-US" altLang="zh-CN" sz="2400" b="0">
                <a:ea typeface="Arial Unicode MS" pitchFamily="34" charset="-122"/>
              </a:rPr>
              <a:t> y</a:t>
            </a:r>
            <a:endParaRPr lang="en-US" altLang="zh-CN" sz="2400" b="0">
              <a:ea typeface="Arial Unicode MS" pitchFamily="34" charset="-122"/>
            </a:endParaRPr>
          </a:p>
          <a:p>
            <a:pPr lvl="1" algn="just" eaLnBrk="1" hangingPunct="1">
              <a:buNone/>
            </a:pPr>
            <a:r>
              <a:rPr lang="en-US" altLang="zh-CN" sz="2400" b="0">
                <a:ea typeface="Arial Unicode MS" pitchFamily="34" charset="-122"/>
              </a:rPr>
              <a:t>x </a:t>
            </a:r>
            <a:r>
              <a:rPr lang="en-US" altLang="zh-CN" sz="2400" b="0">
                <a:solidFill>
                  <a:schemeClr val="bg2"/>
                </a:solidFill>
                <a:ea typeface="Arial Unicode MS" pitchFamily="34" charset="-122"/>
              </a:rPr>
              <a:t>&gt;</a:t>
            </a:r>
            <a:r>
              <a:rPr lang="en-US" altLang="zh-CN" sz="2400" b="0">
                <a:ea typeface="Arial Unicode MS" pitchFamily="34" charset="-122"/>
              </a:rPr>
              <a:t> y     x </a:t>
            </a:r>
            <a:r>
              <a:rPr lang="en-US" altLang="zh-CN" sz="2400" b="0">
                <a:solidFill>
                  <a:schemeClr val="bg2"/>
                </a:solidFill>
                <a:ea typeface="Arial Unicode MS" pitchFamily="34" charset="-122"/>
              </a:rPr>
              <a:t>&gt;=</a:t>
            </a:r>
            <a:r>
              <a:rPr lang="en-US" altLang="zh-CN" sz="2400" b="0">
                <a:ea typeface="Arial Unicode MS" pitchFamily="34" charset="-122"/>
              </a:rPr>
              <a:t> y       x </a:t>
            </a:r>
            <a:r>
              <a:rPr lang="en-US" altLang="zh-CN" sz="2400" b="0">
                <a:solidFill>
                  <a:schemeClr val="bg2"/>
                </a:solidFill>
                <a:ea typeface="Arial Unicode MS" pitchFamily="34" charset="-122"/>
              </a:rPr>
              <a:t>!= </a:t>
            </a:r>
            <a:r>
              <a:rPr lang="en-US" altLang="zh-CN" sz="2400" b="0">
                <a:ea typeface="Arial Unicode MS" pitchFamily="34" charset="-122"/>
              </a:rPr>
              <a:t>y</a:t>
            </a:r>
            <a:endParaRPr lang="en-US" altLang="zh-CN" sz="2400" b="0">
              <a:ea typeface="Arial Unicode MS" pitchFamily="34" charset="-122"/>
            </a:endParaRPr>
          </a:p>
          <a:p>
            <a:pPr algn="just" eaLnBrk="1" hangingPunct="1"/>
            <a:r>
              <a:rPr lang="zh-CN" altLang="en-US" sz="2800" b="0" dirty="0"/>
              <a:t>优先级</a:t>
            </a:r>
            <a:endParaRPr lang="zh-CN" altLang="en-US" sz="2800" b="0" dirty="0"/>
          </a:p>
          <a:p>
            <a:pPr lvl="1" algn="just" eaLnBrk="1" hangingPunct="1"/>
            <a:r>
              <a:rPr lang="zh-CN" altLang="en-US" sz="2400" b="0" dirty="0"/>
              <a:t> 算术运算符</a:t>
            </a:r>
            <a:r>
              <a:rPr lang="zh-CN" altLang="en-US" sz="2000" b="0" dirty="0"/>
              <a:t>     </a:t>
            </a:r>
            <a:r>
              <a:rPr lang="zh-CN" altLang="en-US" sz="2400" b="0" dirty="0"/>
              <a:t> </a:t>
            </a:r>
            <a:endParaRPr lang="zh-CN" altLang="en-US" sz="2400" b="0" dirty="0"/>
          </a:p>
          <a:p>
            <a:pPr lvl="1" algn="just" eaLnBrk="1" hangingPunct="1"/>
            <a:r>
              <a:rPr lang="zh-CN" altLang="en-US" sz="2400" b="0" dirty="0"/>
              <a:t> &lt;  &lt;=  &gt;  &gt;=</a:t>
            </a:r>
            <a:r>
              <a:rPr lang="zh-CN" altLang="en-US" sz="2000" b="0" dirty="0"/>
              <a:t>  </a:t>
            </a:r>
            <a:endParaRPr lang="zh-CN" altLang="en-US" sz="2000" b="0" dirty="0"/>
          </a:p>
          <a:p>
            <a:pPr lvl="1" algn="just" eaLnBrk="1" hangingPunct="1"/>
            <a:r>
              <a:rPr lang="zh-CN" altLang="en-US" sz="2400" b="0" dirty="0"/>
              <a:t> ==   !=</a:t>
            </a:r>
            <a:endParaRPr lang="zh-CN" altLang="en-US" sz="2400" b="0" dirty="0"/>
          </a:p>
          <a:p>
            <a:pPr lvl="1" algn="just" eaLnBrk="1" hangingPunct="1"/>
            <a:r>
              <a:rPr lang="zh-CN" altLang="en-US" sz="2400" b="0" dirty="0"/>
              <a:t> 赋值运算符</a:t>
            </a:r>
            <a:endParaRPr lang="zh-CN" altLang="en-US" sz="2400" b="0" dirty="0"/>
          </a:p>
          <a:p>
            <a:pPr algn="just" eaLnBrk="1" hangingPunct="1"/>
            <a:r>
              <a:rPr lang="zh-CN" altLang="en-US" sz="2800" b="0" dirty="0"/>
              <a:t>左结合</a:t>
            </a:r>
            <a:endParaRPr lang="zh-CN" altLang="en-US" sz="2800" b="0" dirty="0"/>
          </a:p>
        </p:txBody>
      </p:sp>
      <p:sp>
        <p:nvSpPr>
          <p:cNvPr id="389134" name="Rectangle 14"/>
          <p:cNvSpPr/>
          <p:nvPr/>
        </p:nvSpPr>
        <p:spPr>
          <a:xfrm>
            <a:off x="3074670" y="4176395"/>
            <a:ext cx="2623820" cy="2306955"/>
          </a:xfrm>
          <a:prstGeom prst="rect">
            <a:avLst/>
          </a:prstGeom>
          <a:noFill/>
          <a:ln w="9525">
            <a:noFill/>
          </a:ln>
        </p:spPr>
        <p:txBody>
          <a:bodyPr wrap="square" lIns="92075" tIns="46038" rIns="92075" bIns="46038" anchor="t" anchorCtr="0">
            <a:spAutoFit/>
          </a:bodyPr>
          <a:p>
            <a:pPr algn="just" eaLnBrk="0" hangingPunct="0"/>
            <a:r>
              <a:rPr lang="en-US" altLang="zh-CN" sz="2400">
                <a:latin typeface="Arial" panose="02080604020202020204" pitchFamily="34" charset="0"/>
              </a:rPr>
              <a:t>a &gt; b == c</a:t>
            </a:r>
            <a:endParaRPr lang="en-US" altLang="zh-CN" sz="2400">
              <a:latin typeface="宋体" pitchFamily="2" charset="-122"/>
              <a:ea typeface="Arial Unicode MS" pitchFamily="34" charset="-122"/>
            </a:endParaRPr>
          </a:p>
          <a:p>
            <a:pPr algn="just" eaLnBrk="0" hangingPunct="0"/>
            <a:r>
              <a:rPr lang="en-US" altLang="zh-CN" sz="2400">
                <a:latin typeface="Arial" panose="02080604020202020204" pitchFamily="34" charset="0"/>
              </a:rPr>
              <a:t>d = a &gt; b</a:t>
            </a:r>
            <a:endParaRPr lang="en-US" altLang="zh-CN" sz="2400">
              <a:latin typeface="宋体" pitchFamily="2" charset="-122"/>
              <a:ea typeface="Arial Unicode MS" pitchFamily="34" charset="-122"/>
            </a:endParaRPr>
          </a:p>
          <a:p>
            <a:pPr algn="just" eaLnBrk="0" hangingPunct="0"/>
            <a:r>
              <a:rPr lang="en-US" altLang="zh-CN" sz="2400" err="1">
                <a:latin typeface="Arial" panose="02080604020202020204" pitchFamily="34" charset="0"/>
              </a:rPr>
              <a:t>ch</a:t>
            </a:r>
            <a:r>
              <a:rPr lang="en-US" altLang="zh-CN" sz="2400">
                <a:latin typeface="Arial" panose="02080604020202020204" pitchFamily="34" charset="0"/>
              </a:rPr>
              <a:t> &gt; 'a' + 1 </a:t>
            </a:r>
            <a:endParaRPr lang="en-US" altLang="zh-CN" sz="2400">
              <a:latin typeface="宋体" pitchFamily="2" charset="-122"/>
              <a:ea typeface="Arial Unicode MS" pitchFamily="34" charset="-122"/>
            </a:endParaRPr>
          </a:p>
          <a:p>
            <a:pPr algn="just" eaLnBrk="0" hangingPunct="0"/>
            <a:r>
              <a:rPr lang="en-US" altLang="zh-CN" sz="2400">
                <a:latin typeface="Arial" panose="02080604020202020204" pitchFamily="34" charset="0"/>
              </a:rPr>
              <a:t>d = a + b &gt; c</a:t>
            </a:r>
            <a:endParaRPr lang="en-US" altLang="zh-CN" sz="2400">
              <a:latin typeface="宋体" pitchFamily="2" charset="-122"/>
              <a:ea typeface="Arial Unicode MS" pitchFamily="34" charset="-122"/>
            </a:endParaRPr>
          </a:p>
          <a:p>
            <a:pPr algn="just" eaLnBrk="0" hangingPunct="0"/>
            <a:r>
              <a:rPr lang="en-US" altLang="zh-CN" sz="2400">
                <a:latin typeface="Arial" panose="02080604020202020204" pitchFamily="34" charset="0"/>
              </a:rPr>
              <a:t>3 &lt;= x &lt;= 5</a:t>
            </a:r>
            <a:endParaRPr lang="en-US" altLang="zh-CN" sz="2400">
              <a:latin typeface="宋体" pitchFamily="2" charset="-122"/>
              <a:ea typeface="Arial Unicode MS" pitchFamily="34" charset="-122"/>
            </a:endParaRPr>
          </a:p>
          <a:p>
            <a:pPr algn="just" eaLnBrk="0" hangingPunct="0"/>
            <a:r>
              <a:rPr lang="en-US" altLang="zh-CN" sz="2400">
                <a:latin typeface="Arial" panose="02080604020202020204" pitchFamily="34" charset="0"/>
              </a:rPr>
              <a:t>b - 1 == a != c</a:t>
            </a:r>
            <a:endParaRPr lang="en-US" altLang="zh-CN" sz="2400">
              <a:latin typeface="Times New Roman" pitchFamily="18" charset="0"/>
            </a:endParaRPr>
          </a:p>
        </p:txBody>
      </p:sp>
      <p:sp>
        <p:nvSpPr>
          <p:cNvPr id="389136" name="Rectangle 16"/>
          <p:cNvSpPr/>
          <p:nvPr/>
        </p:nvSpPr>
        <p:spPr>
          <a:xfrm>
            <a:off x="5652135" y="4173220"/>
            <a:ext cx="3023235" cy="2306955"/>
          </a:xfrm>
          <a:prstGeom prst="rect">
            <a:avLst/>
          </a:prstGeom>
          <a:noFill/>
          <a:ln w="9525">
            <a:noFill/>
          </a:ln>
        </p:spPr>
        <p:txBody>
          <a:bodyPr wrap="square" lIns="92075" tIns="46038" rIns="92075" bIns="46038" anchor="t" anchorCtr="0">
            <a:spAutoFit/>
          </a:bodyPr>
          <a:p>
            <a:pPr algn="just" eaLnBrk="0" hangingPunct="0"/>
            <a:r>
              <a:rPr lang="en-US" altLang="zh-CN" sz="2400">
                <a:latin typeface="Arial" panose="02080604020202020204" pitchFamily="34" charset="0"/>
              </a:rPr>
              <a:t>(a &gt; b)== c</a:t>
            </a:r>
            <a:endParaRPr lang="en-US" altLang="zh-CN" sz="2400">
              <a:latin typeface="宋体" pitchFamily="2" charset="-122"/>
              <a:ea typeface="Arial Unicode MS" pitchFamily="34" charset="-122"/>
            </a:endParaRPr>
          </a:p>
          <a:p>
            <a:pPr algn="just" eaLnBrk="0" hangingPunct="0"/>
            <a:r>
              <a:rPr lang="en-US" altLang="zh-CN" sz="2400">
                <a:latin typeface="Arial" panose="02080604020202020204" pitchFamily="34" charset="0"/>
              </a:rPr>
              <a:t>d = (a &gt; b)</a:t>
            </a:r>
            <a:endParaRPr lang="en-US" altLang="zh-CN" sz="2400">
              <a:latin typeface="宋体" pitchFamily="2" charset="-122"/>
              <a:ea typeface="Arial Unicode MS" pitchFamily="34" charset="-122"/>
            </a:endParaRPr>
          </a:p>
          <a:p>
            <a:pPr algn="just" eaLnBrk="0" hangingPunct="0"/>
            <a:r>
              <a:rPr lang="en-US" altLang="zh-CN" sz="2400" err="1">
                <a:latin typeface="Arial" panose="02080604020202020204" pitchFamily="34" charset="0"/>
              </a:rPr>
              <a:t>ch</a:t>
            </a:r>
            <a:r>
              <a:rPr lang="en-US" altLang="zh-CN" sz="2400">
                <a:latin typeface="Arial" panose="02080604020202020204" pitchFamily="34" charset="0"/>
              </a:rPr>
              <a:t> &gt; ('a' + 1)</a:t>
            </a:r>
            <a:endParaRPr lang="en-US" altLang="zh-CN" sz="2400">
              <a:latin typeface="宋体" pitchFamily="2" charset="-122"/>
            </a:endParaRPr>
          </a:p>
          <a:p>
            <a:pPr algn="just" eaLnBrk="0" hangingPunct="0"/>
            <a:r>
              <a:rPr lang="en-US" altLang="zh-CN" sz="2400">
                <a:latin typeface="Arial" panose="02080604020202020204" pitchFamily="34" charset="0"/>
              </a:rPr>
              <a:t>d = ((a + b) &gt; c)</a:t>
            </a:r>
            <a:endParaRPr lang="en-US" altLang="zh-CN" sz="2400">
              <a:latin typeface="宋体" pitchFamily="2" charset="-122"/>
              <a:ea typeface="Arial Unicode MS" pitchFamily="34" charset="-122"/>
            </a:endParaRPr>
          </a:p>
          <a:p>
            <a:pPr algn="just" eaLnBrk="0" hangingPunct="0"/>
            <a:r>
              <a:rPr lang="en-US" altLang="zh-CN" sz="2400">
                <a:latin typeface="Arial" panose="02080604020202020204" pitchFamily="34" charset="0"/>
              </a:rPr>
              <a:t>(3 &lt;= x) &lt;= 5</a:t>
            </a:r>
            <a:endParaRPr lang="en-US" altLang="zh-CN" sz="2400">
              <a:latin typeface="宋体" pitchFamily="2" charset="-122"/>
              <a:ea typeface="Arial Unicode MS" pitchFamily="34" charset="-122"/>
            </a:endParaRPr>
          </a:p>
          <a:p>
            <a:pPr algn="just" eaLnBrk="0" hangingPunct="0"/>
            <a:r>
              <a:rPr lang="en-US" altLang="zh-CN" sz="2400">
                <a:latin typeface="Arial" panose="02080604020202020204" pitchFamily="34" charset="0"/>
              </a:rPr>
              <a:t>((b - 1) == a) != c</a:t>
            </a:r>
            <a:endParaRPr lang="en-US" altLang="zh-CN" sz="24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9123">
                                            <p:txEl>
                                              <p:charRg st="0" end="19"/>
                                            </p:txEl>
                                          </p:spTgt>
                                        </p:tgtEl>
                                        <p:attrNameLst>
                                          <p:attrName>style.visibility</p:attrName>
                                        </p:attrNameLst>
                                      </p:cBhvr>
                                      <p:to>
                                        <p:strVal val="visible"/>
                                      </p:to>
                                    </p:set>
                                    <p:anim calcmode="lin" valueType="num">
                                      <p:cBhvr additive="base">
                                        <p:cTn id="7" dur="500" fill="hold"/>
                                        <p:tgtEl>
                                          <p:spTgt spid="389123">
                                            <p:txEl>
                                              <p:charRg st="0" end="1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9123">
                                            <p:txEl>
                                              <p:charRg st="0" end="19"/>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89123">
                                            <p:txEl>
                                              <p:charRg st="19" end="49"/>
                                            </p:txEl>
                                          </p:spTgt>
                                        </p:tgtEl>
                                        <p:attrNameLst>
                                          <p:attrName>style.visibility</p:attrName>
                                        </p:attrNameLst>
                                      </p:cBhvr>
                                      <p:to>
                                        <p:strVal val="visible"/>
                                      </p:to>
                                    </p:set>
                                    <p:anim calcmode="lin" valueType="num">
                                      <p:cBhvr additive="base">
                                        <p:cTn id="11" dur="500" fill="hold"/>
                                        <p:tgtEl>
                                          <p:spTgt spid="389123">
                                            <p:txEl>
                                              <p:charRg st="19" end="49"/>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89123">
                                            <p:txEl>
                                              <p:charRg st="19" end="49"/>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89123">
                                            <p:txEl>
                                              <p:charRg st="49" end="79"/>
                                            </p:txEl>
                                          </p:spTgt>
                                        </p:tgtEl>
                                        <p:attrNameLst>
                                          <p:attrName>style.visibility</p:attrName>
                                        </p:attrNameLst>
                                      </p:cBhvr>
                                      <p:to>
                                        <p:strVal val="visible"/>
                                      </p:to>
                                    </p:set>
                                    <p:anim calcmode="lin" valueType="num">
                                      <p:cBhvr additive="base">
                                        <p:cTn id="15" dur="500" fill="hold"/>
                                        <p:tgtEl>
                                          <p:spTgt spid="389123">
                                            <p:txEl>
                                              <p:charRg st="49" end="79"/>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89123">
                                            <p:txEl>
                                              <p:charRg st="49" end="79"/>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89123">
                                            <p:txEl>
                                              <p:charRg st="79" end="83"/>
                                            </p:txEl>
                                          </p:spTgt>
                                        </p:tgtEl>
                                        <p:attrNameLst>
                                          <p:attrName>style.visibility</p:attrName>
                                        </p:attrNameLst>
                                      </p:cBhvr>
                                      <p:to>
                                        <p:strVal val="visible"/>
                                      </p:to>
                                    </p:set>
                                    <p:anim calcmode="lin" valueType="num">
                                      <p:cBhvr additive="base">
                                        <p:cTn id="21" dur="500" fill="hold"/>
                                        <p:tgtEl>
                                          <p:spTgt spid="389123">
                                            <p:txEl>
                                              <p:charRg st="79" end="8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89123">
                                            <p:txEl>
                                              <p:charRg st="79" end="8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89123">
                                            <p:txEl>
                                              <p:charRg st="83" end="96"/>
                                            </p:txEl>
                                          </p:spTgt>
                                        </p:tgtEl>
                                        <p:attrNameLst>
                                          <p:attrName>style.visibility</p:attrName>
                                        </p:attrNameLst>
                                      </p:cBhvr>
                                      <p:to>
                                        <p:strVal val="visible"/>
                                      </p:to>
                                    </p:set>
                                    <p:anim calcmode="lin" valueType="num">
                                      <p:cBhvr additive="base">
                                        <p:cTn id="25" dur="500" fill="hold"/>
                                        <p:tgtEl>
                                          <p:spTgt spid="389123">
                                            <p:txEl>
                                              <p:charRg st="83" end="9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89123">
                                            <p:txEl>
                                              <p:charRg st="83" end="96"/>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89123">
                                            <p:txEl>
                                              <p:charRg st="96" end="112"/>
                                            </p:txEl>
                                          </p:spTgt>
                                        </p:tgtEl>
                                        <p:attrNameLst>
                                          <p:attrName>style.visibility</p:attrName>
                                        </p:attrNameLst>
                                      </p:cBhvr>
                                      <p:to>
                                        <p:strVal val="visible"/>
                                      </p:to>
                                    </p:set>
                                    <p:anim calcmode="lin" valueType="num">
                                      <p:cBhvr additive="base">
                                        <p:cTn id="29" dur="500" fill="hold"/>
                                        <p:tgtEl>
                                          <p:spTgt spid="389123">
                                            <p:txEl>
                                              <p:charRg st="96" end="11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89123">
                                            <p:txEl>
                                              <p:charRg st="96" end="112"/>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89123">
                                            <p:txEl>
                                              <p:charRg st="112" end="121"/>
                                            </p:txEl>
                                          </p:spTgt>
                                        </p:tgtEl>
                                        <p:attrNameLst>
                                          <p:attrName>style.visibility</p:attrName>
                                        </p:attrNameLst>
                                      </p:cBhvr>
                                      <p:to>
                                        <p:strVal val="visible"/>
                                      </p:to>
                                    </p:set>
                                    <p:anim calcmode="lin" valueType="num">
                                      <p:cBhvr additive="base">
                                        <p:cTn id="33" dur="500" fill="hold"/>
                                        <p:tgtEl>
                                          <p:spTgt spid="389123">
                                            <p:txEl>
                                              <p:charRg st="112" end="12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89123">
                                            <p:txEl>
                                              <p:charRg st="112" end="121"/>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389123">
                                            <p:txEl>
                                              <p:charRg st="121" end="128"/>
                                            </p:txEl>
                                          </p:spTgt>
                                        </p:tgtEl>
                                        <p:attrNameLst>
                                          <p:attrName>style.visibility</p:attrName>
                                        </p:attrNameLst>
                                      </p:cBhvr>
                                      <p:to>
                                        <p:strVal val="visible"/>
                                      </p:to>
                                    </p:set>
                                    <p:anim calcmode="lin" valueType="num">
                                      <p:cBhvr additive="base">
                                        <p:cTn id="37" dur="500" fill="hold"/>
                                        <p:tgtEl>
                                          <p:spTgt spid="389123">
                                            <p:txEl>
                                              <p:charRg st="121" end="128"/>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89123">
                                            <p:txEl>
                                              <p:charRg st="121" end="128"/>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89123">
                                            <p:txEl>
                                              <p:charRg st="128" end="132"/>
                                            </p:txEl>
                                          </p:spTgt>
                                        </p:tgtEl>
                                        <p:attrNameLst>
                                          <p:attrName>style.visibility</p:attrName>
                                        </p:attrNameLst>
                                      </p:cBhvr>
                                      <p:to>
                                        <p:strVal val="visible"/>
                                      </p:to>
                                    </p:set>
                                    <p:anim calcmode="lin" valueType="num">
                                      <p:cBhvr additive="base">
                                        <p:cTn id="43" dur="500" fill="hold"/>
                                        <p:tgtEl>
                                          <p:spTgt spid="389123">
                                            <p:txEl>
                                              <p:charRg st="128" end="132"/>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89123">
                                            <p:txEl>
                                              <p:charRg st="128" end="132"/>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89134"/>
                                        </p:tgtEl>
                                        <p:attrNameLst>
                                          <p:attrName>style.visibility</p:attrName>
                                        </p:attrNameLst>
                                      </p:cBhvr>
                                      <p:to>
                                        <p:strVal val="visible"/>
                                      </p:to>
                                    </p:set>
                                    <p:anim calcmode="lin" valueType="num">
                                      <p:cBhvr additive="base">
                                        <p:cTn id="49" dur="500" fill="hold"/>
                                        <p:tgtEl>
                                          <p:spTgt spid="389134"/>
                                        </p:tgtEl>
                                        <p:attrNameLst>
                                          <p:attrName>ppt_x</p:attrName>
                                        </p:attrNameLst>
                                      </p:cBhvr>
                                      <p:tavLst>
                                        <p:tav tm="0">
                                          <p:val>
                                            <p:strVal val="0-#ppt_w/2"/>
                                          </p:val>
                                        </p:tav>
                                        <p:tav tm="100000">
                                          <p:val>
                                            <p:strVal val="#ppt_x"/>
                                          </p:val>
                                        </p:tav>
                                      </p:tavLst>
                                    </p:anim>
                                    <p:anim calcmode="lin" valueType="num">
                                      <p:cBhvr additive="base">
                                        <p:cTn id="50" dur="500" fill="hold"/>
                                        <p:tgtEl>
                                          <p:spTgt spid="38913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89136">
                                            <p:txEl>
                                              <p:charRg st="0" end="12"/>
                                            </p:txEl>
                                          </p:spTgt>
                                        </p:tgtEl>
                                        <p:attrNameLst>
                                          <p:attrName>style.visibility</p:attrName>
                                        </p:attrNameLst>
                                      </p:cBhvr>
                                      <p:to>
                                        <p:strVal val="visible"/>
                                      </p:to>
                                    </p:set>
                                    <p:anim calcmode="lin" valueType="num">
                                      <p:cBhvr additive="base">
                                        <p:cTn id="55" dur="500" fill="hold"/>
                                        <p:tgtEl>
                                          <p:spTgt spid="389136">
                                            <p:txEl>
                                              <p:charRg st="0" end="1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89136">
                                            <p:txEl>
                                              <p:charRg st="0" end="12"/>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89136">
                                            <p:txEl>
                                              <p:charRg st="12" end="24"/>
                                            </p:txEl>
                                          </p:spTgt>
                                        </p:tgtEl>
                                        <p:attrNameLst>
                                          <p:attrName>style.visibility</p:attrName>
                                        </p:attrNameLst>
                                      </p:cBhvr>
                                      <p:to>
                                        <p:strVal val="visible"/>
                                      </p:to>
                                    </p:set>
                                    <p:anim calcmode="lin" valueType="num">
                                      <p:cBhvr additive="base">
                                        <p:cTn id="61" dur="500" fill="hold"/>
                                        <p:tgtEl>
                                          <p:spTgt spid="389136">
                                            <p:txEl>
                                              <p:charRg st="12" end="24"/>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89136">
                                            <p:txEl>
                                              <p:charRg st="12" end="24"/>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389136">
                                            <p:txEl>
                                              <p:charRg st="24" end="39"/>
                                            </p:txEl>
                                          </p:spTgt>
                                        </p:tgtEl>
                                        <p:attrNameLst>
                                          <p:attrName>style.visibility</p:attrName>
                                        </p:attrNameLst>
                                      </p:cBhvr>
                                      <p:to>
                                        <p:strVal val="visible"/>
                                      </p:to>
                                    </p:set>
                                    <p:anim calcmode="lin" valueType="num">
                                      <p:cBhvr additive="base">
                                        <p:cTn id="67" dur="500" fill="hold"/>
                                        <p:tgtEl>
                                          <p:spTgt spid="389136">
                                            <p:txEl>
                                              <p:charRg st="24" end="39"/>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389136">
                                            <p:txEl>
                                              <p:charRg st="24" end="39"/>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389136">
                                            <p:txEl>
                                              <p:charRg st="39" end="57"/>
                                            </p:txEl>
                                          </p:spTgt>
                                        </p:tgtEl>
                                        <p:attrNameLst>
                                          <p:attrName>style.visibility</p:attrName>
                                        </p:attrNameLst>
                                      </p:cBhvr>
                                      <p:to>
                                        <p:strVal val="visible"/>
                                      </p:to>
                                    </p:set>
                                    <p:anim calcmode="lin" valueType="num">
                                      <p:cBhvr additive="base">
                                        <p:cTn id="73" dur="500" fill="hold"/>
                                        <p:tgtEl>
                                          <p:spTgt spid="389136">
                                            <p:txEl>
                                              <p:charRg st="39" end="57"/>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389136">
                                            <p:txEl>
                                              <p:charRg st="39" end="57"/>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389136">
                                            <p:txEl>
                                              <p:charRg st="57" end="71"/>
                                            </p:txEl>
                                          </p:spTgt>
                                        </p:tgtEl>
                                        <p:attrNameLst>
                                          <p:attrName>style.visibility</p:attrName>
                                        </p:attrNameLst>
                                      </p:cBhvr>
                                      <p:to>
                                        <p:strVal val="visible"/>
                                      </p:to>
                                    </p:set>
                                    <p:anim calcmode="lin" valueType="num">
                                      <p:cBhvr additive="base">
                                        <p:cTn id="79" dur="500" fill="hold"/>
                                        <p:tgtEl>
                                          <p:spTgt spid="389136">
                                            <p:txEl>
                                              <p:charRg st="57" end="71"/>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389136">
                                            <p:txEl>
                                              <p:charRg st="57" end="71"/>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389136">
                                            <p:txEl>
                                              <p:charRg st="71" end="91"/>
                                            </p:txEl>
                                          </p:spTgt>
                                        </p:tgtEl>
                                        <p:attrNameLst>
                                          <p:attrName>style.visibility</p:attrName>
                                        </p:attrNameLst>
                                      </p:cBhvr>
                                      <p:to>
                                        <p:strVal val="visible"/>
                                      </p:to>
                                    </p:set>
                                    <p:anim calcmode="lin" valueType="num">
                                      <p:cBhvr additive="base">
                                        <p:cTn id="85" dur="500" fill="hold"/>
                                        <p:tgtEl>
                                          <p:spTgt spid="389136">
                                            <p:txEl>
                                              <p:charRg st="71" end="91"/>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389136">
                                            <p:txEl>
                                              <p:charRg st="71" end="9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3" grpId="0" build="p"/>
      <p:bldP spid="389134" grpId="0"/>
      <p:bldP spid="38913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457200" y="457200"/>
            <a:ext cx="4402138" cy="668338"/>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关系表达式</a:t>
            </a:r>
            <a:endParaRPr lang="zh-CN" altLang="en-US" b="0" dirty="0">
              <a:sym typeface="+mn-ea"/>
            </a:endParaRPr>
          </a:p>
        </p:txBody>
      </p:sp>
      <p:sp>
        <p:nvSpPr>
          <p:cNvPr id="391171" name="Rectangle 3"/>
          <p:cNvSpPr>
            <a:spLocks noGrp="1"/>
          </p:cNvSpPr>
          <p:nvPr>
            <p:ph idx="1"/>
          </p:nvPr>
        </p:nvSpPr>
        <p:spPr>
          <a:xfrm>
            <a:off x="304800" y="1143000"/>
            <a:ext cx="8515350" cy="5257800"/>
          </a:xfrm>
        </p:spPr>
        <p:txBody>
          <a:bodyPr vert="horz" wrap="square" lIns="91440" tIns="45720" rIns="91440" bIns="45720" anchor="t" anchorCtr="0"/>
          <a:p>
            <a:pPr algn="just" eaLnBrk="1" hangingPunct="1">
              <a:lnSpc>
                <a:spcPct val="90000"/>
              </a:lnSpc>
            </a:pPr>
            <a:r>
              <a:rPr lang="zh-CN" altLang="en-US" b="0" dirty="0">
                <a:latin typeface="宋体" pitchFamily="2" charset="-122"/>
              </a:rPr>
              <a:t>用</a:t>
            </a:r>
            <a:r>
              <a:rPr lang="zh-CN" altLang="en-US" b="0" dirty="0">
                <a:solidFill>
                  <a:srgbClr val="CC0066"/>
                </a:solidFill>
              </a:rPr>
              <a:t>关系运算符</a:t>
            </a:r>
            <a:r>
              <a:rPr lang="zh-CN" altLang="en-US" b="0" dirty="0">
                <a:latin typeface="宋体" pitchFamily="2" charset="-122"/>
              </a:rPr>
              <a:t>将</a:t>
            </a:r>
            <a:r>
              <a:rPr lang="zh-CN" altLang="en-US" b="0" dirty="0"/>
              <a:t>2</a:t>
            </a:r>
            <a:r>
              <a:rPr lang="zh-CN" altLang="en-US" b="0" dirty="0">
                <a:latin typeface="宋体" pitchFamily="2" charset="-122"/>
              </a:rPr>
              <a:t>个</a:t>
            </a:r>
            <a:r>
              <a:rPr lang="zh-CN" altLang="en-US" b="0" dirty="0">
                <a:solidFill>
                  <a:srgbClr val="CC0066"/>
                </a:solidFill>
              </a:rPr>
              <a:t>表达式</a:t>
            </a:r>
            <a:r>
              <a:rPr lang="zh-CN" altLang="en-US" b="0" dirty="0">
                <a:latin typeface="宋体" pitchFamily="2" charset="-122"/>
              </a:rPr>
              <a:t>连接起来的式子</a:t>
            </a:r>
            <a:endParaRPr lang="zh-CN" altLang="en-US" b="0" dirty="0">
              <a:latin typeface="宋体" pitchFamily="2" charset="-122"/>
            </a:endParaRPr>
          </a:p>
          <a:p>
            <a:pPr lvl="1" algn="just" eaLnBrk="1" hangingPunct="1">
              <a:lnSpc>
                <a:spcPct val="90000"/>
              </a:lnSpc>
              <a:buNone/>
            </a:pPr>
            <a:r>
              <a:rPr lang="zh-CN" altLang="en-US" b="0" dirty="0">
                <a:latin typeface="宋体" pitchFamily="2" charset="-122"/>
              </a:rPr>
              <a:t>哪些是关系表达式</a:t>
            </a:r>
            <a:r>
              <a:rPr lang="zh-CN" altLang="en-US" b="0" dirty="0"/>
              <a:t>?</a:t>
            </a:r>
            <a:endParaRPr lang="zh-CN" altLang="en-US" b="0" dirty="0"/>
          </a:p>
          <a:p>
            <a:pPr lvl="2" algn="just" eaLnBrk="1" hangingPunct="1">
              <a:buNone/>
            </a:pPr>
            <a:r>
              <a:rPr lang="en-US" altLang="zh-CN" b="0"/>
              <a:t>a &gt; b == c</a:t>
            </a:r>
            <a:endParaRPr lang="en-US" altLang="zh-CN" b="0"/>
          </a:p>
          <a:p>
            <a:pPr lvl="2" algn="just" eaLnBrk="1" hangingPunct="1">
              <a:buNone/>
            </a:pPr>
            <a:r>
              <a:rPr lang="en-US" altLang="zh-CN" b="0"/>
              <a:t>d = a &gt; b</a:t>
            </a:r>
            <a:endParaRPr lang="en-US" altLang="zh-CN" b="0"/>
          </a:p>
          <a:p>
            <a:pPr lvl="2" algn="just" eaLnBrk="1" hangingPunct="1">
              <a:buNone/>
            </a:pPr>
            <a:r>
              <a:rPr lang="en-US" altLang="zh-CN" b="0" err="1"/>
              <a:t>ch</a:t>
            </a:r>
            <a:r>
              <a:rPr lang="en-US" altLang="zh-CN" b="0"/>
              <a:t> &gt; 'a' + 1</a:t>
            </a:r>
            <a:endParaRPr lang="en-US" altLang="zh-CN" b="0"/>
          </a:p>
          <a:p>
            <a:pPr lvl="2" algn="just" eaLnBrk="1" hangingPunct="1">
              <a:buNone/>
            </a:pPr>
            <a:r>
              <a:rPr lang="en-US" altLang="zh-CN" b="0"/>
              <a:t>d = a + b &gt; c</a:t>
            </a:r>
            <a:endParaRPr lang="en-US" altLang="zh-CN" b="0"/>
          </a:p>
          <a:p>
            <a:pPr lvl="2" algn="just" eaLnBrk="1" hangingPunct="1">
              <a:buNone/>
            </a:pPr>
            <a:r>
              <a:rPr lang="en-US" altLang="zh-CN" b="0"/>
              <a:t>b - 1 == a != c</a:t>
            </a:r>
            <a:endParaRPr lang="en-US" altLang="zh-CN" b="0"/>
          </a:p>
          <a:p>
            <a:pPr lvl="2" algn="just" eaLnBrk="1" hangingPunct="1">
              <a:buNone/>
            </a:pPr>
            <a:r>
              <a:rPr lang="en-US" altLang="zh-CN" b="0"/>
              <a:t>3 &lt;= x &lt;= 5</a:t>
            </a:r>
            <a:endParaRPr lang="en-US" altLang="zh-CN" b="0"/>
          </a:p>
          <a:p>
            <a:pPr algn="just" eaLnBrk="1" hangingPunct="1">
              <a:lnSpc>
                <a:spcPct val="90000"/>
              </a:lnSpc>
            </a:pPr>
            <a:r>
              <a:rPr lang="zh-CN" altLang="en-US" b="0" dirty="0">
                <a:latin typeface="宋体" pitchFamily="2" charset="-122"/>
              </a:rPr>
              <a:t>关系运算的结果</a:t>
            </a:r>
            <a:endParaRPr lang="zh-CN" altLang="en-US" b="0" dirty="0">
              <a:latin typeface="宋体" pitchFamily="2" charset="-122"/>
            </a:endParaRPr>
          </a:p>
          <a:p>
            <a:pPr lvl="1" algn="just" eaLnBrk="1" hangingPunct="1">
              <a:lnSpc>
                <a:spcPct val="90000"/>
              </a:lnSpc>
            </a:pPr>
            <a:r>
              <a:rPr lang="zh-CN" altLang="en-US" b="0" dirty="0">
                <a:latin typeface="宋体" pitchFamily="2" charset="-122"/>
              </a:rPr>
              <a:t>真   </a:t>
            </a:r>
            <a:r>
              <a:rPr lang="zh-CN" altLang="en-US" b="0" dirty="0">
                <a:solidFill>
                  <a:srgbClr val="CC0066"/>
                </a:solidFill>
              </a:rPr>
              <a:t>1</a:t>
            </a:r>
            <a:endParaRPr lang="zh-CN" altLang="en-US" b="0" dirty="0">
              <a:solidFill>
                <a:srgbClr val="CC0066"/>
              </a:solidFill>
            </a:endParaRPr>
          </a:p>
          <a:p>
            <a:pPr lvl="1" algn="just" eaLnBrk="1" hangingPunct="1">
              <a:lnSpc>
                <a:spcPct val="90000"/>
              </a:lnSpc>
            </a:pPr>
            <a:r>
              <a:rPr lang="zh-CN" altLang="en-US" b="0" dirty="0">
                <a:latin typeface="宋体" pitchFamily="2" charset="-122"/>
              </a:rPr>
              <a:t>假   </a:t>
            </a:r>
            <a:r>
              <a:rPr lang="zh-CN" altLang="en-US" b="0" dirty="0">
                <a:solidFill>
                  <a:srgbClr val="CC0066"/>
                </a:solidFill>
              </a:rPr>
              <a:t>0</a:t>
            </a:r>
            <a:r>
              <a:rPr lang="zh-CN" altLang="en-US" b="0" dirty="0">
                <a:latin typeface="宋体" pitchFamily="2" charset="-122"/>
              </a:rPr>
              <a:t> </a:t>
            </a:r>
            <a:endParaRPr lang="zh-CN" altLang="en-US" b="0" dirty="0">
              <a:latin typeface="宋体" pitchFamily="2" charset="-122"/>
            </a:endParaRPr>
          </a:p>
        </p:txBody>
      </p:sp>
      <p:sp>
        <p:nvSpPr>
          <p:cNvPr id="391173" name="Rectangle 5"/>
          <p:cNvSpPr/>
          <p:nvPr/>
        </p:nvSpPr>
        <p:spPr>
          <a:xfrm>
            <a:off x="4284663" y="2133600"/>
            <a:ext cx="4419600" cy="1198880"/>
          </a:xfrm>
          <a:prstGeom prst="rect">
            <a:avLst/>
          </a:prstGeom>
          <a:noFill/>
          <a:ln w="9525">
            <a:noFill/>
          </a:ln>
        </p:spPr>
        <p:txBody>
          <a:bodyPr lIns="92075" tIns="46038" rIns="92075" bIns="46038" anchor="t" anchorCtr="0">
            <a:spAutoFit/>
          </a:bodyPr>
          <a:p>
            <a:pPr algn="just" eaLnBrk="0" hangingPunct="0"/>
            <a:r>
              <a:rPr lang="en-US" altLang="zh-CN" sz="2400">
                <a:latin typeface="Arial" panose="02080604020202020204" pitchFamily="34" charset="0"/>
                <a:ea typeface="Arial Unicode MS" pitchFamily="34" charset="-122"/>
              </a:rPr>
              <a:t>char </a:t>
            </a:r>
            <a:r>
              <a:rPr lang="en-US" altLang="zh-CN" sz="2400" err="1">
                <a:latin typeface="Arial" panose="02080604020202020204" pitchFamily="34" charset="0"/>
                <a:ea typeface="Arial Unicode MS" pitchFamily="34" charset="-122"/>
              </a:rPr>
              <a:t>ch</a:t>
            </a:r>
            <a:r>
              <a:rPr lang="en-US" altLang="zh-CN" sz="2400">
                <a:latin typeface="Arial" panose="02080604020202020204" pitchFamily="34" charset="0"/>
                <a:ea typeface="Arial Unicode MS" pitchFamily="34" charset="-122"/>
              </a:rPr>
              <a:t> = 'w';</a:t>
            </a:r>
            <a:endParaRPr lang="en-US" altLang="zh-CN" sz="2400">
              <a:latin typeface="Arial" panose="02080604020202020204" pitchFamily="34" charset="0"/>
              <a:ea typeface="Arial Unicode MS" pitchFamily="34" charset="-122"/>
            </a:endParaRPr>
          </a:p>
          <a:p>
            <a:pPr algn="just" eaLnBrk="0" hangingPunct="0"/>
            <a:r>
              <a:rPr lang="en-US" altLang="zh-CN" sz="2400" err="1">
                <a:latin typeface="Arial" panose="02080604020202020204" pitchFamily="34" charset="0"/>
                <a:ea typeface="Arial Unicode MS" pitchFamily="34" charset="-122"/>
              </a:rPr>
              <a:t>int</a:t>
            </a:r>
            <a:r>
              <a:rPr lang="en-US" altLang="zh-CN" sz="2400">
                <a:latin typeface="Arial" panose="02080604020202020204" pitchFamily="34" charset="0"/>
                <a:ea typeface="Arial Unicode MS" pitchFamily="34" charset="-122"/>
              </a:rPr>
              <a:t> a = 2, b = 3, c = 1, d, x=10;</a:t>
            </a:r>
            <a:endParaRPr lang="en-US" altLang="zh-CN" sz="2400">
              <a:latin typeface="Arial" panose="02080604020202020204" pitchFamily="34" charset="0"/>
              <a:ea typeface="Arial Unicode MS" pitchFamily="34" charset="-122"/>
            </a:endParaRPr>
          </a:p>
        </p:txBody>
      </p:sp>
      <p:sp>
        <p:nvSpPr>
          <p:cNvPr id="391174" name="Rectangle 6"/>
          <p:cNvSpPr/>
          <p:nvPr/>
        </p:nvSpPr>
        <p:spPr>
          <a:xfrm>
            <a:off x="3606800" y="2152650"/>
            <a:ext cx="533400" cy="2647950"/>
          </a:xfrm>
          <a:prstGeom prst="rect">
            <a:avLst/>
          </a:prstGeom>
          <a:noFill/>
          <a:ln w="9525">
            <a:noFill/>
          </a:ln>
        </p:spPr>
        <p:txBody>
          <a:bodyPr lIns="92075" tIns="46038" rIns="92075" bIns="46038" anchor="t" anchorCtr="0">
            <a:spAutoFit/>
          </a:bodyPr>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0</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0</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1</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1</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0</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1</a:t>
            </a:r>
            <a:endParaRPr lang="en-US" altLang="zh-CN" sz="2400">
              <a:latin typeface="Arial" panose="02080604020202020204" pitchFamily="34" charset="0"/>
              <a:ea typeface="Arial Unicode MS"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1171">
                                            <p:txEl>
                                              <p:charRg st="0" end="20"/>
                                            </p:txEl>
                                          </p:spTgt>
                                        </p:tgtEl>
                                        <p:attrNameLst>
                                          <p:attrName>style.visibility</p:attrName>
                                        </p:attrNameLst>
                                      </p:cBhvr>
                                      <p:to>
                                        <p:strVal val="visible"/>
                                      </p:to>
                                    </p:set>
                                    <p:anim calcmode="lin" valueType="num">
                                      <p:cBhvr additive="base">
                                        <p:cTn id="7" dur="500" fill="hold"/>
                                        <p:tgtEl>
                                          <p:spTgt spid="391171">
                                            <p:txEl>
                                              <p:charRg st="0" end="2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1171">
                                            <p:txEl>
                                              <p:charRg st="0" end="2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1171">
                                            <p:txEl>
                                              <p:charRg st="20" end="30"/>
                                            </p:txEl>
                                          </p:spTgt>
                                        </p:tgtEl>
                                        <p:attrNameLst>
                                          <p:attrName>style.visibility</p:attrName>
                                        </p:attrNameLst>
                                      </p:cBhvr>
                                      <p:to>
                                        <p:strVal val="visible"/>
                                      </p:to>
                                    </p:set>
                                    <p:anim calcmode="lin" valueType="num">
                                      <p:cBhvr additive="base">
                                        <p:cTn id="13" dur="500" fill="hold"/>
                                        <p:tgtEl>
                                          <p:spTgt spid="391171">
                                            <p:txEl>
                                              <p:charRg st="20" end="3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1171">
                                            <p:txEl>
                                              <p:charRg st="20" end="30"/>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91171">
                                            <p:txEl>
                                              <p:charRg st="30" end="41"/>
                                            </p:txEl>
                                          </p:spTgt>
                                        </p:tgtEl>
                                        <p:attrNameLst>
                                          <p:attrName>style.visibility</p:attrName>
                                        </p:attrNameLst>
                                      </p:cBhvr>
                                      <p:to>
                                        <p:strVal val="visible"/>
                                      </p:to>
                                    </p:set>
                                    <p:anim calcmode="lin" valueType="num">
                                      <p:cBhvr additive="base">
                                        <p:cTn id="17" dur="500" fill="hold"/>
                                        <p:tgtEl>
                                          <p:spTgt spid="391171">
                                            <p:txEl>
                                              <p:charRg st="30" end="4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91171">
                                            <p:txEl>
                                              <p:charRg st="30" end="41"/>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391171">
                                            <p:txEl>
                                              <p:charRg st="41" end="51"/>
                                            </p:txEl>
                                          </p:spTgt>
                                        </p:tgtEl>
                                        <p:attrNameLst>
                                          <p:attrName>style.visibility</p:attrName>
                                        </p:attrNameLst>
                                      </p:cBhvr>
                                      <p:to>
                                        <p:strVal val="visible"/>
                                      </p:to>
                                    </p:set>
                                    <p:anim calcmode="lin" valueType="num">
                                      <p:cBhvr additive="base">
                                        <p:cTn id="21" dur="500" fill="hold"/>
                                        <p:tgtEl>
                                          <p:spTgt spid="391171">
                                            <p:txEl>
                                              <p:charRg st="41" end="51"/>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91171">
                                            <p:txEl>
                                              <p:charRg st="41" end="51"/>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91171">
                                            <p:txEl>
                                              <p:charRg st="51" end="64"/>
                                            </p:txEl>
                                          </p:spTgt>
                                        </p:tgtEl>
                                        <p:attrNameLst>
                                          <p:attrName>style.visibility</p:attrName>
                                        </p:attrNameLst>
                                      </p:cBhvr>
                                      <p:to>
                                        <p:strVal val="visible"/>
                                      </p:to>
                                    </p:set>
                                    <p:anim calcmode="lin" valueType="num">
                                      <p:cBhvr additive="base">
                                        <p:cTn id="25" dur="500" fill="hold"/>
                                        <p:tgtEl>
                                          <p:spTgt spid="391171">
                                            <p:txEl>
                                              <p:charRg st="51" end="6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91171">
                                            <p:txEl>
                                              <p:charRg st="51" end="6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91171">
                                            <p:txEl>
                                              <p:charRg st="64" end="78"/>
                                            </p:txEl>
                                          </p:spTgt>
                                        </p:tgtEl>
                                        <p:attrNameLst>
                                          <p:attrName>style.visibility</p:attrName>
                                        </p:attrNameLst>
                                      </p:cBhvr>
                                      <p:to>
                                        <p:strVal val="visible"/>
                                      </p:to>
                                    </p:set>
                                    <p:anim calcmode="lin" valueType="num">
                                      <p:cBhvr additive="base">
                                        <p:cTn id="29" dur="500" fill="hold"/>
                                        <p:tgtEl>
                                          <p:spTgt spid="391171">
                                            <p:txEl>
                                              <p:charRg st="64" end="78"/>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91171">
                                            <p:txEl>
                                              <p:charRg st="64" end="78"/>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91171">
                                            <p:txEl>
                                              <p:charRg st="78" end="94"/>
                                            </p:txEl>
                                          </p:spTgt>
                                        </p:tgtEl>
                                        <p:attrNameLst>
                                          <p:attrName>style.visibility</p:attrName>
                                        </p:attrNameLst>
                                      </p:cBhvr>
                                      <p:to>
                                        <p:strVal val="visible"/>
                                      </p:to>
                                    </p:set>
                                    <p:anim calcmode="lin" valueType="num">
                                      <p:cBhvr additive="base">
                                        <p:cTn id="33" dur="500" fill="hold"/>
                                        <p:tgtEl>
                                          <p:spTgt spid="391171">
                                            <p:txEl>
                                              <p:charRg st="78" end="94"/>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91171">
                                            <p:txEl>
                                              <p:charRg st="78" end="94"/>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391171">
                                            <p:txEl>
                                              <p:charRg st="94" end="106"/>
                                            </p:txEl>
                                          </p:spTgt>
                                        </p:tgtEl>
                                        <p:attrNameLst>
                                          <p:attrName>style.visibility</p:attrName>
                                        </p:attrNameLst>
                                      </p:cBhvr>
                                      <p:to>
                                        <p:strVal val="visible"/>
                                      </p:to>
                                    </p:set>
                                    <p:anim calcmode="lin" valueType="num">
                                      <p:cBhvr additive="base">
                                        <p:cTn id="37" dur="500" fill="hold"/>
                                        <p:tgtEl>
                                          <p:spTgt spid="391171">
                                            <p:txEl>
                                              <p:charRg st="94" end="10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91171">
                                            <p:txEl>
                                              <p:charRg st="94" end="10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91171">
                                            <p:txEl>
                                              <p:charRg st="106" end="114"/>
                                            </p:txEl>
                                          </p:spTgt>
                                        </p:tgtEl>
                                        <p:attrNameLst>
                                          <p:attrName>style.visibility</p:attrName>
                                        </p:attrNameLst>
                                      </p:cBhvr>
                                      <p:to>
                                        <p:strVal val="visible"/>
                                      </p:to>
                                    </p:set>
                                    <p:anim calcmode="lin" valueType="num">
                                      <p:cBhvr additive="base">
                                        <p:cTn id="43" dur="500" fill="hold"/>
                                        <p:tgtEl>
                                          <p:spTgt spid="391171">
                                            <p:txEl>
                                              <p:charRg st="106" end="114"/>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91171">
                                            <p:txEl>
                                              <p:charRg st="106" end="114"/>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91171">
                                            <p:txEl>
                                              <p:charRg st="114" end="120"/>
                                            </p:txEl>
                                          </p:spTgt>
                                        </p:tgtEl>
                                        <p:attrNameLst>
                                          <p:attrName>style.visibility</p:attrName>
                                        </p:attrNameLst>
                                      </p:cBhvr>
                                      <p:to>
                                        <p:strVal val="visible"/>
                                      </p:to>
                                    </p:set>
                                    <p:anim calcmode="lin" valueType="num">
                                      <p:cBhvr additive="base">
                                        <p:cTn id="49" dur="500" fill="hold"/>
                                        <p:tgtEl>
                                          <p:spTgt spid="391171">
                                            <p:txEl>
                                              <p:charRg st="114" end="12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91171">
                                            <p:txEl>
                                              <p:charRg st="114" end="120"/>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91171">
                                            <p:txEl>
                                              <p:charRg st="120" end="127"/>
                                            </p:txEl>
                                          </p:spTgt>
                                        </p:tgtEl>
                                        <p:attrNameLst>
                                          <p:attrName>style.visibility</p:attrName>
                                        </p:attrNameLst>
                                      </p:cBhvr>
                                      <p:to>
                                        <p:strVal val="visible"/>
                                      </p:to>
                                    </p:set>
                                    <p:anim calcmode="lin" valueType="num">
                                      <p:cBhvr additive="base">
                                        <p:cTn id="55" dur="500" fill="hold"/>
                                        <p:tgtEl>
                                          <p:spTgt spid="391171">
                                            <p:txEl>
                                              <p:charRg st="120" end="127"/>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91171">
                                            <p:txEl>
                                              <p:charRg st="120" end="127"/>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91173"/>
                                        </p:tgtEl>
                                        <p:attrNameLst>
                                          <p:attrName>style.visibility</p:attrName>
                                        </p:attrNameLst>
                                      </p:cBhvr>
                                      <p:to>
                                        <p:strVal val="visible"/>
                                      </p:to>
                                    </p:set>
                                    <p:anim calcmode="lin" valueType="num">
                                      <p:cBhvr additive="base">
                                        <p:cTn id="61" dur="500" fill="hold"/>
                                        <p:tgtEl>
                                          <p:spTgt spid="391173"/>
                                        </p:tgtEl>
                                        <p:attrNameLst>
                                          <p:attrName>ppt_x</p:attrName>
                                        </p:attrNameLst>
                                      </p:cBhvr>
                                      <p:tavLst>
                                        <p:tav tm="0">
                                          <p:val>
                                            <p:strVal val="0-#ppt_w/2"/>
                                          </p:val>
                                        </p:tav>
                                        <p:tav tm="100000">
                                          <p:val>
                                            <p:strVal val="#ppt_x"/>
                                          </p:val>
                                        </p:tav>
                                      </p:tavLst>
                                    </p:anim>
                                    <p:anim calcmode="lin" valueType="num">
                                      <p:cBhvr additive="base">
                                        <p:cTn id="62" dur="500" fill="hold"/>
                                        <p:tgtEl>
                                          <p:spTgt spid="39117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391174"/>
                                        </p:tgtEl>
                                        <p:attrNameLst>
                                          <p:attrName>style.visibility</p:attrName>
                                        </p:attrNameLst>
                                      </p:cBhvr>
                                      <p:to>
                                        <p:strVal val="visible"/>
                                      </p:to>
                                    </p:set>
                                    <p:anim calcmode="lin" valueType="num">
                                      <p:cBhvr additive="base">
                                        <p:cTn id="67" dur="500" fill="hold"/>
                                        <p:tgtEl>
                                          <p:spTgt spid="391174"/>
                                        </p:tgtEl>
                                        <p:attrNameLst>
                                          <p:attrName>ppt_x</p:attrName>
                                        </p:attrNameLst>
                                      </p:cBhvr>
                                      <p:tavLst>
                                        <p:tav tm="0">
                                          <p:val>
                                            <p:strVal val="0-#ppt_w/2"/>
                                          </p:val>
                                        </p:tav>
                                        <p:tav tm="100000">
                                          <p:val>
                                            <p:strVal val="#ppt_x"/>
                                          </p:val>
                                        </p:tav>
                                      </p:tavLst>
                                    </p:anim>
                                    <p:anim calcmode="lin" valueType="num">
                                      <p:cBhvr additive="base">
                                        <p:cTn id="68" dur="500" fill="hold"/>
                                        <p:tgtEl>
                                          <p:spTgt spid="3911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bldLvl="2" build="p"/>
      <p:bldP spid="391173" grpId="0"/>
      <p:bldP spid="39117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609600" y="457200"/>
            <a:ext cx="7924800" cy="685800"/>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6.5.4  逻辑表达式－逻辑运算符</a:t>
            </a:r>
            <a:endParaRPr lang="zh-CN" altLang="en-US" b="0" dirty="0">
              <a:sym typeface="+mn-ea"/>
            </a:endParaRPr>
          </a:p>
        </p:txBody>
      </p:sp>
      <p:sp>
        <p:nvSpPr>
          <p:cNvPr id="414723" name="Rectangle 3"/>
          <p:cNvSpPr>
            <a:spLocks noGrp="1"/>
          </p:cNvSpPr>
          <p:nvPr>
            <p:ph idx="1"/>
          </p:nvPr>
        </p:nvSpPr>
        <p:spPr>
          <a:xfrm>
            <a:off x="323850" y="3068638"/>
            <a:ext cx="8351838" cy="3209925"/>
          </a:xfrm>
        </p:spPr>
        <p:txBody>
          <a:bodyPr vert="horz" wrap="square" lIns="91440" tIns="45720" rIns="91440" bIns="45720" anchor="t" anchorCtr="0"/>
          <a:p>
            <a:pPr algn="just" eaLnBrk="1" hangingPunct="1"/>
            <a:r>
              <a:rPr lang="en-US" altLang="zh-CN" b="0">
                <a:solidFill>
                  <a:srgbClr val="CC0066"/>
                </a:solidFill>
              </a:rPr>
              <a:t>&amp;&amp;  ||   !</a:t>
            </a:r>
            <a:endParaRPr lang="en-US" altLang="zh-CN" b="0">
              <a:solidFill>
                <a:srgbClr val="CC0066"/>
              </a:solidFill>
            </a:endParaRPr>
          </a:p>
          <a:p>
            <a:pPr algn="just" eaLnBrk="1" hangingPunct="1"/>
            <a:r>
              <a:rPr lang="zh-CN" altLang="en-US" b="0" dirty="0"/>
              <a:t>逻辑运算结果：</a:t>
            </a:r>
            <a:r>
              <a:rPr lang="zh-CN" altLang="en-US" b="0" dirty="0">
                <a:solidFill>
                  <a:srgbClr val="CC0066"/>
                </a:solidFill>
              </a:rPr>
              <a:t>1</a:t>
            </a:r>
            <a:r>
              <a:rPr lang="zh-CN" altLang="en-US" b="0" dirty="0"/>
              <a:t>(真)</a:t>
            </a:r>
            <a:r>
              <a:rPr lang="zh-CN" altLang="en-US" b="0" dirty="0">
                <a:solidFill>
                  <a:srgbClr val="FFFF00"/>
                </a:solidFill>
              </a:rPr>
              <a:t>    </a:t>
            </a:r>
            <a:r>
              <a:rPr lang="zh-CN" altLang="en-US" b="0" dirty="0">
                <a:solidFill>
                  <a:srgbClr val="CC0066"/>
                </a:solidFill>
              </a:rPr>
              <a:t>0</a:t>
            </a:r>
            <a:r>
              <a:rPr lang="zh-CN" altLang="en-US" b="0" dirty="0">
                <a:solidFill>
                  <a:srgbClr val="FFFF00"/>
                </a:solidFill>
              </a:rPr>
              <a:t> </a:t>
            </a:r>
            <a:r>
              <a:rPr lang="zh-CN" altLang="en-US" b="0" dirty="0"/>
              <a:t>(假)</a:t>
            </a:r>
            <a:endParaRPr lang="zh-CN" altLang="en-US" b="0" dirty="0"/>
          </a:p>
          <a:p>
            <a:pPr algn="just" eaLnBrk="1" hangingPunct="1"/>
            <a:r>
              <a:rPr lang="zh-CN" altLang="en-US" b="0" dirty="0"/>
              <a:t>逻辑运算对象：关系表达式或逻辑量</a:t>
            </a:r>
            <a:endParaRPr lang="zh-CN" altLang="en-US" b="0" dirty="0"/>
          </a:p>
          <a:p>
            <a:pPr lvl="1" algn="just" eaLnBrk="1" hangingPunct="1">
              <a:buNone/>
            </a:pPr>
            <a:r>
              <a:rPr lang="en-US" altLang="zh-CN" b="0"/>
              <a:t>x &gt;= 3 </a:t>
            </a:r>
            <a:r>
              <a:rPr lang="en-US" altLang="zh-CN" b="0">
                <a:solidFill>
                  <a:srgbClr val="CC0066"/>
                </a:solidFill>
              </a:rPr>
              <a:t>&amp;&amp;</a:t>
            </a:r>
            <a:r>
              <a:rPr lang="en-US" altLang="zh-CN" b="0"/>
              <a:t>  x &lt;= 5                 !x</a:t>
            </a:r>
            <a:endParaRPr lang="en-US" altLang="zh-CN" b="0"/>
          </a:p>
          <a:p>
            <a:pPr algn="just" eaLnBrk="1" hangingPunct="1">
              <a:spcBef>
                <a:spcPct val="50000"/>
              </a:spcBef>
            </a:pPr>
            <a:r>
              <a:rPr lang="zh-CN" altLang="en-US" b="0" dirty="0"/>
              <a:t>判断逻辑量的真假：</a:t>
            </a:r>
            <a:r>
              <a:rPr lang="zh-CN" altLang="en-US" b="0" dirty="0">
                <a:solidFill>
                  <a:srgbClr val="CC0066"/>
                </a:solidFill>
              </a:rPr>
              <a:t>非0</a:t>
            </a:r>
            <a:r>
              <a:rPr lang="zh-CN" altLang="en-US" b="0" dirty="0">
                <a:solidFill>
                  <a:srgbClr val="FFFF00"/>
                </a:solidFill>
              </a:rPr>
              <a:t> </a:t>
            </a:r>
            <a:r>
              <a:rPr lang="zh-CN" altLang="en-US" b="0" dirty="0"/>
              <a:t>(真)</a:t>
            </a:r>
            <a:r>
              <a:rPr lang="zh-CN" altLang="en-US" b="0" dirty="0">
                <a:latin typeface="宋体" pitchFamily="2" charset="-122"/>
              </a:rPr>
              <a:t>  </a:t>
            </a:r>
            <a:r>
              <a:rPr lang="zh-CN" altLang="en-US" b="0" dirty="0">
                <a:solidFill>
                  <a:srgbClr val="CC0066"/>
                </a:solidFill>
              </a:rPr>
              <a:t>0</a:t>
            </a:r>
            <a:r>
              <a:rPr lang="zh-CN" altLang="en-US" b="0" dirty="0">
                <a:solidFill>
                  <a:srgbClr val="FFFF00"/>
                </a:solidFill>
              </a:rPr>
              <a:t> </a:t>
            </a:r>
            <a:r>
              <a:rPr lang="zh-CN" altLang="en-US" b="0" dirty="0"/>
              <a:t>(假)</a:t>
            </a:r>
            <a:endParaRPr lang="en-US" altLang="zh-CN" b="0"/>
          </a:p>
        </p:txBody>
      </p:sp>
      <p:sp>
        <p:nvSpPr>
          <p:cNvPr id="71684" name="Rectangle 10"/>
          <p:cNvSpPr/>
          <p:nvPr/>
        </p:nvSpPr>
        <p:spPr>
          <a:xfrm>
            <a:off x="250825" y="1412875"/>
            <a:ext cx="8280400" cy="1814830"/>
          </a:xfrm>
          <a:prstGeom prst="rect">
            <a:avLst/>
          </a:prstGeom>
          <a:noFill/>
          <a:ln w="9525">
            <a:noFill/>
          </a:ln>
        </p:spPr>
        <p:txBody>
          <a:bodyPr lIns="92075" tIns="46038" rIns="92075" bIns="46038" anchor="t" anchorCtr="0">
            <a:spAutoFit/>
          </a:bodyPr>
          <a:p>
            <a:pPr lvl="1" indent="0" eaLnBrk="1" hangingPunct="1"/>
            <a:r>
              <a:rPr lang="en-US" altLang="zh-CN" sz="2800">
                <a:latin typeface="Arial" panose="02080604020202020204" pitchFamily="34" charset="0"/>
              </a:rPr>
              <a:t>(</a:t>
            </a:r>
            <a:r>
              <a:rPr lang="en-US" altLang="zh-CN" sz="2800" err="1">
                <a:latin typeface="Arial" panose="02080604020202020204" pitchFamily="34" charset="0"/>
              </a:rPr>
              <a:t>ch</a:t>
            </a:r>
            <a:r>
              <a:rPr lang="en-US" altLang="zh-CN" sz="2800">
                <a:latin typeface="Arial" panose="02080604020202020204" pitchFamily="34" charset="0"/>
              </a:rPr>
              <a:t> &gt;= 'a' </a:t>
            </a:r>
            <a:r>
              <a:rPr lang="en-US" altLang="zh-CN" sz="2800">
                <a:solidFill>
                  <a:srgbClr val="CC0066"/>
                </a:solidFill>
                <a:latin typeface="Arial" panose="02080604020202020204" pitchFamily="34" charset="0"/>
              </a:rPr>
              <a:t>&amp;&amp;</a:t>
            </a:r>
            <a:r>
              <a:rPr lang="en-US" altLang="zh-CN" sz="2800">
                <a:latin typeface="Arial" panose="02080604020202020204" pitchFamily="34" charset="0"/>
              </a:rPr>
              <a:t> </a:t>
            </a:r>
            <a:r>
              <a:rPr lang="en-US" altLang="zh-CN" sz="2800" err="1">
                <a:latin typeface="Arial" panose="02080604020202020204" pitchFamily="34" charset="0"/>
              </a:rPr>
              <a:t>ch</a:t>
            </a:r>
            <a:r>
              <a:rPr lang="en-US" altLang="zh-CN" sz="2800">
                <a:latin typeface="Arial" panose="02080604020202020204" pitchFamily="34" charset="0"/>
              </a:rPr>
              <a:t> &lt;= 'z' ) </a:t>
            </a:r>
            <a:r>
              <a:rPr lang="en-US" altLang="zh-CN" sz="2800">
                <a:solidFill>
                  <a:srgbClr val="CC0066"/>
                </a:solidFill>
                <a:latin typeface="Arial" panose="02080604020202020204" pitchFamily="34" charset="0"/>
              </a:rPr>
              <a:t>||</a:t>
            </a:r>
            <a:r>
              <a:rPr lang="en-US" altLang="zh-CN" sz="2800">
                <a:latin typeface="Arial" panose="02080604020202020204" pitchFamily="34" charset="0"/>
              </a:rPr>
              <a:t> ( </a:t>
            </a:r>
            <a:r>
              <a:rPr lang="en-US" altLang="zh-CN" sz="2800" err="1">
                <a:latin typeface="Arial" panose="02080604020202020204" pitchFamily="34" charset="0"/>
              </a:rPr>
              <a:t>ch</a:t>
            </a:r>
            <a:r>
              <a:rPr lang="en-US" altLang="zh-CN" sz="2800">
                <a:latin typeface="Arial" panose="02080604020202020204" pitchFamily="34" charset="0"/>
              </a:rPr>
              <a:t> &gt;= 'A' </a:t>
            </a:r>
            <a:r>
              <a:rPr lang="en-US" altLang="zh-CN" sz="2800">
                <a:solidFill>
                  <a:srgbClr val="CC0066"/>
                </a:solidFill>
                <a:latin typeface="Arial" panose="02080604020202020204" pitchFamily="34" charset="0"/>
              </a:rPr>
              <a:t>&amp;&amp;</a:t>
            </a:r>
            <a:r>
              <a:rPr lang="en-US" altLang="zh-CN" sz="2800">
                <a:latin typeface="Arial" panose="02080604020202020204" pitchFamily="34" charset="0"/>
              </a:rPr>
              <a:t> </a:t>
            </a:r>
            <a:r>
              <a:rPr lang="en-US" altLang="zh-CN" sz="2800" err="1">
                <a:latin typeface="Arial" panose="02080604020202020204" pitchFamily="34" charset="0"/>
              </a:rPr>
              <a:t>ch</a:t>
            </a:r>
            <a:r>
              <a:rPr lang="en-US" altLang="zh-CN" sz="2800">
                <a:latin typeface="Arial" panose="02080604020202020204" pitchFamily="34" charset="0"/>
              </a:rPr>
              <a:t> &lt;= 'Z')</a:t>
            </a:r>
            <a:endParaRPr lang="en-US" altLang="zh-CN" sz="2800">
              <a:latin typeface="Arial" panose="02080604020202020204" pitchFamily="34" charset="0"/>
            </a:endParaRPr>
          </a:p>
          <a:p>
            <a:pPr lvl="1" indent="0" eaLnBrk="1" hangingPunct="1"/>
            <a:r>
              <a:rPr lang="en-US" altLang="zh-CN" sz="2800" err="1">
                <a:latin typeface="Arial" panose="02080604020202020204" pitchFamily="34" charset="0"/>
              </a:rPr>
              <a:t>ch</a:t>
            </a:r>
            <a:r>
              <a:rPr lang="en-US" altLang="zh-CN" sz="2800">
                <a:latin typeface="Arial" panose="02080604020202020204" pitchFamily="34" charset="0"/>
              </a:rPr>
              <a:t> == ' ' </a:t>
            </a:r>
            <a:r>
              <a:rPr lang="en-US" altLang="zh-CN" sz="2800">
                <a:solidFill>
                  <a:srgbClr val="CC0066"/>
                </a:solidFill>
                <a:latin typeface="Arial" panose="02080604020202020204" pitchFamily="34" charset="0"/>
              </a:rPr>
              <a:t>||</a:t>
            </a:r>
            <a:r>
              <a:rPr lang="en-US" altLang="zh-CN" sz="2800">
                <a:latin typeface="Arial" panose="02080604020202020204" pitchFamily="34" charset="0"/>
              </a:rPr>
              <a:t> </a:t>
            </a:r>
            <a:r>
              <a:rPr lang="en-US" altLang="zh-CN" sz="2800" err="1">
                <a:latin typeface="Arial" panose="02080604020202020204" pitchFamily="34" charset="0"/>
              </a:rPr>
              <a:t>ch</a:t>
            </a:r>
            <a:r>
              <a:rPr lang="en-US" altLang="zh-CN" sz="2800">
                <a:latin typeface="Arial" panose="02080604020202020204" pitchFamily="34" charset="0"/>
              </a:rPr>
              <a:t> == '\n'</a:t>
            </a:r>
            <a:endParaRPr lang="en-US" altLang="zh-CN" sz="2800">
              <a:latin typeface="Arial" panose="02080604020202020204" pitchFamily="34" charset="0"/>
            </a:endParaRPr>
          </a:p>
          <a:p>
            <a:pPr lvl="1" indent="0" eaLnBrk="1" hangingPunct="1"/>
            <a:r>
              <a:rPr lang="en-US" altLang="zh-CN" sz="2800">
                <a:latin typeface="Arial" panose="02080604020202020204" pitchFamily="34" charset="0"/>
              </a:rPr>
              <a:t>x &gt;= 3 </a:t>
            </a:r>
            <a:r>
              <a:rPr lang="en-US" altLang="zh-CN" sz="2800">
                <a:solidFill>
                  <a:srgbClr val="CC0066"/>
                </a:solidFill>
                <a:latin typeface="Arial" panose="02080604020202020204" pitchFamily="34" charset="0"/>
              </a:rPr>
              <a:t>&amp;&amp;</a:t>
            </a:r>
            <a:r>
              <a:rPr lang="en-US" altLang="zh-CN" sz="2800">
                <a:latin typeface="Arial" panose="02080604020202020204" pitchFamily="34" charset="0"/>
              </a:rPr>
              <a:t>  x &lt;= 5</a:t>
            </a:r>
            <a:endParaRPr lang="en-US" altLang="zh-CN" sz="280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4723">
                                            <p:txEl>
                                              <p:charRg st="0" end="11"/>
                                            </p:txEl>
                                          </p:spTgt>
                                        </p:tgtEl>
                                        <p:attrNameLst>
                                          <p:attrName>style.visibility</p:attrName>
                                        </p:attrNameLst>
                                      </p:cBhvr>
                                      <p:to>
                                        <p:strVal val="visible"/>
                                      </p:to>
                                    </p:set>
                                    <p:anim calcmode="lin" valueType="num">
                                      <p:cBhvr additive="base">
                                        <p:cTn id="7" dur="500" fill="hold"/>
                                        <p:tgtEl>
                                          <p:spTgt spid="414723">
                                            <p:txEl>
                                              <p:charRg st="0" end="1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14723">
                                            <p:txEl>
                                              <p:charRg st="0" end="1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4723">
                                            <p:txEl>
                                              <p:charRg st="11" end="32"/>
                                            </p:txEl>
                                          </p:spTgt>
                                        </p:tgtEl>
                                        <p:attrNameLst>
                                          <p:attrName>style.visibility</p:attrName>
                                        </p:attrNameLst>
                                      </p:cBhvr>
                                      <p:to>
                                        <p:strVal val="visible"/>
                                      </p:to>
                                    </p:set>
                                    <p:anim calcmode="lin" valueType="num">
                                      <p:cBhvr additive="base">
                                        <p:cTn id="13" dur="500" fill="hold"/>
                                        <p:tgtEl>
                                          <p:spTgt spid="414723">
                                            <p:txEl>
                                              <p:charRg st="11" end="3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14723">
                                            <p:txEl>
                                              <p:charRg st="11" end="3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4723">
                                            <p:txEl>
                                              <p:charRg st="32" end="49"/>
                                            </p:txEl>
                                          </p:spTgt>
                                        </p:tgtEl>
                                        <p:attrNameLst>
                                          <p:attrName>style.visibility</p:attrName>
                                        </p:attrNameLst>
                                      </p:cBhvr>
                                      <p:to>
                                        <p:strVal val="visible"/>
                                      </p:to>
                                    </p:set>
                                    <p:anim calcmode="lin" valueType="num">
                                      <p:cBhvr additive="base">
                                        <p:cTn id="19" dur="500" fill="hold"/>
                                        <p:tgtEl>
                                          <p:spTgt spid="414723">
                                            <p:txEl>
                                              <p:charRg st="32" end="4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14723">
                                            <p:txEl>
                                              <p:charRg st="32" end="49"/>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14723">
                                            <p:txEl>
                                              <p:charRg st="49" end="86"/>
                                            </p:txEl>
                                          </p:spTgt>
                                        </p:tgtEl>
                                        <p:attrNameLst>
                                          <p:attrName>style.visibility</p:attrName>
                                        </p:attrNameLst>
                                      </p:cBhvr>
                                      <p:to>
                                        <p:strVal val="visible"/>
                                      </p:to>
                                    </p:set>
                                    <p:anim calcmode="lin" valueType="num">
                                      <p:cBhvr additive="base">
                                        <p:cTn id="23" dur="500" fill="hold"/>
                                        <p:tgtEl>
                                          <p:spTgt spid="414723">
                                            <p:txEl>
                                              <p:charRg st="49" end="86"/>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14723">
                                            <p:txEl>
                                              <p:charRg st="49" end="86"/>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414723">
                                            <p:txEl>
                                              <p:charRg st="86" end="109"/>
                                            </p:txEl>
                                          </p:spTgt>
                                        </p:tgtEl>
                                        <p:attrNameLst>
                                          <p:attrName>style.visibility</p:attrName>
                                        </p:attrNameLst>
                                      </p:cBhvr>
                                      <p:to>
                                        <p:strVal val="visible"/>
                                      </p:to>
                                    </p:set>
                                    <p:anim calcmode="lin" valueType="num">
                                      <p:cBhvr additive="base">
                                        <p:cTn id="29" dur="500" fill="hold"/>
                                        <p:tgtEl>
                                          <p:spTgt spid="414723">
                                            <p:txEl>
                                              <p:charRg st="86" end="109"/>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14723">
                                            <p:txEl>
                                              <p:charRg st="86" end="10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468313" y="692150"/>
            <a:ext cx="7786687" cy="9556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逻辑运算的规则－真值表</a:t>
            </a:r>
            <a:endParaRPr lang="zh-CN" altLang="en-US" b="0" dirty="0">
              <a:sym typeface="+mn-ea"/>
            </a:endParaRPr>
          </a:p>
        </p:txBody>
      </p:sp>
      <p:sp>
        <p:nvSpPr>
          <p:cNvPr id="72707" name="Rectangle 3"/>
          <p:cNvSpPr>
            <a:spLocks noGrp="1"/>
          </p:cNvSpPr>
          <p:nvPr>
            <p:ph idx="1"/>
          </p:nvPr>
        </p:nvSpPr>
        <p:spPr>
          <a:xfrm>
            <a:off x="684213" y="1989138"/>
            <a:ext cx="5111750" cy="2667000"/>
          </a:xfrm>
        </p:spPr>
        <p:txBody>
          <a:bodyPr vert="horz" wrap="square" lIns="91440" tIns="45720" rIns="91440" bIns="45720" anchor="t" anchorCtr="0"/>
          <a:p>
            <a:pPr lvl="1" eaLnBrk="1" hangingPunct="1">
              <a:buNone/>
            </a:pPr>
            <a:r>
              <a:rPr lang="en-US" altLang="zh-CN" sz="2400" b="0"/>
              <a:t> x      y     </a:t>
            </a:r>
            <a:r>
              <a:rPr lang="en-US" altLang="zh-CN" sz="2400" b="0" err="1"/>
              <a:t>x&amp;&amp;y</a:t>
            </a:r>
            <a:r>
              <a:rPr lang="en-US" altLang="zh-CN" sz="2400" b="0"/>
              <a:t>    </a:t>
            </a:r>
            <a:r>
              <a:rPr lang="en-US" altLang="zh-CN" sz="2400" b="0" err="1"/>
              <a:t>x||y</a:t>
            </a:r>
            <a:r>
              <a:rPr lang="en-US" altLang="zh-CN" sz="2400" b="0"/>
              <a:t>   !x</a:t>
            </a:r>
            <a:endParaRPr lang="en-US" altLang="zh-CN" sz="2400" b="0"/>
          </a:p>
          <a:p>
            <a:pPr lvl="1" eaLnBrk="1" hangingPunct="1">
              <a:buNone/>
            </a:pPr>
            <a:r>
              <a:rPr lang="zh-CN" altLang="en-US" sz="2400" b="0" dirty="0"/>
              <a:t>假    </a:t>
            </a:r>
            <a:r>
              <a:rPr lang="en-US" altLang="zh-CN" sz="2400" b="0"/>
              <a:t> </a:t>
            </a:r>
            <a:r>
              <a:rPr lang="zh-CN" altLang="en-US" sz="2400" b="0" dirty="0"/>
              <a:t>假       0         0       1</a:t>
            </a:r>
            <a:endParaRPr lang="zh-CN" altLang="en-US" sz="2400" b="0" dirty="0"/>
          </a:p>
          <a:p>
            <a:pPr lvl="1" eaLnBrk="1" hangingPunct="1">
              <a:buNone/>
            </a:pPr>
            <a:r>
              <a:rPr lang="zh-CN" altLang="en-US" sz="2400" b="0" dirty="0"/>
              <a:t>假     真       0         1       1</a:t>
            </a:r>
            <a:endParaRPr lang="zh-CN" altLang="en-US" sz="2400" b="0" dirty="0"/>
          </a:p>
          <a:p>
            <a:pPr lvl="1" eaLnBrk="1" hangingPunct="1">
              <a:buNone/>
            </a:pPr>
            <a:r>
              <a:rPr lang="zh-CN" altLang="en-US" sz="2400" b="0" dirty="0"/>
              <a:t>真     假       0         1       0</a:t>
            </a:r>
            <a:endParaRPr lang="zh-CN" altLang="en-US" sz="2400" b="0" dirty="0"/>
          </a:p>
          <a:p>
            <a:pPr lvl="1" eaLnBrk="1" hangingPunct="1">
              <a:buNone/>
            </a:pPr>
            <a:r>
              <a:rPr lang="zh-CN" altLang="en-US" sz="2400" b="0" dirty="0"/>
              <a:t>真     真       1         1       0 </a:t>
            </a:r>
            <a:endParaRPr lang="zh-CN" altLang="en-US" sz="2400" b="0" dirty="0"/>
          </a:p>
        </p:txBody>
      </p:sp>
      <p:grpSp>
        <p:nvGrpSpPr>
          <p:cNvPr id="72708" name="Group 11"/>
          <p:cNvGrpSpPr/>
          <p:nvPr/>
        </p:nvGrpSpPr>
        <p:grpSpPr>
          <a:xfrm>
            <a:off x="1260475" y="1989138"/>
            <a:ext cx="4267200" cy="2514600"/>
            <a:chOff x="1248" y="864"/>
            <a:chExt cx="2688" cy="1584"/>
          </a:xfrm>
        </p:grpSpPr>
        <p:sp>
          <p:nvSpPr>
            <p:cNvPr id="72709" name="Line 5"/>
            <p:cNvSpPr/>
            <p:nvPr/>
          </p:nvSpPr>
          <p:spPr>
            <a:xfrm>
              <a:off x="1248" y="1200"/>
              <a:ext cx="2688" cy="0"/>
            </a:xfrm>
            <a:prstGeom prst="line">
              <a:avLst/>
            </a:prstGeom>
            <a:ln w="9525" cap="flat" cmpd="sng">
              <a:solidFill>
                <a:schemeClr val="tx1"/>
              </a:solidFill>
              <a:prstDash val="solid"/>
              <a:round/>
              <a:headEnd type="none" w="med" len="med"/>
              <a:tailEnd type="none" w="med" len="med"/>
            </a:ln>
          </p:spPr>
        </p:sp>
        <p:sp>
          <p:nvSpPr>
            <p:cNvPr id="72710" name="Line 6"/>
            <p:cNvSpPr/>
            <p:nvPr/>
          </p:nvSpPr>
          <p:spPr>
            <a:xfrm>
              <a:off x="2112" y="864"/>
              <a:ext cx="0" cy="1584"/>
            </a:xfrm>
            <a:prstGeom prst="line">
              <a:avLst/>
            </a:prstGeom>
            <a:ln w="9525" cap="flat" cmpd="sng">
              <a:solidFill>
                <a:schemeClr val="tx1"/>
              </a:solidFill>
              <a:prstDash val="solid"/>
              <a:round/>
              <a:headEnd type="none" w="med" len="med"/>
              <a:tailEnd type="none" w="med" len="med"/>
            </a:ln>
          </p:spPr>
        </p:sp>
        <p:sp>
          <p:nvSpPr>
            <p:cNvPr id="72711" name="Line 7"/>
            <p:cNvSpPr/>
            <p:nvPr/>
          </p:nvSpPr>
          <p:spPr>
            <a:xfrm>
              <a:off x="2880" y="864"/>
              <a:ext cx="0" cy="1584"/>
            </a:xfrm>
            <a:prstGeom prst="line">
              <a:avLst/>
            </a:prstGeom>
            <a:ln w="9525" cap="flat" cmpd="sng">
              <a:solidFill>
                <a:schemeClr val="tx1"/>
              </a:solidFill>
              <a:prstDash val="solid"/>
              <a:round/>
              <a:headEnd type="none" w="med" len="med"/>
              <a:tailEnd type="none" w="med" len="med"/>
            </a:ln>
          </p:spPr>
        </p:sp>
        <p:sp>
          <p:nvSpPr>
            <p:cNvPr id="72712" name="Line 8"/>
            <p:cNvSpPr/>
            <p:nvPr/>
          </p:nvSpPr>
          <p:spPr>
            <a:xfrm>
              <a:off x="3504" y="864"/>
              <a:ext cx="0" cy="1584"/>
            </a:xfrm>
            <a:prstGeom prst="line">
              <a:avLst/>
            </a:prstGeom>
            <a:ln w="9525" cap="flat" cmpd="sng">
              <a:solidFill>
                <a:schemeClr val="tx1"/>
              </a:solidFill>
              <a:prstDash val="solid"/>
              <a:round/>
              <a:headEnd type="none" w="med" len="med"/>
              <a:tailEnd type="none" w="med" len="med"/>
            </a:ln>
          </p:spPr>
        </p:sp>
      </p:grpSp>
      <p:sp>
        <p:nvSpPr>
          <p:cNvPr id="395274" name="Rectangle 10"/>
          <p:cNvSpPr/>
          <p:nvPr/>
        </p:nvSpPr>
        <p:spPr>
          <a:xfrm>
            <a:off x="900113" y="4725988"/>
            <a:ext cx="1793875" cy="1789430"/>
          </a:xfrm>
          <a:prstGeom prst="rect">
            <a:avLst/>
          </a:prstGeom>
          <a:solidFill>
            <a:schemeClr val="folHlink"/>
          </a:solidFill>
          <a:ln w="9525">
            <a:noFill/>
          </a:ln>
        </p:spPr>
        <p:txBody>
          <a:bodyPr wrap="square" lIns="92075" tIns="46038" rIns="92075" bIns="46038" anchor="t" anchorCtr="0">
            <a:spAutoFit/>
          </a:bodyPr>
          <a:p>
            <a:pPr algn="just">
              <a:spcBef>
                <a:spcPct val="20000"/>
              </a:spcBef>
              <a:buClr>
                <a:srgbClr val="33CCCC"/>
              </a:buClr>
              <a:buSzPct val="110000"/>
            </a:pPr>
            <a:r>
              <a:rPr lang="zh-CN" altLang="en-US" sz="2400" dirty="0">
                <a:latin typeface="Arial" panose="02080604020202020204" pitchFamily="34" charset="0"/>
              </a:rPr>
              <a:t>0    </a:t>
            </a:r>
            <a:r>
              <a:rPr lang="en-US" altLang="zh-CN" sz="2400">
                <a:latin typeface="Arial" panose="02080604020202020204" pitchFamily="34" charset="0"/>
              </a:rPr>
              <a:t> </a:t>
            </a:r>
            <a:r>
              <a:rPr lang="zh-CN" altLang="en-US" sz="2400" dirty="0">
                <a:latin typeface="Arial" panose="02080604020202020204" pitchFamily="34" charset="0"/>
              </a:rPr>
              <a:t>0</a:t>
            </a:r>
            <a:endParaRPr lang="zh-CN" altLang="en-US" sz="2400" dirty="0">
              <a:latin typeface="Arial" panose="02080604020202020204" pitchFamily="34" charset="0"/>
            </a:endParaRPr>
          </a:p>
          <a:p>
            <a:pPr algn="just">
              <a:spcBef>
                <a:spcPct val="20000"/>
              </a:spcBef>
              <a:buClr>
                <a:srgbClr val="33CCCC"/>
              </a:buClr>
              <a:buSzPct val="110000"/>
            </a:pPr>
            <a:r>
              <a:rPr lang="zh-CN" altLang="en-US" sz="2400" dirty="0">
                <a:latin typeface="Arial" panose="02080604020202020204" pitchFamily="34" charset="0"/>
              </a:rPr>
              <a:t>0  </a:t>
            </a:r>
            <a:r>
              <a:rPr lang="en-US" altLang="zh-CN" sz="2400">
                <a:latin typeface="Arial" panose="02080604020202020204" pitchFamily="34" charset="0"/>
              </a:rPr>
              <a:t>   </a:t>
            </a:r>
            <a:r>
              <a:rPr lang="zh-CN" altLang="en-US" sz="2400" dirty="0">
                <a:latin typeface="Arial" panose="02080604020202020204" pitchFamily="34" charset="0"/>
              </a:rPr>
              <a:t>非0</a:t>
            </a:r>
            <a:endParaRPr lang="zh-CN" altLang="en-US" sz="2400" dirty="0">
              <a:latin typeface="Arial" panose="02080604020202020204" pitchFamily="34" charset="0"/>
            </a:endParaRPr>
          </a:p>
          <a:p>
            <a:pPr algn="just">
              <a:spcBef>
                <a:spcPct val="20000"/>
              </a:spcBef>
              <a:buClr>
                <a:srgbClr val="33CCCC"/>
              </a:buClr>
              <a:buSzPct val="110000"/>
            </a:pPr>
            <a:r>
              <a:rPr lang="zh-CN" altLang="en-US" sz="2400" dirty="0">
                <a:latin typeface="Arial" panose="02080604020202020204" pitchFamily="34" charset="0"/>
              </a:rPr>
              <a:t>非0  0</a:t>
            </a:r>
            <a:endParaRPr lang="zh-CN" altLang="en-US" sz="2400" dirty="0">
              <a:latin typeface="Arial" panose="02080604020202020204" pitchFamily="34" charset="0"/>
            </a:endParaRPr>
          </a:p>
          <a:p>
            <a:pPr algn="just">
              <a:spcBef>
                <a:spcPct val="20000"/>
              </a:spcBef>
              <a:buClr>
                <a:srgbClr val="33CCCC"/>
              </a:buClr>
              <a:buSzPct val="110000"/>
            </a:pPr>
            <a:r>
              <a:rPr lang="zh-CN" altLang="en-US" sz="2400" dirty="0">
                <a:latin typeface="Arial" panose="02080604020202020204" pitchFamily="34" charset="0"/>
              </a:rPr>
              <a:t>非0</a:t>
            </a:r>
            <a:r>
              <a:rPr lang="en-US" altLang="zh-CN" sz="2400">
                <a:latin typeface="Arial" panose="02080604020202020204" pitchFamily="34" charset="0"/>
              </a:rPr>
              <a:t>  </a:t>
            </a:r>
            <a:r>
              <a:rPr lang="zh-CN" altLang="en-US" sz="2400" dirty="0">
                <a:latin typeface="Arial" panose="02080604020202020204" pitchFamily="34" charset="0"/>
              </a:rPr>
              <a:t>非0</a:t>
            </a:r>
            <a:endParaRPr lang="zh-CN" altLang="en-US" sz="2400" dirty="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5274"/>
                                        </p:tgtEl>
                                        <p:attrNameLst>
                                          <p:attrName>style.visibility</p:attrName>
                                        </p:attrNameLst>
                                      </p:cBhvr>
                                      <p:to>
                                        <p:strVal val="visible"/>
                                      </p:to>
                                    </p:set>
                                    <p:anim calcmode="lin" valueType="num">
                                      <p:cBhvr additive="base">
                                        <p:cTn id="7" dur="500" fill="hold"/>
                                        <p:tgtEl>
                                          <p:spTgt spid="395274"/>
                                        </p:tgtEl>
                                        <p:attrNameLst>
                                          <p:attrName>ppt_x</p:attrName>
                                        </p:attrNameLst>
                                      </p:cBhvr>
                                      <p:tavLst>
                                        <p:tav tm="0">
                                          <p:val>
                                            <p:strVal val="0-#ppt_w/2"/>
                                          </p:val>
                                        </p:tav>
                                        <p:tav tm="100000">
                                          <p:val>
                                            <p:strVal val="#ppt_x"/>
                                          </p:val>
                                        </p:tav>
                                      </p:tavLst>
                                    </p:anim>
                                    <p:anim calcmode="lin" valueType="num">
                                      <p:cBhvr additive="base">
                                        <p:cTn id="8" dur="500" fill="hold"/>
                                        <p:tgtEl>
                                          <p:spTgt spid="3952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74"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idx="1"/>
          </p:nvPr>
        </p:nvSpPr>
        <p:spPr>
          <a:xfrm>
            <a:off x="457200" y="1700213"/>
            <a:ext cx="2819400" cy="4040187"/>
          </a:xfrm>
        </p:spPr>
        <p:txBody>
          <a:bodyPr vert="horz" wrap="square" lIns="91440" tIns="45720" rIns="91440" bIns="45720" anchor="t" anchorCtr="0"/>
          <a:p>
            <a:pPr algn="just" eaLnBrk="1" hangingPunct="1"/>
            <a:r>
              <a:rPr lang="zh-CN" altLang="en-US" sz="2800" b="0" dirty="0"/>
              <a:t>优先级</a:t>
            </a:r>
            <a:endParaRPr lang="zh-CN" altLang="en-US" sz="2800" b="0" dirty="0"/>
          </a:p>
          <a:p>
            <a:pPr lvl="1" algn="just" eaLnBrk="1" hangingPunct="1"/>
            <a:r>
              <a:rPr lang="zh-CN" altLang="en-US" sz="2400" b="0" dirty="0"/>
              <a:t>!</a:t>
            </a:r>
            <a:endParaRPr lang="zh-CN" altLang="en-US" sz="2400" b="0" dirty="0"/>
          </a:p>
          <a:p>
            <a:pPr lvl="1" algn="just" eaLnBrk="1" hangingPunct="1"/>
            <a:r>
              <a:rPr lang="zh-CN" altLang="en-US" sz="2400" b="0" dirty="0"/>
              <a:t>算术运算符</a:t>
            </a:r>
            <a:endParaRPr lang="zh-CN" altLang="en-US" sz="2400" b="0" dirty="0"/>
          </a:p>
          <a:p>
            <a:pPr lvl="1" algn="just" eaLnBrk="1" hangingPunct="1"/>
            <a:r>
              <a:rPr lang="zh-CN" altLang="en-US" sz="2400" b="0" dirty="0"/>
              <a:t>关系运算符</a:t>
            </a:r>
            <a:endParaRPr lang="zh-CN" altLang="en-US" sz="2400" b="0" dirty="0"/>
          </a:p>
          <a:p>
            <a:pPr lvl="1" algn="just" eaLnBrk="1" hangingPunct="1">
              <a:lnSpc>
                <a:spcPct val="120000"/>
              </a:lnSpc>
            </a:pPr>
            <a:r>
              <a:rPr lang="zh-CN" altLang="en-US" sz="2400" b="0" dirty="0"/>
              <a:t>&amp;&amp;</a:t>
            </a:r>
            <a:endParaRPr lang="zh-CN" altLang="en-US" sz="2400" b="0" dirty="0"/>
          </a:p>
          <a:p>
            <a:pPr lvl="1" algn="just" eaLnBrk="1" hangingPunct="1">
              <a:lnSpc>
                <a:spcPct val="120000"/>
              </a:lnSpc>
            </a:pPr>
            <a:r>
              <a:rPr lang="zh-CN" altLang="en-US" sz="2400" b="0" dirty="0"/>
              <a:t>||</a:t>
            </a:r>
            <a:endParaRPr lang="zh-CN" altLang="en-US" sz="2400" b="0" dirty="0"/>
          </a:p>
          <a:p>
            <a:pPr lvl="1" algn="just" eaLnBrk="1" hangingPunct="1"/>
            <a:r>
              <a:rPr lang="zh-CN" altLang="en-US" sz="2400" b="0" dirty="0"/>
              <a:t>赋值运算符</a:t>
            </a:r>
            <a:endParaRPr lang="zh-CN" altLang="en-US" sz="2400" b="0" dirty="0"/>
          </a:p>
          <a:p>
            <a:pPr algn="just" eaLnBrk="1" hangingPunct="1"/>
            <a:r>
              <a:rPr lang="zh-CN" altLang="en-US" sz="2800" b="0" dirty="0"/>
              <a:t>左结合</a:t>
            </a:r>
            <a:endParaRPr lang="zh-CN" altLang="en-US" sz="2800" b="0" dirty="0"/>
          </a:p>
        </p:txBody>
      </p:sp>
      <p:sp>
        <p:nvSpPr>
          <p:cNvPr id="73731" name="Rectangle 3"/>
          <p:cNvSpPr>
            <a:spLocks noGrp="1"/>
          </p:cNvSpPr>
          <p:nvPr>
            <p:ph type="title"/>
          </p:nvPr>
        </p:nvSpPr>
        <p:spPr>
          <a:xfrm>
            <a:off x="457200" y="457200"/>
            <a:ext cx="8218488" cy="11715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逻辑运算符的优先级和结合性</a:t>
            </a:r>
            <a:endParaRPr lang="zh-CN" altLang="en-US" b="0" dirty="0">
              <a:sym typeface="+mn-ea"/>
            </a:endParaRPr>
          </a:p>
        </p:txBody>
      </p:sp>
      <p:sp>
        <p:nvSpPr>
          <p:cNvPr id="398341" name="Rectangle 5"/>
          <p:cNvSpPr/>
          <p:nvPr/>
        </p:nvSpPr>
        <p:spPr>
          <a:xfrm>
            <a:off x="3276600" y="2133600"/>
            <a:ext cx="3128963" cy="1876425"/>
          </a:xfrm>
          <a:prstGeom prst="rect">
            <a:avLst/>
          </a:prstGeom>
          <a:noFill/>
          <a:ln w="9525">
            <a:noFill/>
          </a:ln>
        </p:spPr>
        <p:txBody>
          <a:bodyPr wrap="square" lIns="92075" tIns="46038" rIns="92075" bIns="46038" anchor="t" anchorCtr="0">
            <a:spAutoFit/>
          </a:bodyPr>
          <a:p>
            <a:pPr algn="just" eaLnBrk="0" hangingPunct="0">
              <a:spcBef>
                <a:spcPct val="20000"/>
              </a:spcBef>
            </a:pPr>
            <a:r>
              <a:rPr lang="en-US" altLang="zh-CN" sz="2000">
                <a:latin typeface="Arial" panose="02080604020202020204" pitchFamily="34" charset="0"/>
              </a:rPr>
              <a:t>a || b &amp;&amp; c</a:t>
            </a:r>
            <a:endParaRPr lang="en-US" altLang="zh-CN" sz="2000">
              <a:latin typeface="宋体" pitchFamily="2" charset="-122"/>
              <a:ea typeface="Arial Unicode MS" pitchFamily="34" charset="-122"/>
            </a:endParaRPr>
          </a:p>
          <a:p>
            <a:pPr algn="just" eaLnBrk="0" hangingPunct="0">
              <a:spcBef>
                <a:spcPct val="20000"/>
              </a:spcBef>
            </a:pPr>
            <a:r>
              <a:rPr lang="en-US" altLang="zh-CN" sz="2000">
                <a:latin typeface="Arial" panose="02080604020202020204" pitchFamily="34" charset="0"/>
              </a:rPr>
              <a:t>!a &amp;&amp; b</a:t>
            </a:r>
            <a:endParaRPr lang="en-US" altLang="zh-CN" sz="2000">
              <a:latin typeface="宋体" pitchFamily="2" charset="-122"/>
              <a:ea typeface="Arial Unicode MS" pitchFamily="34" charset="-122"/>
            </a:endParaRPr>
          </a:p>
          <a:p>
            <a:pPr algn="just" eaLnBrk="0" hangingPunct="0">
              <a:spcBef>
                <a:spcPct val="20000"/>
              </a:spcBef>
            </a:pPr>
            <a:r>
              <a:rPr lang="en-US" altLang="zh-CN" sz="2000">
                <a:latin typeface="Arial" panose="02080604020202020204" pitchFamily="34" charset="0"/>
              </a:rPr>
              <a:t>x &gt;= 3 &amp;&amp; x &lt;= 5</a:t>
            </a:r>
            <a:endParaRPr lang="en-US" altLang="zh-CN" sz="2000">
              <a:latin typeface="宋体" pitchFamily="2" charset="-122"/>
              <a:ea typeface="Arial Unicode MS" pitchFamily="34" charset="-122"/>
            </a:endParaRPr>
          </a:p>
          <a:p>
            <a:pPr algn="just" eaLnBrk="0" hangingPunct="0">
              <a:spcBef>
                <a:spcPct val="20000"/>
              </a:spcBef>
            </a:pPr>
            <a:r>
              <a:rPr lang="en-US" altLang="zh-CN" sz="2000">
                <a:latin typeface="Arial" panose="02080604020202020204" pitchFamily="34" charset="0"/>
              </a:rPr>
              <a:t>!x == 2</a:t>
            </a:r>
            <a:endParaRPr lang="en-US" altLang="zh-CN" sz="2000">
              <a:latin typeface="宋体" pitchFamily="2" charset="-122"/>
              <a:ea typeface="Arial Unicode MS" pitchFamily="34" charset="-122"/>
            </a:endParaRPr>
          </a:p>
          <a:p>
            <a:pPr algn="just" eaLnBrk="0" hangingPunct="0">
              <a:spcBef>
                <a:spcPct val="20000"/>
              </a:spcBef>
            </a:pPr>
            <a:r>
              <a:rPr lang="en-US" altLang="zh-CN" sz="2000">
                <a:latin typeface="Arial" panose="02080604020202020204" pitchFamily="34" charset="0"/>
              </a:rPr>
              <a:t>a || 3 + 10 &amp;&amp; 2</a:t>
            </a:r>
            <a:endParaRPr lang="en-US" altLang="zh-CN" sz="2000">
              <a:latin typeface="宋体" pitchFamily="2" charset="-122"/>
              <a:ea typeface="Arial Unicode MS" pitchFamily="34" charset="-122"/>
            </a:endParaRPr>
          </a:p>
        </p:txBody>
      </p:sp>
      <p:sp>
        <p:nvSpPr>
          <p:cNvPr id="398343" name="Rectangle 7"/>
          <p:cNvSpPr/>
          <p:nvPr/>
        </p:nvSpPr>
        <p:spPr>
          <a:xfrm>
            <a:off x="3348038" y="4437063"/>
            <a:ext cx="4127500" cy="1876425"/>
          </a:xfrm>
          <a:prstGeom prst="rect">
            <a:avLst/>
          </a:prstGeom>
          <a:noFill/>
          <a:ln w="9525">
            <a:noFill/>
          </a:ln>
        </p:spPr>
        <p:txBody>
          <a:bodyPr wrap="square" lIns="92075" tIns="46038" rIns="92075" bIns="46038" anchor="t" anchorCtr="0">
            <a:spAutoFit/>
          </a:bodyPr>
          <a:p>
            <a:pPr algn="just" eaLnBrk="0" hangingPunct="0">
              <a:spcBef>
                <a:spcPct val="20000"/>
              </a:spcBef>
            </a:pPr>
            <a:r>
              <a:rPr lang="en-US" altLang="zh-CN" sz="2000">
                <a:latin typeface="Arial" panose="02080604020202020204" pitchFamily="34" charset="0"/>
              </a:rPr>
              <a:t>a || (b &amp;&amp; c)</a:t>
            </a:r>
            <a:endParaRPr lang="en-US" altLang="zh-CN" sz="2000">
              <a:latin typeface="Arial" panose="02080604020202020204" pitchFamily="34" charset="0"/>
            </a:endParaRPr>
          </a:p>
          <a:p>
            <a:pPr algn="just" eaLnBrk="0" hangingPunct="0">
              <a:spcBef>
                <a:spcPct val="20000"/>
              </a:spcBef>
            </a:pPr>
            <a:r>
              <a:rPr lang="en-US" altLang="zh-CN" sz="2000">
                <a:latin typeface="Arial" panose="02080604020202020204" pitchFamily="34" charset="0"/>
              </a:rPr>
              <a:t>(!a) &amp;&amp; b</a:t>
            </a:r>
            <a:endParaRPr lang="en-US" altLang="zh-CN" sz="2000">
              <a:latin typeface="Arial" panose="02080604020202020204" pitchFamily="34" charset="0"/>
            </a:endParaRPr>
          </a:p>
          <a:p>
            <a:pPr algn="just" eaLnBrk="0" hangingPunct="0">
              <a:spcBef>
                <a:spcPct val="20000"/>
              </a:spcBef>
            </a:pPr>
            <a:r>
              <a:rPr lang="en-US" altLang="zh-CN" sz="2000">
                <a:latin typeface="Arial" panose="02080604020202020204" pitchFamily="34" charset="0"/>
              </a:rPr>
              <a:t>(x &gt;= 3) &amp;&amp; (x &lt;= 5)</a:t>
            </a:r>
            <a:endParaRPr lang="en-US" altLang="zh-CN" sz="2000">
              <a:latin typeface="Arial" panose="02080604020202020204" pitchFamily="34" charset="0"/>
            </a:endParaRPr>
          </a:p>
          <a:p>
            <a:pPr algn="just" eaLnBrk="0" hangingPunct="0">
              <a:spcBef>
                <a:spcPct val="20000"/>
              </a:spcBef>
            </a:pPr>
            <a:r>
              <a:rPr lang="en-US" altLang="zh-CN" sz="2000">
                <a:latin typeface="Arial" panose="02080604020202020204" pitchFamily="34" charset="0"/>
              </a:rPr>
              <a:t>(!x) == 2</a:t>
            </a:r>
            <a:endParaRPr lang="en-US" altLang="zh-CN" sz="2000">
              <a:latin typeface="Arial" panose="02080604020202020204" pitchFamily="34" charset="0"/>
            </a:endParaRPr>
          </a:p>
          <a:p>
            <a:pPr algn="just" eaLnBrk="0" hangingPunct="0">
              <a:spcBef>
                <a:spcPct val="20000"/>
              </a:spcBef>
            </a:pPr>
            <a:r>
              <a:rPr lang="en-US" altLang="zh-CN" sz="2000">
                <a:latin typeface="Arial" panose="02080604020202020204" pitchFamily="34" charset="0"/>
              </a:rPr>
              <a:t>a || ((3 + 10) &amp;&amp; 2)</a:t>
            </a:r>
            <a:endParaRPr lang="en-US" altLang="zh-CN" sz="200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8341"/>
                                        </p:tgtEl>
                                        <p:attrNameLst>
                                          <p:attrName>style.visibility</p:attrName>
                                        </p:attrNameLst>
                                      </p:cBhvr>
                                      <p:to>
                                        <p:strVal val="visible"/>
                                      </p:to>
                                    </p:set>
                                    <p:anim calcmode="lin" valueType="num">
                                      <p:cBhvr additive="base">
                                        <p:cTn id="7" dur="500" fill="hold"/>
                                        <p:tgtEl>
                                          <p:spTgt spid="398341"/>
                                        </p:tgtEl>
                                        <p:attrNameLst>
                                          <p:attrName>ppt_x</p:attrName>
                                        </p:attrNameLst>
                                      </p:cBhvr>
                                      <p:tavLst>
                                        <p:tav tm="0">
                                          <p:val>
                                            <p:strVal val="0-#ppt_w/2"/>
                                          </p:val>
                                        </p:tav>
                                        <p:tav tm="100000">
                                          <p:val>
                                            <p:strVal val="#ppt_x"/>
                                          </p:val>
                                        </p:tav>
                                      </p:tavLst>
                                    </p:anim>
                                    <p:anim calcmode="lin" valueType="num">
                                      <p:cBhvr additive="base">
                                        <p:cTn id="8" dur="500" fill="hold"/>
                                        <p:tgtEl>
                                          <p:spTgt spid="3983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8343"/>
                                        </p:tgtEl>
                                        <p:attrNameLst>
                                          <p:attrName>style.visibility</p:attrName>
                                        </p:attrNameLst>
                                      </p:cBhvr>
                                      <p:to>
                                        <p:strVal val="visible"/>
                                      </p:to>
                                    </p:set>
                                    <p:anim calcmode="lin" valueType="num">
                                      <p:cBhvr additive="base">
                                        <p:cTn id="13" dur="500" fill="hold"/>
                                        <p:tgtEl>
                                          <p:spTgt spid="398343"/>
                                        </p:tgtEl>
                                        <p:attrNameLst>
                                          <p:attrName>ppt_x</p:attrName>
                                        </p:attrNameLst>
                                      </p:cBhvr>
                                      <p:tavLst>
                                        <p:tav tm="0">
                                          <p:val>
                                            <p:strVal val="0-#ppt_w/2"/>
                                          </p:val>
                                        </p:tav>
                                        <p:tav tm="100000">
                                          <p:val>
                                            <p:strVal val="#ppt_x"/>
                                          </p:val>
                                        </p:tav>
                                      </p:tavLst>
                                    </p:anim>
                                    <p:anim calcmode="lin" valueType="num">
                                      <p:cBhvr additive="base">
                                        <p:cTn id="14" dur="500" fill="hold"/>
                                        <p:tgtEl>
                                          <p:spTgt spid="3983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1" grpId="0"/>
      <p:bldP spid="39834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xfrm>
            <a:off x="5724525" y="260350"/>
            <a:ext cx="3178175" cy="8112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逻辑表达式</a:t>
            </a:r>
            <a:endParaRPr lang="zh-CN" altLang="en-US" b="0" dirty="0">
              <a:sym typeface="+mn-ea"/>
            </a:endParaRPr>
          </a:p>
        </p:txBody>
      </p:sp>
      <p:sp>
        <p:nvSpPr>
          <p:cNvPr id="424963" name="Rectangle 3"/>
          <p:cNvSpPr>
            <a:spLocks noGrp="1"/>
          </p:cNvSpPr>
          <p:nvPr>
            <p:ph idx="1"/>
          </p:nvPr>
        </p:nvSpPr>
        <p:spPr>
          <a:xfrm>
            <a:off x="288925" y="981075"/>
            <a:ext cx="8459788" cy="4752975"/>
          </a:xfrm>
        </p:spPr>
        <p:txBody>
          <a:bodyPr vert="horz" wrap="square" lIns="91440" tIns="45720" rIns="91440" bIns="45720" anchor="t" anchorCtr="0"/>
          <a:p>
            <a:pPr algn="just" eaLnBrk="1" hangingPunct="1">
              <a:buNone/>
            </a:pPr>
            <a:r>
              <a:rPr lang="zh-CN" altLang="en-US" b="0" dirty="0">
                <a:latin typeface="宋体" pitchFamily="2" charset="-122"/>
              </a:rPr>
              <a:t>用</a:t>
            </a:r>
            <a:r>
              <a:rPr lang="zh-CN" altLang="en-US" b="0" dirty="0">
                <a:solidFill>
                  <a:srgbClr val="CC0066"/>
                </a:solidFill>
              </a:rPr>
              <a:t>逻辑运算符</a:t>
            </a:r>
            <a:r>
              <a:rPr lang="zh-CN" altLang="en-US" b="0" dirty="0">
                <a:latin typeface="宋体" pitchFamily="2" charset="-122"/>
              </a:rPr>
              <a:t>将</a:t>
            </a:r>
            <a:r>
              <a:rPr lang="zh-CN" altLang="en-US" b="0" dirty="0">
                <a:solidFill>
                  <a:schemeClr val="bg2"/>
                </a:solidFill>
              </a:rPr>
              <a:t>关系表达式</a:t>
            </a:r>
            <a:r>
              <a:rPr lang="zh-CN" altLang="en-US" b="0" dirty="0">
                <a:latin typeface="宋体" pitchFamily="2" charset="-122"/>
              </a:rPr>
              <a:t>或</a:t>
            </a:r>
            <a:r>
              <a:rPr lang="zh-CN" altLang="en-US" b="0" dirty="0">
                <a:solidFill>
                  <a:schemeClr val="bg2"/>
                </a:solidFill>
              </a:rPr>
              <a:t>逻辑量</a:t>
            </a:r>
            <a:r>
              <a:rPr lang="zh-CN" altLang="en-US" b="0" dirty="0">
                <a:latin typeface="宋体" pitchFamily="2" charset="-122"/>
              </a:rPr>
              <a:t>连接起来的式子</a:t>
            </a:r>
            <a:endParaRPr lang="zh-CN" altLang="en-US" b="0" dirty="0">
              <a:latin typeface="宋体" pitchFamily="2" charset="-122"/>
            </a:endParaRPr>
          </a:p>
          <a:p>
            <a:pPr lvl="1" algn="just" eaLnBrk="1" hangingPunct="1">
              <a:buNone/>
            </a:pPr>
            <a:r>
              <a:rPr lang="zh-CN" altLang="en-US" b="0" dirty="0">
                <a:latin typeface="宋体" pitchFamily="2" charset="-122"/>
              </a:rPr>
              <a:t>哪些是逻辑表达式</a:t>
            </a:r>
            <a:r>
              <a:rPr lang="zh-CN" altLang="en-US" b="0" dirty="0"/>
              <a:t>?</a:t>
            </a:r>
            <a:endParaRPr lang="zh-CN" altLang="en-US" b="0" dirty="0"/>
          </a:p>
          <a:p>
            <a:pPr lvl="2" algn="just" eaLnBrk="1" hangingPunct="1">
              <a:buNone/>
            </a:pPr>
            <a:r>
              <a:rPr lang="en-US" altLang="zh-CN" b="0">
                <a:ea typeface="Arial Unicode MS" pitchFamily="34" charset="-122"/>
              </a:rPr>
              <a:t>a &amp;&amp; b</a:t>
            </a:r>
            <a:endParaRPr lang="en-US" altLang="zh-CN" b="0">
              <a:ea typeface="Arial Unicode MS" pitchFamily="34" charset="-122"/>
            </a:endParaRPr>
          </a:p>
          <a:p>
            <a:pPr lvl="2" algn="just" eaLnBrk="1" hangingPunct="1">
              <a:buNone/>
            </a:pPr>
            <a:r>
              <a:rPr lang="en-US" altLang="zh-CN" b="0">
                <a:ea typeface="Arial Unicode MS" pitchFamily="34" charset="-122"/>
              </a:rPr>
              <a:t>a || b &amp;&amp; c</a:t>
            </a:r>
            <a:endParaRPr lang="en-US" altLang="zh-CN" b="0">
              <a:ea typeface="Arial Unicode MS" pitchFamily="34" charset="-122"/>
            </a:endParaRPr>
          </a:p>
          <a:p>
            <a:pPr lvl="2" algn="just" eaLnBrk="1" hangingPunct="1">
              <a:buNone/>
            </a:pPr>
            <a:r>
              <a:rPr lang="en-US" altLang="zh-CN" b="0">
                <a:ea typeface="Arial Unicode MS" pitchFamily="34" charset="-122"/>
              </a:rPr>
              <a:t>!a &amp;&amp; b</a:t>
            </a:r>
            <a:endParaRPr lang="en-US" altLang="zh-CN" b="0">
              <a:ea typeface="Arial Unicode MS" pitchFamily="34" charset="-122"/>
            </a:endParaRPr>
          </a:p>
          <a:p>
            <a:pPr lvl="2" algn="just" eaLnBrk="1" hangingPunct="1">
              <a:buNone/>
            </a:pPr>
            <a:r>
              <a:rPr lang="en-US" altLang="zh-CN" b="0">
                <a:ea typeface="Arial Unicode MS" pitchFamily="34" charset="-122"/>
              </a:rPr>
              <a:t>a || 3+10 &amp;&amp; 2</a:t>
            </a:r>
            <a:endParaRPr lang="en-US" altLang="zh-CN" b="0">
              <a:ea typeface="Arial Unicode MS" pitchFamily="34" charset="-122"/>
            </a:endParaRPr>
          </a:p>
          <a:p>
            <a:pPr lvl="2" algn="just" eaLnBrk="1" hangingPunct="1">
              <a:buNone/>
            </a:pPr>
            <a:r>
              <a:rPr lang="en-US" altLang="zh-CN" b="0">
                <a:ea typeface="Arial Unicode MS" pitchFamily="34" charset="-122"/>
              </a:rPr>
              <a:t>!(x == 2)</a:t>
            </a:r>
            <a:endParaRPr lang="en-US" altLang="zh-CN" b="0">
              <a:ea typeface="Arial Unicode MS" pitchFamily="34" charset="-122"/>
            </a:endParaRPr>
          </a:p>
          <a:p>
            <a:pPr lvl="2" algn="just" eaLnBrk="1" hangingPunct="1">
              <a:buNone/>
            </a:pPr>
            <a:r>
              <a:rPr lang="en-US" altLang="zh-CN" b="0">
                <a:ea typeface="Arial Unicode MS" pitchFamily="34" charset="-122"/>
              </a:rPr>
              <a:t>!x == 2</a:t>
            </a:r>
            <a:endParaRPr lang="en-US" altLang="zh-CN" b="0">
              <a:ea typeface="Arial Unicode MS" pitchFamily="34" charset="-122"/>
            </a:endParaRPr>
          </a:p>
          <a:p>
            <a:pPr lvl="2" algn="just" eaLnBrk="1" hangingPunct="1">
              <a:buNone/>
            </a:pPr>
            <a:r>
              <a:rPr lang="en-US" altLang="zh-CN" b="0" err="1">
                <a:ea typeface="Arial Unicode MS" pitchFamily="34" charset="-122"/>
              </a:rPr>
              <a:t>ch</a:t>
            </a:r>
            <a:r>
              <a:rPr lang="en-US" altLang="zh-CN" b="0">
                <a:ea typeface="Arial Unicode MS" pitchFamily="34" charset="-122"/>
              </a:rPr>
              <a:t> || b</a:t>
            </a:r>
            <a:endParaRPr lang="en-US" altLang="zh-CN" b="0">
              <a:ea typeface="Arial Unicode MS" pitchFamily="34" charset="-122"/>
            </a:endParaRPr>
          </a:p>
        </p:txBody>
      </p:sp>
      <p:sp>
        <p:nvSpPr>
          <p:cNvPr id="424964" name="Rectangle 4"/>
          <p:cNvSpPr/>
          <p:nvPr/>
        </p:nvSpPr>
        <p:spPr>
          <a:xfrm>
            <a:off x="4643438" y="1989138"/>
            <a:ext cx="3429000" cy="1568450"/>
          </a:xfrm>
          <a:prstGeom prst="rect">
            <a:avLst/>
          </a:prstGeom>
          <a:noFill/>
          <a:ln w="9525">
            <a:noFill/>
          </a:ln>
        </p:spPr>
        <p:txBody>
          <a:bodyPr lIns="92075" tIns="46038" rIns="92075" bIns="46038" anchor="t" anchorCtr="0">
            <a:spAutoFit/>
          </a:bodyPr>
          <a:p>
            <a:pPr algn="just" eaLnBrk="0" hangingPunct="0"/>
            <a:r>
              <a:rPr lang="en-US" altLang="zh-CN" sz="2400">
                <a:latin typeface="Arial" panose="02080604020202020204" pitchFamily="34" charset="0"/>
                <a:ea typeface="Arial Unicode MS" pitchFamily="34" charset="-122"/>
              </a:rPr>
              <a:t>char </a:t>
            </a:r>
            <a:r>
              <a:rPr lang="en-US" altLang="zh-CN" sz="2400" err="1">
                <a:latin typeface="Arial" panose="02080604020202020204" pitchFamily="34" charset="0"/>
                <a:ea typeface="Arial Unicode MS" pitchFamily="34" charset="-122"/>
              </a:rPr>
              <a:t>ch</a:t>
            </a:r>
            <a:r>
              <a:rPr lang="en-US" altLang="zh-CN" sz="2400">
                <a:latin typeface="Arial" panose="02080604020202020204" pitchFamily="34" charset="0"/>
                <a:ea typeface="Arial Unicode MS" pitchFamily="34" charset="-122"/>
              </a:rPr>
              <a:t> = 'w';</a:t>
            </a:r>
            <a:endParaRPr lang="en-US" altLang="zh-CN" sz="2400">
              <a:latin typeface="Arial" panose="02080604020202020204" pitchFamily="34" charset="0"/>
              <a:ea typeface="Arial Unicode MS" pitchFamily="34" charset="-122"/>
            </a:endParaRPr>
          </a:p>
          <a:p>
            <a:pPr algn="just" eaLnBrk="0" hangingPunct="0"/>
            <a:r>
              <a:rPr lang="en-US" altLang="zh-CN" sz="2400" err="1">
                <a:latin typeface="Arial" panose="02080604020202020204" pitchFamily="34" charset="0"/>
                <a:ea typeface="Arial Unicode MS" pitchFamily="34" charset="-122"/>
              </a:rPr>
              <a:t>int</a:t>
            </a:r>
            <a:r>
              <a:rPr lang="en-US" altLang="zh-CN" sz="2400">
                <a:latin typeface="Arial" panose="02080604020202020204" pitchFamily="34" charset="0"/>
                <a:ea typeface="Arial Unicode MS" pitchFamily="34" charset="-122"/>
              </a:rPr>
              <a:t> a = 2, b = 0, c = 0;</a:t>
            </a:r>
            <a:endParaRPr lang="en-US" altLang="zh-CN" sz="2400">
              <a:latin typeface="Arial" panose="02080604020202020204" pitchFamily="34" charset="0"/>
              <a:ea typeface="Arial Unicode MS" pitchFamily="34" charset="-122"/>
            </a:endParaRPr>
          </a:p>
          <a:p>
            <a:pPr algn="just" eaLnBrk="0" hangingPunct="0"/>
            <a:r>
              <a:rPr lang="en-US" altLang="zh-CN" sz="2400">
                <a:latin typeface="Arial" panose="02080604020202020204" pitchFamily="34" charset="0"/>
                <a:ea typeface="Arial Unicode MS" pitchFamily="34" charset="-122"/>
              </a:rPr>
              <a:t>float x = 3.0; </a:t>
            </a:r>
            <a:endParaRPr lang="en-US" altLang="zh-CN" sz="2400">
              <a:latin typeface="Arial" panose="02080604020202020204" pitchFamily="34" charset="0"/>
              <a:ea typeface="Arial Unicode MS" pitchFamily="34" charset="-122"/>
            </a:endParaRPr>
          </a:p>
        </p:txBody>
      </p:sp>
      <p:sp>
        <p:nvSpPr>
          <p:cNvPr id="424965" name="Rectangle 5"/>
          <p:cNvSpPr/>
          <p:nvPr/>
        </p:nvSpPr>
        <p:spPr>
          <a:xfrm>
            <a:off x="3892550" y="2493963"/>
            <a:ext cx="533400" cy="3119120"/>
          </a:xfrm>
          <a:prstGeom prst="rect">
            <a:avLst/>
          </a:prstGeom>
          <a:noFill/>
          <a:ln w="9525">
            <a:noFill/>
          </a:ln>
        </p:spPr>
        <p:txBody>
          <a:bodyPr lIns="92075" tIns="46038" rIns="92075" bIns="46038" anchor="t" anchorCtr="0">
            <a:spAutoFit/>
          </a:bodyPr>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0</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1</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0</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1</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1</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0</a:t>
            </a:r>
            <a:endParaRPr lang="en-US" altLang="zh-CN" sz="2400">
              <a:latin typeface="Arial" panose="02080604020202020204" pitchFamily="34" charset="0"/>
              <a:ea typeface="Arial Unicode MS" pitchFamily="34" charset="-122"/>
            </a:endParaRPr>
          </a:p>
          <a:p>
            <a:pPr algn="just">
              <a:spcBef>
                <a:spcPct val="20000"/>
              </a:spcBef>
              <a:buClr>
                <a:srgbClr val="33CCCC"/>
              </a:buClr>
              <a:buSzPct val="75000"/>
              <a:buFont typeface="Wingdings" panose="05000000000000000000" pitchFamily="2" charset="2"/>
            </a:pPr>
            <a:r>
              <a:rPr lang="en-US" altLang="zh-CN" sz="2400">
                <a:latin typeface="Arial" panose="02080604020202020204" pitchFamily="34" charset="0"/>
                <a:ea typeface="Arial Unicode MS" pitchFamily="34" charset="-122"/>
              </a:rPr>
              <a:t>1</a:t>
            </a:r>
            <a:endParaRPr lang="en-US" altLang="zh-CN" sz="2400">
              <a:latin typeface="Arial" panose="02080604020202020204" pitchFamily="34" charset="0"/>
              <a:ea typeface="Arial Unicode MS" pitchFamily="34" charset="-122"/>
            </a:endParaRPr>
          </a:p>
        </p:txBody>
      </p:sp>
      <p:sp>
        <p:nvSpPr>
          <p:cNvPr id="424966" name="Rectangle 6"/>
          <p:cNvSpPr/>
          <p:nvPr/>
        </p:nvSpPr>
        <p:spPr>
          <a:xfrm>
            <a:off x="4356100" y="3590925"/>
            <a:ext cx="4464050" cy="2528570"/>
          </a:xfrm>
          <a:prstGeom prst="rect">
            <a:avLst/>
          </a:prstGeom>
          <a:noFill/>
          <a:ln w="9525">
            <a:noFill/>
          </a:ln>
        </p:spPr>
        <p:txBody>
          <a:bodyPr lIns="92075" tIns="46038" rIns="92075" bIns="46038" anchor="t" anchorCtr="0">
            <a:spAutoFit/>
          </a:bodyPr>
          <a:p>
            <a:pPr algn="just">
              <a:spcBef>
                <a:spcPct val="20000"/>
              </a:spcBef>
              <a:buClr>
                <a:srgbClr val="33CCCC"/>
              </a:buClr>
              <a:buSzPct val="80000"/>
              <a:buFont typeface="Wingdings" panose="05000000000000000000" pitchFamily="2" charset="2"/>
            </a:pPr>
            <a:r>
              <a:rPr lang="en-US" altLang="zh-CN" sz="2400">
                <a:solidFill>
                  <a:schemeClr val="bg2"/>
                </a:solidFill>
                <a:latin typeface="Arial" panose="02080604020202020204" pitchFamily="34" charset="0"/>
              </a:rPr>
              <a:t>exp1 &amp;&amp; exp2</a:t>
            </a:r>
            <a:endParaRPr lang="zh-CN" altLang="en-US" sz="2400" dirty="0">
              <a:solidFill>
                <a:schemeClr val="bg2"/>
              </a:solidFill>
              <a:latin typeface="Arial" panose="02080604020202020204" pitchFamily="34" charset="0"/>
            </a:endParaRPr>
          </a:p>
          <a:p>
            <a:pPr lvl="1" indent="0" algn="just" eaLnBrk="1" hangingPunct="1">
              <a:spcBef>
                <a:spcPct val="20000"/>
              </a:spcBef>
              <a:buClr>
                <a:srgbClr val="33CCCC"/>
              </a:buClr>
              <a:buSzPct val="80000"/>
              <a:buFont typeface="Wingdings" panose="05000000000000000000" pitchFamily="2" charset="2"/>
            </a:pPr>
            <a:r>
              <a:rPr lang="zh-CN" altLang="en-US" sz="2400" dirty="0">
                <a:latin typeface="Arial" panose="02080604020202020204" pitchFamily="34" charset="0"/>
              </a:rPr>
              <a:t>先算</a:t>
            </a:r>
            <a:r>
              <a:rPr lang="en-US" altLang="zh-CN" sz="2400">
                <a:latin typeface="Arial" panose="02080604020202020204" pitchFamily="34" charset="0"/>
              </a:rPr>
              <a:t>exp1，</a:t>
            </a:r>
            <a:r>
              <a:rPr lang="zh-CN" altLang="en-US" sz="2400" dirty="0">
                <a:latin typeface="Arial" panose="02080604020202020204" pitchFamily="34" charset="0"/>
              </a:rPr>
              <a:t>若其值为0，</a:t>
            </a:r>
            <a:r>
              <a:rPr lang="en-US" altLang="zh-CN" sz="2400">
                <a:latin typeface="Arial" panose="02080604020202020204" pitchFamily="34" charset="0"/>
              </a:rPr>
              <a:t>STOP</a:t>
            </a:r>
            <a:endParaRPr lang="en-US" altLang="zh-CN" sz="2400">
              <a:latin typeface="Arial" panose="02080604020202020204" pitchFamily="34" charset="0"/>
            </a:endParaRPr>
          </a:p>
          <a:p>
            <a:pPr algn="just">
              <a:spcBef>
                <a:spcPct val="20000"/>
              </a:spcBef>
              <a:buClr>
                <a:srgbClr val="33CCCC"/>
              </a:buClr>
              <a:buSzPct val="80000"/>
              <a:buFont typeface="Wingdings" panose="05000000000000000000" pitchFamily="2" charset="2"/>
            </a:pPr>
            <a:r>
              <a:rPr lang="en-US" altLang="zh-CN" sz="2400">
                <a:solidFill>
                  <a:schemeClr val="bg2"/>
                </a:solidFill>
                <a:latin typeface="Arial" panose="02080604020202020204" pitchFamily="34" charset="0"/>
              </a:rPr>
              <a:t>exp1 || exp2</a:t>
            </a:r>
            <a:endParaRPr lang="zh-CN" altLang="en-US" sz="2400" dirty="0">
              <a:solidFill>
                <a:schemeClr val="bg2"/>
              </a:solidFill>
              <a:latin typeface="Arial" panose="02080604020202020204" pitchFamily="34" charset="0"/>
            </a:endParaRPr>
          </a:p>
          <a:p>
            <a:pPr lvl="1" indent="0" algn="just" eaLnBrk="1" hangingPunct="1">
              <a:spcBef>
                <a:spcPct val="20000"/>
              </a:spcBef>
              <a:buClr>
                <a:srgbClr val="33CCCC"/>
              </a:buClr>
              <a:buSzPct val="80000"/>
              <a:buFont typeface="Wingdings" panose="05000000000000000000" pitchFamily="2" charset="2"/>
            </a:pPr>
            <a:r>
              <a:rPr lang="zh-CN" altLang="en-US" sz="2400" dirty="0">
                <a:latin typeface="Arial" panose="02080604020202020204" pitchFamily="34" charset="0"/>
              </a:rPr>
              <a:t>先算</a:t>
            </a:r>
            <a:r>
              <a:rPr lang="en-US" altLang="zh-CN" sz="2400">
                <a:latin typeface="Arial" panose="02080604020202020204" pitchFamily="34" charset="0"/>
              </a:rPr>
              <a:t>exp1，</a:t>
            </a:r>
            <a:r>
              <a:rPr lang="zh-CN" altLang="en-US" sz="2400" dirty="0">
                <a:latin typeface="Arial" panose="02080604020202020204" pitchFamily="34" charset="0"/>
              </a:rPr>
              <a:t>若其值为1，</a:t>
            </a:r>
            <a:r>
              <a:rPr lang="en-US" altLang="zh-CN" sz="2400">
                <a:latin typeface="Arial" panose="02080604020202020204" pitchFamily="34" charset="0"/>
              </a:rPr>
              <a:t>STOP</a:t>
            </a:r>
            <a:endParaRPr lang="zh-CN" altLang="en-US" sz="2400" dirty="0">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4963">
                                            <p:txEl>
                                              <p:charRg st="0" end="24"/>
                                            </p:txEl>
                                          </p:spTgt>
                                        </p:tgtEl>
                                        <p:attrNameLst>
                                          <p:attrName>style.visibility</p:attrName>
                                        </p:attrNameLst>
                                      </p:cBhvr>
                                      <p:to>
                                        <p:strVal val="visible"/>
                                      </p:to>
                                    </p:set>
                                    <p:anim calcmode="lin" valueType="num">
                                      <p:cBhvr additive="base">
                                        <p:cTn id="7" dur="500" fill="hold"/>
                                        <p:tgtEl>
                                          <p:spTgt spid="424963">
                                            <p:txEl>
                                              <p:charRg st="0" end="2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24963">
                                            <p:txEl>
                                              <p:charRg st="0" end="24"/>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24963">
                                            <p:txEl>
                                              <p:charRg st="24" end="34"/>
                                            </p:txEl>
                                          </p:spTgt>
                                        </p:tgtEl>
                                        <p:attrNameLst>
                                          <p:attrName>style.visibility</p:attrName>
                                        </p:attrNameLst>
                                      </p:cBhvr>
                                      <p:to>
                                        <p:strVal val="visible"/>
                                      </p:to>
                                    </p:set>
                                    <p:anim calcmode="lin" valueType="num">
                                      <p:cBhvr additive="base">
                                        <p:cTn id="13" dur="500" fill="hold"/>
                                        <p:tgtEl>
                                          <p:spTgt spid="424963">
                                            <p:txEl>
                                              <p:charRg st="24" end="3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24963">
                                            <p:txEl>
                                              <p:charRg st="24" end="34"/>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424963">
                                            <p:txEl>
                                              <p:charRg st="34" end="41"/>
                                            </p:txEl>
                                          </p:spTgt>
                                        </p:tgtEl>
                                        <p:attrNameLst>
                                          <p:attrName>style.visibility</p:attrName>
                                        </p:attrNameLst>
                                      </p:cBhvr>
                                      <p:to>
                                        <p:strVal val="visible"/>
                                      </p:to>
                                    </p:set>
                                    <p:anim calcmode="lin" valueType="num">
                                      <p:cBhvr additive="base">
                                        <p:cTn id="17" dur="500" fill="hold"/>
                                        <p:tgtEl>
                                          <p:spTgt spid="424963">
                                            <p:txEl>
                                              <p:charRg st="34" end="4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24963">
                                            <p:txEl>
                                              <p:charRg st="34" end="41"/>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24963">
                                            <p:txEl>
                                              <p:charRg st="41" end="53"/>
                                            </p:txEl>
                                          </p:spTgt>
                                        </p:tgtEl>
                                        <p:attrNameLst>
                                          <p:attrName>style.visibility</p:attrName>
                                        </p:attrNameLst>
                                      </p:cBhvr>
                                      <p:to>
                                        <p:strVal val="visible"/>
                                      </p:to>
                                    </p:set>
                                    <p:anim calcmode="lin" valueType="num">
                                      <p:cBhvr additive="base">
                                        <p:cTn id="21" dur="500" fill="hold"/>
                                        <p:tgtEl>
                                          <p:spTgt spid="424963">
                                            <p:txEl>
                                              <p:charRg st="41" end="5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24963">
                                            <p:txEl>
                                              <p:charRg st="41" end="5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424963">
                                            <p:txEl>
                                              <p:charRg st="53" end="61"/>
                                            </p:txEl>
                                          </p:spTgt>
                                        </p:tgtEl>
                                        <p:attrNameLst>
                                          <p:attrName>style.visibility</p:attrName>
                                        </p:attrNameLst>
                                      </p:cBhvr>
                                      <p:to>
                                        <p:strVal val="visible"/>
                                      </p:to>
                                    </p:set>
                                    <p:anim calcmode="lin" valueType="num">
                                      <p:cBhvr additive="base">
                                        <p:cTn id="25" dur="500" fill="hold"/>
                                        <p:tgtEl>
                                          <p:spTgt spid="424963">
                                            <p:txEl>
                                              <p:charRg st="53" end="6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24963">
                                            <p:txEl>
                                              <p:charRg st="53" end="61"/>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424963">
                                            <p:txEl>
                                              <p:charRg st="61" end="76"/>
                                            </p:txEl>
                                          </p:spTgt>
                                        </p:tgtEl>
                                        <p:attrNameLst>
                                          <p:attrName>style.visibility</p:attrName>
                                        </p:attrNameLst>
                                      </p:cBhvr>
                                      <p:to>
                                        <p:strVal val="visible"/>
                                      </p:to>
                                    </p:set>
                                    <p:anim calcmode="lin" valueType="num">
                                      <p:cBhvr additive="base">
                                        <p:cTn id="29" dur="500" fill="hold"/>
                                        <p:tgtEl>
                                          <p:spTgt spid="424963">
                                            <p:txEl>
                                              <p:charRg st="61" end="7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24963">
                                            <p:txEl>
                                              <p:charRg st="61" end="76"/>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424963">
                                            <p:txEl>
                                              <p:charRg st="76" end="86"/>
                                            </p:txEl>
                                          </p:spTgt>
                                        </p:tgtEl>
                                        <p:attrNameLst>
                                          <p:attrName>style.visibility</p:attrName>
                                        </p:attrNameLst>
                                      </p:cBhvr>
                                      <p:to>
                                        <p:strVal val="visible"/>
                                      </p:to>
                                    </p:set>
                                    <p:anim calcmode="lin" valueType="num">
                                      <p:cBhvr additive="base">
                                        <p:cTn id="33" dur="500" fill="hold"/>
                                        <p:tgtEl>
                                          <p:spTgt spid="424963">
                                            <p:txEl>
                                              <p:charRg st="76" end="8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424963">
                                            <p:txEl>
                                              <p:charRg st="76" end="86"/>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424963">
                                            <p:txEl>
                                              <p:charRg st="86" end="94"/>
                                            </p:txEl>
                                          </p:spTgt>
                                        </p:tgtEl>
                                        <p:attrNameLst>
                                          <p:attrName>style.visibility</p:attrName>
                                        </p:attrNameLst>
                                      </p:cBhvr>
                                      <p:to>
                                        <p:strVal val="visible"/>
                                      </p:to>
                                    </p:set>
                                    <p:anim calcmode="lin" valueType="num">
                                      <p:cBhvr additive="base">
                                        <p:cTn id="37" dur="500" fill="hold"/>
                                        <p:tgtEl>
                                          <p:spTgt spid="424963">
                                            <p:txEl>
                                              <p:charRg st="86" end="9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24963">
                                            <p:txEl>
                                              <p:charRg st="86" end="94"/>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424963">
                                            <p:txEl>
                                              <p:charRg st="94" end="102"/>
                                            </p:txEl>
                                          </p:spTgt>
                                        </p:tgtEl>
                                        <p:attrNameLst>
                                          <p:attrName>style.visibility</p:attrName>
                                        </p:attrNameLst>
                                      </p:cBhvr>
                                      <p:to>
                                        <p:strVal val="visible"/>
                                      </p:to>
                                    </p:set>
                                    <p:anim calcmode="lin" valueType="num">
                                      <p:cBhvr additive="base">
                                        <p:cTn id="41" dur="500" fill="hold"/>
                                        <p:tgtEl>
                                          <p:spTgt spid="424963">
                                            <p:txEl>
                                              <p:charRg st="94" end="102"/>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424963">
                                            <p:txEl>
                                              <p:charRg st="94" end="102"/>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424964"/>
                                        </p:tgtEl>
                                        <p:attrNameLst>
                                          <p:attrName>style.visibility</p:attrName>
                                        </p:attrNameLst>
                                      </p:cBhvr>
                                      <p:to>
                                        <p:strVal val="visible"/>
                                      </p:to>
                                    </p:set>
                                    <p:anim calcmode="lin" valueType="num">
                                      <p:cBhvr additive="base">
                                        <p:cTn id="47" dur="500" fill="hold"/>
                                        <p:tgtEl>
                                          <p:spTgt spid="424964"/>
                                        </p:tgtEl>
                                        <p:attrNameLst>
                                          <p:attrName>ppt_x</p:attrName>
                                        </p:attrNameLst>
                                      </p:cBhvr>
                                      <p:tavLst>
                                        <p:tav tm="0">
                                          <p:val>
                                            <p:strVal val="0-#ppt_w/2"/>
                                          </p:val>
                                        </p:tav>
                                        <p:tav tm="100000">
                                          <p:val>
                                            <p:strVal val="#ppt_x"/>
                                          </p:val>
                                        </p:tav>
                                      </p:tavLst>
                                    </p:anim>
                                    <p:anim calcmode="lin" valueType="num">
                                      <p:cBhvr additive="base">
                                        <p:cTn id="48" dur="500" fill="hold"/>
                                        <p:tgtEl>
                                          <p:spTgt spid="424964"/>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424965"/>
                                        </p:tgtEl>
                                        <p:attrNameLst>
                                          <p:attrName>style.visibility</p:attrName>
                                        </p:attrNameLst>
                                      </p:cBhvr>
                                      <p:to>
                                        <p:strVal val="visible"/>
                                      </p:to>
                                    </p:set>
                                    <p:anim calcmode="lin" valueType="num">
                                      <p:cBhvr additive="base">
                                        <p:cTn id="53" dur="500" fill="hold"/>
                                        <p:tgtEl>
                                          <p:spTgt spid="424965"/>
                                        </p:tgtEl>
                                        <p:attrNameLst>
                                          <p:attrName>ppt_x</p:attrName>
                                        </p:attrNameLst>
                                      </p:cBhvr>
                                      <p:tavLst>
                                        <p:tav tm="0">
                                          <p:val>
                                            <p:strVal val="0-#ppt_w/2"/>
                                          </p:val>
                                        </p:tav>
                                        <p:tav tm="100000">
                                          <p:val>
                                            <p:strVal val="#ppt_x"/>
                                          </p:val>
                                        </p:tav>
                                      </p:tavLst>
                                    </p:anim>
                                    <p:anim calcmode="lin" valueType="num">
                                      <p:cBhvr additive="base">
                                        <p:cTn id="54" dur="500" fill="hold"/>
                                        <p:tgtEl>
                                          <p:spTgt spid="424965"/>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424966"/>
                                        </p:tgtEl>
                                        <p:attrNameLst>
                                          <p:attrName>style.visibility</p:attrName>
                                        </p:attrNameLst>
                                      </p:cBhvr>
                                      <p:to>
                                        <p:strVal val="visible"/>
                                      </p:to>
                                    </p:set>
                                    <p:anim calcmode="lin" valueType="num">
                                      <p:cBhvr additive="base">
                                        <p:cTn id="59" dur="500" fill="hold"/>
                                        <p:tgtEl>
                                          <p:spTgt spid="424966"/>
                                        </p:tgtEl>
                                        <p:attrNameLst>
                                          <p:attrName>ppt_x</p:attrName>
                                        </p:attrNameLst>
                                      </p:cBhvr>
                                      <p:tavLst>
                                        <p:tav tm="0">
                                          <p:val>
                                            <p:strVal val="0-#ppt_w/2"/>
                                          </p:val>
                                        </p:tav>
                                        <p:tav tm="100000">
                                          <p:val>
                                            <p:strVal val="#ppt_x"/>
                                          </p:val>
                                        </p:tav>
                                      </p:tavLst>
                                    </p:anim>
                                    <p:anim calcmode="lin" valueType="num">
                                      <p:cBhvr additive="base">
                                        <p:cTn id="60" dur="500" fill="hold"/>
                                        <p:tgtEl>
                                          <p:spTgt spid="4249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3" grpId="0" bldLvl="2" build="p"/>
      <p:bldP spid="424964" grpId="0"/>
      <p:bldP spid="424965" grpId="0"/>
      <p:bldP spid="42496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457200" y="457200"/>
            <a:ext cx="8218488" cy="811213"/>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例6-7写出满足要求的逻辑表达式</a:t>
            </a:r>
            <a:endParaRPr lang="zh-CN" altLang="en-US" b="0" dirty="0">
              <a:sym typeface="+mn-ea"/>
            </a:endParaRPr>
          </a:p>
        </p:txBody>
      </p:sp>
      <p:sp>
        <p:nvSpPr>
          <p:cNvPr id="399363" name="Rectangle 3"/>
          <p:cNvSpPr>
            <a:spLocks noGrp="1"/>
          </p:cNvSpPr>
          <p:nvPr>
            <p:ph idx="1"/>
          </p:nvPr>
        </p:nvSpPr>
        <p:spPr>
          <a:xfrm>
            <a:off x="468313" y="1435100"/>
            <a:ext cx="8066087" cy="4873625"/>
          </a:xfrm>
        </p:spPr>
        <p:txBody>
          <a:bodyPr vert="horz" wrap="square" lIns="91440" tIns="45720" rIns="91440" bIns="45720" anchor="t" anchorCtr="0"/>
          <a:p>
            <a:pPr algn="just" eaLnBrk="1" hangingPunct="1">
              <a:lnSpc>
                <a:spcPct val="94000"/>
              </a:lnSpc>
            </a:pPr>
            <a:r>
              <a:rPr lang="en-US" altLang="zh-CN" sz="2800" b="0"/>
              <a:t>x </a:t>
            </a:r>
            <a:r>
              <a:rPr lang="zh-CN" altLang="en-US" sz="2800" b="0" dirty="0"/>
              <a:t>为零</a:t>
            </a:r>
            <a:endParaRPr lang="zh-CN" altLang="en-US" sz="2800" b="0" dirty="0"/>
          </a:p>
          <a:p>
            <a:pPr lvl="1" algn="just" eaLnBrk="1" hangingPunct="1">
              <a:lnSpc>
                <a:spcPct val="94000"/>
              </a:lnSpc>
            </a:pPr>
            <a:r>
              <a:rPr lang="zh-CN" altLang="en-US" sz="2400" b="0" dirty="0"/>
              <a:t>关系表达式   </a:t>
            </a:r>
            <a:r>
              <a:rPr lang="en-US" altLang="zh-CN" sz="2400" b="0"/>
              <a:t>x == 0  </a:t>
            </a:r>
            <a:endParaRPr lang="en-US" altLang="zh-CN" sz="2400" b="0"/>
          </a:p>
          <a:p>
            <a:pPr lvl="1" algn="just" eaLnBrk="1" hangingPunct="1">
              <a:lnSpc>
                <a:spcPct val="94000"/>
              </a:lnSpc>
              <a:buNone/>
            </a:pPr>
            <a:endParaRPr lang="zh-CN" altLang="en-US" sz="2400" b="0" dirty="0"/>
          </a:p>
          <a:p>
            <a:pPr lvl="1" algn="just" eaLnBrk="1" hangingPunct="1">
              <a:lnSpc>
                <a:spcPct val="94000"/>
              </a:lnSpc>
            </a:pPr>
            <a:r>
              <a:rPr lang="zh-CN" altLang="en-US" sz="2400" b="0" dirty="0"/>
              <a:t>逻辑表达式   !</a:t>
            </a:r>
            <a:r>
              <a:rPr lang="en-US" altLang="zh-CN" sz="2400" b="0"/>
              <a:t>x</a:t>
            </a:r>
            <a:endParaRPr lang="en-US" altLang="zh-CN" sz="2400" b="0"/>
          </a:p>
          <a:p>
            <a:pPr algn="just" eaLnBrk="1" hangingPunct="1">
              <a:lnSpc>
                <a:spcPct val="94000"/>
              </a:lnSpc>
            </a:pPr>
            <a:r>
              <a:rPr lang="en-US" altLang="zh-CN" sz="2800" b="0"/>
              <a:t>x </a:t>
            </a:r>
            <a:r>
              <a:rPr lang="zh-CN" altLang="en-US" sz="2800" b="0" dirty="0"/>
              <a:t>不为零</a:t>
            </a:r>
            <a:endParaRPr lang="zh-CN" altLang="en-US" sz="2800" b="0" dirty="0"/>
          </a:p>
          <a:p>
            <a:pPr lvl="1" algn="just" eaLnBrk="1" hangingPunct="1">
              <a:lnSpc>
                <a:spcPct val="94000"/>
              </a:lnSpc>
            </a:pPr>
            <a:r>
              <a:rPr lang="en-US" altLang="zh-CN" sz="2400" b="0"/>
              <a:t>x != 0</a:t>
            </a:r>
            <a:endParaRPr lang="en-US" altLang="zh-CN" sz="2400" b="0"/>
          </a:p>
          <a:p>
            <a:pPr lvl="1" algn="just" eaLnBrk="1" hangingPunct="1">
              <a:lnSpc>
                <a:spcPct val="94000"/>
              </a:lnSpc>
            </a:pPr>
            <a:r>
              <a:rPr lang="en-US" altLang="zh-CN" sz="2400" b="0"/>
              <a:t>x </a:t>
            </a:r>
            <a:endParaRPr lang="en-US" altLang="zh-CN" sz="2400" b="0"/>
          </a:p>
          <a:p>
            <a:pPr algn="just" eaLnBrk="1" hangingPunct="1">
              <a:lnSpc>
                <a:spcPct val="94000"/>
              </a:lnSpc>
            </a:pPr>
            <a:r>
              <a:rPr lang="en-US" altLang="zh-CN" sz="2800" b="0"/>
              <a:t>x </a:t>
            </a:r>
            <a:r>
              <a:rPr lang="zh-CN" altLang="en-US" sz="2800" b="0" dirty="0"/>
              <a:t>和 </a:t>
            </a:r>
            <a:r>
              <a:rPr lang="en-US" altLang="zh-CN" sz="2800" b="0"/>
              <a:t>y </a:t>
            </a:r>
            <a:r>
              <a:rPr lang="zh-CN" altLang="en-US" sz="2800" b="0" dirty="0"/>
              <a:t>不同时为零</a:t>
            </a:r>
            <a:endParaRPr lang="zh-CN" altLang="en-US" sz="2800" b="0" dirty="0"/>
          </a:p>
          <a:p>
            <a:pPr lvl="1" algn="just" eaLnBrk="1" hangingPunct="1">
              <a:lnSpc>
                <a:spcPct val="94000"/>
              </a:lnSpc>
            </a:pPr>
            <a:r>
              <a:rPr lang="en-US" altLang="zh-CN" sz="2400" b="0"/>
              <a:t>!(x == 0 &amp;&amp; y==0) </a:t>
            </a:r>
            <a:endParaRPr lang="en-US" altLang="zh-CN" sz="2400" b="0"/>
          </a:p>
          <a:p>
            <a:pPr lvl="1" algn="just" eaLnBrk="1" hangingPunct="1">
              <a:lnSpc>
                <a:spcPct val="94000"/>
              </a:lnSpc>
            </a:pPr>
            <a:r>
              <a:rPr lang="en-US" altLang="zh-CN" sz="2400" b="0"/>
              <a:t>x != 0 || y!=0</a:t>
            </a:r>
            <a:endParaRPr lang="en-US" altLang="zh-CN" sz="2400" b="0"/>
          </a:p>
          <a:p>
            <a:pPr lvl="1" algn="just" eaLnBrk="1" hangingPunct="1">
              <a:lnSpc>
                <a:spcPct val="94000"/>
              </a:lnSpc>
            </a:pPr>
            <a:r>
              <a:rPr lang="en-US" altLang="zh-CN" sz="2400" b="0"/>
              <a:t>x || y </a:t>
            </a:r>
            <a:endParaRPr lang="zh-CN" altLang="zh-CN" sz="2400" b="0" dirty="0"/>
          </a:p>
        </p:txBody>
      </p:sp>
      <p:sp>
        <p:nvSpPr>
          <p:cNvPr id="399364" name="Text Box 4"/>
          <p:cNvSpPr txBox="1"/>
          <p:nvPr/>
        </p:nvSpPr>
        <p:spPr>
          <a:xfrm>
            <a:off x="5018088" y="2560479"/>
            <a:ext cx="3516312" cy="1014730"/>
          </a:xfrm>
          <a:prstGeom prst="rect">
            <a:avLst/>
          </a:prstGeom>
          <a:noFill/>
          <a:ln w="9525">
            <a:noFill/>
          </a:ln>
        </p:spPr>
        <p:txBody>
          <a:bodyPr wrap="square" anchor="ctr" anchorCtr="0">
            <a:spAutoFit/>
          </a:bodyPr>
          <a:p>
            <a:pPr>
              <a:spcBef>
                <a:spcPct val="50000"/>
              </a:spcBef>
            </a:pPr>
            <a:r>
              <a:rPr lang="en-US" altLang="zh-CN" sz="2400">
                <a:latin typeface="Arial" panose="02080604020202020204" pitchFamily="34" charset="0"/>
              </a:rPr>
              <a:t>x</a:t>
            </a:r>
            <a:r>
              <a:rPr lang="zh-CN" altLang="en-US" sz="2400" dirty="0">
                <a:latin typeface="Arial" panose="02080604020202020204" pitchFamily="34" charset="0"/>
              </a:rPr>
              <a:t>取0       !</a:t>
            </a:r>
            <a:r>
              <a:rPr lang="en-US" altLang="zh-CN" sz="2400">
                <a:latin typeface="Arial" panose="02080604020202020204" pitchFamily="34" charset="0"/>
              </a:rPr>
              <a:t>x   </a:t>
            </a:r>
            <a:r>
              <a:rPr lang="zh-CN" altLang="en-US" sz="2400" dirty="0">
                <a:latin typeface="Arial" panose="02080604020202020204" pitchFamily="34" charset="0"/>
              </a:rPr>
              <a:t>真</a:t>
            </a:r>
            <a:endParaRPr lang="zh-CN" altLang="en-US" sz="2400" dirty="0">
              <a:latin typeface="Arial" panose="02080604020202020204" pitchFamily="34" charset="0"/>
            </a:endParaRPr>
          </a:p>
          <a:p>
            <a:pPr>
              <a:spcBef>
                <a:spcPct val="50000"/>
              </a:spcBef>
            </a:pPr>
            <a:r>
              <a:rPr lang="en-US" altLang="zh-CN" sz="2400">
                <a:latin typeface="Arial" panose="02080604020202020204" pitchFamily="34" charset="0"/>
              </a:rPr>
              <a:t>x</a:t>
            </a:r>
            <a:r>
              <a:rPr lang="zh-CN" altLang="en-US" sz="2400" dirty="0">
                <a:latin typeface="Arial" panose="02080604020202020204" pitchFamily="34" charset="0"/>
              </a:rPr>
              <a:t>取非0   !</a:t>
            </a:r>
            <a:r>
              <a:rPr lang="en-US" altLang="zh-CN" sz="2400">
                <a:latin typeface="Arial" panose="02080604020202020204" pitchFamily="34" charset="0"/>
              </a:rPr>
              <a:t>x   </a:t>
            </a:r>
            <a:r>
              <a:rPr lang="zh-CN" altLang="en-US" sz="2400" dirty="0">
                <a:latin typeface="Arial" panose="02080604020202020204" pitchFamily="34" charset="0"/>
              </a:rPr>
              <a:t>假</a:t>
            </a:r>
            <a:endParaRPr lang="zh-CN" altLang="en-US" sz="2400" dirty="0">
              <a:latin typeface="Arial" panose="02080604020202020204" pitchFamily="34" charset="0"/>
            </a:endParaRPr>
          </a:p>
        </p:txBody>
      </p:sp>
      <p:sp>
        <p:nvSpPr>
          <p:cNvPr id="399365" name="AutoShape 5"/>
          <p:cNvSpPr/>
          <p:nvPr/>
        </p:nvSpPr>
        <p:spPr>
          <a:xfrm>
            <a:off x="4789488" y="2695575"/>
            <a:ext cx="228600" cy="762000"/>
          </a:xfrm>
          <a:prstGeom prst="leftBrace">
            <a:avLst>
              <a:gd name="adj1" fmla="val 27731"/>
              <a:gd name="adj2" fmla="val 50000"/>
            </a:avLst>
          </a:prstGeom>
          <a:noFill/>
          <a:ln w="38100" cap="flat" cmpd="sng">
            <a:solidFill>
              <a:schemeClr val="bg2"/>
            </a:solidFill>
            <a:prstDash val="solid"/>
            <a:round/>
            <a:headEnd type="none" w="med" len="med"/>
            <a:tailEnd type="none" w="med" len="med"/>
          </a:ln>
        </p:spPr>
        <p:txBody>
          <a:bodyPr wrap="none" anchor="ctr" anchorCtr="0"/>
          <a:p>
            <a:endParaRPr lang="zh-CN" altLang="en-US" dirty="0">
              <a:latin typeface="Arial" panose="02080604020202020204" pitchFamily="34" charset="0"/>
            </a:endParaRPr>
          </a:p>
        </p:txBody>
      </p:sp>
      <p:sp>
        <p:nvSpPr>
          <p:cNvPr id="399366" name="Text Box 6"/>
          <p:cNvSpPr txBox="1"/>
          <p:nvPr/>
        </p:nvSpPr>
        <p:spPr>
          <a:xfrm>
            <a:off x="5016500" y="1407954"/>
            <a:ext cx="3573463" cy="1014730"/>
          </a:xfrm>
          <a:prstGeom prst="rect">
            <a:avLst/>
          </a:prstGeom>
          <a:noFill/>
          <a:ln w="9525">
            <a:noFill/>
          </a:ln>
        </p:spPr>
        <p:txBody>
          <a:bodyPr wrap="square" anchor="ctr" anchorCtr="0">
            <a:spAutoFit/>
          </a:bodyPr>
          <a:p>
            <a:pPr>
              <a:spcBef>
                <a:spcPct val="50000"/>
              </a:spcBef>
            </a:pPr>
            <a:r>
              <a:rPr lang="en-US" altLang="zh-CN" sz="2400">
                <a:latin typeface="Arial" panose="02080604020202020204" pitchFamily="34" charset="0"/>
              </a:rPr>
              <a:t>x</a:t>
            </a:r>
            <a:r>
              <a:rPr lang="zh-CN" altLang="en-US" sz="2400" dirty="0">
                <a:latin typeface="Arial" panose="02080604020202020204" pitchFamily="34" charset="0"/>
              </a:rPr>
              <a:t>取0          </a:t>
            </a:r>
            <a:r>
              <a:rPr lang="en-US" altLang="zh-CN" sz="2400">
                <a:latin typeface="Arial" panose="02080604020202020204" pitchFamily="34" charset="0"/>
              </a:rPr>
              <a:t>x==0   </a:t>
            </a:r>
            <a:r>
              <a:rPr lang="zh-CN" altLang="en-US" sz="2400" dirty="0">
                <a:latin typeface="Arial" panose="02080604020202020204" pitchFamily="34" charset="0"/>
              </a:rPr>
              <a:t>真</a:t>
            </a:r>
            <a:endParaRPr lang="zh-CN" altLang="en-US" sz="2400" dirty="0">
              <a:latin typeface="Arial" panose="02080604020202020204" pitchFamily="34" charset="0"/>
            </a:endParaRPr>
          </a:p>
          <a:p>
            <a:pPr>
              <a:spcBef>
                <a:spcPct val="50000"/>
              </a:spcBef>
            </a:pPr>
            <a:r>
              <a:rPr lang="en-US" altLang="zh-CN" sz="2400">
                <a:latin typeface="Arial" panose="02080604020202020204" pitchFamily="34" charset="0"/>
              </a:rPr>
              <a:t>x</a:t>
            </a:r>
            <a:r>
              <a:rPr lang="zh-CN" altLang="en-US" sz="2400" dirty="0">
                <a:latin typeface="Arial" panose="02080604020202020204" pitchFamily="34" charset="0"/>
              </a:rPr>
              <a:t>取非0      </a:t>
            </a:r>
            <a:r>
              <a:rPr lang="en-US" altLang="zh-CN" sz="2400">
                <a:latin typeface="Arial" panose="02080604020202020204" pitchFamily="34" charset="0"/>
              </a:rPr>
              <a:t>x==0  </a:t>
            </a:r>
            <a:r>
              <a:rPr lang="zh-CN" altLang="en-US" sz="2400" dirty="0">
                <a:latin typeface="Arial" panose="02080604020202020204" pitchFamily="34" charset="0"/>
              </a:rPr>
              <a:t>假</a:t>
            </a:r>
            <a:endParaRPr lang="zh-CN" altLang="en-US" sz="2400" dirty="0">
              <a:latin typeface="Arial" panose="02080604020202020204" pitchFamily="34" charset="0"/>
            </a:endParaRPr>
          </a:p>
        </p:txBody>
      </p:sp>
      <p:sp>
        <p:nvSpPr>
          <p:cNvPr id="399367" name="AutoShape 7"/>
          <p:cNvSpPr/>
          <p:nvPr/>
        </p:nvSpPr>
        <p:spPr>
          <a:xfrm>
            <a:off x="4787900" y="1565275"/>
            <a:ext cx="228600" cy="762000"/>
          </a:xfrm>
          <a:prstGeom prst="leftBrace">
            <a:avLst>
              <a:gd name="adj1" fmla="val 27731"/>
              <a:gd name="adj2" fmla="val 50000"/>
            </a:avLst>
          </a:prstGeom>
          <a:noFill/>
          <a:ln w="38100" cap="flat" cmpd="sng">
            <a:solidFill>
              <a:schemeClr val="bg2"/>
            </a:solidFill>
            <a:prstDash val="solid"/>
            <a:round/>
            <a:headEnd type="none" w="med" len="med"/>
            <a:tailEnd type="none" w="med" len="med"/>
          </a:ln>
        </p:spPr>
        <p:txBody>
          <a:bodyPr wrap="none" anchor="ctr" anchorCtr="0"/>
          <a:p>
            <a:endParaRPr lang="zh-CN" altLang="en-US" dirty="0">
              <a:latin typeface="Arial" panose="02080604020202020204" pitchFamily="34" charset="0"/>
            </a:endParaRPr>
          </a:p>
        </p:txBody>
      </p:sp>
      <p:sp>
        <p:nvSpPr>
          <p:cNvPr id="399368" name="Text Box 8"/>
          <p:cNvSpPr txBox="1"/>
          <p:nvPr/>
        </p:nvSpPr>
        <p:spPr>
          <a:xfrm>
            <a:off x="2342198" y="2274888"/>
            <a:ext cx="792480" cy="460375"/>
          </a:xfrm>
          <a:prstGeom prst="rect">
            <a:avLst/>
          </a:prstGeom>
          <a:noFill/>
          <a:ln w="9525">
            <a:noFill/>
          </a:ln>
        </p:spPr>
        <p:txBody>
          <a:bodyPr wrap="none" anchor="ctr" anchorCtr="0">
            <a:spAutoFit/>
          </a:bodyPr>
          <a:p>
            <a:pPr algn="ctr">
              <a:spcBef>
                <a:spcPct val="50000"/>
              </a:spcBef>
            </a:pPr>
            <a:r>
              <a:rPr lang="zh-CN" altLang="en-US" sz="2400" dirty="0">
                <a:solidFill>
                  <a:schemeClr val="bg2"/>
                </a:solidFill>
                <a:latin typeface="Times New Roman" pitchFamily="18" charset="0"/>
                <a:ea typeface="仿宋_GB2312" pitchFamily="49" charset="-122"/>
              </a:rPr>
              <a:t>等价</a:t>
            </a:r>
            <a:endParaRPr lang="zh-CN" altLang="en-US" sz="2400" dirty="0">
              <a:solidFill>
                <a:schemeClr val="bg2"/>
              </a:solidFill>
              <a:latin typeface="Times New Roman"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9363">
                                            <p:txEl>
                                              <p:charRg st="0" end="5"/>
                                            </p:txEl>
                                          </p:spTgt>
                                        </p:tgtEl>
                                        <p:attrNameLst>
                                          <p:attrName>style.visibility</p:attrName>
                                        </p:attrNameLst>
                                      </p:cBhvr>
                                      <p:to>
                                        <p:strVal val="visible"/>
                                      </p:to>
                                    </p:set>
                                    <p:anim calcmode="lin" valueType="num">
                                      <p:cBhvr additive="base">
                                        <p:cTn id="7" dur="500" fill="hold"/>
                                        <p:tgtEl>
                                          <p:spTgt spid="399363">
                                            <p:txEl>
                                              <p:charRg st="0" end="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9363">
                                            <p:txEl>
                                              <p:charRg st="0" end="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9363">
                                            <p:txEl>
                                              <p:charRg st="5" end="22"/>
                                            </p:txEl>
                                          </p:spTgt>
                                        </p:tgtEl>
                                        <p:attrNameLst>
                                          <p:attrName>style.visibility</p:attrName>
                                        </p:attrNameLst>
                                      </p:cBhvr>
                                      <p:to>
                                        <p:strVal val="visible"/>
                                      </p:to>
                                    </p:set>
                                    <p:anim calcmode="lin" valueType="num">
                                      <p:cBhvr additive="base">
                                        <p:cTn id="13" dur="500" fill="hold"/>
                                        <p:tgtEl>
                                          <p:spTgt spid="399363">
                                            <p:txEl>
                                              <p:charRg st="5" end="2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9363">
                                            <p:txEl>
                                              <p:charRg st="5" end="2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9366"/>
                                        </p:tgtEl>
                                        <p:attrNameLst>
                                          <p:attrName>style.visibility</p:attrName>
                                        </p:attrNameLst>
                                      </p:cBhvr>
                                      <p:to>
                                        <p:strVal val="visible"/>
                                      </p:to>
                                    </p:set>
                                    <p:anim calcmode="lin" valueType="num">
                                      <p:cBhvr additive="base">
                                        <p:cTn id="19" dur="500" fill="hold"/>
                                        <p:tgtEl>
                                          <p:spTgt spid="399366"/>
                                        </p:tgtEl>
                                        <p:attrNameLst>
                                          <p:attrName>ppt_x</p:attrName>
                                        </p:attrNameLst>
                                      </p:cBhvr>
                                      <p:tavLst>
                                        <p:tav tm="0">
                                          <p:val>
                                            <p:strVal val="0-#ppt_w/2"/>
                                          </p:val>
                                        </p:tav>
                                        <p:tav tm="100000">
                                          <p:val>
                                            <p:strVal val="#ppt_x"/>
                                          </p:val>
                                        </p:tav>
                                      </p:tavLst>
                                    </p:anim>
                                    <p:anim calcmode="lin" valueType="num">
                                      <p:cBhvr additive="base">
                                        <p:cTn id="20" dur="500" fill="hold"/>
                                        <p:tgtEl>
                                          <p:spTgt spid="399366"/>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399367"/>
                                        </p:tgtEl>
                                        <p:attrNameLst>
                                          <p:attrName>style.visibility</p:attrName>
                                        </p:attrNameLst>
                                      </p:cBhvr>
                                      <p:to>
                                        <p:strVal val="visible"/>
                                      </p:to>
                                    </p:set>
                                    <p:anim calcmode="lin" valueType="num">
                                      <p:cBhvr additive="base">
                                        <p:cTn id="24" dur="500" fill="hold"/>
                                        <p:tgtEl>
                                          <p:spTgt spid="399367"/>
                                        </p:tgtEl>
                                        <p:attrNameLst>
                                          <p:attrName>ppt_x</p:attrName>
                                        </p:attrNameLst>
                                      </p:cBhvr>
                                      <p:tavLst>
                                        <p:tav tm="0">
                                          <p:val>
                                            <p:strVal val="0-#ppt_w/2"/>
                                          </p:val>
                                        </p:tav>
                                        <p:tav tm="100000">
                                          <p:val>
                                            <p:strVal val="#ppt_x"/>
                                          </p:val>
                                        </p:tav>
                                      </p:tavLst>
                                    </p:anim>
                                    <p:anim calcmode="lin" valueType="num">
                                      <p:cBhvr additive="base">
                                        <p:cTn id="25" dur="500" fill="hold"/>
                                        <p:tgtEl>
                                          <p:spTgt spid="399367"/>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99363">
                                            <p:txEl>
                                              <p:charRg st="23" end="34"/>
                                            </p:txEl>
                                          </p:spTgt>
                                        </p:tgtEl>
                                        <p:attrNameLst>
                                          <p:attrName>style.visibility</p:attrName>
                                        </p:attrNameLst>
                                      </p:cBhvr>
                                      <p:to>
                                        <p:strVal val="visible"/>
                                      </p:to>
                                    </p:set>
                                    <p:anim calcmode="lin" valueType="num">
                                      <p:cBhvr additive="base">
                                        <p:cTn id="30" dur="500" fill="hold"/>
                                        <p:tgtEl>
                                          <p:spTgt spid="399363">
                                            <p:txEl>
                                              <p:charRg st="23" end="34"/>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399363">
                                            <p:txEl>
                                              <p:charRg st="23" end="34"/>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399364"/>
                                        </p:tgtEl>
                                        <p:attrNameLst>
                                          <p:attrName>style.visibility</p:attrName>
                                        </p:attrNameLst>
                                      </p:cBhvr>
                                      <p:to>
                                        <p:strVal val="visible"/>
                                      </p:to>
                                    </p:set>
                                    <p:anim calcmode="lin" valueType="num">
                                      <p:cBhvr additive="base">
                                        <p:cTn id="36" dur="500" fill="hold"/>
                                        <p:tgtEl>
                                          <p:spTgt spid="399364"/>
                                        </p:tgtEl>
                                        <p:attrNameLst>
                                          <p:attrName>ppt_x</p:attrName>
                                        </p:attrNameLst>
                                      </p:cBhvr>
                                      <p:tavLst>
                                        <p:tav tm="0">
                                          <p:val>
                                            <p:strVal val="0-#ppt_w/2"/>
                                          </p:val>
                                        </p:tav>
                                        <p:tav tm="100000">
                                          <p:val>
                                            <p:strVal val="#ppt_x"/>
                                          </p:val>
                                        </p:tav>
                                      </p:tavLst>
                                    </p:anim>
                                    <p:anim calcmode="lin" valueType="num">
                                      <p:cBhvr additive="base">
                                        <p:cTn id="37" dur="500" fill="hold"/>
                                        <p:tgtEl>
                                          <p:spTgt spid="399364"/>
                                        </p:tgtEl>
                                        <p:attrNameLst>
                                          <p:attrName>ppt_y</p:attrName>
                                        </p:attrNameLst>
                                      </p:cBhvr>
                                      <p:tavLst>
                                        <p:tav tm="0">
                                          <p:val>
                                            <p:strVal val="#ppt_y"/>
                                          </p:val>
                                        </p:tav>
                                        <p:tav tm="100000">
                                          <p:val>
                                            <p:strVal val="#ppt_y"/>
                                          </p:val>
                                        </p:tav>
                                      </p:tavLst>
                                    </p:anim>
                                  </p:childTnLst>
                                </p:cTn>
                              </p:par>
                            </p:childTnLst>
                          </p:cTn>
                        </p:par>
                        <p:par>
                          <p:cTn id="38" fill="hold">
                            <p:stCondLst>
                              <p:cond delay="500"/>
                            </p:stCondLst>
                            <p:childTnLst>
                              <p:par>
                                <p:cTn id="39" presetID="2" presetClass="entr" presetSubtype="8" fill="hold" grpId="0" nodeType="afterEffect">
                                  <p:stCondLst>
                                    <p:cond delay="0"/>
                                  </p:stCondLst>
                                  <p:childTnLst>
                                    <p:set>
                                      <p:cBhvr>
                                        <p:cTn id="40" dur="1" fill="hold">
                                          <p:stCondLst>
                                            <p:cond delay="0"/>
                                          </p:stCondLst>
                                        </p:cTn>
                                        <p:tgtEl>
                                          <p:spTgt spid="399365"/>
                                        </p:tgtEl>
                                        <p:attrNameLst>
                                          <p:attrName>style.visibility</p:attrName>
                                        </p:attrNameLst>
                                      </p:cBhvr>
                                      <p:to>
                                        <p:strVal val="visible"/>
                                      </p:to>
                                    </p:set>
                                    <p:anim calcmode="lin" valueType="num">
                                      <p:cBhvr additive="base">
                                        <p:cTn id="41" dur="500" fill="hold"/>
                                        <p:tgtEl>
                                          <p:spTgt spid="399365"/>
                                        </p:tgtEl>
                                        <p:attrNameLst>
                                          <p:attrName>ppt_x</p:attrName>
                                        </p:attrNameLst>
                                      </p:cBhvr>
                                      <p:tavLst>
                                        <p:tav tm="0">
                                          <p:val>
                                            <p:strVal val="0-#ppt_w/2"/>
                                          </p:val>
                                        </p:tav>
                                        <p:tav tm="100000">
                                          <p:val>
                                            <p:strVal val="#ppt_x"/>
                                          </p:val>
                                        </p:tav>
                                      </p:tavLst>
                                    </p:anim>
                                    <p:anim calcmode="lin" valueType="num">
                                      <p:cBhvr additive="base">
                                        <p:cTn id="42" dur="500" fill="hold"/>
                                        <p:tgtEl>
                                          <p:spTgt spid="399365"/>
                                        </p:tgtEl>
                                        <p:attrNameLst>
                                          <p:attrName>ppt_y</p:attrName>
                                        </p:attrNameLst>
                                      </p:cBhvr>
                                      <p:tavLst>
                                        <p:tav tm="0">
                                          <p:val>
                                            <p:strVal val="#ppt_y"/>
                                          </p:val>
                                        </p:tav>
                                        <p:tav tm="100000">
                                          <p:val>
                                            <p:strVal val="#ppt_y"/>
                                          </p:val>
                                        </p:tav>
                                      </p:tavLst>
                                    </p:anim>
                                  </p:childTnLst>
                                </p:cTn>
                              </p:par>
                            </p:childTnLst>
                          </p:cTn>
                        </p:par>
                        <p:par>
                          <p:cTn id="43" fill="hold">
                            <p:stCondLst>
                              <p:cond delay="1000"/>
                            </p:stCondLst>
                            <p:childTnLst>
                              <p:par>
                                <p:cTn id="44" presetID="2" presetClass="entr" presetSubtype="8" fill="hold" grpId="0" nodeType="afterEffect">
                                  <p:stCondLst>
                                    <p:cond delay="0"/>
                                  </p:stCondLst>
                                  <p:childTnLst>
                                    <p:set>
                                      <p:cBhvr>
                                        <p:cTn id="45" dur="1" fill="hold">
                                          <p:stCondLst>
                                            <p:cond delay="0"/>
                                          </p:stCondLst>
                                        </p:cTn>
                                        <p:tgtEl>
                                          <p:spTgt spid="399368"/>
                                        </p:tgtEl>
                                        <p:attrNameLst>
                                          <p:attrName>style.visibility</p:attrName>
                                        </p:attrNameLst>
                                      </p:cBhvr>
                                      <p:to>
                                        <p:strVal val="visible"/>
                                      </p:to>
                                    </p:set>
                                    <p:anim calcmode="lin" valueType="num">
                                      <p:cBhvr additive="base">
                                        <p:cTn id="46" dur="500" fill="hold"/>
                                        <p:tgtEl>
                                          <p:spTgt spid="399368"/>
                                        </p:tgtEl>
                                        <p:attrNameLst>
                                          <p:attrName>ppt_x</p:attrName>
                                        </p:attrNameLst>
                                      </p:cBhvr>
                                      <p:tavLst>
                                        <p:tav tm="0">
                                          <p:val>
                                            <p:strVal val="0-#ppt_w/2"/>
                                          </p:val>
                                        </p:tav>
                                        <p:tav tm="100000">
                                          <p:val>
                                            <p:strVal val="#ppt_x"/>
                                          </p:val>
                                        </p:tav>
                                      </p:tavLst>
                                    </p:anim>
                                    <p:anim calcmode="lin" valueType="num">
                                      <p:cBhvr additive="base">
                                        <p:cTn id="47" dur="500" fill="hold"/>
                                        <p:tgtEl>
                                          <p:spTgt spid="399368"/>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399363">
                                            <p:txEl>
                                              <p:charRg st="34" end="40"/>
                                            </p:txEl>
                                          </p:spTgt>
                                        </p:tgtEl>
                                        <p:attrNameLst>
                                          <p:attrName>style.visibility</p:attrName>
                                        </p:attrNameLst>
                                      </p:cBhvr>
                                      <p:to>
                                        <p:strVal val="visible"/>
                                      </p:to>
                                    </p:set>
                                    <p:anim calcmode="lin" valueType="num">
                                      <p:cBhvr additive="base">
                                        <p:cTn id="52" dur="500" fill="hold"/>
                                        <p:tgtEl>
                                          <p:spTgt spid="399363">
                                            <p:txEl>
                                              <p:charRg st="34" end="40"/>
                                            </p:txEl>
                                          </p:spTgt>
                                        </p:tgtEl>
                                        <p:attrNameLst>
                                          <p:attrName>ppt_x</p:attrName>
                                        </p:attrNameLst>
                                      </p:cBhvr>
                                      <p:tavLst>
                                        <p:tav tm="0">
                                          <p:val>
                                            <p:strVal val="0-#ppt_w/2"/>
                                          </p:val>
                                        </p:tav>
                                        <p:tav tm="100000">
                                          <p:val>
                                            <p:strVal val="#ppt_x"/>
                                          </p:val>
                                        </p:tav>
                                      </p:tavLst>
                                    </p:anim>
                                    <p:anim calcmode="lin" valueType="num">
                                      <p:cBhvr additive="base">
                                        <p:cTn id="53" dur="500" fill="hold"/>
                                        <p:tgtEl>
                                          <p:spTgt spid="399363">
                                            <p:txEl>
                                              <p:charRg st="34" end="40"/>
                                            </p:txEl>
                                          </p:spTgt>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399363">
                                            <p:txEl>
                                              <p:charRg st="40" end="47"/>
                                            </p:txEl>
                                          </p:spTgt>
                                        </p:tgtEl>
                                        <p:attrNameLst>
                                          <p:attrName>style.visibility</p:attrName>
                                        </p:attrNameLst>
                                      </p:cBhvr>
                                      <p:to>
                                        <p:strVal val="visible"/>
                                      </p:to>
                                    </p:set>
                                    <p:anim calcmode="lin" valueType="num">
                                      <p:cBhvr additive="base">
                                        <p:cTn id="58" dur="500" fill="hold"/>
                                        <p:tgtEl>
                                          <p:spTgt spid="399363">
                                            <p:txEl>
                                              <p:charRg st="40" end="47"/>
                                            </p:txEl>
                                          </p:spTgt>
                                        </p:tgtEl>
                                        <p:attrNameLst>
                                          <p:attrName>ppt_x</p:attrName>
                                        </p:attrNameLst>
                                      </p:cBhvr>
                                      <p:tavLst>
                                        <p:tav tm="0">
                                          <p:val>
                                            <p:strVal val="0-#ppt_w/2"/>
                                          </p:val>
                                        </p:tav>
                                        <p:tav tm="100000">
                                          <p:val>
                                            <p:strVal val="#ppt_x"/>
                                          </p:val>
                                        </p:tav>
                                      </p:tavLst>
                                    </p:anim>
                                    <p:anim calcmode="lin" valueType="num">
                                      <p:cBhvr additive="base">
                                        <p:cTn id="59" dur="500" fill="hold"/>
                                        <p:tgtEl>
                                          <p:spTgt spid="399363">
                                            <p:txEl>
                                              <p:charRg st="40" end="47"/>
                                            </p:txEl>
                                          </p:spTgt>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399363">
                                            <p:txEl>
                                              <p:charRg st="47" end="50"/>
                                            </p:txEl>
                                          </p:spTgt>
                                        </p:tgtEl>
                                        <p:attrNameLst>
                                          <p:attrName>style.visibility</p:attrName>
                                        </p:attrNameLst>
                                      </p:cBhvr>
                                      <p:to>
                                        <p:strVal val="visible"/>
                                      </p:to>
                                    </p:set>
                                    <p:anim calcmode="lin" valueType="num">
                                      <p:cBhvr additive="base">
                                        <p:cTn id="64" dur="500" fill="hold"/>
                                        <p:tgtEl>
                                          <p:spTgt spid="399363">
                                            <p:txEl>
                                              <p:charRg st="47" end="50"/>
                                            </p:txEl>
                                          </p:spTgt>
                                        </p:tgtEl>
                                        <p:attrNameLst>
                                          <p:attrName>ppt_x</p:attrName>
                                        </p:attrNameLst>
                                      </p:cBhvr>
                                      <p:tavLst>
                                        <p:tav tm="0">
                                          <p:val>
                                            <p:strVal val="0-#ppt_w/2"/>
                                          </p:val>
                                        </p:tav>
                                        <p:tav tm="100000">
                                          <p:val>
                                            <p:strVal val="#ppt_x"/>
                                          </p:val>
                                        </p:tav>
                                      </p:tavLst>
                                    </p:anim>
                                    <p:anim calcmode="lin" valueType="num">
                                      <p:cBhvr additive="base">
                                        <p:cTn id="65" dur="500" fill="hold"/>
                                        <p:tgtEl>
                                          <p:spTgt spid="399363">
                                            <p:txEl>
                                              <p:charRg st="47" end="50"/>
                                            </p:txEl>
                                          </p:spTgt>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8" fill="hold" grpId="0" nodeType="clickEffect">
                                  <p:stCondLst>
                                    <p:cond delay="0"/>
                                  </p:stCondLst>
                                  <p:childTnLst>
                                    <p:set>
                                      <p:cBhvr>
                                        <p:cTn id="69" dur="1" fill="hold">
                                          <p:stCondLst>
                                            <p:cond delay="0"/>
                                          </p:stCondLst>
                                        </p:cTn>
                                        <p:tgtEl>
                                          <p:spTgt spid="399363">
                                            <p:txEl>
                                              <p:charRg st="50" end="62"/>
                                            </p:txEl>
                                          </p:spTgt>
                                        </p:tgtEl>
                                        <p:attrNameLst>
                                          <p:attrName>style.visibility</p:attrName>
                                        </p:attrNameLst>
                                      </p:cBhvr>
                                      <p:to>
                                        <p:strVal val="visible"/>
                                      </p:to>
                                    </p:set>
                                    <p:anim calcmode="lin" valueType="num">
                                      <p:cBhvr additive="base">
                                        <p:cTn id="70" dur="500" fill="hold"/>
                                        <p:tgtEl>
                                          <p:spTgt spid="399363">
                                            <p:txEl>
                                              <p:charRg st="50" end="62"/>
                                            </p:txEl>
                                          </p:spTgt>
                                        </p:tgtEl>
                                        <p:attrNameLst>
                                          <p:attrName>ppt_x</p:attrName>
                                        </p:attrNameLst>
                                      </p:cBhvr>
                                      <p:tavLst>
                                        <p:tav tm="0">
                                          <p:val>
                                            <p:strVal val="0-#ppt_w/2"/>
                                          </p:val>
                                        </p:tav>
                                        <p:tav tm="100000">
                                          <p:val>
                                            <p:strVal val="#ppt_x"/>
                                          </p:val>
                                        </p:tav>
                                      </p:tavLst>
                                    </p:anim>
                                    <p:anim calcmode="lin" valueType="num">
                                      <p:cBhvr additive="base">
                                        <p:cTn id="71" dur="500" fill="hold"/>
                                        <p:tgtEl>
                                          <p:spTgt spid="399363">
                                            <p:txEl>
                                              <p:charRg st="50" end="62"/>
                                            </p:txEl>
                                          </p:spTgt>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399363">
                                            <p:txEl>
                                              <p:charRg st="62" end="81"/>
                                            </p:txEl>
                                          </p:spTgt>
                                        </p:tgtEl>
                                        <p:attrNameLst>
                                          <p:attrName>style.visibility</p:attrName>
                                        </p:attrNameLst>
                                      </p:cBhvr>
                                      <p:to>
                                        <p:strVal val="visible"/>
                                      </p:to>
                                    </p:set>
                                    <p:anim calcmode="lin" valueType="num">
                                      <p:cBhvr additive="base">
                                        <p:cTn id="76" dur="500" fill="hold"/>
                                        <p:tgtEl>
                                          <p:spTgt spid="399363">
                                            <p:txEl>
                                              <p:charRg st="62" end="81"/>
                                            </p:txEl>
                                          </p:spTgt>
                                        </p:tgtEl>
                                        <p:attrNameLst>
                                          <p:attrName>ppt_x</p:attrName>
                                        </p:attrNameLst>
                                      </p:cBhvr>
                                      <p:tavLst>
                                        <p:tav tm="0">
                                          <p:val>
                                            <p:strVal val="0-#ppt_w/2"/>
                                          </p:val>
                                        </p:tav>
                                        <p:tav tm="100000">
                                          <p:val>
                                            <p:strVal val="#ppt_x"/>
                                          </p:val>
                                        </p:tav>
                                      </p:tavLst>
                                    </p:anim>
                                    <p:anim calcmode="lin" valueType="num">
                                      <p:cBhvr additive="base">
                                        <p:cTn id="77" dur="500" fill="hold"/>
                                        <p:tgtEl>
                                          <p:spTgt spid="399363">
                                            <p:txEl>
                                              <p:charRg st="62" end="81"/>
                                            </p:txEl>
                                          </p:spTgt>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grpId="0" nodeType="clickEffect">
                                  <p:stCondLst>
                                    <p:cond delay="0"/>
                                  </p:stCondLst>
                                  <p:childTnLst>
                                    <p:set>
                                      <p:cBhvr>
                                        <p:cTn id="81" dur="1" fill="hold">
                                          <p:stCondLst>
                                            <p:cond delay="0"/>
                                          </p:stCondLst>
                                        </p:cTn>
                                        <p:tgtEl>
                                          <p:spTgt spid="399363">
                                            <p:txEl>
                                              <p:charRg st="81" end="96"/>
                                            </p:txEl>
                                          </p:spTgt>
                                        </p:tgtEl>
                                        <p:attrNameLst>
                                          <p:attrName>style.visibility</p:attrName>
                                        </p:attrNameLst>
                                      </p:cBhvr>
                                      <p:to>
                                        <p:strVal val="visible"/>
                                      </p:to>
                                    </p:set>
                                    <p:anim calcmode="lin" valueType="num">
                                      <p:cBhvr additive="base">
                                        <p:cTn id="82" dur="500" fill="hold"/>
                                        <p:tgtEl>
                                          <p:spTgt spid="399363">
                                            <p:txEl>
                                              <p:charRg st="81" end="96"/>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399363">
                                            <p:txEl>
                                              <p:charRg st="81" end="96"/>
                                            </p:txEl>
                                          </p:spTgt>
                                        </p:tgtEl>
                                        <p:attrNameLst>
                                          <p:attrName>ppt_y</p:attrName>
                                        </p:attrNameLst>
                                      </p:cBhvr>
                                      <p:tavLst>
                                        <p:tav tm="0">
                                          <p:val>
                                            <p:strVal val="#ppt_y"/>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8" fill="hold" grpId="0" nodeType="clickEffect">
                                  <p:stCondLst>
                                    <p:cond delay="0"/>
                                  </p:stCondLst>
                                  <p:childTnLst>
                                    <p:set>
                                      <p:cBhvr>
                                        <p:cTn id="87" dur="1" fill="hold">
                                          <p:stCondLst>
                                            <p:cond delay="0"/>
                                          </p:stCondLst>
                                        </p:cTn>
                                        <p:tgtEl>
                                          <p:spTgt spid="399363">
                                            <p:txEl>
                                              <p:charRg st="96" end="104"/>
                                            </p:txEl>
                                          </p:spTgt>
                                        </p:tgtEl>
                                        <p:attrNameLst>
                                          <p:attrName>style.visibility</p:attrName>
                                        </p:attrNameLst>
                                      </p:cBhvr>
                                      <p:to>
                                        <p:strVal val="visible"/>
                                      </p:to>
                                    </p:set>
                                    <p:anim calcmode="lin" valueType="num">
                                      <p:cBhvr additive="base">
                                        <p:cTn id="88" dur="500" fill="hold"/>
                                        <p:tgtEl>
                                          <p:spTgt spid="399363">
                                            <p:txEl>
                                              <p:charRg st="96" end="104"/>
                                            </p:txEl>
                                          </p:spTgt>
                                        </p:tgtEl>
                                        <p:attrNameLst>
                                          <p:attrName>ppt_x</p:attrName>
                                        </p:attrNameLst>
                                      </p:cBhvr>
                                      <p:tavLst>
                                        <p:tav tm="0">
                                          <p:val>
                                            <p:strVal val="0-#ppt_w/2"/>
                                          </p:val>
                                        </p:tav>
                                        <p:tav tm="100000">
                                          <p:val>
                                            <p:strVal val="#ppt_x"/>
                                          </p:val>
                                        </p:tav>
                                      </p:tavLst>
                                    </p:anim>
                                    <p:anim calcmode="lin" valueType="num">
                                      <p:cBhvr additive="base">
                                        <p:cTn id="89" dur="500" fill="hold"/>
                                        <p:tgtEl>
                                          <p:spTgt spid="399363">
                                            <p:txEl>
                                              <p:charRg st="96" end="10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ldLvl="2" build="p"/>
      <p:bldP spid="399364" grpId="0"/>
      <p:bldP spid="399365" grpId="0" bldLvl="0" animBg="1"/>
      <p:bldP spid="399366" grpId="0"/>
      <p:bldP spid="399367" grpId="0" bldLvl="0" animBg="1"/>
      <p:bldP spid="39936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457200" y="457200"/>
            <a:ext cx="6923088" cy="10271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6.5.5  条件表达式</a:t>
            </a:r>
            <a:endParaRPr lang="zh-CN" altLang="en-US" b="0" dirty="0">
              <a:sym typeface="+mn-ea"/>
            </a:endParaRPr>
          </a:p>
        </p:txBody>
      </p:sp>
      <p:sp>
        <p:nvSpPr>
          <p:cNvPr id="76803" name="Rectangle 3"/>
          <p:cNvSpPr>
            <a:spLocks noGrp="1"/>
          </p:cNvSpPr>
          <p:nvPr>
            <p:ph idx="1"/>
          </p:nvPr>
        </p:nvSpPr>
        <p:spPr>
          <a:xfrm>
            <a:off x="457200" y="1447800"/>
            <a:ext cx="4778375" cy="755650"/>
          </a:xfrm>
        </p:spPr>
        <p:txBody>
          <a:bodyPr vert="horz" wrap="square" lIns="91440" tIns="45720" rIns="91440" bIns="45720" anchor="t" anchorCtr="0"/>
          <a:p>
            <a:pPr algn="just" eaLnBrk="1" hangingPunct="1">
              <a:buNone/>
            </a:pPr>
            <a:r>
              <a:rPr lang="en-US" altLang="zh-CN" b="0">
                <a:solidFill>
                  <a:schemeClr val="bg2"/>
                </a:solidFill>
              </a:rPr>
              <a:t>exp1</a:t>
            </a:r>
            <a:r>
              <a:rPr lang="en-US" altLang="zh-CN" b="0">
                <a:solidFill>
                  <a:schemeClr val="accent1"/>
                </a:solidFill>
              </a:rPr>
              <a:t> </a:t>
            </a:r>
            <a:r>
              <a:rPr lang="en-US" altLang="zh-CN" b="0">
                <a:solidFill>
                  <a:srgbClr val="CC0066"/>
                </a:solidFill>
              </a:rPr>
              <a:t>?</a:t>
            </a:r>
            <a:r>
              <a:rPr lang="en-US" altLang="zh-CN" b="0">
                <a:solidFill>
                  <a:schemeClr val="accent1"/>
                </a:solidFill>
              </a:rPr>
              <a:t> </a:t>
            </a:r>
            <a:r>
              <a:rPr lang="en-US" altLang="zh-CN" b="0">
                <a:solidFill>
                  <a:schemeClr val="bg2"/>
                </a:solidFill>
              </a:rPr>
              <a:t>exp2</a:t>
            </a:r>
            <a:r>
              <a:rPr lang="en-US" altLang="zh-CN" b="0">
                <a:solidFill>
                  <a:schemeClr val="accent1"/>
                </a:solidFill>
              </a:rPr>
              <a:t> </a:t>
            </a:r>
            <a:r>
              <a:rPr lang="en-US" altLang="zh-CN" b="0">
                <a:solidFill>
                  <a:srgbClr val="CC0066"/>
                </a:solidFill>
              </a:rPr>
              <a:t>:</a:t>
            </a:r>
            <a:r>
              <a:rPr lang="en-US" altLang="zh-CN" b="0">
                <a:solidFill>
                  <a:schemeClr val="accent1"/>
                </a:solidFill>
              </a:rPr>
              <a:t> </a:t>
            </a:r>
            <a:r>
              <a:rPr lang="en-US" altLang="zh-CN" b="0">
                <a:solidFill>
                  <a:schemeClr val="bg2"/>
                </a:solidFill>
              </a:rPr>
              <a:t>exp3</a:t>
            </a:r>
            <a:endParaRPr lang="en-US" altLang="zh-CN" b="0">
              <a:solidFill>
                <a:schemeClr val="bg2"/>
              </a:solidFill>
            </a:endParaRPr>
          </a:p>
        </p:txBody>
      </p:sp>
      <p:sp>
        <p:nvSpPr>
          <p:cNvPr id="402436" name="Text Box 4"/>
          <p:cNvSpPr txBox="1"/>
          <p:nvPr/>
        </p:nvSpPr>
        <p:spPr>
          <a:xfrm>
            <a:off x="1524000" y="2438400"/>
            <a:ext cx="609600" cy="398780"/>
          </a:xfrm>
          <a:prstGeom prst="rect">
            <a:avLst/>
          </a:prstGeom>
          <a:noFill/>
          <a:ln w="9525">
            <a:noFill/>
          </a:ln>
        </p:spPr>
        <p:txBody>
          <a:bodyPr anchor="t" anchorCtr="0">
            <a:spAutoFit/>
          </a:bodyPr>
          <a:p>
            <a:pPr algn="just">
              <a:spcBef>
                <a:spcPct val="50000"/>
              </a:spcBef>
              <a:buClr>
                <a:schemeClr val="accent2"/>
              </a:buClr>
              <a:buFont typeface="Wingdings" panose="05000000000000000000" pitchFamily="2" charset="2"/>
            </a:pPr>
            <a:r>
              <a:rPr lang="zh-CN" altLang="en-US" sz="2000" dirty="0">
                <a:latin typeface="Arial" panose="02080604020202020204" pitchFamily="34" charset="0"/>
                <a:ea typeface="仿宋_GB2312" pitchFamily="49" charset="-122"/>
              </a:rPr>
              <a:t>非0</a:t>
            </a:r>
            <a:endParaRPr lang="zh-CN" altLang="en-US" sz="2000" dirty="0">
              <a:latin typeface="Arial" panose="02080604020202020204" pitchFamily="34" charset="0"/>
              <a:ea typeface="仿宋_GB2312" pitchFamily="49" charset="-122"/>
            </a:endParaRPr>
          </a:p>
        </p:txBody>
      </p:sp>
      <p:sp>
        <p:nvSpPr>
          <p:cNvPr id="402437" name="Text Box 5"/>
          <p:cNvSpPr txBox="1"/>
          <p:nvPr/>
        </p:nvSpPr>
        <p:spPr>
          <a:xfrm>
            <a:off x="3962400" y="2438400"/>
            <a:ext cx="304800" cy="398780"/>
          </a:xfrm>
          <a:prstGeom prst="rect">
            <a:avLst/>
          </a:prstGeom>
          <a:noFill/>
          <a:ln w="9525">
            <a:noFill/>
          </a:ln>
        </p:spPr>
        <p:txBody>
          <a:bodyPr anchor="t" anchorCtr="0">
            <a:spAutoFit/>
          </a:bodyPr>
          <a:p>
            <a:pPr algn="just">
              <a:spcBef>
                <a:spcPct val="50000"/>
              </a:spcBef>
              <a:buClr>
                <a:schemeClr val="accent2"/>
              </a:buClr>
              <a:buFont typeface="Wingdings" panose="05000000000000000000" pitchFamily="2" charset="2"/>
            </a:pPr>
            <a:r>
              <a:rPr lang="zh-CN" altLang="en-US" sz="2000" dirty="0">
                <a:latin typeface="Arial" panose="02080604020202020204" pitchFamily="34" charset="0"/>
                <a:ea typeface="仿宋_GB2312" pitchFamily="49" charset="-122"/>
              </a:rPr>
              <a:t>0</a:t>
            </a:r>
            <a:endParaRPr lang="zh-CN" altLang="en-US" sz="2000" dirty="0">
              <a:latin typeface="Arial" panose="02080604020202020204" pitchFamily="34" charset="0"/>
              <a:ea typeface="仿宋_GB2312" pitchFamily="49" charset="-122"/>
            </a:endParaRPr>
          </a:p>
        </p:txBody>
      </p:sp>
      <p:sp>
        <p:nvSpPr>
          <p:cNvPr id="402438" name="Line 6"/>
          <p:cNvSpPr/>
          <p:nvPr/>
        </p:nvSpPr>
        <p:spPr>
          <a:xfrm flipH="1">
            <a:off x="2209800" y="2057400"/>
            <a:ext cx="0" cy="1066800"/>
          </a:xfrm>
          <a:prstGeom prst="line">
            <a:avLst/>
          </a:prstGeom>
          <a:ln w="38100" cap="flat" cmpd="sng">
            <a:solidFill>
              <a:schemeClr val="tx1"/>
            </a:solidFill>
            <a:prstDash val="solid"/>
            <a:round/>
            <a:headEnd type="triangle" w="med" len="med"/>
            <a:tailEnd type="none" w="med" len="med"/>
          </a:ln>
        </p:spPr>
      </p:sp>
      <p:grpSp>
        <p:nvGrpSpPr>
          <p:cNvPr id="2" name="Group 21"/>
          <p:cNvGrpSpPr/>
          <p:nvPr/>
        </p:nvGrpSpPr>
        <p:grpSpPr>
          <a:xfrm>
            <a:off x="2209800" y="2743200"/>
            <a:ext cx="1600200" cy="838200"/>
            <a:chOff x="1392" y="1728"/>
            <a:chExt cx="1008" cy="528"/>
          </a:xfrm>
        </p:grpSpPr>
        <p:sp>
          <p:nvSpPr>
            <p:cNvPr id="76808" name="AutoShape 8"/>
            <p:cNvSpPr/>
            <p:nvPr/>
          </p:nvSpPr>
          <p:spPr>
            <a:xfrm>
              <a:off x="1392" y="1728"/>
              <a:ext cx="1008" cy="528"/>
            </a:xfrm>
            <a:prstGeom prst="diamond">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80604020202020204" pitchFamily="34" charset="0"/>
              </a:endParaRPr>
            </a:p>
          </p:txBody>
        </p:sp>
        <p:sp>
          <p:nvSpPr>
            <p:cNvPr id="76809" name="Text Box 9"/>
            <p:cNvSpPr txBox="1"/>
            <p:nvPr/>
          </p:nvSpPr>
          <p:spPr>
            <a:xfrm>
              <a:off x="1625" y="1872"/>
              <a:ext cx="575" cy="251"/>
            </a:xfrm>
            <a:prstGeom prst="rect">
              <a:avLst/>
            </a:prstGeom>
            <a:noFill/>
            <a:ln w="9525">
              <a:noFill/>
            </a:ln>
          </p:spPr>
          <p:txBody>
            <a:bodyPr wrap="square" anchor="t" anchorCtr="0">
              <a:spAutoFit/>
            </a:bodyPr>
            <a:p>
              <a:pPr algn="just">
                <a:spcBef>
                  <a:spcPct val="50000"/>
                </a:spcBef>
                <a:buClr>
                  <a:schemeClr val="accent2"/>
                </a:buClr>
                <a:buFont typeface="Wingdings" panose="05000000000000000000" pitchFamily="2" charset="2"/>
              </a:pPr>
              <a:r>
                <a:rPr lang="en-US" altLang="zh-CN" sz="2000">
                  <a:latin typeface="Arial" panose="02080604020202020204" pitchFamily="34" charset="0"/>
                  <a:ea typeface="仿宋_GB2312" pitchFamily="49" charset="-122"/>
                </a:rPr>
                <a:t>exp1</a:t>
              </a:r>
              <a:endParaRPr lang="en-US" altLang="zh-CN" sz="2000">
                <a:latin typeface="Arial" panose="02080604020202020204" pitchFamily="34" charset="0"/>
                <a:ea typeface="仿宋_GB2312" pitchFamily="49" charset="-122"/>
              </a:endParaRPr>
            </a:p>
          </p:txBody>
        </p:sp>
      </p:grpSp>
      <p:sp>
        <p:nvSpPr>
          <p:cNvPr id="402442" name="Line 10"/>
          <p:cNvSpPr/>
          <p:nvPr/>
        </p:nvSpPr>
        <p:spPr>
          <a:xfrm flipH="1">
            <a:off x="3810000" y="2057400"/>
            <a:ext cx="0" cy="1066800"/>
          </a:xfrm>
          <a:prstGeom prst="line">
            <a:avLst/>
          </a:prstGeom>
          <a:ln w="38100" cap="flat" cmpd="sng">
            <a:solidFill>
              <a:schemeClr val="tx1"/>
            </a:solidFill>
            <a:prstDash val="solid"/>
            <a:round/>
            <a:headEnd type="triangle" w="med" len="med"/>
            <a:tailEnd type="none" w="med" len="med"/>
          </a:ln>
        </p:spPr>
      </p:sp>
      <p:sp>
        <p:nvSpPr>
          <p:cNvPr id="402443" name="Rectangle 11"/>
          <p:cNvSpPr/>
          <p:nvPr/>
        </p:nvSpPr>
        <p:spPr>
          <a:xfrm>
            <a:off x="4860925" y="2971800"/>
            <a:ext cx="4057650" cy="460375"/>
          </a:xfrm>
          <a:prstGeom prst="rect">
            <a:avLst/>
          </a:prstGeom>
          <a:noFill/>
          <a:ln w="9525">
            <a:noFill/>
          </a:ln>
        </p:spPr>
        <p:txBody>
          <a:bodyPr wrap="square" anchor="t" anchorCtr="0">
            <a:spAutoFit/>
          </a:bodyPr>
          <a:p>
            <a:pPr algn="just">
              <a:spcBef>
                <a:spcPct val="20000"/>
              </a:spcBef>
              <a:buClr>
                <a:schemeClr val="accent2"/>
              </a:buClr>
              <a:buFont typeface="Wingdings" panose="05000000000000000000" pitchFamily="2" charset="2"/>
            </a:pPr>
            <a:r>
              <a:rPr lang="en-US" altLang="zh-CN" sz="2400">
                <a:solidFill>
                  <a:schemeClr val="bg2"/>
                </a:solidFill>
                <a:latin typeface="Arial" panose="02080604020202020204" pitchFamily="34" charset="0"/>
              </a:rPr>
              <a:t>y = (x&gt;0) ? x+2 : x*x;</a:t>
            </a:r>
            <a:endParaRPr lang="en-US" altLang="zh-CN" sz="2400">
              <a:solidFill>
                <a:schemeClr val="bg2"/>
              </a:solidFill>
              <a:latin typeface="Arial" panose="02080604020202020204" pitchFamily="34" charset="0"/>
            </a:endParaRPr>
          </a:p>
        </p:txBody>
      </p:sp>
      <p:sp>
        <p:nvSpPr>
          <p:cNvPr id="402444" name="Rectangle 12"/>
          <p:cNvSpPr/>
          <p:nvPr/>
        </p:nvSpPr>
        <p:spPr>
          <a:xfrm>
            <a:off x="323850" y="3789363"/>
            <a:ext cx="3168650" cy="1789430"/>
          </a:xfrm>
          <a:prstGeom prst="rect">
            <a:avLst/>
          </a:prstGeom>
          <a:noFill/>
          <a:ln w="9525">
            <a:noFill/>
          </a:ln>
        </p:spPr>
        <p:txBody>
          <a:bodyPr wrap="square" anchor="t" anchorCtr="0">
            <a:spAutoFit/>
          </a:bodyPr>
          <a:p>
            <a:pPr algn="just">
              <a:spcBef>
                <a:spcPct val="20000"/>
              </a:spcBef>
              <a:buClr>
                <a:schemeClr val="accent2"/>
              </a:buClr>
              <a:buFont typeface="Wingdings" panose="05000000000000000000" pitchFamily="2" charset="2"/>
            </a:pPr>
            <a:r>
              <a:rPr lang="en-US" altLang="zh-CN" sz="2400" err="1">
                <a:latin typeface="Arial" panose="02080604020202020204" pitchFamily="34" charset="0"/>
              </a:rPr>
              <a:t>int</a:t>
            </a:r>
            <a:r>
              <a:rPr lang="en-US" altLang="zh-CN" sz="2400">
                <a:latin typeface="Arial" panose="02080604020202020204" pitchFamily="34" charset="0"/>
              </a:rPr>
              <a:t> n;</a:t>
            </a:r>
            <a:endParaRPr lang="en-US" altLang="zh-CN" sz="2400">
              <a:latin typeface="Arial" panose="02080604020202020204" pitchFamily="34" charset="0"/>
            </a:endParaRPr>
          </a:p>
          <a:p>
            <a:pPr algn="just">
              <a:spcBef>
                <a:spcPct val="20000"/>
              </a:spcBef>
              <a:buClr>
                <a:schemeClr val="accent2"/>
              </a:buClr>
              <a:buFont typeface="Wingdings" panose="05000000000000000000" pitchFamily="2" charset="2"/>
            </a:pPr>
            <a:r>
              <a:rPr lang="en-US" altLang="zh-CN" sz="2400">
                <a:latin typeface="Arial" panose="02080604020202020204" pitchFamily="34" charset="0"/>
              </a:rPr>
              <a:t>(n&gt;0) ? 2.9 : 1</a:t>
            </a:r>
            <a:endParaRPr lang="en-US" altLang="zh-CN" sz="2400">
              <a:latin typeface="Arial" panose="02080604020202020204" pitchFamily="34" charset="0"/>
            </a:endParaRPr>
          </a:p>
          <a:p>
            <a:pPr algn="just">
              <a:spcBef>
                <a:spcPct val="20000"/>
              </a:spcBef>
              <a:buClr>
                <a:schemeClr val="accent2"/>
              </a:buClr>
              <a:buFont typeface="Wingdings" panose="05000000000000000000" pitchFamily="2" charset="2"/>
            </a:pPr>
            <a:r>
              <a:rPr lang="en-US" altLang="zh-CN" sz="2400">
                <a:latin typeface="Arial" panose="02080604020202020204" pitchFamily="34" charset="0"/>
              </a:rPr>
              <a:t>n = 10</a:t>
            </a:r>
            <a:endParaRPr lang="en-US" altLang="zh-CN" sz="2400">
              <a:latin typeface="Arial" panose="02080604020202020204" pitchFamily="34" charset="0"/>
            </a:endParaRPr>
          </a:p>
          <a:p>
            <a:pPr algn="just">
              <a:spcBef>
                <a:spcPct val="20000"/>
              </a:spcBef>
              <a:buClr>
                <a:schemeClr val="accent2"/>
              </a:buClr>
              <a:buFont typeface="Wingdings" panose="05000000000000000000" pitchFamily="2" charset="2"/>
            </a:pPr>
            <a:r>
              <a:rPr lang="en-US" altLang="zh-CN" sz="2400">
                <a:latin typeface="Arial" panose="02080604020202020204" pitchFamily="34" charset="0"/>
              </a:rPr>
              <a:t>n = -10</a:t>
            </a:r>
            <a:endParaRPr lang="en-US" altLang="zh-CN" sz="2400">
              <a:latin typeface="Arial" panose="02080604020202020204" pitchFamily="34" charset="0"/>
            </a:endParaRPr>
          </a:p>
        </p:txBody>
      </p:sp>
      <p:sp>
        <p:nvSpPr>
          <p:cNvPr id="402445" name="Text Box 13"/>
          <p:cNvSpPr txBox="1"/>
          <p:nvPr/>
        </p:nvSpPr>
        <p:spPr>
          <a:xfrm>
            <a:off x="1619250" y="4652963"/>
            <a:ext cx="1946275" cy="969645"/>
          </a:xfrm>
          <a:prstGeom prst="rect">
            <a:avLst/>
          </a:prstGeom>
          <a:noFill/>
          <a:ln w="12700">
            <a:noFill/>
          </a:ln>
        </p:spPr>
        <p:txBody>
          <a:bodyPr wrap="square" anchor="t" anchorCtr="0">
            <a:spAutoFit/>
          </a:bodyPr>
          <a:p>
            <a:pPr indent="282575">
              <a:lnSpc>
                <a:spcPct val="94000"/>
              </a:lnSpc>
              <a:spcBef>
                <a:spcPct val="50000"/>
              </a:spcBef>
              <a:buClr>
                <a:schemeClr val="accent2"/>
              </a:buClr>
            </a:pPr>
            <a:r>
              <a:rPr lang="en-US" altLang="zh-CN" sz="2400">
                <a:latin typeface="Arial" panose="02080604020202020204" pitchFamily="34" charset="0"/>
                <a:ea typeface="仿宋_GB2312" pitchFamily="49" charset="-122"/>
              </a:rPr>
              <a:t>2.9</a:t>
            </a:r>
            <a:endParaRPr lang="en-US" altLang="zh-CN" sz="2400">
              <a:latin typeface="Arial" panose="02080604020202020204" pitchFamily="34" charset="0"/>
              <a:ea typeface="仿宋_GB2312" pitchFamily="49" charset="-122"/>
            </a:endParaRPr>
          </a:p>
          <a:p>
            <a:pPr indent="282575">
              <a:lnSpc>
                <a:spcPct val="94000"/>
              </a:lnSpc>
              <a:spcBef>
                <a:spcPct val="50000"/>
              </a:spcBef>
              <a:buClr>
                <a:schemeClr val="accent2"/>
              </a:buClr>
            </a:pPr>
            <a:r>
              <a:rPr lang="en-US" altLang="zh-CN" sz="2400">
                <a:latin typeface="Arial" panose="02080604020202020204" pitchFamily="34" charset="0"/>
                <a:ea typeface="仿宋_GB2312" pitchFamily="49" charset="-122"/>
              </a:rPr>
              <a:t>1.0</a:t>
            </a:r>
            <a:endParaRPr lang="en-US" altLang="zh-CN" sz="2400">
              <a:latin typeface="Arial" panose="02080604020202020204" pitchFamily="34" charset="0"/>
              <a:ea typeface="仿宋_GB2312" pitchFamily="49" charset="-122"/>
            </a:endParaRPr>
          </a:p>
        </p:txBody>
      </p:sp>
      <p:sp>
        <p:nvSpPr>
          <p:cNvPr id="402447" name="Rectangle 15"/>
          <p:cNvSpPr/>
          <p:nvPr/>
        </p:nvSpPr>
        <p:spPr>
          <a:xfrm>
            <a:off x="7092950" y="3573463"/>
            <a:ext cx="1655763" cy="1752600"/>
          </a:xfrm>
          <a:prstGeom prst="rect">
            <a:avLst/>
          </a:prstGeom>
          <a:noFill/>
          <a:ln w="9525">
            <a:noFill/>
          </a:ln>
        </p:spPr>
        <p:txBody>
          <a:bodyPr anchor="t" anchorCtr="0"/>
          <a:p>
            <a:pPr marL="342900" indent="-342900" algn="just">
              <a:spcBef>
                <a:spcPct val="20000"/>
              </a:spcBef>
              <a:buClr>
                <a:schemeClr val="accent2"/>
              </a:buClr>
              <a:buFont typeface="Wingdings" panose="05000000000000000000" pitchFamily="2" charset="2"/>
            </a:pPr>
            <a:r>
              <a:rPr lang="en-US" altLang="zh-CN" sz="2400">
                <a:latin typeface="Arial" panose="02080604020202020204" pitchFamily="34" charset="0"/>
                <a:ea typeface="仿宋_GB2312" pitchFamily="49" charset="-122"/>
              </a:rPr>
              <a:t>if ( x&gt;0 )</a:t>
            </a:r>
            <a:endParaRPr lang="en-US" altLang="zh-CN" sz="2400">
              <a:latin typeface="Arial" panose="02080604020202020204" pitchFamily="34" charset="0"/>
              <a:ea typeface="仿宋_GB2312" pitchFamily="49" charset="-122"/>
            </a:endParaRPr>
          </a:p>
          <a:p>
            <a:pPr marL="342900" indent="-342900" algn="just">
              <a:spcBef>
                <a:spcPct val="20000"/>
              </a:spcBef>
              <a:buClr>
                <a:schemeClr val="accent2"/>
              </a:buClr>
              <a:buFont typeface="Wingdings" panose="05000000000000000000" pitchFamily="2" charset="2"/>
            </a:pPr>
            <a:r>
              <a:rPr lang="en-US" altLang="zh-CN" sz="2400">
                <a:latin typeface="Arial" panose="02080604020202020204" pitchFamily="34" charset="0"/>
                <a:ea typeface="仿宋_GB2312" pitchFamily="49" charset="-122"/>
              </a:rPr>
              <a:t>    y=x+2;</a:t>
            </a:r>
            <a:endParaRPr lang="en-US" altLang="zh-CN" sz="2400">
              <a:latin typeface="Arial" panose="02080604020202020204" pitchFamily="34" charset="0"/>
              <a:ea typeface="仿宋_GB2312" pitchFamily="49" charset="-122"/>
            </a:endParaRPr>
          </a:p>
          <a:p>
            <a:pPr marL="342900" indent="-342900" algn="just">
              <a:spcBef>
                <a:spcPct val="20000"/>
              </a:spcBef>
              <a:buClr>
                <a:schemeClr val="accent2"/>
              </a:buClr>
              <a:buFont typeface="Wingdings" panose="05000000000000000000" pitchFamily="2" charset="2"/>
            </a:pPr>
            <a:r>
              <a:rPr lang="en-US" altLang="zh-CN" sz="2400">
                <a:latin typeface="Arial" panose="02080604020202020204" pitchFamily="34" charset="0"/>
                <a:ea typeface="仿宋_GB2312" pitchFamily="49" charset="-122"/>
              </a:rPr>
              <a:t>else</a:t>
            </a:r>
            <a:endParaRPr lang="en-US" altLang="zh-CN" sz="2400">
              <a:latin typeface="Arial" panose="02080604020202020204" pitchFamily="34" charset="0"/>
              <a:ea typeface="仿宋_GB2312" pitchFamily="49" charset="-122"/>
            </a:endParaRPr>
          </a:p>
          <a:p>
            <a:pPr marL="342900" indent="-342900" algn="just">
              <a:spcBef>
                <a:spcPct val="20000"/>
              </a:spcBef>
              <a:buClr>
                <a:schemeClr val="accent2"/>
              </a:buClr>
              <a:buFont typeface="Wingdings" panose="05000000000000000000" pitchFamily="2" charset="2"/>
            </a:pPr>
            <a:r>
              <a:rPr lang="en-US" altLang="zh-CN" sz="2400">
                <a:latin typeface="Arial" panose="02080604020202020204" pitchFamily="34" charset="0"/>
                <a:ea typeface="仿宋_GB2312" pitchFamily="49" charset="-122"/>
              </a:rPr>
              <a:t>     y=x*x;</a:t>
            </a:r>
            <a:endParaRPr lang="en-US" altLang="zh-CN" sz="2400">
              <a:latin typeface="Arial" panose="02080604020202020204" pitchFamily="34" charset="0"/>
              <a:ea typeface="仿宋_GB2312" pitchFamily="49" charset="-122"/>
            </a:endParaRPr>
          </a:p>
        </p:txBody>
      </p:sp>
      <p:grpSp>
        <p:nvGrpSpPr>
          <p:cNvPr id="3" name="Group 18"/>
          <p:cNvGrpSpPr/>
          <p:nvPr/>
        </p:nvGrpSpPr>
        <p:grpSpPr>
          <a:xfrm>
            <a:off x="5327650" y="1341438"/>
            <a:ext cx="3532188" cy="1524000"/>
            <a:chOff x="3356" y="845"/>
            <a:chExt cx="2225" cy="960"/>
          </a:xfrm>
        </p:grpSpPr>
        <p:sp>
          <p:nvSpPr>
            <p:cNvPr id="76816" name="Rectangle 14"/>
            <p:cNvSpPr/>
            <p:nvPr/>
          </p:nvSpPr>
          <p:spPr>
            <a:xfrm>
              <a:off x="3356" y="845"/>
              <a:ext cx="2225" cy="960"/>
            </a:xfrm>
            <a:prstGeom prst="rect">
              <a:avLst/>
            </a:prstGeom>
            <a:noFill/>
            <a:ln w="9525">
              <a:noFill/>
            </a:ln>
          </p:spPr>
          <p:txBody>
            <a:bodyPr anchor="t" anchorCtr="0"/>
            <a:p>
              <a:pPr marL="342900" indent="-342900" algn="just">
                <a:spcBef>
                  <a:spcPct val="20000"/>
                </a:spcBef>
                <a:buClr>
                  <a:schemeClr val="accent2"/>
                </a:buClr>
                <a:buFont typeface="Wingdings" panose="05000000000000000000" pitchFamily="2" charset="2"/>
              </a:pPr>
              <a:r>
                <a:rPr lang="en-US" altLang="zh-CN" sz="2800">
                  <a:latin typeface="Arial" panose="02080604020202020204" pitchFamily="34" charset="0"/>
                  <a:ea typeface="仿宋_GB2312" pitchFamily="49" charset="-122"/>
                </a:rPr>
                <a:t>        x+2    x&gt;0</a:t>
              </a:r>
              <a:endParaRPr lang="en-US" altLang="zh-CN" sz="2800">
                <a:latin typeface="Arial" panose="02080604020202020204" pitchFamily="34" charset="0"/>
                <a:ea typeface="仿宋_GB2312" pitchFamily="49" charset="-122"/>
              </a:endParaRPr>
            </a:p>
            <a:p>
              <a:pPr marL="342900" indent="-342900" algn="just">
                <a:spcBef>
                  <a:spcPct val="20000"/>
                </a:spcBef>
                <a:buClr>
                  <a:schemeClr val="accent2"/>
                </a:buClr>
                <a:buFont typeface="Wingdings" panose="05000000000000000000" pitchFamily="2" charset="2"/>
              </a:pPr>
              <a:r>
                <a:rPr lang="en-US" altLang="zh-CN" sz="2800">
                  <a:latin typeface="Arial" panose="02080604020202020204" pitchFamily="34" charset="0"/>
                  <a:ea typeface="仿宋_GB2312" pitchFamily="49" charset="-122"/>
                </a:rPr>
                <a:t>y =</a:t>
              </a:r>
              <a:endParaRPr lang="en-US" altLang="zh-CN" sz="2800">
                <a:latin typeface="Arial" panose="02080604020202020204" pitchFamily="34" charset="0"/>
                <a:ea typeface="仿宋_GB2312" pitchFamily="49" charset="-122"/>
              </a:endParaRPr>
            </a:p>
            <a:p>
              <a:pPr marL="342900" indent="-342900" algn="just">
                <a:spcBef>
                  <a:spcPct val="20000"/>
                </a:spcBef>
                <a:buClr>
                  <a:schemeClr val="accent2"/>
                </a:buClr>
                <a:buFont typeface="Wingdings" panose="05000000000000000000" pitchFamily="2" charset="2"/>
              </a:pPr>
              <a:r>
                <a:rPr lang="zh-CN" altLang="en-US" sz="2800" dirty="0">
                  <a:latin typeface="Arial" panose="02080604020202020204" pitchFamily="34" charset="0"/>
                  <a:ea typeface="仿宋_GB2312" pitchFamily="49" charset="-122"/>
                </a:rPr>
                <a:t>        </a:t>
              </a:r>
              <a:r>
                <a:rPr lang="en-US" altLang="zh-CN" sz="2800">
                  <a:latin typeface="Arial" panose="02080604020202020204" pitchFamily="34" charset="0"/>
                  <a:ea typeface="仿宋_GB2312" pitchFamily="49" charset="-122"/>
                </a:rPr>
                <a:t>x</a:t>
              </a:r>
              <a:r>
                <a:rPr lang="en-US" altLang="zh-CN" sz="2800" baseline="30000">
                  <a:latin typeface="Arial" panose="02080604020202020204" pitchFamily="34" charset="0"/>
                  <a:ea typeface="仿宋_GB2312" pitchFamily="49" charset="-122"/>
                </a:rPr>
                <a:t>2</a:t>
              </a:r>
              <a:r>
                <a:rPr lang="en-US" altLang="zh-CN" sz="2800">
                  <a:latin typeface="Arial" panose="02080604020202020204" pitchFamily="34" charset="0"/>
                  <a:ea typeface="仿宋_GB2312" pitchFamily="49" charset="-122"/>
                </a:rPr>
                <a:t>      x&lt;=0</a:t>
              </a:r>
              <a:endParaRPr lang="en-US" altLang="zh-CN" sz="2800">
                <a:latin typeface="Arial" panose="02080604020202020204" pitchFamily="34" charset="0"/>
                <a:ea typeface="仿宋_GB2312" pitchFamily="49" charset="-122"/>
              </a:endParaRPr>
            </a:p>
          </p:txBody>
        </p:sp>
        <p:sp>
          <p:nvSpPr>
            <p:cNvPr id="76817" name="AutoShape 16"/>
            <p:cNvSpPr/>
            <p:nvPr/>
          </p:nvSpPr>
          <p:spPr>
            <a:xfrm>
              <a:off x="3734" y="941"/>
              <a:ext cx="144" cy="816"/>
            </a:xfrm>
            <a:prstGeom prst="leftBrace">
              <a:avLst>
                <a:gd name="adj1" fmla="val 47143"/>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80604020202020204" pitchFamily="34" charset="0"/>
              </a:endParaRPr>
            </a:p>
          </p:txBody>
        </p:sp>
      </p:grpSp>
      <p:sp>
        <p:nvSpPr>
          <p:cNvPr id="402451" name="Rectangle 19"/>
          <p:cNvSpPr/>
          <p:nvPr/>
        </p:nvSpPr>
        <p:spPr>
          <a:xfrm>
            <a:off x="3203575" y="5661025"/>
            <a:ext cx="3168650" cy="460375"/>
          </a:xfrm>
          <a:prstGeom prst="rect">
            <a:avLst/>
          </a:prstGeom>
          <a:noFill/>
          <a:ln w="9525">
            <a:noFill/>
          </a:ln>
        </p:spPr>
        <p:txBody>
          <a:bodyPr wrap="square" anchor="t" anchorCtr="0">
            <a:spAutoFit/>
          </a:bodyPr>
          <a:p>
            <a:pPr algn="just">
              <a:spcBef>
                <a:spcPct val="20000"/>
              </a:spcBef>
              <a:buClr>
                <a:schemeClr val="accent2"/>
              </a:buClr>
              <a:buFont typeface="Wingdings" panose="05000000000000000000" pitchFamily="2" charset="2"/>
            </a:pPr>
            <a:r>
              <a:rPr lang="en-US" altLang="zh-CN" sz="2400">
                <a:solidFill>
                  <a:schemeClr val="bg2"/>
                </a:solidFill>
                <a:latin typeface="Arial" panose="02080604020202020204" pitchFamily="34" charset="0"/>
              </a:rPr>
              <a:t>z = (a&gt;b) ? a : b;</a:t>
            </a:r>
            <a:endParaRPr lang="en-US" altLang="zh-CN" sz="2400">
              <a:solidFill>
                <a:schemeClr val="bg2"/>
              </a:solidFill>
              <a:latin typeface="Arial" panose="02080604020202020204" pitchFamily="34" charset="0"/>
            </a:endParaRPr>
          </a:p>
        </p:txBody>
      </p:sp>
      <p:sp>
        <p:nvSpPr>
          <p:cNvPr id="402452" name="Rectangle 20"/>
          <p:cNvSpPr/>
          <p:nvPr/>
        </p:nvSpPr>
        <p:spPr>
          <a:xfrm>
            <a:off x="3563938" y="3716338"/>
            <a:ext cx="1655762" cy="1752600"/>
          </a:xfrm>
          <a:prstGeom prst="rect">
            <a:avLst/>
          </a:prstGeom>
          <a:noFill/>
          <a:ln w="9525">
            <a:noFill/>
          </a:ln>
        </p:spPr>
        <p:txBody>
          <a:bodyPr anchor="t" anchorCtr="0"/>
          <a:p>
            <a:pPr marL="342900" indent="-342900" algn="just">
              <a:spcBef>
                <a:spcPct val="20000"/>
              </a:spcBef>
              <a:buClr>
                <a:schemeClr val="accent2"/>
              </a:buClr>
              <a:buFont typeface="Wingdings" panose="05000000000000000000" pitchFamily="2" charset="2"/>
            </a:pPr>
            <a:r>
              <a:rPr lang="en-US" altLang="zh-CN" sz="2400">
                <a:latin typeface="Arial" panose="02080604020202020204" pitchFamily="34" charset="0"/>
                <a:ea typeface="仿宋_GB2312" pitchFamily="49" charset="-122"/>
              </a:rPr>
              <a:t>if ( a&gt;b )</a:t>
            </a:r>
            <a:endParaRPr lang="en-US" altLang="zh-CN" sz="2400">
              <a:latin typeface="Arial" panose="02080604020202020204" pitchFamily="34" charset="0"/>
              <a:ea typeface="仿宋_GB2312" pitchFamily="49" charset="-122"/>
            </a:endParaRPr>
          </a:p>
          <a:p>
            <a:pPr marL="342900" indent="-342900" algn="just">
              <a:spcBef>
                <a:spcPct val="20000"/>
              </a:spcBef>
              <a:buClr>
                <a:schemeClr val="accent2"/>
              </a:buClr>
              <a:buFont typeface="Wingdings" panose="05000000000000000000" pitchFamily="2" charset="2"/>
            </a:pPr>
            <a:r>
              <a:rPr lang="en-US" altLang="zh-CN" sz="2400">
                <a:latin typeface="Arial" panose="02080604020202020204" pitchFamily="34" charset="0"/>
                <a:ea typeface="仿宋_GB2312" pitchFamily="49" charset="-122"/>
              </a:rPr>
              <a:t>    z = a;</a:t>
            </a:r>
            <a:endParaRPr lang="en-US" altLang="zh-CN" sz="2400">
              <a:latin typeface="Arial" panose="02080604020202020204" pitchFamily="34" charset="0"/>
              <a:ea typeface="仿宋_GB2312" pitchFamily="49" charset="-122"/>
            </a:endParaRPr>
          </a:p>
          <a:p>
            <a:pPr marL="342900" indent="-342900" algn="just">
              <a:spcBef>
                <a:spcPct val="20000"/>
              </a:spcBef>
              <a:buClr>
                <a:schemeClr val="accent2"/>
              </a:buClr>
              <a:buFont typeface="Wingdings" panose="05000000000000000000" pitchFamily="2" charset="2"/>
            </a:pPr>
            <a:r>
              <a:rPr lang="en-US" altLang="zh-CN" sz="2400">
                <a:latin typeface="Arial" panose="02080604020202020204" pitchFamily="34" charset="0"/>
                <a:ea typeface="仿宋_GB2312" pitchFamily="49" charset="-122"/>
              </a:rPr>
              <a:t>else</a:t>
            </a:r>
            <a:endParaRPr lang="en-US" altLang="zh-CN" sz="2400">
              <a:latin typeface="Arial" panose="02080604020202020204" pitchFamily="34" charset="0"/>
              <a:ea typeface="仿宋_GB2312" pitchFamily="49" charset="-122"/>
            </a:endParaRPr>
          </a:p>
          <a:p>
            <a:pPr marL="342900" indent="-342900" algn="just">
              <a:spcBef>
                <a:spcPct val="20000"/>
              </a:spcBef>
              <a:buClr>
                <a:schemeClr val="accent2"/>
              </a:buClr>
              <a:buFont typeface="Wingdings" panose="05000000000000000000" pitchFamily="2" charset="2"/>
            </a:pPr>
            <a:r>
              <a:rPr lang="en-US" altLang="zh-CN" sz="2400">
                <a:latin typeface="Arial" panose="02080604020202020204" pitchFamily="34" charset="0"/>
                <a:ea typeface="仿宋_GB2312" pitchFamily="49" charset="-122"/>
              </a:rPr>
              <a:t>     z = b;</a:t>
            </a:r>
            <a:endParaRPr lang="en-US" altLang="zh-CN" sz="2400">
              <a:latin typeface="Arial" panose="02080604020202020204" pitchFamily="34"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02436"/>
                                        </p:tgtEl>
                                        <p:attrNameLst>
                                          <p:attrName>style.visibility</p:attrName>
                                        </p:attrNameLst>
                                      </p:cBhvr>
                                      <p:to>
                                        <p:strVal val="visible"/>
                                      </p:to>
                                    </p:set>
                                    <p:anim calcmode="lin" valueType="num">
                                      <p:cBhvr additive="base">
                                        <p:cTn id="12" dur="500" fill="hold"/>
                                        <p:tgtEl>
                                          <p:spTgt spid="402436"/>
                                        </p:tgtEl>
                                        <p:attrNameLst>
                                          <p:attrName>ppt_x</p:attrName>
                                        </p:attrNameLst>
                                      </p:cBhvr>
                                      <p:tavLst>
                                        <p:tav tm="0">
                                          <p:val>
                                            <p:strVal val="0-#ppt_w/2"/>
                                          </p:val>
                                        </p:tav>
                                        <p:tav tm="100000">
                                          <p:val>
                                            <p:strVal val="#ppt_x"/>
                                          </p:val>
                                        </p:tav>
                                      </p:tavLst>
                                    </p:anim>
                                    <p:anim calcmode="lin" valueType="num">
                                      <p:cBhvr additive="base">
                                        <p:cTn id="13" dur="500" fill="hold"/>
                                        <p:tgtEl>
                                          <p:spTgt spid="402436"/>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402438"/>
                                        </p:tgtEl>
                                        <p:attrNameLst>
                                          <p:attrName>style.visibility</p:attrName>
                                        </p:attrNameLst>
                                      </p:cBhvr>
                                      <p:to>
                                        <p:strVal val="visible"/>
                                      </p:to>
                                    </p:set>
                                    <p:anim calcmode="lin" valueType="num">
                                      <p:cBhvr additive="base">
                                        <p:cTn id="17" dur="500" fill="hold"/>
                                        <p:tgtEl>
                                          <p:spTgt spid="402438"/>
                                        </p:tgtEl>
                                        <p:attrNameLst>
                                          <p:attrName>ppt_x</p:attrName>
                                        </p:attrNameLst>
                                      </p:cBhvr>
                                      <p:tavLst>
                                        <p:tav tm="0">
                                          <p:val>
                                            <p:strVal val="0-#ppt_w/2"/>
                                          </p:val>
                                        </p:tav>
                                        <p:tav tm="100000">
                                          <p:val>
                                            <p:strVal val="#ppt_x"/>
                                          </p:val>
                                        </p:tav>
                                      </p:tavLst>
                                    </p:anim>
                                    <p:anim calcmode="lin" valueType="num">
                                      <p:cBhvr additive="base">
                                        <p:cTn id="18" dur="500" fill="hold"/>
                                        <p:tgtEl>
                                          <p:spTgt spid="40243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402437"/>
                                        </p:tgtEl>
                                        <p:attrNameLst>
                                          <p:attrName>style.visibility</p:attrName>
                                        </p:attrNameLst>
                                      </p:cBhvr>
                                      <p:to>
                                        <p:strVal val="visible"/>
                                      </p:to>
                                    </p:set>
                                    <p:anim calcmode="lin" valueType="num">
                                      <p:cBhvr additive="base">
                                        <p:cTn id="23" dur="500" fill="hold"/>
                                        <p:tgtEl>
                                          <p:spTgt spid="402437"/>
                                        </p:tgtEl>
                                        <p:attrNameLst>
                                          <p:attrName>ppt_x</p:attrName>
                                        </p:attrNameLst>
                                      </p:cBhvr>
                                      <p:tavLst>
                                        <p:tav tm="0">
                                          <p:val>
                                            <p:strVal val="0-#ppt_w/2"/>
                                          </p:val>
                                        </p:tav>
                                        <p:tav tm="100000">
                                          <p:val>
                                            <p:strVal val="#ppt_x"/>
                                          </p:val>
                                        </p:tav>
                                      </p:tavLst>
                                    </p:anim>
                                    <p:anim calcmode="lin" valueType="num">
                                      <p:cBhvr additive="base">
                                        <p:cTn id="24" dur="500" fill="hold"/>
                                        <p:tgtEl>
                                          <p:spTgt spid="402437"/>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8" fill="hold" nodeType="afterEffect">
                                  <p:stCondLst>
                                    <p:cond delay="0"/>
                                  </p:stCondLst>
                                  <p:childTnLst>
                                    <p:set>
                                      <p:cBhvr>
                                        <p:cTn id="27" dur="1" fill="hold">
                                          <p:stCondLst>
                                            <p:cond delay="0"/>
                                          </p:stCondLst>
                                        </p:cTn>
                                        <p:tgtEl>
                                          <p:spTgt spid="402442"/>
                                        </p:tgtEl>
                                        <p:attrNameLst>
                                          <p:attrName>style.visibility</p:attrName>
                                        </p:attrNameLst>
                                      </p:cBhvr>
                                      <p:to>
                                        <p:strVal val="visible"/>
                                      </p:to>
                                    </p:set>
                                    <p:anim calcmode="lin" valueType="num">
                                      <p:cBhvr additive="base">
                                        <p:cTn id="28" dur="500" fill="hold"/>
                                        <p:tgtEl>
                                          <p:spTgt spid="402442"/>
                                        </p:tgtEl>
                                        <p:attrNameLst>
                                          <p:attrName>ppt_x</p:attrName>
                                        </p:attrNameLst>
                                      </p:cBhvr>
                                      <p:tavLst>
                                        <p:tav tm="0">
                                          <p:val>
                                            <p:strVal val="0-#ppt_w/2"/>
                                          </p:val>
                                        </p:tav>
                                        <p:tav tm="100000">
                                          <p:val>
                                            <p:strVal val="#ppt_x"/>
                                          </p:val>
                                        </p:tav>
                                      </p:tavLst>
                                    </p:anim>
                                    <p:anim calcmode="lin" valueType="num">
                                      <p:cBhvr additive="base">
                                        <p:cTn id="29" dur="500" fill="hold"/>
                                        <p:tgtEl>
                                          <p:spTgt spid="402442"/>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402447"/>
                                        </p:tgtEl>
                                        <p:attrNameLst>
                                          <p:attrName>style.visibility</p:attrName>
                                        </p:attrNameLst>
                                      </p:cBhvr>
                                      <p:to>
                                        <p:strVal val="visible"/>
                                      </p:to>
                                    </p:set>
                                    <p:anim calcmode="lin" valueType="num">
                                      <p:cBhvr additive="base">
                                        <p:cTn id="39" dur="500" fill="hold"/>
                                        <p:tgtEl>
                                          <p:spTgt spid="402447"/>
                                        </p:tgtEl>
                                        <p:attrNameLst>
                                          <p:attrName>ppt_x</p:attrName>
                                        </p:attrNameLst>
                                      </p:cBhvr>
                                      <p:tavLst>
                                        <p:tav tm="0">
                                          <p:val>
                                            <p:strVal val="0-#ppt_w/2"/>
                                          </p:val>
                                        </p:tav>
                                        <p:tav tm="100000">
                                          <p:val>
                                            <p:strVal val="#ppt_x"/>
                                          </p:val>
                                        </p:tav>
                                      </p:tavLst>
                                    </p:anim>
                                    <p:anim calcmode="lin" valueType="num">
                                      <p:cBhvr additive="base">
                                        <p:cTn id="40" dur="500" fill="hold"/>
                                        <p:tgtEl>
                                          <p:spTgt spid="402447"/>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402443"/>
                                        </p:tgtEl>
                                        <p:attrNameLst>
                                          <p:attrName>style.visibility</p:attrName>
                                        </p:attrNameLst>
                                      </p:cBhvr>
                                      <p:to>
                                        <p:strVal val="visible"/>
                                      </p:to>
                                    </p:set>
                                    <p:anim calcmode="lin" valueType="num">
                                      <p:cBhvr additive="base">
                                        <p:cTn id="45" dur="500" fill="hold"/>
                                        <p:tgtEl>
                                          <p:spTgt spid="402443"/>
                                        </p:tgtEl>
                                        <p:attrNameLst>
                                          <p:attrName>ppt_x</p:attrName>
                                        </p:attrNameLst>
                                      </p:cBhvr>
                                      <p:tavLst>
                                        <p:tav tm="0">
                                          <p:val>
                                            <p:strVal val="0-#ppt_w/2"/>
                                          </p:val>
                                        </p:tav>
                                        <p:tav tm="100000">
                                          <p:val>
                                            <p:strVal val="#ppt_x"/>
                                          </p:val>
                                        </p:tav>
                                      </p:tavLst>
                                    </p:anim>
                                    <p:anim calcmode="lin" valueType="num">
                                      <p:cBhvr additive="base">
                                        <p:cTn id="46" dur="500" fill="hold"/>
                                        <p:tgtEl>
                                          <p:spTgt spid="402443"/>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402452"/>
                                        </p:tgtEl>
                                        <p:attrNameLst>
                                          <p:attrName>style.visibility</p:attrName>
                                        </p:attrNameLst>
                                      </p:cBhvr>
                                      <p:to>
                                        <p:strVal val="visible"/>
                                      </p:to>
                                    </p:set>
                                    <p:anim calcmode="lin" valueType="num">
                                      <p:cBhvr additive="base">
                                        <p:cTn id="51" dur="500" fill="hold"/>
                                        <p:tgtEl>
                                          <p:spTgt spid="402452"/>
                                        </p:tgtEl>
                                        <p:attrNameLst>
                                          <p:attrName>ppt_x</p:attrName>
                                        </p:attrNameLst>
                                      </p:cBhvr>
                                      <p:tavLst>
                                        <p:tav tm="0">
                                          <p:val>
                                            <p:strVal val="0-#ppt_w/2"/>
                                          </p:val>
                                        </p:tav>
                                        <p:tav tm="100000">
                                          <p:val>
                                            <p:strVal val="#ppt_x"/>
                                          </p:val>
                                        </p:tav>
                                      </p:tavLst>
                                    </p:anim>
                                    <p:anim calcmode="lin" valueType="num">
                                      <p:cBhvr additive="base">
                                        <p:cTn id="52" dur="500" fill="hold"/>
                                        <p:tgtEl>
                                          <p:spTgt spid="402452"/>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402451"/>
                                        </p:tgtEl>
                                        <p:attrNameLst>
                                          <p:attrName>style.visibility</p:attrName>
                                        </p:attrNameLst>
                                      </p:cBhvr>
                                      <p:to>
                                        <p:strVal val="visible"/>
                                      </p:to>
                                    </p:set>
                                    <p:anim calcmode="lin" valueType="num">
                                      <p:cBhvr additive="base">
                                        <p:cTn id="57" dur="500" fill="hold"/>
                                        <p:tgtEl>
                                          <p:spTgt spid="402451"/>
                                        </p:tgtEl>
                                        <p:attrNameLst>
                                          <p:attrName>ppt_x</p:attrName>
                                        </p:attrNameLst>
                                      </p:cBhvr>
                                      <p:tavLst>
                                        <p:tav tm="0">
                                          <p:val>
                                            <p:strVal val="0-#ppt_w/2"/>
                                          </p:val>
                                        </p:tav>
                                        <p:tav tm="100000">
                                          <p:val>
                                            <p:strVal val="#ppt_x"/>
                                          </p:val>
                                        </p:tav>
                                      </p:tavLst>
                                    </p:anim>
                                    <p:anim calcmode="lin" valueType="num">
                                      <p:cBhvr additive="base">
                                        <p:cTn id="58" dur="500" fill="hold"/>
                                        <p:tgtEl>
                                          <p:spTgt spid="402451"/>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402444"/>
                                        </p:tgtEl>
                                        <p:attrNameLst>
                                          <p:attrName>style.visibility</p:attrName>
                                        </p:attrNameLst>
                                      </p:cBhvr>
                                      <p:to>
                                        <p:strVal val="visible"/>
                                      </p:to>
                                    </p:set>
                                    <p:anim calcmode="lin" valueType="num">
                                      <p:cBhvr additive="base">
                                        <p:cTn id="63" dur="500" fill="hold"/>
                                        <p:tgtEl>
                                          <p:spTgt spid="402444"/>
                                        </p:tgtEl>
                                        <p:attrNameLst>
                                          <p:attrName>ppt_x</p:attrName>
                                        </p:attrNameLst>
                                      </p:cBhvr>
                                      <p:tavLst>
                                        <p:tav tm="0">
                                          <p:val>
                                            <p:strVal val="0-#ppt_w/2"/>
                                          </p:val>
                                        </p:tav>
                                        <p:tav tm="100000">
                                          <p:val>
                                            <p:strVal val="#ppt_x"/>
                                          </p:val>
                                        </p:tav>
                                      </p:tavLst>
                                    </p:anim>
                                    <p:anim calcmode="lin" valueType="num">
                                      <p:cBhvr additive="base">
                                        <p:cTn id="64" dur="500" fill="hold"/>
                                        <p:tgtEl>
                                          <p:spTgt spid="402444"/>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402445"/>
                                        </p:tgtEl>
                                        <p:attrNameLst>
                                          <p:attrName>style.visibility</p:attrName>
                                        </p:attrNameLst>
                                      </p:cBhvr>
                                      <p:to>
                                        <p:strVal val="visible"/>
                                      </p:to>
                                    </p:set>
                                    <p:anim calcmode="lin" valueType="num">
                                      <p:cBhvr additive="base">
                                        <p:cTn id="69" dur="500" fill="hold"/>
                                        <p:tgtEl>
                                          <p:spTgt spid="402445"/>
                                        </p:tgtEl>
                                        <p:attrNameLst>
                                          <p:attrName>ppt_x</p:attrName>
                                        </p:attrNameLst>
                                      </p:cBhvr>
                                      <p:tavLst>
                                        <p:tav tm="0">
                                          <p:val>
                                            <p:strVal val="0-#ppt_w/2"/>
                                          </p:val>
                                        </p:tav>
                                        <p:tav tm="100000">
                                          <p:val>
                                            <p:strVal val="#ppt_x"/>
                                          </p:val>
                                        </p:tav>
                                      </p:tavLst>
                                    </p:anim>
                                    <p:anim calcmode="lin" valueType="num">
                                      <p:cBhvr additive="base">
                                        <p:cTn id="70" dur="500" fill="hold"/>
                                        <p:tgtEl>
                                          <p:spTgt spid="4024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6" grpId="0"/>
      <p:bldP spid="402437" grpId="0"/>
      <p:bldP spid="402443" grpId="0"/>
      <p:bldP spid="402444" grpId="0"/>
      <p:bldP spid="402445" grpId="0"/>
      <p:bldP spid="402447" grpId="0"/>
      <p:bldP spid="402451" grpId="0"/>
      <p:bldP spid="40245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457200" y="457200"/>
            <a:ext cx="8147050" cy="811213"/>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6.5.6  逗号表达式</a:t>
            </a:r>
            <a:endParaRPr lang="zh-CN" altLang="en-US" b="0" dirty="0">
              <a:sym typeface="+mn-ea"/>
            </a:endParaRPr>
          </a:p>
        </p:txBody>
      </p:sp>
      <p:sp>
        <p:nvSpPr>
          <p:cNvPr id="425987" name="Rectangle 3"/>
          <p:cNvSpPr>
            <a:spLocks noGrp="1"/>
          </p:cNvSpPr>
          <p:nvPr>
            <p:ph idx="1"/>
          </p:nvPr>
        </p:nvSpPr>
        <p:spPr>
          <a:xfrm>
            <a:off x="533400" y="1371600"/>
            <a:ext cx="8229600" cy="4419600"/>
          </a:xfrm>
        </p:spPr>
        <p:txBody>
          <a:bodyPr vert="horz" wrap="square" lIns="91440" tIns="45720" rIns="91440" bIns="45720" anchor="t" anchorCtr="0"/>
          <a:p>
            <a:pPr algn="just" eaLnBrk="1" hangingPunct="1">
              <a:lnSpc>
                <a:spcPct val="80000"/>
              </a:lnSpc>
              <a:buNone/>
            </a:pPr>
            <a:r>
              <a:rPr lang="zh-CN" altLang="en-US" b="0" dirty="0"/>
              <a:t>表达式1</a:t>
            </a:r>
            <a:r>
              <a:rPr lang="zh-CN" altLang="en-US" b="0" dirty="0">
                <a:solidFill>
                  <a:srgbClr val="CC0066"/>
                </a:solidFill>
              </a:rPr>
              <a:t>,</a:t>
            </a:r>
            <a:r>
              <a:rPr lang="zh-CN" altLang="en-US" b="0" dirty="0">
                <a:solidFill>
                  <a:schemeClr val="bg2"/>
                </a:solidFill>
              </a:rPr>
              <a:t> </a:t>
            </a:r>
            <a:r>
              <a:rPr lang="zh-CN" altLang="en-US" b="0" dirty="0"/>
              <a:t>表达式2</a:t>
            </a:r>
            <a:r>
              <a:rPr lang="zh-CN" altLang="en-US" b="0" dirty="0">
                <a:solidFill>
                  <a:srgbClr val="CC0066"/>
                </a:solidFill>
              </a:rPr>
              <a:t>, </a:t>
            </a:r>
            <a:r>
              <a:rPr lang="zh-CN" altLang="en-US" b="0" dirty="0"/>
              <a:t> ……</a:t>
            </a:r>
            <a:r>
              <a:rPr lang="en-US" altLang="zh-CN" b="0">
                <a:solidFill>
                  <a:srgbClr val="CC0066"/>
                </a:solidFill>
              </a:rPr>
              <a:t>,</a:t>
            </a:r>
            <a:r>
              <a:rPr lang="en-US" altLang="zh-CN" b="0"/>
              <a:t> </a:t>
            </a:r>
            <a:r>
              <a:rPr lang="zh-CN" altLang="en-US" b="0" dirty="0"/>
              <a:t>表达式</a:t>
            </a:r>
            <a:r>
              <a:rPr lang="en-US" altLang="zh-CN" b="0"/>
              <a:t>n</a:t>
            </a:r>
            <a:endParaRPr lang="en-US" altLang="zh-CN" b="0"/>
          </a:p>
          <a:p>
            <a:pPr lvl="1" algn="just" eaLnBrk="1" hangingPunct="1">
              <a:lnSpc>
                <a:spcPct val="80000"/>
              </a:lnSpc>
              <a:buNone/>
            </a:pPr>
            <a:endParaRPr lang="en-US" altLang="zh-CN" sz="3200" b="0"/>
          </a:p>
          <a:p>
            <a:pPr lvl="1" algn="just" eaLnBrk="1" hangingPunct="1">
              <a:lnSpc>
                <a:spcPct val="95000"/>
              </a:lnSpc>
              <a:buNone/>
            </a:pPr>
            <a:r>
              <a:rPr lang="zh-CN" altLang="en-US" b="0" dirty="0"/>
              <a:t>先计算表达式１，然后计算表达式２,……，最后计算表达式</a:t>
            </a:r>
            <a:r>
              <a:rPr lang="en-US" altLang="zh-CN" b="0"/>
              <a:t>n</a:t>
            </a:r>
            <a:r>
              <a:rPr lang="zh-CN" altLang="en-US" b="0" dirty="0"/>
              <a:t>的值，并将表达式</a:t>
            </a:r>
            <a:r>
              <a:rPr lang="en-US" altLang="zh-CN" b="0"/>
              <a:t>n</a:t>
            </a:r>
            <a:r>
              <a:rPr lang="zh-CN" altLang="en-US" b="0" dirty="0"/>
              <a:t>的值作为逗号表达式的值.</a:t>
            </a:r>
            <a:endParaRPr lang="zh-CN" altLang="en-US" b="0" dirty="0"/>
          </a:p>
          <a:p>
            <a:pPr algn="just" eaLnBrk="1" hangingPunct="1">
              <a:lnSpc>
                <a:spcPct val="80000"/>
              </a:lnSpc>
              <a:buNone/>
            </a:pPr>
            <a:endParaRPr lang="zh-CN" altLang="en-US" sz="2800" b="0" dirty="0"/>
          </a:p>
          <a:p>
            <a:pPr lvl="1" algn="just" eaLnBrk="1" hangingPunct="1">
              <a:lnSpc>
                <a:spcPct val="80000"/>
              </a:lnSpc>
              <a:buNone/>
            </a:pPr>
            <a:r>
              <a:rPr lang="en-US" altLang="zh-CN" b="0" err="1"/>
              <a:t>int</a:t>
            </a:r>
            <a:r>
              <a:rPr lang="en-US" altLang="zh-CN" b="0"/>
              <a:t> a, b, c;</a:t>
            </a:r>
            <a:endParaRPr lang="en-US" altLang="zh-CN" b="0"/>
          </a:p>
          <a:p>
            <a:pPr lvl="1" algn="just" eaLnBrk="1" hangingPunct="1">
              <a:lnSpc>
                <a:spcPct val="80000"/>
              </a:lnSpc>
              <a:buNone/>
            </a:pPr>
            <a:r>
              <a:rPr lang="en-US" altLang="zh-CN" b="0"/>
              <a:t>(a=2), (b=3), (c=</a:t>
            </a:r>
            <a:r>
              <a:rPr lang="en-US" altLang="zh-CN" b="0" err="1"/>
              <a:t>a+b</a:t>
            </a:r>
            <a:r>
              <a:rPr lang="en-US" altLang="zh-CN" b="0"/>
              <a:t>);</a:t>
            </a:r>
            <a:endParaRPr lang="en-US" altLang="zh-CN" b="0"/>
          </a:p>
          <a:p>
            <a:pPr lvl="1" algn="just" eaLnBrk="1" hangingPunct="1">
              <a:lnSpc>
                <a:spcPct val="80000"/>
              </a:lnSpc>
              <a:buNone/>
            </a:pPr>
            <a:endParaRPr lang="zh-CN" altLang="en-US" b="0" dirty="0"/>
          </a:p>
          <a:p>
            <a:pPr lvl="1" algn="just" eaLnBrk="1" hangingPunct="1">
              <a:lnSpc>
                <a:spcPct val="80000"/>
              </a:lnSpc>
              <a:buNone/>
            </a:pPr>
            <a:r>
              <a:rPr lang="zh-CN" altLang="en-US" b="0" dirty="0"/>
              <a:t>逗号运算符的优先级最低，左结合</a:t>
            </a:r>
            <a:endParaRPr lang="en-US" altLang="zh-CN" b="0"/>
          </a:p>
        </p:txBody>
      </p:sp>
      <p:sp>
        <p:nvSpPr>
          <p:cNvPr id="425988" name="Rectangle 4"/>
          <p:cNvSpPr/>
          <p:nvPr/>
        </p:nvSpPr>
        <p:spPr>
          <a:xfrm>
            <a:off x="5173186" y="3860800"/>
            <a:ext cx="3361690" cy="478155"/>
          </a:xfrm>
          <a:prstGeom prst="rect">
            <a:avLst/>
          </a:prstGeom>
          <a:noFill/>
          <a:ln w="9525">
            <a:noFill/>
          </a:ln>
        </p:spPr>
        <p:txBody>
          <a:bodyPr wrap="none" lIns="92075" tIns="46038" rIns="92075" bIns="46038" anchor="t" anchorCtr="0">
            <a:spAutoFit/>
          </a:bodyPr>
          <a:p>
            <a:pPr algn="just">
              <a:lnSpc>
                <a:spcPct val="90000"/>
              </a:lnSpc>
              <a:spcBef>
                <a:spcPct val="20000"/>
              </a:spcBef>
              <a:buClr>
                <a:schemeClr val="tx2"/>
              </a:buClr>
              <a:buSzPct val="80000"/>
            </a:pPr>
            <a:r>
              <a:rPr lang="en-US" altLang="zh-CN" sz="2800">
                <a:latin typeface="Arial" panose="02080604020202020204" pitchFamily="34" charset="0"/>
              </a:rPr>
              <a:t>a=2, b=3, c=</a:t>
            </a:r>
            <a:r>
              <a:rPr lang="en-US" altLang="zh-CN" sz="2800" err="1">
                <a:latin typeface="Arial" panose="02080604020202020204" pitchFamily="34" charset="0"/>
              </a:rPr>
              <a:t>a+b</a:t>
            </a:r>
            <a:endParaRPr lang="zh-CN" altLang="en-US" sz="2800" dirty="0">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5987">
                                            <p:txEl>
                                              <p:charRg st="0" end="22"/>
                                            </p:txEl>
                                          </p:spTgt>
                                        </p:tgtEl>
                                        <p:attrNameLst>
                                          <p:attrName>style.visibility</p:attrName>
                                        </p:attrNameLst>
                                      </p:cBhvr>
                                      <p:to>
                                        <p:strVal val="visible"/>
                                      </p:to>
                                    </p:set>
                                    <p:anim calcmode="lin" valueType="num">
                                      <p:cBhvr additive="base">
                                        <p:cTn id="7" dur="500" fill="hold"/>
                                        <p:tgtEl>
                                          <p:spTgt spid="425987">
                                            <p:txEl>
                                              <p:charRg st="0" end="2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25987">
                                            <p:txEl>
                                              <p:charRg st="0" end="2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25987">
                                            <p:txEl>
                                              <p:charRg st="23" end="73"/>
                                            </p:txEl>
                                          </p:spTgt>
                                        </p:tgtEl>
                                        <p:attrNameLst>
                                          <p:attrName>style.visibility</p:attrName>
                                        </p:attrNameLst>
                                      </p:cBhvr>
                                      <p:to>
                                        <p:strVal val="visible"/>
                                      </p:to>
                                    </p:set>
                                    <p:anim calcmode="lin" valueType="num">
                                      <p:cBhvr additive="base">
                                        <p:cTn id="13" dur="500" fill="hold"/>
                                        <p:tgtEl>
                                          <p:spTgt spid="425987">
                                            <p:txEl>
                                              <p:charRg st="23" end="7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25987">
                                            <p:txEl>
                                              <p:charRg st="23" end="7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25987">
                                            <p:txEl>
                                              <p:charRg st="74" end="87"/>
                                            </p:txEl>
                                          </p:spTgt>
                                        </p:tgtEl>
                                        <p:attrNameLst>
                                          <p:attrName>style.visibility</p:attrName>
                                        </p:attrNameLst>
                                      </p:cBhvr>
                                      <p:to>
                                        <p:strVal val="visible"/>
                                      </p:to>
                                    </p:set>
                                    <p:anim calcmode="lin" valueType="num">
                                      <p:cBhvr additive="base">
                                        <p:cTn id="19" dur="500" fill="hold"/>
                                        <p:tgtEl>
                                          <p:spTgt spid="425987">
                                            <p:txEl>
                                              <p:charRg st="74" end="87"/>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25987">
                                            <p:txEl>
                                              <p:charRg st="74" end="87"/>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25987">
                                            <p:txEl>
                                              <p:charRg st="87" end="110"/>
                                            </p:txEl>
                                          </p:spTgt>
                                        </p:tgtEl>
                                        <p:attrNameLst>
                                          <p:attrName>style.visibility</p:attrName>
                                        </p:attrNameLst>
                                      </p:cBhvr>
                                      <p:to>
                                        <p:strVal val="visible"/>
                                      </p:to>
                                    </p:set>
                                    <p:anim calcmode="lin" valueType="num">
                                      <p:cBhvr additive="base">
                                        <p:cTn id="25" dur="500" fill="hold"/>
                                        <p:tgtEl>
                                          <p:spTgt spid="425987">
                                            <p:txEl>
                                              <p:charRg st="87" end="11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25987">
                                            <p:txEl>
                                              <p:charRg st="87" end="11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25987">
                                            <p:txEl>
                                              <p:charRg st="111" end="127"/>
                                            </p:txEl>
                                          </p:spTgt>
                                        </p:tgtEl>
                                        <p:attrNameLst>
                                          <p:attrName>style.visibility</p:attrName>
                                        </p:attrNameLst>
                                      </p:cBhvr>
                                      <p:to>
                                        <p:strVal val="visible"/>
                                      </p:to>
                                    </p:set>
                                    <p:anim calcmode="lin" valueType="num">
                                      <p:cBhvr additive="base">
                                        <p:cTn id="31" dur="500" fill="hold"/>
                                        <p:tgtEl>
                                          <p:spTgt spid="425987">
                                            <p:txEl>
                                              <p:charRg st="111" end="12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25987">
                                            <p:txEl>
                                              <p:charRg st="111" end="127"/>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25988"/>
                                        </p:tgtEl>
                                        <p:attrNameLst>
                                          <p:attrName>style.visibility</p:attrName>
                                        </p:attrNameLst>
                                      </p:cBhvr>
                                      <p:to>
                                        <p:strVal val="visible"/>
                                      </p:to>
                                    </p:set>
                                    <p:anim calcmode="lin" valueType="num">
                                      <p:cBhvr additive="base">
                                        <p:cTn id="37" dur="500" fill="hold"/>
                                        <p:tgtEl>
                                          <p:spTgt spid="425988"/>
                                        </p:tgtEl>
                                        <p:attrNameLst>
                                          <p:attrName>ppt_x</p:attrName>
                                        </p:attrNameLst>
                                      </p:cBhvr>
                                      <p:tavLst>
                                        <p:tav tm="0">
                                          <p:val>
                                            <p:strVal val="0-#ppt_w/2"/>
                                          </p:val>
                                        </p:tav>
                                        <p:tav tm="100000">
                                          <p:val>
                                            <p:strVal val="#ppt_x"/>
                                          </p:val>
                                        </p:tav>
                                      </p:tavLst>
                                    </p:anim>
                                    <p:anim calcmode="lin" valueType="num">
                                      <p:cBhvr additive="base">
                                        <p:cTn id="38" dur="500" fill="hold"/>
                                        <p:tgtEl>
                                          <p:spTgt spid="4259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7" grpId="0" bldLvl="2" uiExpand="1" build="p"/>
      <p:bldP spid="42598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idx="1"/>
          </p:nvPr>
        </p:nvSpPr>
        <p:spPr>
          <a:xfrm>
            <a:off x="609600" y="1447800"/>
            <a:ext cx="6910388" cy="1600200"/>
          </a:xfrm>
        </p:spPr>
        <p:txBody>
          <a:bodyPr vert="horz" wrap="square" lIns="91440" tIns="45720" rIns="91440" bIns="45720" anchor="t" anchorCtr="0"/>
          <a:p>
            <a:pPr algn="just" eaLnBrk="1" hangingPunct="1">
              <a:buClr>
                <a:schemeClr val="tx2"/>
              </a:buClr>
              <a:buFontTx/>
              <a:buNone/>
            </a:pPr>
            <a:r>
              <a:rPr lang="en-US" altLang="zh-CN" sz="2800" b="0">
                <a:ea typeface="Arial Unicode MS" pitchFamily="34" charset="-122"/>
              </a:rPr>
              <a:t>sum = 0;</a:t>
            </a:r>
            <a:endParaRPr lang="en-US" altLang="zh-CN" sz="2800" b="0">
              <a:ea typeface="Arial Unicode MS" pitchFamily="34" charset="-122"/>
            </a:endParaRPr>
          </a:p>
          <a:p>
            <a:pPr algn="just" eaLnBrk="1" hangingPunct="1">
              <a:buClr>
                <a:schemeClr val="tx2"/>
              </a:buClr>
              <a:buFontTx/>
              <a:buNone/>
            </a:pPr>
            <a:r>
              <a:rPr lang="en-US" altLang="zh-CN" sz="2800" b="0" err="1">
                <a:ea typeface="Arial Unicode MS" pitchFamily="34" charset="-122"/>
              </a:rPr>
              <a:t>for(i</a:t>
            </a:r>
            <a:r>
              <a:rPr lang="en-US" altLang="zh-CN" sz="2800" b="0">
                <a:ea typeface="Arial Unicode MS" pitchFamily="34" charset="-122"/>
              </a:rPr>
              <a:t> = 0; i &lt;= 100; i++)</a:t>
            </a:r>
            <a:endParaRPr lang="en-US" altLang="zh-CN" sz="2800" b="0">
              <a:ea typeface="Arial Unicode MS" pitchFamily="34" charset="-122"/>
            </a:endParaRPr>
          </a:p>
          <a:p>
            <a:pPr algn="just" eaLnBrk="1" hangingPunct="1">
              <a:buClr>
                <a:schemeClr val="tx2"/>
              </a:buClr>
              <a:buFontTx/>
              <a:buNone/>
            </a:pPr>
            <a:r>
              <a:rPr lang="en-US" altLang="zh-CN" sz="2800" b="0">
                <a:ea typeface="Arial Unicode MS" pitchFamily="34" charset="-122"/>
              </a:rPr>
              <a:t>    sum = </a:t>
            </a:r>
            <a:r>
              <a:rPr lang="en-US" altLang="zh-CN" sz="2800" b="0" err="1">
                <a:ea typeface="Arial Unicode MS" pitchFamily="34" charset="-122"/>
              </a:rPr>
              <a:t>sum</a:t>
            </a:r>
            <a:r>
              <a:rPr lang="en-US" altLang="zh-CN" sz="2800" b="0">
                <a:ea typeface="Arial Unicode MS" pitchFamily="34" charset="-122"/>
              </a:rPr>
              <a:t> + i;</a:t>
            </a:r>
            <a:endParaRPr lang="en-US" altLang="zh-CN" sz="2800" b="0">
              <a:ea typeface="Arial Unicode MS" pitchFamily="34" charset="-122"/>
            </a:endParaRPr>
          </a:p>
        </p:txBody>
      </p:sp>
      <p:sp>
        <p:nvSpPr>
          <p:cNvPr id="78851" name="Rectangle 3"/>
          <p:cNvSpPr>
            <a:spLocks noGrp="1"/>
          </p:cNvSpPr>
          <p:nvPr>
            <p:ph type="title"/>
          </p:nvPr>
        </p:nvSpPr>
        <p:spPr>
          <a:xfrm>
            <a:off x="539750" y="620713"/>
            <a:ext cx="8229600" cy="762000"/>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逗号表达式的用途</a:t>
            </a:r>
            <a:endParaRPr lang="zh-CN" altLang="en-US" b="0" dirty="0">
              <a:sym typeface="+mn-ea"/>
            </a:endParaRPr>
          </a:p>
        </p:txBody>
      </p:sp>
      <p:sp>
        <p:nvSpPr>
          <p:cNvPr id="427012" name="Rectangle 4"/>
          <p:cNvSpPr/>
          <p:nvPr/>
        </p:nvSpPr>
        <p:spPr>
          <a:xfrm>
            <a:off x="609600" y="3352800"/>
            <a:ext cx="6910388" cy="1143000"/>
          </a:xfrm>
          <a:prstGeom prst="rect">
            <a:avLst/>
          </a:prstGeom>
          <a:noFill/>
          <a:ln w="9525" cap="rnd" cmpd="sng">
            <a:solidFill>
              <a:schemeClr val="tx1"/>
            </a:solidFill>
            <a:prstDash val="sysDot"/>
            <a:miter/>
            <a:headEnd type="none" w="med" len="med"/>
            <a:tailEnd type="none" w="med" len="med"/>
          </a:ln>
        </p:spPr>
        <p:txBody>
          <a:bodyPr lIns="92075" tIns="46038" rIns="92075" bIns="46038" anchor="t" anchorCtr="0"/>
          <a:p>
            <a:pPr marL="342900" indent="-342900" algn="just">
              <a:spcBef>
                <a:spcPct val="20000"/>
              </a:spcBef>
              <a:buClr>
                <a:schemeClr val="tx2"/>
              </a:buClr>
              <a:buSzPct val="80000"/>
            </a:pPr>
            <a:r>
              <a:rPr lang="en-US" altLang="zh-CN" sz="2800" err="1">
                <a:latin typeface="Arial" panose="02080604020202020204" pitchFamily="34" charset="0"/>
                <a:ea typeface="Arial Unicode MS" pitchFamily="34" charset="-122"/>
              </a:rPr>
              <a:t>for(</a:t>
            </a:r>
            <a:r>
              <a:rPr lang="en-US" altLang="zh-CN" sz="2800" err="1">
                <a:solidFill>
                  <a:schemeClr val="bg2"/>
                </a:solidFill>
                <a:latin typeface="Arial" panose="02080604020202020204" pitchFamily="34" charset="0"/>
                <a:ea typeface="Arial Unicode MS" pitchFamily="34" charset="-122"/>
              </a:rPr>
              <a:t>i</a:t>
            </a:r>
            <a:r>
              <a:rPr lang="en-US" altLang="zh-CN" sz="2800">
                <a:solidFill>
                  <a:schemeClr val="bg2"/>
                </a:solidFill>
                <a:latin typeface="Arial" panose="02080604020202020204" pitchFamily="34" charset="0"/>
                <a:ea typeface="Arial Unicode MS" pitchFamily="34" charset="-122"/>
              </a:rPr>
              <a:t> = 0, sum = 0</a:t>
            </a:r>
            <a:r>
              <a:rPr lang="en-US" altLang="zh-CN" sz="2800">
                <a:latin typeface="Arial" panose="02080604020202020204" pitchFamily="34" charset="0"/>
                <a:ea typeface="Arial Unicode MS" pitchFamily="34" charset="-122"/>
              </a:rPr>
              <a:t>; i &lt;= 100; i++)</a:t>
            </a:r>
            <a:endParaRPr lang="en-US" altLang="zh-CN" sz="2800">
              <a:latin typeface="Arial" panose="02080604020202020204" pitchFamily="34" charset="0"/>
              <a:ea typeface="Arial Unicode MS" pitchFamily="34" charset="-122"/>
            </a:endParaRPr>
          </a:p>
          <a:p>
            <a:pPr marL="342900" indent="-342900" algn="just">
              <a:spcBef>
                <a:spcPct val="20000"/>
              </a:spcBef>
              <a:buClr>
                <a:schemeClr val="tx2"/>
              </a:buClr>
              <a:buSzPct val="80000"/>
            </a:pPr>
            <a:r>
              <a:rPr lang="en-US" altLang="zh-CN" sz="2800">
                <a:latin typeface="Arial" panose="02080604020202020204" pitchFamily="34" charset="0"/>
                <a:ea typeface="Arial Unicode MS" pitchFamily="34" charset="-122"/>
              </a:rPr>
              <a:t>    sum = </a:t>
            </a:r>
            <a:r>
              <a:rPr lang="en-US" altLang="zh-CN" sz="2800" err="1">
                <a:latin typeface="Arial" panose="02080604020202020204" pitchFamily="34" charset="0"/>
                <a:ea typeface="Arial Unicode MS" pitchFamily="34" charset="-122"/>
              </a:rPr>
              <a:t>sum</a:t>
            </a:r>
            <a:r>
              <a:rPr lang="en-US" altLang="zh-CN" sz="2800">
                <a:latin typeface="Arial" panose="02080604020202020204" pitchFamily="34" charset="0"/>
                <a:ea typeface="Arial Unicode MS" pitchFamily="34" charset="-122"/>
              </a:rPr>
              <a:t> + i;</a:t>
            </a:r>
            <a:endParaRPr lang="en-US" altLang="zh-CN" sz="2800">
              <a:latin typeface="Arial" panose="02080604020202020204" pitchFamily="34" charset="0"/>
              <a:ea typeface="Arial Unicode MS" pitchFamily="34" charset="-122"/>
            </a:endParaRPr>
          </a:p>
        </p:txBody>
      </p:sp>
      <p:sp>
        <p:nvSpPr>
          <p:cNvPr id="427013" name="Rectangle 5"/>
          <p:cNvSpPr/>
          <p:nvPr/>
        </p:nvSpPr>
        <p:spPr>
          <a:xfrm>
            <a:off x="1371600" y="5029200"/>
            <a:ext cx="6815138" cy="990600"/>
          </a:xfrm>
          <a:prstGeom prst="rect">
            <a:avLst/>
          </a:prstGeom>
          <a:noFill/>
          <a:ln w="9525" cap="rnd" cmpd="sng">
            <a:solidFill>
              <a:schemeClr val="tx1"/>
            </a:solidFill>
            <a:prstDash val="sysDot"/>
            <a:miter/>
            <a:headEnd type="none" w="med" len="med"/>
            <a:tailEnd type="none" w="med" len="med"/>
          </a:ln>
        </p:spPr>
        <p:txBody>
          <a:bodyPr lIns="92075" tIns="46038" rIns="92075" bIns="46038" anchor="t" anchorCtr="0"/>
          <a:p>
            <a:pPr marL="342900" indent="-342900" algn="just">
              <a:spcBef>
                <a:spcPct val="20000"/>
              </a:spcBef>
              <a:buClr>
                <a:schemeClr val="tx2"/>
              </a:buClr>
              <a:buSzPct val="80000"/>
            </a:pPr>
            <a:r>
              <a:rPr lang="en-US" altLang="zh-CN" sz="2800" err="1">
                <a:latin typeface="Arial" panose="02080604020202020204" pitchFamily="34" charset="0"/>
                <a:ea typeface="Arial Unicode MS" pitchFamily="34" charset="-122"/>
              </a:rPr>
              <a:t>for(</a:t>
            </a:r>
            <a:r>
              <a:rPr lang="en-US" altLang="zh-CN" sz="2800" err="1">
                <a:solidFill>
                  <a:schemeClr val="bg2"/>
                </a:solidFill>
                <a:latin typeface="Arial" panose="02080604020202020204" pitchFamily="34" charset="0"/>
                <a:ea typeface="Arial Unicode MS" pitchFamily="34" charset="-122"/>
              </a:rPr>
              <a:t>i</a:t>
            </a:r>
            <a:r>
              <a:rPr lang="en-US" altLang="zh-CN" sz="2800">
                <a:solidFill>
                  <a:schemeClr val="bg2"/>
                </a:solidFill>
                <a:latin typeface="Arial" panose="02080604020202020204" pitchFamily="34" charset="0"/>
                <a:ea typeface="Arial Unicode MS" pitchFamily="34" charset="-122"/>
              </a:rPr>
              <a:t> = 0, j= 100</a:t>
            </a:r>
            <a:r>
              <a:rPr lang="en-US" altLang="zh-CN" sz="2800">
                <a:latin typeface="Arial" panose="02080604020202020204" pitchFamily="34" charset="0"/>
                <a:ea typeface="Arial Unicode MS" pitchFamily="34" charset="-122"/>
              </a:rPr>
              <a:t>; i &lt;= j; i++, j- -)</a:t>
            </a:r>
            <a:endParaRPr lang="en-US" altLang="zh-CN" sz="2800">
              <a:latin typeface="Arial" panose="02080604020202020204" pitchFamily="34" charset="0"/>
              <a:ea typeface="Arial Unicode MS" pitchFamily="34" charset="-122"/>
            </a:endParaRPr>
          </a:p>
          <a:p>
            <a:pPr marL="342900" indent="-342900" algn="just">
              <a:spcBef>
                <a:spcPct val="20000"/>
              </a:spcBef>
              <a:buClr>
                <a:schemeClr val="tx2"/>
              </a:buClr>
              <a:buSzPct val="80000"/>
            </a:pPr>
            <a:r>
              <a:rPr lang="en-US" altLang="zh-CN" sz="2800">
                <a:latin typeface="Arial" panose="02080604020202020204" pitchFamily="34" charset="0"/>
                <a:ea typeface="Arial Unicode MS" pitchFamily="34" charset="-122"/>
              </a:rPr>
              <a:t>    sum +</a:t>
            </a:r>
            <a:r>
              <a:rPr lang="en-US" altLang="zh-CN" sz="2800">
                <a:solidFill>
                  <a:schemeClr val="bg2"/>
                </a:solidFill>
                <a:latin typeface="Arial" panose="02080604020202020204" pitchFamily="34" charset="0"/>
                <a:ea typeface="Arial Unicode MS" pitchFamily="34" charset="-122"/>
              </a:rPr>
              <a:t>=</a:t>
            </a:r>
            <a:r>
              <a:rPr lang="en-US" altLang="zh-CN" sz="2800">
                <a:latin typeface="Arial" panose="02080604020202020204" pitchFamily="34" charset="0"/>
                <a:ea typeface="Arial Unicode MS" pitchFamily="34" charset="-122"/>
              </a:rPr>
              <a:t> i + j ;</a:t>
            </a:r>
            <a:endParaRPr lang="en-US" altLang="zh-CN" sz="2800">
              <a:latin typeface="Arial" panose="02080604020202020204" pitchFamily="34" charset="0"/>
              <a:ea typeface="Arial Unicode MS"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7012"/>
                                        </p:tgtEl>
                                        <p:attrNameLst>
                                          <p:attrName>style.visibility</p:attrName>
                                        </p:attrNameLst>
                                      </p:cBhvr>
                                      <p:to>
                                        <p:strVal val="visible"/>
                                      </p:to>
                                    </p:set>
                                    <p:anim calcmode="lin" valueType="num">
                                      <p:cBhvr additive="base">
                                        <p:cTn id="7" dur="500" fill="hold"/>
                                        <p:tgtEl>
                                          <p:spTgt spid="427012"/>
                                        </p:tgtEl>
                                        <p:attrNameLst>
                                          <p:attrName>ppt_x</p:attrName>
                                        </p:attrNameLst>
                                      </p:cBhvr>
                                      <p:tavLst>
                                        <p:tav tm="0">
                                          <p:val>
                                            <p:strVal val="0-#ppt_w/2"/>
                                          </p:val>
                                        </p:tav>
                                        <p:tav tm="100000">
                                          <p:val>
                                            <p:strVal val="#ppt_x"/>
                                          </p:val>
                                        </p:tav>
                                      </p:tavLst>
                                    </p:anim>
                                    <p:anim calcmode="lin" valueType="num">
                                      <p:cBhvr additive="base">
                                        <p:cTn id="8" dur="500" fill="hold"/>
                                        <p:tgtEl>
                                          <p:spTgt spid="4270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27013"/>
                                        </p:tgtEl>
                                        <p:attrNameLst>
                                          <p:attrName>style.visibility</p:attrName>
                                        </p:attrNameLst>
                                      </p:cBhvr>
                                      <p:to>
                                        <p:strVal val="visible"/>
                                      </p:to>
                                    </p:set>
                                    <p:anim calcmode="lin" valueType="num">
                                      <p:cBhvr additive="base">
                                        <p:cTn id="13" dur="500" fill="hold"/>
                                        <p:tgtEl>
                                          <p:spTgt spid="427013"/>
                                        </p:tgtEl>
                                        <p:attrNameLst>
                                          <p:attrName>ppt_x</p:attrName>
                                        </p:attrNameLst>
                                      </p:cBhvr>
                                      <p:tavLst>
                                        <p:tav tm="0">
                                          <p:val>
                                            <p:strVal val="0-#ppt_w/2"/>
                                          </p:val>
                                        </p:tav>
                                        <p:tav tm="100000">
                                          <p:val>
                                            <p:strVal val="#ppt_x"/>
                                          </p:val>
                                        </p:tav>
                                      </p:tavLst>
                                    </p:anim>
                                    <p:anim calcmode="lin" valueType="num">
                                      <p:cBhvr additive="base">
                                        <p:cTn id="14" dur="500" fill="hold"/>
                                        <p:tgtEl>
                                          <p:spTgt spid="4270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2" grpId="0" bldLvl="0" animBg="1"/>
      <p:bldP spid="427013"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p:cNvSpPr>
          <p:nvPr>
            <p:ph type="title"/>
          </p:nvPr>
        </p:nvSpPr>
        <p:spPr>
          <a:xfrm>
            <a:off x="609600" y="304800"/>
            <a:ext cx="7696200" cy="11049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6.5.7   位运算</a:t>
            </a:r>
            <a:endParaRPr lang="zh-CN" altLang="en-US" b="0" dirty="0">
              <a:sym typeface="+mn-ea"/>
            </a:endParaRPr>
          </a:p>
        </p:txBody>
      </p:sp>
      <p:sp>
        <p:nvSpPr>
          <p:cNvPr id="80899" name="Rectangle 3"/>
          <p:cNvSpPr>
            <a:spLocks noGrp="1"/>
          </p:cNvSpPr>
          <p:nvPr>
            <p:ph idx="1"/>
          </p:nvPr>
        </p:nvSpPr>
        <p:spPr>
          <a:xfrm>
            <a:off x="468313" y="1484313"/>
            <a:ext cx="8135937" cy="4967287"/>
          </a:xfrm>
        </p:spPr>
        <p:txBody>
          <a:bodyPr vert="horz" wrap="square" lIns="91440" tIns="45720" rIns="91440" bIns="45720" anchor="t" anchorCtr="0"/>
          <a:p>
            <a:pPr eaLnBrk="1" hangingPunct="1">
              <a:lnSpc>
                <a:spcPct val="90000"/>
              </a:lnSpc>
              <a:spcBef>
                <a:spcPct val="30000"/>
              </a:spcBef>
            </a:pPr>
            <a:r>
              <a:rPr lang="en-US" altLang="zh-CN" b="0"/>
              <a:t> </a:t>
            </a:r>
            <a:r>
              <a:rPr lang="zh-CN" altLang="en-US" b="0" dirty="0"/>
              <a:t>位逻辑运算</a:t>
            </a:r>
            <a:endParaRPr lang="zh-CN" altLang="en-US" b="0" dirty="0"/>
          </a:p>
          <a:p>
            <a:pPr lvl="1" eaLnBrk="1" hangingPunct="1">
              <a:lnSpc>
                <a:spcPct val="90000"/>
              </a:lnSpc>
              <a:spcBef>
                <a:spcPct val="30000"/>
              </a:spcBef>
              <a:buNone/>
            </a:pPr>
            <a:r>
              <a:rPr lang="zh-CN" altLang="en-US" b="0" dirty="0">
                <a:solidFill>
                  <a:srgbClr val="CC0066"/>
                </a:solidFill>
              </a:rPr>
              <a:t>~</a:t>
            </a:r>
            <a:r>
              <a:rPr lang="zh-CN" altLang="en-US" b="0" dirty="0"/>
              <a:t>   按位取反                </a:t>
            </a:r>
            <a:r>
              <a:rPr lang="zh-CN" altLang="en-US" b="0" dirty="0">
                <a:solidFill>
                  <a:schemeClr val="bg2"/>
                </a:solidFill>
              </a:rPr>
              <a:t>单目   右结合</a:t>
            </a:r>
            <a:endParaRPr lang="zh-CN" altLang="en-US" b="0" dirty="0">
              <a:solidFill>
                <a:schemeClr val="bg2"/>
              </a:solidFill>
            </a:endParaRPr>
          </a:p>
          <a:p>
            <a:pPr lvl="1" eaLnBrk="1" hangingPunct="1">
              <a:lnSpc>
                <a:spcPct val="90000"/>
              </a:lnSpc>
              <a:spcBef>
                <a:spcPct val="30000"/>
              </a:spcBef>
              <a:buNone/>
            </a:pPr>
            <a:r>
              <a:rPr lang="zh-CN" altLang="en-US" b="0" dirty="0">
                <a:solidFill>
                  <a:srgbClr val="CC0066"/>
                </a:solidFill>
              </a:rPr>
              <a:t>&amp;</a:t>
            </a:r>
            <a:r>
              <a:rPr lang="zh-CN" altLang="en-US" b="0" dirty="0"/>
              <a:t>   按位与</a:t>
            </a:r>
            <a:endParaRPr lang="zh-CN" altLang="en-US" b="0" dirty="0"/>
          </a:p>
          <a:p>
            <a:pPr lvl="1" eaLnBrk="1" hangingPunct="1">
              <a:lnSpc>
                <a:spcPct val="90000"/>
              </a:lnSpc>
              <a:spcBef>
                <a:spcPct val="30000"/>
              </a:spcBef>
              <a:buNone/>
            </a:pPr>
            <a:r>
              <a:rPr lang="zh-CN" altLang="en-US" b="0" dirty="0">
                <a:solidFill>
                  <a:srgbClr val="CC0066"/>
                </a:solidFill>
              </a:rPr>
              <a:t>^</a:t>
            </a:r>
            <a:r>
              <a:rPr lang="zh-CN" altLang="en-US" b="0" dirty="0"/>
              <a:t>   按位异或：相同取0，不同取1</a:t>
            </a:r>
            <a:endParaRPr lang="zh-CN" altLang="en-US" b="0" dirty="0"/>
          </a:p>
          <a:p>
            <a:pPr lvl="1" eaLnBrk="1" hangingPunct="1">
              <a:lnSpc>
                <a:spcPct val="90000"/>
              </a:lnSpc>
              <a:spcBef>
                <a:spcPct val="30000"/>
              </a:spcBef>
              <a:buNone/>
            </a:pPr>
            <a:r>
              <a:rPr lang="zh-CN" altLang="en-US" b="0" dirty="0">
                <a:solidFill>
                  <a:srgbClr val="CC0066"/>
                </a:solidFill>
              </a:rPr>
              <a:t>| </a:t>
            </a:r>
            <a:r>
              <a:rPr lang="zh-CN" altLang="en-US" b="0" dirty="0"/>
              <a:t>  按位或</a:t>
            </a:r>
            <a:endParaRPr lang="zh-CN" altLang="en-US" b="0" dirty="0"/>
          </a:p>
          <a:p>
            <a:pPr eaLnBrk="1" hangingPunct="1">
              <a:lnSpc>
                <a:spcPct val="90000"/>
              </a:lnSpc>
              <a:spcBef>
                <a:spcPct val="30000"/>
              </a:spcBef>
            </a:pPr>
            <a:r>
              <a:rPr lang="zh-CN" altLang="en-US" b="0" dirty="0"/>
              <a:t>移位运算</a:t>
            </a:r>
            <a:endParaRPr lang="zh-CN" altLang="en-US" b="0" dirty="0"/>
          </a:p>
          <a:p>
            <a:pPr lvl="1" eaLnBrk="1" hangingPunct="1">
              <a:lnSpc>
                <a:spcPct val="90000"/>
              </a:lnSpc>
              <a:buNone/>
            </a:pPr>
            <a:r>
              <a:rPr lang="zh-CN" altLang="en-US" b="0" dirty="0">
                <a:solidFill>
                  <a:srgbClr val="CC0066"/>
                </a:solidFill>
              </a:rPr>
              <a:t>&lt;&lt;</a:t>
            </a:r>
            <a:r>
              <a:rPr lang="zh-CN" altLang="en-US" b="0" dirty="0"/>
              <a:t>    对操作数左移给出的位数</a:t>
            </a:r>
            <a:endParaRPr lang="zh-CN" altLang="en-US" b="0" dirty="0"/>
          </a:p>
          <a:p>
            <a:pPr lvl="1" eaLnBrk="1" hangingPunct="1">
              <a:lnSpc>
                <a:spcPct val="90000"/>
              </a:lnSpc>
              <a:buNone/>
            </a:pPr>
            <a:r>
              <a:rPr lang="zh-CN" altLang="en-US" b="0" dirty="0">
                <a:solidFill>
                  <a:srgbClr val="CC0066"/>
                </a:solidFill>
              </a:rPr>
              <a:t>&gt;&gt;</a:t>
            </a:r>
            <a:r>
              <a:rPr lang="zh-CN" altLang="en-US" b="0" dirty="0"/>
              <a:t>    对操作数右移给出的位数</a:t>
            </a:r>
            <a:endParaRPr lang="zh-CN" altLang="en-US" b="0" dirty="0"/>
          </a:p>
          <a:p>
            <a:pPr eaLnBrk="1" hangingPunct="1">
              <a:lnSpc>
                <a:spcPct val="90000"/>
              </a:lnSpc>
              <a:spcBef>
                <a:spcPct val="30000"/>
              </a:spcBef>
            </a:pPr>
            <a:r>
              <a:rPr lang="zh-CN" altLang="en-US" b="0" dirty="0"/>
              <a:t>复合位赋值运算</a:t>
            </a:r>
            <a:endParaRPr lang="zh-CN" altLang="en-US" b="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a:xfrm>
            <a:off x="323850" y="404813"/>
            <a:ext cx="4859338" cy="93662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位逻辑运算</a:t>
            </a:r>
            <a:endParaRPr lang="zh-CN" altLang="en-US" b="0" dirty="0">
              <a:sym typeface="+mn-ea"/>
            </a:endParaRPr>
          </a:p>
        </p:txBody>
      </p:sp>
      <p:sp>
        <p:nvSpPr>
          <p:cNvPr id="444419" name="Rectangle 3"/>
          <p:cNvSpPr>
            <a:spLocks noGrp="1"/>
          </p:cNvSpPr>
          <p:nvPr>
            <p:ph idx="1"/>
          </p:nvPr>
        </p:nvSpPr>
        <p:spPr>
          <a:xfrm>
            <a:off x="250825" y="2997200"/>
            <a:ext cx="5616575" cy="2492375"/>
          </a:xfrm>
        </p:spPr>
        <p:txBody>
          <a:bodyPr vert="horz" wrap="square" lIns="91440" tIns="45720" rIns="91440" bIns="45720" anchor="t" anchorCtr="0"/>
          <a:p>
            <a:pPr lvl="1" eaLnBrk="1" hangingPunct="1">
              <a:buNone/>
            </a:pPr>
            <a:r>
              <a:rPr lang="en-US" altLang="zh-CN" sz="2400" b="0"/>
              <a:t>x=0     00000000  </a:t>
            </a:r>
            <a:r>
              <a:rPr lang="en-US" altLang="zh-CN" sz="2400" b="0" err="1"/>
              <a:t>00000000</a:t>
            </a:r>
            <a:r>
              <a:rPr lang="en-US" altLang="zh-CN" sz="2400" b="0"/>
              <a:t> </a:t>
            </a:r>
            <a:endParaRPr lang="en-US" altLang="zh-CN" sz="2400" b="0"/>
          </a:p>
          <a:p>
            <a:pPr lvl="1" eaLnBrk="1" hangingPunct="1">
              <a:buNone/>
            </a:pPr>
            <a:r>
              <a:rPr lang="en-US" altLang="zh-CN" sz="2400" b="0"/>
              <a:t>y=3     00000000  00000011</a:t>
            </a:r>
            <a:endParaRPr lang="en-US" altLang="zh-CN" sz="2400" b="0"/>
          </a:p>
          <a:p>
            <a:pPr lvl="1" eaLnBrk="1" hangingPunct="1">
              <a:buNone/>
            </a:pPr>
            <a:r>
              <a:rPr lang="en-US" altLang="zh-CN" sz="2400" b="0"/>
              <a:t>x </a:t>
            </a:r>
            <a:r>
              <a:rPr lang="en-US" altLang="zh-CN" sz="2400" b="0">
                <a:solidFill>
                  <a:srgbClr val="CC0066"/>
                </a:solidFill>
              </a:rPr>
              <a:t>&amp; </a:t>
            </a:r>
            <a:r>
              <a:rPr lang="en-US" altLang="zh-CN" sz="2400" b="0"/>
              <a:t>y   00000000  </a:t>
            </a:r>
            <a:r>
              <a:rPr lang="en-US" altLang="zh-CN" sz="2400" b="0" err="1"/>
              <a:t>00000000</a:t>
            </a:r>
            <a:endParaRPr lang="en-US" altLang="zh-CN" sz="2400" b="0"/>
          </a:p>
          <a:p>
            <a:pPr lvl="1" eaLnBrk="1" hangingPunct="1">
              <a:buNone/>
            </a:pPr>
            <a:r>
              <a:rPr lang="en-US" altLang="zh-CN" sz="2400" b="0"/>
              <a:t>x </a:t>
            </a:r>
            <a:r>
              <a:rPr lang="en-US" altLang="zh-CN" sz="2400" b="0">
                <a:solidFill>
                  <a:srgbClr val="CC0066"/>
                </a:solidFill>
              </a:rPr>
              <a:t>| </a:t>
            </a:r>
            <a:r>
              <a:rPr lang="en-US" altLang="zh-CN" sz="2400" b="0"/>
              <a:t>y     00000000  00000011</a:t>
            </a:r>
            <a:endParaRPr lang="en-US" altLang="zh-CN" sz="2400" b="0"/>
          </a:p>
          <a:p>
            <a:pPr lvl="1" eaLnBrk="1" hangingPunct="1">
              <a:buNone/>
            </a:pPr>
            <a:r>
              <a:rPr lang="en-US" altLang="zh-CN" sz="2400" b="0"/>
              <a:t>x </a:t>
            </a:r>
            <a:r>
              <a:rPr lang="en-US" altLang="zh-CN" sz="2400" b="0">
                <a:solidFill>
                  <a:srgbClr val="CC0066"/>
                </a:solidFill>
              </a:rPr>
              <a:t>^ </a:t>
            </a:r>
            <a:r>
              <a:rPr lang="en-US" altLang="zh-CN" sz="2400" b="0"/>
              <a:t>y    00000000  00000011</a:t>
            </a:r>
            <a:endParaRPr lang="en-US" altLang="zh-CN" sz="2400" b="0"/>
          </a:p>
        </p:txBody>
      </p:sp>
      <p:sp>
        <p:nvSpPr>
          <p:cNvPr id="444421" name="Rectangle 5"/>
          <p:cNvSpPr/>
          <p:nvPr/>
        </p:nvSpPr>
        <p:spPr>
          <a:xfrm>
            <a:off x="6156325" y="1628775"/>
            <a:ext cx="2519363" cy="1584325"/>
          </a:xfrm>
          <a:prstGeom prst="rect">
            <a:avLst/>
          </a:prstGeom>
          <a:noFill/>
          <a:ln w="12700">
            <a:noFill/>
          </a:ln>
        </p:spPr>
        <p:txBody>
          <a:bodyPr lIns="90488" tIns="44450" rIns="90488" bIns="44450" anchor="t" anchorCtr="0"/>
          <a:p>
            <a:pPr marL="342900" indent="-342900">
              <a:spcBef>
                <a:spcPct val="20000"/>
              </a:spcBef>
              <a:buClr>
                <a:schemeClr val="bg2"/>
              </a:buClr>
              <a:buSzPct val="75000"/>
              <a:buFont typeface="Wingdings" panose="05000000000000000000" pitchFamily="2" charset="2"/>
            </a:pPr>
            <a:r>
              <a:rPr lang="zh-CN" altLang="en-US" sz="2800" dirty="0">
                <a:latin typeface="Arial" panose="02080604020202020204" pitchFamily="34" charset="0"/>
              </a:rPr>
              <a:t>注意区分：</a:t>
            </a:r>
            <a:endParaRPr lang="zh-CN" altLang="en-US" sz="2800" dirty="0">
              <a:latin typeface="Arial" panose="02080604020202020204" pitchFamily="34" charset="0"/>
            </a:endParaRPr>
          </a:p>
          <a:p>
            <a:pPr marL="342900" indent="-342900">
              <a:spcBef>
                <a:spcPct val="20000"/>
              </a:spcBef>
              <a:buClr>
                <a:schemeClr val="bg2"/>
              </a:buClr>
              <a:buSzPct val="75000"/>
              <a:buFont typeface="Wingdings" panose="05000000000000000000" pitchFamily="2" charset="2"/>
            </a:pPr>
            <a:r>
              <a:rPr lang="zh-CN" altLang="en-US" sz="2800" dirty="0">
                <a:solidFill>
                  <a:srgbClr val="CC0066"/>
                </a:solidFill>
                <a:latin typeface="Arial" panose="02080604020202020204" pitchFamily="34" charset="0"/>
              </a:rPr>
              <a:t>&amp; </a:t>
            </a:r>
            <a:r>
              <a:rPr lang="zh-CN" altLang="en-US" sz="2800" dirty="0">
                <a:latin typeface="Arial" panose="02080604020202020204" pitchFamily="34" charset="0"/>
              </a:rPr>
              <a:t>和 </a:t>
            </a:r>
            <a:r>
              <a:rPr lang="zh-CN" altLang="en-US" sz="2800" dirty="0">
                <a:solidFill>
                  <a:srgbClr val="CC0066"/>
                </a:solidFill>
                <a:latin typeface="Arial" panose="02080604020202020204" pitchFamily="34" charset="0"/>
              </a:rPr>
              <a:t>|</a:t>
            </a:r>
            <a:endParaRPr lang="zh-CN" altLang="en-US" sz="2800" dirty="0">
              <a:solidFill>
                <a:srgbClr val="CC0066"/>
              </a:solidFill>
              <a:latin typeface="Arial" panose="02080604020202020204" pitchFamily="34" charset="0"/>
            </a:endParaRPr>
          </a:p>
          <a:p>
            <a:pPr marL="342900" indent="-342900">
              <a:spcBef>
                <a:spcPct val="20000"/>
              </a:spcBef>
              <a:buClr>
                <a:schemeClr val="bg2"/>
              </a:buClr>
              <a:buSzPct val="75000"/>
              <a:buFont typeface="Wingdings" panose="05000000000000000000" pitchFamily="2" charset="2"/>
            </a:pPr>
            <a:r>
              <a:rPr lang="zh-CN" altLang="en-US" sz="2800" dirty="0">
                <a:solidFill>
                  <a:schemeClr val="bg2"/>
                </a:solidFill>
                <a:latin typeface="Arial" panose="02080604020202020204" pitchFamily="34" charset="0"/>
              </a:rPr>
              <a:t>&amp;&amp; </a:t>
            </a:r>
            <a:r>
              <a:rPr lang="zh-CN" altLang="en-US" sz="2800" dirty="0">
                <a:latin typeface="Arial" panose="02080604020202020204" pitchFamily="34" charset="0"/>
              </a:rPr>
              <a:t>和 </a:t>
            </a:r>
            <a:r>
              <a:rPr lang="zh-CN" altLang="en-US" sz="2800" dirty="0">
                <a:solidFill>
                  <a:schemeClr val="bg2"/>
                </a:solidFill>
                <a:latin typeface="Arial" panose="02080604020202020204" pitchFamily="34" charset="0"/>
              </a:rPr>
              <a:t>||</a:t>
            </a:r>
            <a:endParaRPr lang="zh-CN" altLang="en-US" sz="2800" dirty="0">
              <a:latin typeface="Arial" panose="02080604020202020204" pitchFamily="34" charset="0"/>
            </a:endParaRPr>
          </a:p>
        </p:txBody>
      </p:sp>
      <p:sp>
        <p:nvSpPr>
          <p:cNvPr id="82949" name="Rectangle 6"/>
          <p:cNvSpPr/>
          <p:nvPr/>
        </p:nvSpPr>
        <p:spPr>
          <a:xfrm>
            <a:off x="476250" y="1341438"/>
            <a:ext cx="4959350" cy="1568450"/>
          </a:xfrm>
          <a:prstGeom prst="rect">
            <a:avLst/>
          </a:prstGeom>
          <a:noFill/>
          <a:ln w="9525">
            <a:noFill/>
          </a:ln>
        </p:spPr>
        <p:txBody>
          <a:bodyPr wrap="square" lIns="92075" tIns="46038" rIns="92075" bIns="46038" anchor="t" anchorCtr="0">
            <a:spAutoFit/>
          </a:bodyPr>
          <a:p>
            <a:r>
              <a:rPr lang="zh-CN" altLang="en-US" sz="2400" dirty="0">
                <a:solidFill>
                  <a:srgbClr val="CC0066"/>
                </a:solidFill>
                <a:latin typeface="Arial" panose="02080604020202020204" pitchFamily="34" charset="0"/>
              </a:rPr>
              <a:t>~</a:t>
            </a:r>
            <a:r>
              <a:rPr lang="zh-CN" altLang="en-US" sz="2400" dirty="0">
                <a:latin typeface="Arial" panose="02080604020202020204" pitchFamily="34" charset="0"/>
              </a:rPr>
              <a:t>   按位取反</a:t>
            </a:r>
            <a:endParaRPr lang="zh-CN" altLang="en-US" sz="2400" dirty="0">
              <a:latin typeface="Arial" panose="02080604020202020204" pitchFamily="34" charset="0"/>
            </a:endParaRPr>
          </a:p>
          <a:p>
            <a:r>
              <a:rPr lang="zh-CN" altLang="en-US" sz="2400" dirty="0">
                <a:solidFill>
                  <a:srgbClr val="CC0066"/>
                </a:solidFill>
                <a:latin typeface="Arial" panose="02080604020202020204" pitchFamily="34" charset="0"/>
              </a:rPr>
              <a:t>&amp;</a:t>
            </a:r>
            <a:r>
              <a:rPr lang="zh-CN" altLang="en-US" sz="2400" dirty="0">
                <a:latin typeface="Arial" panose="02080604020202020204" pitchFamily="34" charset="0"/>
              </a:rPr>
              <a:t>   按位与</a:t>
            </a:r>
            <a:endParaRPr lang="zh-CN" altLang="en-US" sz="2400" dirty="0">
              <a:latin typeface="Arial" panose="02080604020202020204" pitchFamily="34" charset="0"/>
            </a:endParaRPr>
          </a:p>
          <a:p>
            <a:r>
              <a:rPr lang="zh-CN" altLang="en-US" sz="2400" dirty="0">
                <a:solidFill>
                  <a:srgbClr val="CC0066"/>
                </a:solidFill>
                <a:latin typeface="Arial" panose="02080604020202020204" pitchFamily="34" charset="0"/>
              </a:rPr>
              <a:t>^</a:t>
            </a:r>
            <a:r>
              <a:rPr lang="zh-CN" altLang="en-US" sz="2400" dirty="0">
                <a:latin typeface="Arial" panose="02080604020202020204" pitchFamily="34" charset="0"/>
              </a:rPr>
              <a:t>   按位异或：相同取0，不同取1</a:t>
            </a:r>
            <a:endParaRPr lang="zh-CN" altLang="en-US" sz="2400" dirty="0">
              <a:latin typeface="Arial" panose="02080604020202020204" pitchFamily="34" charset="0"/>
            </a:endParaRPr>
          </a:p>
          <a:p>
            <a:r>
              <a:rPr lang="zh-CN" altLang="en-US" sz="2400" dirty="0">
                <a:solidFill>
                  <a:srgbClr val="CC0066"/>
                </a:solidFill>
                <a:latin typeface="Arial" panose="02080604020202020204" pitchFamily="34" charset="0"/>
              </a:rPr>
              <a:t>|</a:t>
            </a:r>
            <a:r>
              <a:rPr lang="zh-CN" altLang="en-US" sz="2400" dirty="0">
                <a:latin typeface="Arial" panose="02080604020202020204" pitchFamily="34" charset="0"/>
              </a:rPr>
              <a:t>   按位或</a:t>
            </a:r>
            <a:endParaRPr lang="zh-CN" altLang="en-US" sz="2400" dirty="0">
              <a:latin typeface="Arial" panose="02080604020202020204" pitchFamily="34" charset="0"/>
            </a:endParaRPr>
          </a:p>
        </p:txBody>
      </p:sp>
      <p:sp>
        <p:nvSpPr>
          <p:cNvPr id="82950" name="Text Box 7"/>
          <p:cNvSpPr txBox="1"/>
          <p:nvPr/>
        </p:nvSpPr>
        <p:spPr>
          <a:xfrm>
            <a:off x="6588125" y="981075"/>
            <a:ext cx="1728788" cy="366713"/>
          </a:xfrm>
          <a:prstGeom prst="rect">
            <a:avLst/>
          </a:prstGeom>
          <a:noFill/>
          <a:ln w="9525">
            <a:noFill/>
          </a:ln>
        </p:spPr>
        <p:txBody>
          <a:bodyPr lIns="92075" tIns="46038" rIns="92075" bIns="46038" anchor="t" anchorCtr="0">
            <a:spAutoFit/>
          </a:bodyPr>
          <a:p>
            <a:pPr>
              <a:spcBef>
                <a:spcPct val="50000"/>
              </a:spcBef>
            </a:pPr>
            <a:endParaRPr lang="zh-CN" altLang="en-US" dirty="0">
              <a:latin typeface="Arial" panose="02080604020202020204" pitchFamily="34" charset="0"/>
            </a:endParaRPr>
          </a:p>
        </p:txBody>
      </p:sp>
      <p:sp>
        <p:nvSpPr>
          <p:cNvPr id="444424" name="Rectangle 8"/>
          <p:cNvSpPr/>
          <p:nvPr/>
        </p:nvSpPr>
        <p:spPr>
          <a:xfrm>
            <a:off x="6227763" y="3860800"/>
            <a:ext cx="2571750" cy="1152525"/>
          </a:xfrm>
          <a:prstGeom prst="rect">
            <a:avLst/>
          </a:prstGeom>
          <a:noFill/>
          <a:ln w="12700">
            <a:noFill/>
          </a:ln>
        </p:spPr>
        <p:txBody>
          <a:bodyPr lIns="90488" tIns="44450" rIns="90488" bIns="44450" anchor="t" anchorCtr="0"/>
          <a:p>
            <a:pPr marL="342900" indent="-342900">
              <a:spcBef>
                <a:spcPct val="20000"/>
              </a:spcBef>
              <a:buClr>
                <a:schemeClr val="bg2"/>
              </a:buClr>
              <a:buSzPct val="75000"/>
              <a:buFont typeface="Wingdings" panose="05000000000000000000" pitchFamily="2" charset="2"/>
            </a:pPr>
            <a:r>
              <a:rPr lang="en-US" altLang="zh-CN" sz="2800">
                <a:latin typeface="Arial" panose="02080604020202020204" pitchFamily="34" charset="0"/>
              </a:rPr>
              <a:t>x &amp;&amp; y</a:t>
            </a:r>
            <a:r>
              <a:rPr lang="zh-CN" altLang="en-US" sz="2800" dirty="0">
                <a:latin typeface="Arial" panose="02080604020202020204" pitchFamily="34" charset="0"/>
              </a:rPr>
              <a:t>得  0</a:t>
            </a:r>
            <a:endParaRPr lang="zh-CN" altLang="en-US" sz="2800" dirty="0">
              <a:latin typeface="Arial" panose="02080604020202020204" pitchFamily="34" charset="0"/>
            </a:endParaRPr>
          </a:p>
          <a:p>
            <a:pPr marL="342900" indent="-342900">
              <a:spcBef>
                <a:spcPct val="20000"/>
              </a:spcBef>
              <a:buClr>
                <a:schemeClr val="bg2"/>
              </a:buClr>
              <a:buSzPct val="75000"/>
              <a:buFont typeface="Wingdings" panose="05000000000000000000" pitchFamily="2" charset="2"/>
            </a:pPr>
            <a:r>
              <a:rPr lang="en-US" altLang="zh-CN" sz="2800">
                <a:latin typeface="Arial" panose="02080604020202020204" pitchFamily="34" charset="0"/>
              </a:rPr>
              <a:t>x || y</a:t>
            </a:r>
            <a:r>
              <a:rPr lang="zh-CN" altLang="en-US" sz="2800" dirty="0">
                <a:latin typeface="Arial" panose="02080604020202020204" pitchFamily="34" charset="0"/>
              </a:rPr>
              <a:t>得 1</a:t>
            </a:r>
            <a:endParaRPr lang="zh-CN" altLang="en-US" sz="2800" dirty="0">
              <a:latin typeface="Arial" panose="0208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4419">
                                            <p:txEl>
                                              <p:charRg st="0" end="28"/>
                                            </p:txEl>
                                          </p:spTgt>
                                        </p:tgtEl>
                                        <p:attrNameLst>
                                          <p:attrName>style.visibility</p:attrName>
                                        </p:attrNameLst>
                                      </p:cBhvr>
                                      <p:to>
                                        <p:strVal val="visible"/>
                                      </p:to>
                                    </p:set>
                                    <p:animEffect transition="in" filter="wipe(down)">
                                      <p:cBhvr>
                                        <p:cTn id="7" dur="500"/>
                                        <p:tgtEl>
                                          <p:spTgt spid="444419">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44419">
                                            <p:txEl>
                                              <p:charRg st="28" end="55"/>
                                            </p:txEl>
                                          </p:spTgt>
                                        </p:tgtEl>
                                        <p:attrNameLst>
                                          <p:attrName>style.visibility</p:attrName>
                                        </p:attrNameLst>
                                      </p:cBhvr>
                                      <p:to>
                                        <p:strVal val="visible"/>
                                      </p:to>
                                    </p:set>
                                    <p:animEffect transition="in" filter="wipe(down)">
                                      <p:cBhvr>
                                        <p:cTn id="12" dur="500"/>
                                        <p:tgtEl>
                                          <p:spTgt spid="444419">
                                            <p:txEl>
                                              <p:charRg st="28" end="5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44419">
                                            <p:txEl>
                                              <p:charRg st="55" end="82"/>
                                            </p:txEl>
                                          </p:spTgt>
                                        </p:tgtEl>
                                        <p:attrNameLst>
                                          <p:attrName>style.visibility</p:attrName>
                                        </p:attrNameLst>
                                      </p:cBhvr>
                                      <p:to>
                                        <p:strVal val="visible"/>
                                      </p:to>
                                    </p:set>
                                    <p:animEffect transition="in" filter="wipe(down)">
                                      <p:cBhvr>
                                        <p:cTn id="17" dur="500"/>
                                        <p:tgtEl>
                                          <p:spTgt spid="444419">
                                            <p:txEl>
                                              <p:charRg st="55" end="8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44419">
                                            <p:txEl>
                                              <p:charRg st="82" end="111"/>
                                            </p:txEl>
                                          </p:spTgt>
                                        </p:tgtEl>
                                        <p:attrNameLst>
                                          <p:attrName>style.visibility</p:attrName>
                                        </p:attrNameLst>
                                      </p:cBhvr>
                                      <p:to>
                                        <p:strVal val="visible"/>
                                      </p:to>
                                    </p:set>
                                    <p:animEffect transition="in" filter="wipe(down)">
                                      <p:cBhvr>
                                        <p:cTn id="22" dur="500"/>
                                        <p:tgtEl>
                                          <p:spTgt spid="444419">
                                            <p:txEl>
                                              <p:charRg st="82" end="11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44419">
                                            <p:txEl>
                                              <p:charRg st="111" end="139"/>
                                            </p:txEl>
                                          </p:spTgt>
                                        </p:tgtEl>
                                        <p:attrNameLst>
                                          <p:attrName>style.visibility</p:attrName>
                                        </p:attrNameLst>
                                      </p:cBhvr>
                                      <p:to>
                                        <p:strVal val="visible"/>
                                      </p:to>
                                    </p:set>
                                    <p:animEffect transition="in" filter="wipe(down)">
                                      <p:cBhvr>
                                        <p:cTn id="27" dur="500"/>
                                        <p:tgtEl>
                                          <p:spTgt spid="444419">
                                            <p:txEl>
                                              <p:charRg st="111" end="13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444421"/>
                                        </p:tgtEl>
                                        <p:attrNameLst>
                                          <p:attrName>style.visibility</p:attrName>
                                        </p:attrNameLst>
                                      </p:cBhvr>
                                      <p:to>
                                        <p:strVal val="visible"/>
                                      </p:to>
                                    </p:set>
                                    <p:anim calcmode="lin" valueType="num">
                                      <p:cBhvr additive="base">
                                        <p:cTn id="32" dur="500" fill="hold"/>
                                        <p:tgtEl>
                                          <p:spTgt spid="444421"/>
                                        </p:tgtEl>
                                        <p:attrNameLst>
                                          <p:attrName>ppt_x</p:attrName>
                                        </p:attrNameLst>
                                      </p:cBhvr>
                                      <p:tavLst>
                                        <p:tav tm="0">
                                          <p:val>
                                            <p:strVal val="0-#ppt_w/2"/>
                                          </p:val>
                                        </p:tav>
                                        <p:tav tm="100000">
                                          <p:val>
                                            <p:strVal val="#ppt_x"/>
                                          </p:val>
                                        </p:tav>
                                      </p:tavLst>
                                    </p:anim>
                                    <p:anim calcmode="lin" valueType="num">
                                      <p:cBhvr additive="base">
                                        <p:cTn id="33" dur="500" fill="hold"/>
                                        <p:tgtEl>
                                          <p:spTgt spid="44442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444424"/>
                                        </p:tgtEl>
                                        <p:attrNameLst>
                                          <p:attrName>style.visibility</p:attrName>
                                        </p:attrNameLst>
                                      </p:cBhvr>
                                      <p:to>
                                        <p:strVal val="visible"/>
                                      </p:to>
                                    </p:set>
                                    <p:anim calcmode="lin" valueType="num">
                                      <p:cBhvr additive="base">
                                        <p:cTn id="38" dur="500" fill="hold"/>
                                        <p:tgtEl>
                                          <p:spTgt spid="444424"/>
                                        </p:tgtEl>
                                        <p:attrNameLst>
                                          <p:attrName>ppt_x</p:attrName>
                                        </p:attrNameLst>
                                      </p:cBhvr>
                                      <p:tavLst>
                                        <p:tav tm="0">
                                          <p:val>
                                            <p:strVal val="0-#ppt_w/2"/>
                                          </p:val>
                                        </p:tav>
                                        <p:tav tm="100000">
                                          <p:val>
                                            <p:strVal val="#ppt_x"/>
                                          </p:val>
                                        </p:tav>
                                      </p:tavLst>
                                    </p:anim>
                                    <p:anim calcmode="lin" valueType="num">
                                      <p:cBhvr additive="base">
                                        <p:cTn id="39" dur="500" fill="hold"/>
                                        <p:tgtEl>
                                          <p:spTgt spid="4444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ldLvl="2" build="p"/>
      <p:bldP spid="444421" grpId="0"/>
      <p:bldP spid="44442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a:xfrm>
            <a:off x="468313" y="404813"/>
            <a:ext cx="4319587" cy="1008062"/>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位移位运算</a:t>
            </a:r>
            <a:endParaRPr lang="zh-CN" altLang="en-US" b="0" dirty="0">
              <a:sym typeface="+mn-ea"/>
            </a:endParaRPr>
          </a:p>
        </p:txBody>
      </p:sp>
      <p:sp>
        <p:nvSpPr>
          <p:cNvPr id="446467" name="Rectangle 3"/>
          <p:cNvSpPr>
            <a:spLocks noGrp="1"/>
          </p:cNvSpPr>
          <p:nvPr>
            <p:ph idx="1"/>
          </p:nvPr>
        </p:nvSpPr>
        <p:spPr>
          <a:xfrm>
            <a:off x="395288" y="1557338"/>
            <a:ext cx="8077200" cy="4724400"/>
          </a:xfrm>
        </p:spPr>
        <p:txBody>
          <a:bodyPr vert="horz" wrap="square" lIns="91440" tIns="45720" rIns="91440" bIns="45720" anchor="t" anchorCtr="0"/>
          <a:p>
            <a:pPr lvl="1" eaLnBrk="1" hangingPunct="1">
              <a:buNone/>
            </a:pPr>
            <a:r>
              <a:rPr lang="zh-CN" altLang="en-US" b="0" dirty="0"/>
              <a:t>&lt;&lt;    对操作数左移给出的位数</a:t>
            </a:r>
            <a:endParaRPr lang="zh-CN" altLang="en-US" b="0" dirty="0"/>
          </a:p>
          <a:p>
            <a:pPr lvl="1" eaLnBrk="1" hangingPunct="1">
              <a:buNone/>
            </a:pPr>
            <a:r>
              <a:rPr lang="zh-CN" altLang="en-US" b="0" dirty="0"/>
              <a:t>&gt;&gt;    对操作数右移给出的位数</a:t>
            </a:r>
            <a:endParaRPr lang="zh-CN" altLang="en-US" b="0" dirty="0"/>
          </a:p>
          <a:p>
            <a:pPr lvl="1" eaLnBrk="1" hangingPunct="1">
              <a:buNone/>
            </a:pPr>
            <a:endParaRPr lang="zh-CN" altLang="en-US" b="0" dirty="0"/>
          </a:p>
          <a:p>
            <a:pPr lvl="1" eaLnBrk="1" hangingPunct="1">
              <a:buNone/>
            </a:pPr>
            <a:r>
              <a:rPr lang="en-US" altLang="zh-CN" b="0"/>
              <a:t>x&lt;&lt;3    </a:t>
            </a:r>
            <a:r>
              <a:rPr lang="zh-CN" altLang="en-US" b="0" dirty="0"/>
              <a:t>将</a:t>
            </a:r>
            <a:r>
              <a:rPr lang="en-US" altLang="zh-CN" b="0"/>
              <a:t>x</a:t>
            </a:r>
            <a:r>
              <a:rPr lang="zh-CN" altLang="zh-CN" b="0" dirty="0"/>
              <a:t>向</a:t>
            </a:r>
            <a:r>
              <a:rPr lang="zh-CN" altLang="en-US" b="0" dirty="0"/>
              <a:t>左移3位，空出的位用零填补 </a:t>
            </a:r>
            <a:endParaRPr lang="zh-CN" altLang="en-US" b="0" dirty="0"/>
          </a:p>
          <a:p>
            <a:pPr lvl="1" eaLnBrk="1" hangingPunct="1">
              <a:buNone/>
            </a:pPr>
            <a:r>
              <a:rPr lang="zh-CN" altLang="en-US" b="0" dirty="0"/>
              <a:t>            00111010 &lt;&lt; 3        </a:t>
            </a:r>
            <a:endParaRPr lang="zh-CN" altLang="en-US" b="0" dirty="0"/>
          </a:p>
          <a:p>
            <a:pPr lvl="1" eaLnBrk="1" hangingPunct="1">
              <a:buNone/>
            </a:pPr>
            <a:r>
              <a:rPr lang="zh-CN" altLang="en-US" b="0" dirty="0"/>
              <a:t>            11010000</a:t>
            </a:r>
            <a:endParaRPr lang="zh-CN" altLang="en-US" b="0" dirty="0"/>
          </a:p>
          <a:p>
            <a:pPr lvl="1" eaLnBrk="1" hangingPunct="1">
              <a:buNone/>
            </a:pPr>
            <a:r>
              <a:rPr lang="en-US" altLang="zh-CN" b="0"/>
              <a:t>x&gt;&gt;3    </a:t>
            </a:r>
            <a:r>
              <a:rPr lang="zh-CN" altLang="en-US" b="0" dirty="0"/>
              <a:t>将</a:t>
            </a:r>
            <a:r>
              <a:rPr lang="en-US" altLang="zh-CN" b="0"/>
              <a:t>x</a:t>
            </a:r>
            <a:r>
              <a:rPr lang="zh-CN" altLang="en-US" b="0" dirty="0"/>
              <a:t>向右移3位</a:t>
            </a:r>
            <a:endParaRPr lang="zh-CN" altLang="en-US" b="0" dirty="0"/>
          </a:p>
          <a:p>
            <a:pPr lvl="1" eaLnBrk="1" hangingPunct="1">
              <a:buNone/>
            </a:pPr>
            <a:r>
              <a:rPr lang="zh-CN" altLang="en-US" b="0" dirty="0"/>
              <a:t>            00111010 &gt;&gt; 3 </a:t>
            </a:r>
            <a:endParaRPr lang="zh-CN" altLang="en-US" b="0" dirty="0"/>
          </a:p>
          <a:p>
            <a:pPr lvl="1" eaLnBrk="1" hangingPunct="1">
              <a:buNone/>
            </a:pPr>
            <a:r>
              <a:rPr lang="zh-CN" altLang="en-US" b="0" dirty="0"/>
              <a:t>            00000111</a:t>
            </a:r>
            <a:endParaRPr lang="zh-CN" altLang="en-US"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6467">
                                            <p:txEl>
                                              <p:charRg st="0" end="18"/>
                                            </p:txEl>
                                          </p:spTgt>
                                        </p:tgtEl>
                                        <p:attrNameLst>
                                          <p:attrName>style.visibility</p:attrName>
                                        </p:attrNameLst>
                                      </p:cBhvr>
                                      <p:to>
                                        <p:strVal val="visible"/>
                                      </p:to>
                                    </p:set>
                                    <p:anim calcmode="lin" valueType="num">
                                      <p:cBhvr additive="base">
                                        <p:cTn id="7" dur="500" fill="hold"/>
                                        <p:tgtEl>
                                          <p:spTgt spid="446467">
                                            <p:txEl>
                                              <p:charRg st="0" end="1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6467">
                                            <p:txEl>
                                              <p:charRg st="0" end="1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6467">
                                            <p:txEl>
                                              <p:charRg st="18" end="36"/>
                                            </p:txEl>
                                          </p:spTgt>
                                        </p:tgtEl>
                                        <p:attrNameLst>
                                          <p:attrName>style.visibility</p:attrName>
                                        </p:attrNameLst>
                                      </p:cBhvr>
                                      <p:to>
                                        <p:strVal val="visible"/>
                                      </p:to>
                                    </p:set>
                                    <p:anim calcmode="lin" valueType="num">
                                      <p:cBhvr additive="base">
                                        <p:cTn id="13" dur="500" fill="hold"/>
                                        <p:tgtEl>
                                          <p:spTgt spid="446467">
                                            <p:txEl>
                                              <p:charRg st="18" end="3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6467">
                                            <p:txEl>
                                              <p:charRg st="18" end="36"/>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6467">
                                            <p:txEl>
                                              <p:charRg st="37" end="63"/>
                                            </p:txEl>
                                          </p:spTgt>
                                        </p:tgtEl>
                                        <p:attrNameLst>
                                          <p:attrName>style.visibility</p:attrName>
                                        </p:attrNameLst>
                                      </p:cBhvr>
                                      <p:to>
                                        <p:strVal val="visible"/>
                                      </p:to>
                                    </p:set>
                                    <p:anim calcmode="lin" valueType="num">
                                      <p:cBhvr additive="base">
                                        <p:cTn id="19" dur="500" fill="hold"/>
                                        <p:tgtEl>
                                          <p:spTgt spid="446467">
                                            <p:txEl>
                                              <p:charRg st="37" end="6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6467">
                                            <p:txEl>
                                              <p:charRg st="37" end="6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6467">
                                            <p:txEl>
                                              <p:charRg st="63" end="97"/>
                                            </p:txEl>
                                          </p:spTgt>
                                        </p:tgtEl>
                                        <p:attrNameLst>
                                          <p:attrName>style.visibility</p:attrName>
                                        </p:attrNameLst>
                                      </p:cBhvr>
                                      <p:to>
                                        <p:strVal val="visible"/>
                                      </p:to>
                                    </p:set>
                                    <p:anim calcmode="lin" valueType="num">
                                      <p:cBhvr additive="base">
                                        <p:cTn id="25" dur="500" fill="hold"/>
                                        <p:tgtEl>
                                          <p:spTgt spid="446467">
                                            <p:txEl>
                                              <p:charRg st="63" end="97"/>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46467">
                                            <p:txEl>
                                              <p:charRg st="63" end="97"/>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6467">
                                            <p:txEl>
                                              <p:charRg st="97" end="118"/>
                                            </p:txEl>
                                          </p:spTgt>
                                        </p:tgtEl>
                                        <p:attrNameLst>
                                          <p:attrName>style.visibility</p:attrName>
                                        </p:attrNameLst>
                                      </p:cBhvr>
                                      <p:to>
                                        <p:strVal val="visible"/>
                                      </p:to>
                                    </p:set>
                                    <p:anim calcmode="lin" valueType="num">
                                      <p:cBhvr additive="base">
                                        <p:cTn id="31" dur="500" fill="hold"/>
                                        <p:tgtEl>
                                          <p:spTgt spid="446467">
                                            <p:txEl>
                                              <p:charRg st="97" end="11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46467">
                                            <p:txEl>
                                              <p:charRg st="97" end="118"/>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46467">
                                            <p:txEl>
                                              <p:charRg st="118" end="134"/>
                                            </p:txEl>
                                          </p:spTgt>
                                        </p:tgtEl>
                                        <p:attrNameLst>
                                          <p:attrName>style.visibility</p:attrName>
                                        </p:attrNameLst>
                                      </p:cBhvr>
                                      <p:to>
                                        <p:strVal val="visible"/>
                                      </p:to>
                                    </p:set>
                                    <p:anim calcmode="lin" valueType="num">
                                      <p:cBhvr additive="base">
                                        <p:cTn id="37" dur="500" fill="hold"/>
                                        <p:tgtEl>
                                          <p:spTgt spid="446467">
                                            <p:txEl>
                                              <p:charRg st="118" end="13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46467">
                                            <p:txEl>
                                              <p:charRg st="118" end="13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46467">
                                            <p:txEl>
                                              <p:charRg st="134" end="161"/>
                                            </p:txEl>
                                          </p:spTgt>
                                        </p:tgtEl>
                                        <p:attrNameLst>
                                          <p:attrName>style.visibility</p:attrName>
                                        </p:attrNameLst>
                                      </p:cBhvr>
                                      <p:to>
                                        <p:strVal val="visible"/>
                                      </p:to>
                                    </p:set>
                                    <p:anim calcmode="lin" valueType="num">
                                      <p:cBhvr additive="base">
                                        <p:cTn id="43" dur="500" fill="hold"/>
                                        <p:tgtEl>
                                          <p:spTgt spid="446467">
                                            <p:txEl>
                                              <p:charRg st="134" end="161"/>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46467">
                                            <p:txEl>
                                              <p:charRg st="134" end="161"/>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46467">
                                            <p:txEl>
                                              <p:charRg st="161" end="182"/>
                                            </p:txEl>
                                          </p:spTgt>
                                        </p:tgtEl>
                                        <p:attrNameLst>
                                          <p:attrName>style.visibility</p:attrName>
                                        </p:attrNameLst>
                                      </p:cBhvr>
                                      <p:to>
                                        <p:strVal val="visible"/>
                                      </p:to>
                                    </p:set>
                                    <p:anim calcmode="lin" valueType="num">
                                      <p:cBhvr additive="base">
                                        <p:cTn id="49" dur="500" fill="hold"/>
                                        <p:tgtEl>
                                          <p:spTgt spid="446467">
                                            <p:txEl>
                                              <p:charRg st="161" end="182"/>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46467">
                                            <p:txEl>
                                              <p:charRg st="161" end="18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7" grpId="0" bldLvl="2"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p:cNvSpPr>
          <p:nvPr>
            <p:ph type="title"/>
          </p:nvPr>
        </p:nvSpPr>
        <p:spPr>
          <a:xfrm>
            <a:off x="323850" y="333375"/>
            <a:ext cx="6048375" cy="107950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复合位赋值运算符</a:t>
            </a:r>
            <a:endParaRPr lang="zh-CN" altLang="en-US" b="0" dirty="0">
              <a:sym typeface="+mn-ea"/>
            </a:endParaRPr>
          </a:p>
        </p:txBody>
      </p:sp>
      <p:sp>
        <p:nvSpPr>
          <p:cNvPr id="448515" name="Rectangle 3"/>
          <p:cNvSpPr>
            <a:spLocks noGrp="1"/>
          </p:cNvSpPr>
          <p:nvPr>
            <p:ph idx="1"/>
          </p:nvPr>
        </p:nvSpPr>
        <p:spPr>
          <a:xfrm>
            <a:off x="1403350" y="1628775"/>
            <a:ext cx="6705600" cy="4176713"/>
          </a:xfrm>
        </p:spPr>
        <p:txBody>
          <a:bodyPr vert="horz" wrap="square" lIns="91440" tIns="45720" rIns="91440" bIns="45720" anchor="t" anchorCtr="0"/>
          <a:p>
            <a:pPr eaLnBrk="1" hangingPunct="1">
              <a:buNone/>
            </a:pPr>
            <a:r>
              <a:rPr lang="zh-CN" altLang="en-US" sz="2800" dirty="0">
                <a:solidFill>
                  <a:srgbClr val="CC0066"/>
                </a:solidFill>
              </a:rPr>
              <a:t>&amp;=</a:t>
            </a:r>
            <a:endParaRPr lang="zh-CN" altLang="en-US" sz="2800" dirty="0">
              <a:solidFill>
                <a:srgbClr val="CC0066"/>
              </a:solidFill>
            </a:endParaRPr>
          </a:p>
          <a:p>
            <a:pPr eaLnBrk="1" hangingPunct="1">
              <a:buNone/>
            </a:pPr>
            <a:r>
              <a:rPr lang="zh-CN" altLang="en-US" sz="2800" dirty="0">
                <a:solidFill>
                  <a:srgbClr val="CC0066"/>
                </a:solidFill>
              </a:rPr>
              <a:t>|=</a:t>
            </a:r>
            <a:endParaRPr lang="zh-CN" altLang="en-US" sz="2800" dirty="0">
              <a:solidFill>
                <a:srgbClr val="CC0066"/>
              </a:solidFill>
            </a:endParaRPr>
          </a:p>
          <a:p>
            <a:pPr eaLnBrk="1" hangingPunct="1">
              <a:buNone/>
            </a:pPr>
            <a:r>
              <a:rPr lang="zh-CN" altLang="en-US" sz="2800" dirty="0">
                <a:solidFill>
                  <a:srgbClr val="CC0066"/>
                </a:solidFill>
              </a:rPr>
              <a:t>^=</a:t>
            </a:r>
            <a:endParaRPr lang="zh-CN" altLang="en-US" sz="2800" dirty="0">
              <a:solidFill>
                <a:srgbClr val="CC0066"/>
              </a:solidFill>
            </a:endParaRPr>
          </a:p>
          <a:p>
            <a:pPr eaLnBrk="1" hangingPunct="1">
              <a:buNone/>
            </a:pPr>
            <a:r>
              <a:rPr lang="zh-CN" altLang="en-US" sz="2800" dirty="0">
                <a:solidFill>
                  <a:srgbClr val="CC0066"/>
                </a:solidFill>
              </a:rPr>
              <a:t>&gt;&gt;=</a:t>
            </a:r>
            <a:endParaRPr lang="zh-CN" altLang="en-US" sz="2800" dirty="0">
              <a:solidFill>
                <a:srgbClr val="CC0066"/>
              </a:solidFill>
            </a:endParaRPr>
          </a:p>
          <a:p>
            <a:pPr eaLnBrk="1" hangingPunct="1">
              <a:buNone/>
            </a:pPr>
            <a:r>
              <a:rPr lang="zh-CN" altLang="en-US" sz="2800" dirty="0">
                <a:solidFill>
                  <a:srgbClr val="CC0066"/>
                </a:solidFill>
              </a:rPr>
              <a:t>&lt;&lt;=</a:t>
            </a:r>
            <a:endParaRPr lang="zh-CN" altLang="en-US" sz="2800" dirty="0">
              <a:solidFill>
                <a:srgbClr val="CC0066"/>
              </a:solidFill>
            </a:endParaRPr>
          </a:p>
          <a:p>
            <a:pPr eaLnBrk="1" hangingPunct="1">
              <a:lnSpc>
                <a:spcPct val="70000"/>
              </a:lnSpc>
              <a:spcBef>
                <a:spcPct val="50000"/>
              </a:spcBef>
              <a:buNone/>
            </a:pPr>
            <a:endParaRPr lang="zh-CN" altLang="en-US" sz="2800" dirty="0"/>
          </a:p>
          <a:p>
            <a:pPr lvl="1" eaLnBrk="1" hangingPunct="1">
              <a:lnSpc>
                <a:spcPct val="70000"/>
              </a:lnSpc>
              <a:spcBef>
                <a:spcPct val="50000"/>
              </a:spcBef>
              <a:buNone/>
            </a:pPr>
            <a:r>
              <a:rPr lang="en-US" altLang="zh-CN" sz="2400"/>
              <a:t>a &amp;= b   </a:t>
            </a:r>
            <a:r>
              <a:rPr lang="zh-CN" altLang="en-US" sz="2400" dirty="0"/>
              <a:t>相当于  </a:t>
            </a:r>
            <a:r>
              <a:rPr lang="en-US" altLang="zh-CN" sz="2400"/>
              <a:t>a = a &amp; b </a:t>
            </a:r>
            <a:endParaRPr lang="en-US" altLang="zh-CN" sz="2400"/>
          </a:p>
          <a:p>
            <a:pPr lvl="1" eaLnBrk="1" hangingPunct="1">
              <a:lnSpc>
                <a:spcPct val="70000"/>
              </a:lnSpc>
              <a:spcBef>
                <a:spcPct val="50000"/>
              </a:spcBef>
              <a:buNone/>
            </a:pPr>
            <a:r>
              <a:rPr lang="en-US" altLang="zh-CN" sz="2400"/>
              <a:t>a &lt;&lt;= 2  </a:t>
            </a:r>
            <a:r>
              <a:rPr lang="zh-CN" altLang="en-US" sz="2400" dirty="0"/>
              <a:t>相当于  </a:t>
            </a:r>
            <a:r>
              <a:rPr lang="en-US" altLang="zh-CN" sz="2400"/>
              <a:t>a = a &lt;&lt; 2</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8515">
                                            <p:txEl>
                                              <p:charRg st="0" end="3"/>
                                            </p:txEl>
                                          </p:spTgt>
                                        </p:tgtEl>
                                        <p:attrNameLst>
                                          <p:attrName>style.visibility</p:attrName>
                                        </p:attrNameLst>
                                      </p:cBhvr>
                                      <p:to>
                                        <p:strVal val="visible"/>
                                      </p:to>
                                    </p:set>
                                    <p:animEffect transition="in" filter="wipe(down)">
                                      <p:cBhvr>
                                        <p:cTn id="7" dur="500"/>
                                        <p:tgtEl>
                                          <p:spTgt spid="448515">
                                            <p:txEl>
                                              <p:charRg st="0"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48515">
                                            <p:txEl>
                                              <p:charRg st="3" end="6"/>
                                            </p:txEl>
                                          </p:spTgt>
                                        </p:tgtEl>
                                        <p:attrNameLst>
                                          <p:attrName>style.visibility</p:attrName>
                                        </p:attrNameLst>
                                      </p:cBhvr>
                                      <p:to>
                                        <p:strVal val="visible"/>
                                      </p:to>
                                    </p:set>
                                    <p:animEffect transition="in" filter="wipe(down)">
                                      <p:cBhvr>
                                        <p:cTn id="12" dur="500"/>
                                        <p:tgtEl>
                                          <p:spTgt spid="448515">
                                            <p:txEl>
                                              <p:charRg st="3"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48515">
                                            <p:txEl>
                                              <p:charRg st="6" end="9"/>
                                            </p:txEl>
                                          </p:spTgt>
                                        </p:tgtEl>
                                        <p:attrNameLst>
                                          <p:attrName>style.visibility</p:attrName>
                                        </p:attrNameLst>
                                      </p:cBhvr>
                                      <p:to>
                                        <p:strVal val="visible"/>
                                      </p:to>
                                    </p:set>
                                    <p:animEffect transition="in" filter="wipe(down)">
                                      <p:cBhvr>
                                        <p:cTn id="17" dur="500"/>
                                        <p:tgtEl>
                                          <p:spTgt spid="448515">
                                            <p:txEl>
                                              <p:charRg st="6"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48515">
                                            <p:txEl>
                                              <p:charRg st="9" end="13"/>
                                            </p:txEl>
                                          </p:spTgt>
                                        </p:tgtEl>
                                        <p:attrNameLst>
                                          <p:attrName>style.visibility</p:attrName>
                                        </p:attrNameLst>
                                      </p:cBhvr>
                                      <p:to>
                                        <p:strVal val="visible"/>
                                      </p:to>
                                    </p:set>
                                    <p:animEffect transition="in" filter="wipe(down)">
                                      <p:cBhvr>
                                        <p:cTn id="22" dur="500"/>
                                        <p:tgtEl>
                                          <p:spTgt spid="448515">
                                            <p:txEl>
                                              <p:charRg st="9" end="1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48515">
                                            <p:txEl>
                                              <p:charRg st="13" end="17"/>
                                            </p:txEl>
                                          </p:spTgt>
                                        </p:tgtEl>
                                        <p:attrNameLst>
                                          <p:attrName>style.visibility</p:attrName>
                                        </p:attrNameLst>
                                      </p:cBhvr>
                                      <p:to>
                                        <p:strVal val="visible"/>
                                      </p:to>
                                    </p:set>
                                    <p:animEffect transition="in" filter="wipe(down)">
                                      <p:cBhvr>
                                        <p:cTn id="27" dur="500"/>
                                        <p:tgtEl>
                                          <p:spTgt spid="448515">
                                            <p:txEl>
                                              <p:charRg st="13" end="1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48515">
                                            <p:txEl>
                                              <p:charRg st="18" end="43"/>
                                            </p:txEl>
                                          </p:spTgt>
                                        </p:tgtEl>
                                        <p:attrNameLst>
                                          <p:attrName>style.visibility</p:attrName>
                                        </p:attrNameLst>
                                      </p:cBhvr>
                                      <p:to>
                                        <p:strVal val="visible"/>
                                      </p:to>
                                    </p:set>
                                    <p:animEffect transition="in" filter="wipe(down)">
                                      <p:cBhvr>
                                        <p:cTn id="32" dur="500"/>
                                        <p:tgtEl>
                                          <p:spTgt spid="448515">
                                            <p:txEl>
                                              <p:charRg st="18" end="4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48515">
                                            <p:txEl>
                                              <p:charRg st="43" end="68"/>
                                            </p:txEl>
                                          </p:spTgt>
                                        </p:tgtEl>
                                        <p:attrNameLst>
                                          <p:attrName>style.visibility</p:attrName>
                                        </p:attrNameLst>
                                      </p:cBhvr>
                                      <p:to>
                                        <p:strVal val="visible"/>
                                      </p:to>
                                    </p:set>
                                    <p:animEffect transition="in" filter="wipe(down)">
                                      <p:cBhvr>
                                        <p:cTn id="37" dur="500"/>
                                        <p:tgtEl>
                                          <p:spTgt spid="448515">
                                            <p:txEl>
                                              <p:charRg st="43"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5" grpId="0" bldLvl="2"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p:cNvSpPr>
          <p:nvPr>
            <p:ph type="title"/>
          </p:nvPr>
        </p:nvSpPr>
        <p:spPr>
          <a:xfrm>
            <a:off x="457200" y="457200"/>
            <a:ext cx="6923088" cy="955675"/>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6.5.8  其他运算</a:t>
            </a:r>
            <a:endParaRPr lang="zh-CN" altLang="en-US" b="0" dirty="0">
              <a:sym typeface="+mn-ea"/>
            </a:endParaRPr>
          </a:p>
        </p:txBody>
      </p:sp>
      <p:sp>
        <p:nvSpPr>
          <p:cNvPr id="430083" name="Rectangle 3"/>
          <p:cNvSpPr>
            <a:spLocks noGrp="1"/>
          </p:cNvSpPr>
          <p:nvPr>
            <p:ph idx="1"/>
          </p:nvPr>
        </p:nvSpPr>
        <p:spPr>
          <a:xfrm>
            <a:off x="533400" y="1371600"/>
            <a:ext cx="8229600" cy="4800600"/>
          </a:xfrm>
        </p:spPr>
        <p:txBody>
          <a:bodyPr vert="horz" wrap="square" lIns="91440" tIns="45720" rIns="91440" bIns="45720" anchor="t" anchorCtr="0"/>
          <a:p>
            <a:pPr algn="just" eaLnBrk="1" hangingPunct="1"/>
            <a:r>
              <a:rPr lang="zh-CN" altLang="en-US" sz="2800" b="0" dirty="0"/>
              <a:t>长度运算符</a:t>
            </a:r>
            <a:r>
              <a:rPr lang="zh-CN" altLang="en-US" sz="2800" b="0" dirty="0">
                <a:solidFill>
                  <a:srgbClr val="CC0066"/>
                </a:solidFill>
              </a:rPr>
              <a:t> </a:t>
            </a:r>
            <a:r>
              <a:rPr lang="en-US" altLang="zh-CN" b="0" err="1">
                <a:solidFill>
                  <a:srgbClr val="CC0066"/>
                </a:solidFill>
                <a:ea typeface="Arial Unicode MS" pitchFamily="34" charset="-122"/>
              </a:rPr>
              <a:t>sizeof</a:t>
            </a:r>
            <a:endParaRPr lang="en-US" altLang="zh-CN" b="0">
              <a:solidFill>
                <a:srgbClr val="CC0066"/>
              </a:solidFill>
              <a:ea typeface="Arial Unicode MS" pitchFamily="34" charset="-122"/>
            </a:endParaRPr>
          </a:p>
          <a:p>
            <a:pPr lvl="1" algn="just" eaLnBrk="1" hangingPunct="1">
              <a:buNone/>
            </a:pPr>
            <a:r>
              <a:rPr lang="zh-CN" altLang="en-US" b="0" dirty="0">
                <a:latin typeface="宋体" pitchFamily="2" charset="-122"/>
              </a:rPr>
              <a:t>单目运算符，计算变量或数据类型的字节长度</a:t>
            </a:r>
            <a:endParaRPr lang="zh-CN" altLang="en-US" b="0" dirty="0">
              <a:latin typeface="宋体" pitchFamily="2" charset="-122"/>
            </a:endParaRPr>
          </a:p>
          <a:p>
            <a:pPr lvl="1" algn="just" eaLnBrk="1" hangingPunct="1">
              <a:buNone/>
            </a:pPr>
            <a:r>
              <a:rPr lang="en-US" altLang="zh-CN" b="0" err="1"/>
              <a:t>int</a:t>
            </a:r>
            <a:r>
              <a:rPr lang="en-US" altLang="zh-CN" b="0"/>
              <a:t> a;</a:t>
            </a:r>
            <a:endParaRPr lang="en-US" altLang="zh-CN" b="0"/>
          </a:p>
          <a:p>
            <a:pPr lvl="1" algn="just" eaLnBrk="1" hangingPunct="1">
              <a:buNone/>
            </a:pPr>
            <a:r>
              <a:rPr lang="en-US" altLang="zh-CN" b="0" err="1">
                <a:ea typeface="Arial Unicode MS" pitchFamily="34" charset="-122"/>
              </a:rPr>
              <a:t>sizeof(a</a:t>
            </a:r>
            <a:r>
              <a:rPr lang="en-US" altLang="zh-CN" b="0">
                <a:ea typeface="Arial Unicode MS" pitchFamily="34" charset="-122"/>
              </a:rPr>
              <a:t>)</a:t>
            </a:r>
            <a:endParaRPr lang="en-US" altLang="zh-CN" b="0">
              <a:ea typeface="Arial Unicode MS" pitchFamily="34" charset="-122"/>
            </a:endParaRPr>
          </a:p>
          <a:p>
            <a:pPr lvl="2" algn="just" eaLnBrk="1" hangingPunct="1">
              <a:buNone/>
            </a:pPr>
            <a:r>
              <a:rPr lang="zh-CN" altLang="en-US" b="0" dirty="0">
                <a:latin typeface="宋体" pitchFamily="2" charset="-122"/>
              </a:rPr>
              <a:t>求整型变量</a:t>
            </a:r>
            <a:r>
              <a:rPr lang="zh-CN" altLang="en-US" b="0" dirty="0">
                <a:ea typeface="Arial Unicode MS" pitchFamily="34" charset="-122"/>
              </a:rPr>
              <a:t> </a:t>
            </a:r>
            <a:r>
              <a:rPr lang="en-US" altLang="zh-CN" b="0">
                <a:ea typeface="Arial Unicode MS" pitchFamily="34" charset="-122"/>
              </a:rPr>
              <a:t>a </a:t>
            </a:r>
            <a:r>
              <a:rPr lang="zh-CN" altLang="en-US" b="0" dirty="0">
                <a:latin typeface="宋体" pitchFamily="2" charset="-122"/>
              </a:rPr>
              <a:t>的长度，值为</a:t>
            </a:r>
            <a:r>
              <a:rPr lang="zh-CN" altLang="en-US" b="0" dirty="0">
                <a:ea typeface="Arial Unicode MS" pitchFamily="34" charset="-122"/>
              </a:rPr>
              <a:t>4(</a:t>
            </a:r>
            <a:r>
              <a:rPr lang="en-US" altLang="zh-CN" b="0">
                <a:ea typeface="Arial Unicode MS" pitchFamily="34" charset="-122"/>
              </a:rPr>
              <a:t>bytes)</a:t>
            </a:r>
            <a:endParaRPr lang="en-US" altLang="zh-CN" b="0">
              <a:ea typeface="Arial Unicode MS" pitchFamily="34" charset="-122"/>
            </a:endParaRPr>
          </a:p>
          <a:p>
            <a:pPr lvl="1" algn="just" eaLnBrk="1" hangingPunct="1">
              <a:buNone/>
            </a:pPr>
            <a:r>
              <a:rPr lang="en-US" altLang="zh-CN" b="0" err="1">
                <a:ea typeface="Arial Unicode MS" pitchFamily="34" charset="-122"/>
              </a:rPr>
              <a:t>sizeof(int</a:t>
            </a:r>
            <a:r>
              <a:rPr lang="en-US" altLang="zh-CN" b="0">
                <a:ea typeface="Arial Unicode MS" pitchFamily="34" charset="-122"/>
              </a:rPr>
              <a:t>)</a:t>
            </a:r>
            <a:endParaRPr lang="en-US" altLang="zh-CN" b="0">
              <a:ea typeface="Arial Unicode MS" pitchFamily="34" charset="-122"/>
            </a:endParaRPr>
          </a:p>
          <a:p>
            <a:pPr lvl="2" algn="just" eaLnBrk="1" hangingPunct="1">
              <a:buNone/>
            </a:pPr>
            <a:r>
              <a:rPr lang="zh-CN" altLang="en-US" b="0" dirty="0">
                <a:latin typeface="宋体" pitchFamily="2" charset="-122"/>
              </a:rPr>
              <a:t>求整型的长度，值为</a:t>
            </a:r>
            <a:r>
              <a:rPr lang="zh-CN" altLang="en-US" b="0" dirty="0">
                <a:ea typeface="Arial Unicode MS" pitchFamily="34" charset="-122"/>
              </a:rPr>
              <a:t>4 (</a:t>
            </a:r>
            <a:r>
              <a:rPr lang="en-US" altLang="zh-CN" b="0">
                <a:ea typeface="Arial Unicode MS" pitchFamily="34" charset="-122"/>
              </a:rPr>
              <a:t>bytes)</a:t>
            </a:r>
            <a:endParaRPr lang="en-US" altLang="zh-CN" b="0">
              <a:ea typeface="Arial Unicode MS" pitchFamily="34" charset="-122"/>
            </a:endParaRPr>
          </a:p>
          <a:p>
            <a:pPr lvl="1" algn="just" eaLnBrk="1" hangingPunct="1">
              <a:buNone/>
            </a:pPr>
            <a:r>
              <a:rPr lang="en-US" altLang="zh-CN" b="0" err="1">
                <a:ea typeface="Arial Unicode MS" pitchFamily="34" charset="-122"/>
              </a:rPr>
              <a:t>sizeof(double</a:t>
            </a:r>
            <a:r>
              <a:rPr lang="en-US" altLang="zh-CN" b="0">
                <a:ea typeface="Arial Unicode MS" pitchFamily="34" charset="-122"/>
              </a:rPr>
              <a:t>)</a:t>
            </a:r>
            <a:endParaRPr lang="en-US" altLang="zh-CN" b="0">
              <a:ea typeface="Arial Unicode MS" pitchFamily="34" charset="-122"/>
            </a:endParaRPr>
          </a:p>
          <a:p>
            <a:pPr lvl="2" algn="just" eaLnBrk="1" hangingPunct="1">
              <a:buNone/>
            </a:pPr>
            <a:r>
              <a:rPr lang="zh-CN" altLang="en-US" b="0" dirty="0">
                <a:latin typeface="宋体" pitchFamily="2" charset="-122"/>
              </a:rPr>
              <a:t>求双精度浮点型的长度，值为</a:t>
            </a:r>
            <a:r>
              <a:rPr lang="zh-CN" altLang="en-US" b="0" dirty="0">
                <a:ea typeface="Arial Unicode MS" pitchFamily="34" charset="-122"/>
              </a:rPr>
              <a:t>8 (</a:t>
            </a:r>
            <a:r>
              <a:rPr lang="en-US" altLang="zh-CN" b="0">
                <a:ea typeface="Arial Unicode MS" pitchFamily="34" charset="-122"/>
              </a:rPr>
              <a:t>bytes)</a:t>
            </a:r>
            <a:endParaRPr lang="en-US" altLang="zh-CN" b="0">
              <a:ea typeface="Arial Unicode MS"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083">
                                            <p:txEl>
                                              <p:charRg st="0" end="13"/>
                                            </p:txEl>
                                          </p:spTgt>
                                        </p:tgtEl>
                                        <p:attrNameLst>
                                          <p:attrName>style.visibility</p:attrName>
                                        </p:attrNameLst>
                                      </p:cBhvr>
                                      <p:to>
                                        <p:strVal val="visible"/>
                                      </p:to>
                                    </p:set>
                                    <p:anim calcmode="lin" valueType="num">
                                      <p:cBhvr additive="base">
                                        <p:cTn id="7" dur="500" fill="hold"/>
                                        <p:tgtEl>
                                          <p:spTgt spid="430083">
                                            <p:txEl>
                                              <p:charRg st="0" end="1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0083">
                                            <p:txEl>
                                              <p:charRg st="0" end="1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0083">
                                            <p:txEl>
                                              <p:charRg st="13" end="34"/>
                                            </p:txEl>
                                          </p:spTgt>
                                        </p:tgtEl>
                                        <p:attrNameLst>
                                          <p:attrName>style.visibility</p:attrName>
                                        </p:attrNameLst>
                                      </p:cBhvr>
                                      <p:to>
                                        <p:strVal val="visible"/>
                                      </p:to>
                                    </p:set>
                                    <p:anim calcmode="lin" valueType="num">
                                      <p:cBhvr additive="base">
                                        <p:cTn id="13" dur="500" fill="hold"/>
                                        <p:tgtEl>
                                          <p:spTgt spid="430083">
                                            <p:txEl>
                                              <p:charRg st="13" end="3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0083">
                                            <p:txEl>
                                              <p:charRg st="13" end="3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0083">
                                            <p:txEl>
                                              <p:charRg st="34" end="41"/>
                                            </p:txEl>
                                          </p:spTgt>
                                        </p:tgtEl>
                                        <p:attrNameLst>
                                          <p:attrName>style.visibility</p:attrName>
                                        </p:attrNameLst>
                                      </p:cBhvr>
                                      <p:to>
                                        <p:strVal val="visible"/>
                                      </p:to>
                                    </p:set>
                                    <p:anim calcmode="lin" valueType="num">
                                      <p:cBhvr additive="base">
                                        <p:cTn id="19" dur="500" fill="hold"/>
                                        <p:tgtEl>
                                          <p:spTgt spid="430083">
                                            <p:txEl>
                                              <p:charRg st="34" end="4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30083">
                                            <p:txEl>
                                              <p:charRg st="34" end="4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30083">
                                            <p:txEl>
                                              <p:charRg st="41" end="51"/>
                                            </p:txEl>
                                          </p:spTgt>
                                        </p:tgtEl>
                                        <p:attrNameLst>
                                          <p:attrName>style.visibility</p:attrName>
                                        </p:attrNameLst>
                                      </p:cBhvr>
                                      <p:to>
                                        <p:strVal val="visible"/>
                                      </p:to>
                                    </p:set>
                                    <p:anim calcmode="lin" valueType="num">
                                      <p:cBhvr additive="base">
                                        <p:cTn id="25" dur="500" fill="hold"/>
                                        <p:tgtEl>
                                          <p:spTgt spid="430083">
                                            <p:txEl>
                                              <p:charRg st="41" end="5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30083">
                                            <p:txEl>
                                              <p:charRg st="41" end="51"/>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430083">
                                            <p:txEl>
                                              <p:charRg st="51" end="74"/>
                                            </p:txEl>
                                          </p:spTgt>
                                        </p:tgtEl>
                                        <p:attrNameLst>
                                          <p:attrName>style.visibility</p:attrName>
                                        </p:attrNameLst>
                                      </p:cBhvr>
                                      <p:to>
                                        <p:strVal val="visible"/>
                                      </p:to>
                                    </p:set>
                                    <p:anim calcmode="lin" valueType="num">
                                      <p:cBhvr additive="base">
                                        <p:cTn id="29" dur="500" fill="hold"/>
                                        <p:tgtEl>
                                          <p:spTgt spid="430083">
                                            <p:txEl>
                                              <p:charRg st="51" end="7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30083">
                                            <p:txEl>
                                              <p:charRg st="51" end="7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30083">
                                            <p:txEl>
                                              <p:charRg st="74" end="86"/>
                                            </p:txEl>
                                          </p:spTgt>
                                        </p:tgtEl>
                                        <p:attrNameLst>
                                          <p:attrName>style.visibility</p:attrName>
                                        </p:attrNameLst>
                                      </p:cBhvr>
                                      <p:to>
                                        <p:strVal val="visible"/>
                                      </p:to>
                                    </p:set>
                                    <p:anim calcmode="lin" valueType="num">
                                      <p:cBhvr additive="base">
                                        <p:cTn id="35" dur="500" fill="hold"/>
                                        <p:tgtEl>
                                          <p:spTgt spid="430083">
                                            <p:txEl>
                                              <p:charRg st="74" end="8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30083">
                                            <p:txEl>
                                              <p:charRg st="74" end="86"/>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30083">
                                            <p:txEl>
                                              <p:charRg st="86" end="105"/>
                                            </p:txEl>
                                          </p:spTgt>
                                        </p:tgtEl>
                                        <p:attrNameLst>
                                          <p:attrName>style.visibility</p:attrName>
                                        </p:attrNameLst>
                                      </p:cBhvr>
                                      <p:to>
                                        <p:strVal val="visible"/>
                                      </p:to>
                                    </p:set>
                                    <p:anim calcmode="lin" valueType="num">
                                      <p:cBhvr additive="base">
                                        <p:cTn id="39" dur="500" fill="hold"/>
                                        <p:tgtEl>
                                          <p:spTgt spid="430083">
                                            <p:txEl>
                                              <p:charRg st="86" end="10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430083">
                                            <p:txEl>
                                              <p:charRg st="86" end="105"/>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430083">
                                            <p:txEl>
                                              <p:charRg st="105" end="120"/>
                                            </p:txEl>
                                          </p:spTgt>
                                        </p:tgtEl>
                                        <p:attrNameLst>
                                          <p:attrName>style.visibility</p:attrName>
                                        </p:attrNameLst>
                                      </p:cBhvr>
                                      <p:to>
                                        <p:strVal val="visible"/>
                                      </p:to>
                                    </p:set>
                                    <p:anim calcmode="lin" valueType="num">
                                      <p:cBhvr additive="base">
                                        <p:cTn id="45" dur="500" fill="hold"/>
                                        <p:tgtEl>
                                          <p:spTgt spid="430083">
                                            <p:txEl>
                                              <p:charRg st="105" end="12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430083">
                                            <p:txEl>
                                              <p:charRg st="105" end="120"/>
                                            </p:tx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430083">
                                            <p:txEl>
                                              <p:charRg st="120" end="143"/>
                                            </p:txEl>
                                          </p:spTgt>
                                        </p:tgtEl>
                                        <p:attrNameLst>
                                          <p:attrName>style.visibility</p:attrName>
                                        </p:attrNameLst>
                                      </p:cBhvr>
                                      <p:to>
                                        <p:strVal val="visible"/>
                                      </p:to>
                                    </p:set>
                                    <p:anim calcmode="lin" valueType="num">
                                      <p:cBhvr additive="base">
                                        <p:cTn id="49" dur="500" fill="hold"/>
                                        <p:tgtEl>
                                          <p:spTgt spid="430083">
                                            <p:txEl>
                                              <p:charRg st="120" end="143"/>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30083">
                                            <p:txEl>
                                              <p:charRg st="120" end="14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bldLvl="2"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755650" y="288925"/>
            <a:ext cx="6624638" cy="908050"/>
          </a:xfrm>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运算符的优先级和结合性</a:t>
            </a:r>
            <a:endParaRPr lang="zh-CN" altLang="en-US" b="0" dirty="0">
              <a:sym typeface="+mn-ea"/>
            </a:endParaRPr>
          </a:p>
        </p:txBody>
      </p:sp>
      <p:sp>
        <p:nvSpPr>
          <p:cNvPr id="90115" name="Rectangle 3"/>
          <p:cNvSpPr>
            <a:spLocks noGrp="1"/>
          </p:cNvSpPr>
          <p:nvPr>
            <p:ph idx="1"/>
          </p:nvPr>
        </p:nvSpPr>
        <p:spPr>
          <a:xfrm>
            <a:off x="1012825" y="1190625"/>
            <a:ext cx="6689725" cy="5334000"/>
          </a:xfrm>
        </p:spPr>
        <p:txBody>
          <a:bodyPr vert="horz" wrap="square" lIns="91440" tIns="45720" rIns="91440" bIns="45720" anchor="t" anchorCtr="0"/>
          <a:p>
            <a:pPr eaLnBrk="1" hangingPunct="1">
              <a:lnSpc>
                <a:spcPct val="90000"/>
              </a:lnSpc>
            </a:pPr>
            <a:r>
              <a:rPr lang="zh-CN" altLang="en-US" sz="2800" b="0" dirty="0"/>
              <a:t>( )</a:t>
            </a:r>
            <a:endParaRPr lang="zh-CN" altLang="en-US" sz="2800" b="0" dirty="0"/>
          </a:p>
          <a:p>
            <a:pPr eaLnBrk="1" hangingPunct="1">
              <a:lnSpc>
                <a:spcPct val="90000"/>
              </a:lnSpc>
            </a:pPr>
            <a:r>
              <a:rPr lang="zh-CN" altLang="en-US" sz="2800" b="0" dirty="0"/>
              <a:t>!  -  +  ++  --   (类型名）</a:t>
            </a:r>
            <a:r>
              <a:rPr lang="en-US" altLang="zh-CN" sz="2800" b="0" err="1"/>
              <a:t>sizeof</a:t>
            </a:r>
            <a:endParaRPr lang="en-US" altLang="zh-CN" sz="2800" b="0"/>
          </a:p>
          <a:p>
            <a:pPr eaLnBrk="1" hangingPunct="1">
              <a:lnSpc>
                <a:spcPct val="90000"/>
              </a:lnSpc>
            </a:pPr>
            <a:r>
              <a:rPr lang="zh-CN" altLang="en-US" sz="2800" b="0" dirty="0"/>
              <a:t>* 	/   %		</a:t>
            </a:r>
            <a:endParaRPr lang="zh-CN" altLang="en-US" sz="2800" b="0" dirty="0"/>
          </a:p>
          <a:p>
            <a:pPr eaLnBrk="1" hangingPunct="1">
              <a:lnSpc>
                <a:spcPct val="90000"/>
              </a:lnSpc>
            </a:pPr>
            <a:r>
              <a:rPr lang="zh-CN" altLang="en-US" sz="2800" b="0" dirty="0"/>
              <a:t>+	-</a:t>
            </a:r>
            <a:endParaRPr lang="zh-CN" altLang="en-US" sz="2800" b="0" dirty="0"/>
          </a:p>
          <a:p>
            <a:pPr eaLnBrk="1" hangingPunct="1">
              <a:lnSpc>
                <a:spcPct val="90000"/>
              </a:lnSpc>
            </a:pPr>
            <a:r>
              <a:rPr lang="zh-CN" altLang="en-US" sz="2800" b="0" dirty="0"/>
              <a:t>&lt;  &lt;=  &gt;  &gt;=</a:t>
            </a:r>
            <a:endParaRPr lang="zh-CN" altLang="en-US" sz="2800" b="0" dirty="0"/>
          </a:p>
          <a:p>
            <a:pPr eaLnBrk="1" hangingPunct="1">
              <a:lnSpc>
                <a:spcPct val="90000"/>
              </a:lnSpc>
            </a:pPr>
            <a:r>
              <a:rPr lang="zh-CN" altLang="en-US" sz="2800" b="0" dirty="0"/>
              <a:t>==  !=</a:t>
            </a:r>
            <a:endParaRPr lang="zh-CN" altLang="en-US" sz="2800" b="0" dirty="0"/>
          </a:p>
          <a:p>
            <a:pPr eaLnBrk="1" hangingPunct="1">
              <a:lnSpc>
                <a:spcPct val="90000"/>
              </a:lnSpc>
            </a:pPr>
            <a:r>
              <a:rPr lang="zh-CN" altLang="en-US" sz="2800" b="0" dirty="0"/>
              <a:t>&amp;&amp;</a:t>
            </a:r>
            <a:endParaRPr lang="zh-CN" altLang="en-US" sz="2800" b="0" dirty="0"/>
          </a:p>
          <a:p>
            <a:pPr eaLnBrk="1" hangingPunct="1">
              <a:lnSpc>
                <a:spcPct val="90000"/>
              </a:lnSpc>
            </a:pPr>
            <a:r>
              <a:rPr lang="zh-CN" altLang="en-US" sz="2800" b="0" dirty="0"/>
              <a:t>||</a:t>
            </a:r>
            <a:endParaRPr lang="zh-CN" altLang="en-US" sz="2800" b="0" dirty="0"/>
          </a:p>
          <a:p>
            <a:pPr eaLnBrk="1" hangingPunct="1">
              <a:lnSpc>
                <a:spcPct val="90000"/>
              </a:lnSpc>
            </a:pPr>
            <a:r>
              <a:rPr lang="zh-CN" altLang="en-US" sz="2800" b="0" dirty="0"/>
              <a:t>? : </a:t>
            </a:r>
            <a:endParaRPr lang="zh-CN" altLang="en-US" sz="2800" b="0" dirty="0"/>
          </a:p>
          <a:p>
            <a:pPr eaLnBrk="1" hangingPunct="1">
              <a:lnSpc>
                <a:spcPct val="90000"/>
              </a:lnSpc>
            </a:pPr>
            <a:r>
              <a:rPr lang="zh-CN" altLang="en-US" sz="2800" b="0" dirty="0"/>
              <a:t>=  +=  -=  *=  /=  %=</a:t>
            </a:r>
            <a:endParaRPr lang="zh-CN" altLang="en-US" sz="2800" b="0" dirty="0"/>
          </a:p>
          <a:p>
            <a:pPr eaLnBrk="1" hangingPunct="1">
              <a:lnSpc>
                <a:spcPct val="90000"/>
              </a:lnSpc>
            </a:pPr>
            <a:r>
              <a:rPr lang="zh-CN" altLang="en-US" sz="2800" b="0" dirty="0"/>
              <a:t>,</a:t>
            </a:r>
            <a:endParaRPr lang="zh-CN" altLang="en-US" sz="2800" b="0" dirty="0"/>
          </a:p>
        </p:txBody>
      </p:sp>
      <p:grpSp>
        <p:nvGrpSpPr>
          <p:cNvPr id="90116" name="Group 13"/>
          <p:cNvGrpSpPr/>
          <p:nvPr/>
        </p:nvGrpSpPr>
        <p:grpSpPr>
          <a:xfrm>
            <a:off x="133350" y="1885950"/>
            <a:ext cx="685800" cy="3810000"/>
            <a:chOff x="1056" y="1056"/>
            <a:chExt cx="432" cy="2400"/>
          </a:xfrm>
        </p:grpSpPr>
        <p:sp>
          <p:nvSpPr>
            <p:cNvPr id="90117" name="Line 10"/>
            <p:cNvSpPr/>
            <p:nvPr/>
          </p:nvSpPr>
          <p:spPr>
            <a:xfrm flipH="1">
              <a:off x="1104" y="1056"/>
              <a:ext cx="384" cy="0"/>
            </a:xfrm>
            <a:prstGeom prst="line">
              <a:avLst/>
            </a:prstGeom>
            <a:ln w="38100" cap="flat" cmpd="dbl">
              <a:solidFill>
                <a:srgbClr val="CC0066"/>
              </a:solidFill>
              <a:prstDash val="solid"/>
              <a:round/>
              <a:headEnd type="none" w="med" len="med"/>
              <a:tailEnd type="triangle" w="med" len="med"/>
            </a:ln>
          </p:spPr>
        </p:sp>
        <p:sp>
          <p:nvSpPr>
            <p:cNvPr id="90118" name="Line 11"/>
            <p:cNvSpPr/>
            <p:nvPr/>
          </p:nvSpPr>
          <p:spPr>
            <a:xfrm flipH="1">
              <a:off x="1056" y="3456"/>
              <a:ext cx="384" cy="0"/>
            </a:xfrm>
            <a:prstGeom prst="line">
              <a:avLst/>
            </a:prstGeom>
            <a:ln w="38100" cap="flat" cmpd="dbl">
              <a:solidFill>
                <a:srgbClr val="CC0066"/>
              </a:solidFill>
              <a:prstDash val="solid"/>
              <a:round/>
              <a:headEnd type="none" w="med" len="med"/>
              <a:tailEnd type="triangle" w="med" len="med"/>
            </a:ln>
          </p:spPr>
        </p:sp>
        <p:sp>
          <p:nvSpPr>
            <p:cNvPr id="90119" name="Line 12"/>
            <p:cNvSpPr/>
            <p:nvPr/>
          </p:nvSpPr>
          <p:spPr>
            <a:xfrm flipH="1">
              <a:off x="1056" y="3168"/>
              <a:ext cx="384" cy="0"/>
            </a:xfrm>
            <a:prstGeom prst="line">
              <a:avLst/>
            </a:prstGeom>
            <a:ln w="38100" cap="flat" cmpd="dbl">
              <a:solidFill>
                <a:srgbClr val="CC0066"/>
              </a:solidFill>
              <a:prstDash val="solid"/>
              <a:round/>
              <a:headEnd type="none" w="med" len="med"/>
              <a:tailEnd type="triangle" w="med" len="med"/>
            </a:ln>
          </p:spPr>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a:xfrm>
            <a:off x="73025" y="228600"/>
            <a:ext cx="9029700" cy="609600"/>
          </a:xfrm>
          <a:noFill/>
          <a:ln w="9525">
            <a:noFill/>
          </a:ln>
        </p:spPr>
        <p:txBody>
          <a:bodyPr vert="horz" wrap="square" lIns="91440" tIns="45720" rIns="91440" bIns="45720" rtlCol="0" anchor="ctr" anchorCtr="0">
            <a:normAutofit fontScale="90000"/>
          </a:bodyPr>
          <a:p>
            <a:pPr lvl="0" algn="l" eaLnBrk="1" hangingPunct="1">
              <a:buClrTx/>
              <a:buSzTx/>
              <a:buFontTx/>
            </a:pPr>
            <a:r>
              <a:rPr lang="zh-CN" altLang="en-US" b="0" dirty="0">
                <a:sym typeface="+mn-ea"/>
              </a:rPr>
              <a:t>6.5.9  程序解析－大小写字母转换 </a:t>
            </a:r>
            <a:endParaRPr lang="zh-CN" altLang="en-US" b="0" dirty="0">
              <a:sym typeface="+mn-ea"/>
            </a:endParaRPr>
          </a:p>
        </p:txBody>
      </p:sp>
      <p:sp>
        <p:nvSpPr>
          <p:cNvPr id="91138" name="Rectangle 3"/>
          <p:cNvSpPr>
            <a:spLocks noGrp="1"/>
          </p:cNvSpPr>
          <p:nvPr>
            <p:ph idx="1"/>
          </p:nvPr>
        </p:nvSpPr>
        <p:spPr>
          <a:xfrm>
            <a:off x="381000" y="838200"/>
            <a:ext cx="8583613" cy="5686425"/>
          </a:xfrm>
        </p:spPr>
        <p:txBody>
          <a:bodyPr vert="horz" wrap="square" lIns="91440" tIns="45720" rIns="91440" bIns="45720" anchor="t" anchorCtr="0"/>
          <a:p>
            <a:pPr algn="just" eaLnBrk="1" hangingPunct="1">
              <a:spcBef>
                <a:spcPct val="0"/>
              </a:spcBef>
              <a:buNone/>
            </a:pPr>
            <a:r>
              <a:rPr lang="zh-CN" altLang="en-US" sz="2200" b="0" dirty="0">
                <a:ea typeface="Arial Unicode MS" pitchFamily="34" charset="-122"/>
              </a:rPr>
              <a:t>#</a:t>
            </a:r>
            <a:r>
              <a:rPr lang="en-US" altLang="zh-CN" sz="2200" b="0">
                <a:ea typeface="Arial Unicode MS" pitchFamily="34" charset="-122"/>
              </a:rPr>
              <a:t>include &lt;</a:t>
            </a:r>
            <a:r>
              <a:rPr lang="en-US" altLang="zh-CN" sz="2200" b="0" err="1">
                <a:ea typeface="Arial Unicode MS" pitchFamily="34" charset="-122"/>
              </a:rPr>
              <a:t>stdio.h</a:t>
            </a:r>
            <a:r>
              <a:rPr lang="en-US" altLang="zh-CN" sz="2200" b="0">
                <a:ea typeface="Arial Unicode MS" pitchFamily="34" charset="-122"/>
              </a:rPr>
              <a:t>&gt;</a:t>
            </a:r>
            <a:endParaRPr lang="en-US" altLang="zh-CN" sz="2200" b="0">
              <a:ea typeface="Arial Unicode MS" pitchFamily="34" charset="-122"/>
            </a:endParaRPr>
          </a:p>
          <a:p>
            <a:pPr algn="just" eaLnBrk="1" hangingPunct="1">
              <a:spcBef>
                <a:spcPct val="0"/>
              </a:spcBef>
              <a:buNone/>
            </a:pPr>
            <a:r>
              <a:rPr lang="en-US" altLang="zh-CN" sz="2200" b="0" err="1">
                <a:ea typeface="Arial Unicode MS" pitchFamily="34" charset="-122"/>
              </a:rPr>
              <a:t>int</a:t>
            </a:r>
            <a:r>
              <a:rPr lang="en-US" altLang="zh-CN" sz="2200" b="0">
                <a:ea typeface="Arial Unicode MS" pitchFamily="34" charset="-122"/>
              </a:rPr>
              <a:t> </a:t>
            </a:r>
            <a:r>
              <a:rPr lang="en-US" altLang="zh-CN" sz="2200" b="0" err="1">
                <a:ea typeface="Arial Unicode MS" pitchFamily="34" charset="-122"/>
              </a:rPr>
              <a:t>main(void</a:t>
            </a:r>
            <a:r>
              <a:rPr lang="en-US" altLang="zh-CN" sz="2200" b="0">
                <a:ea typeface="Arial Unicode MS" pitchFamily="34" charset="-122"/>
              </a:rPr>
              <a:t>)</a:t>
            </a:r>
            <a:endParaRPr lang="en-US" altLang="zh-CN" sz="2200" b="0">
              <a:ea typeface="Arial Unicode MS" pitchFamily="34" charset="-122"/>
            </a:endParaRPr>
          </a:p>
          <a:p>
            <a:pPr algn="just" eaLnBrk="1" hangingPunct="1">
              <a:spcBef>
                <a:spcPct val="0"/>
              </a:spcBef>
              <a:buNone/>
            </a:pPr>
            <a:r>
              <a:rPr lang="en-US" altLang="zh-CN" sz="2200" b="0">
                <a:ea typeface="Arial Unicode MS" pitchFamily="34" charset="-122"/>
              </a:rPr>
              <a:t>{  </a:t>
            </a:r>
            <a:endParaRPr lang="zh-CN" altLang="en-US" sz="2200" b="0" dirty="0">
              <a:ea typeface="Arial Unicode MS" pitchFamily="34" charset="-122"/>
            </a:endParaRPr>
          </a:p>
          <a:p>
            <a:pPr algn="just" eaLnBrk="1" hangingPunct="1">
              <a:spcBef>
                <a:spcPct val="0"/>
              </a:spcBef>
              <a:buNone/>
            </a:pPr>
            <a:r>
              <a:rPr lang="zh-CN" altLang="en-US" sz="2200" b="0" dirty="0">
                <a:ea typeface="Arial Unicode MS" pitchFamily="34" charset="-122"/>
              </a:rPr>
              <a:t>   </a:t>
            </a:r>
            <a:r>
              <a:rPr lang="en-US" altLang="zh-CN" sz="2200" b="0">
                <a:ea typeface="Arial Unicode MS" pitchFamily="34" charset="-122"/>
              </a:rPr>
              <a:t>char </a:t>
            </a:r>
            <a:r>
              <a:rPr lang="en-US" altLang="zh-CN" sz="2200" b="0" err="1">
                <a:ea typeface="Arial Unicode MS" pitchFamily="34" charset="-122"/>
              </a:rPr>
              <a:t>ch</a:t>
            </a:r>
            <a:r>
              <a:rPr lang="en-US" altLang="zh-CN" sz="2200" b="0">
                <a:ea typeface="Arial Unicode MS" pitchFamily="34" charset="-122"/>
              </a:rPr>
              <a:t>;  </a:t>
            </a:r>
            <a:endParaRPr lang="en-US" altLang="zh-CN" sz="2200" b="0">
              <a:ea typeface="Arial Unicode MS" pitchFamily="34" charset="-122"/>
            </a:endParaRPr>
          </a:p>
          <a:p>
            <a:pPr algn="just" eaLnBrk="1" hangingPunct="1">
              <a:spcBef>
                <a:spcPct val="0"/>
              </a:spcBef>
              <a:buNone/>
            </a:pPr>
            <a:endParaRPr lang="en-US" altLang="zh-CN" sz="2200" b="0">
              <a:ea typeface="Arial Unicode MS" pitchFamily="34" charset="-122"/>
            </a:endParaRPr>
          </a:p>
          <a:p>
            <a:pPr algn="just" eaLnBrk="1" hangingPunct="1">
              <a:spcBef>
                <a:spcPct val="0"/>
              </a:spcBef>
              <a:buNone/>
            </a:pPr>
            <a:r>
              <a:rPr lang="en-US" altLang="zh-CN" sz="2200" b="0">
                <a:ea typeface="Arial Unicode MS" pitchFamily="34" charset="-122"/>
              </a:rPr>
              <a:t>   </a:t>
            </a:r>
            <a:r>
              <a:rPr lang="en-US" altLang="zh-CN" sz="2200" b="0" err="1">
                <a:ea typeface="Arial Unicode MS" pitchFamily="34" charset="-122"/>
              </a:rPr>
              <a:t>printf("input</a:t>
            </a:r>
            <a:r>
              <a:rPr lang="en-US" altLang="zh-CN" sz="2200" b="0">
                <a:ea typeface="Arial Unicode MS" pitchFamily="34" charset="-122"/>
              </a:rPr>
              <a:t> characters: ");</a:t>
            </a:r>
            <a:endParaRPr lang="en-US" altLang="zh-CN" sz="2200" b="0">
              <a:ea typeface="Arial Unicode MS" pitchFamily="34" charset="-122"/>
            </a:endParaRPr>
          </a:p>
          <a:p>
            <a:pPr algn="just" eaLnBrk="1" hangingPunct="1">
              <a:spcBef>
                <a:spcPct val="0"/>
              </a:spcBef>
              <a:buNone/>
            </a:pPr>
            <a:r>
              <a:rPr lang="zh-CN" altLang="en-US" sz="2200" b="0" dirty="0">
                <a:ea typeface="Arial Unicode MS" pitchFamily="34" charset="-122"/>
              </a:rPr>
              <a:t>   </a:t>
            </a:r>
            <a:r>
              <a:rPr lang="en-US" altLang="zh-CN" sz="2200" b="0" err="1">
                <a:solidFill>
                  <a:schemeClr val="bg2"/>
                </a:solidFill>
                <a:ea typeface="Arial Unicode MS" pitchFamily="34" charset="-122"/>
              </a:rPr>
              <a:t>ch</a:t>
            </a:r>
            <a:r>
              <a:rPr lang="en-US" altLang="zh-CN" sz="2200" b="0">
                <a:solidFill>
                  <a:schemeClr val="bg2"/>
                </a:solidFill>
                <a:ea typeface="Arial Unicode MS" pitchFamily="34" charset="-122"/>
              </a:rPr>
              <a:t> = </a:t>
            </a:r>
            <a:r>
              <a:rPr lang="en-US" altLang="zh-CN" sz="2200" b="0" err="1">
                <a:solidFill>
                  <a:schemeClr val="bg2"/>
                </a:solidFill>
                <a:ea typeface="Arial Unicode MS" pitchFamily="34" charset="-122"/>
              </a:rPr>
              <a:t>getchar</a:t>
            </a:r>
            <a:r>
              <a:rPr lang="en-US" altLang="zh-CN" sz="2200" b="0">
                <a:solidFill>
                  <a:schemeClr val="bg2"/>
                </a:solidFill>
                <a:ea typeface="Arial Unicode MS" pitchFamily="34" charset="-122"/>
              </a:rPr>
              <a:t>();</a:t>
            </a:r>
            <a:endParaRPr lang="zh-CN" altLang="en-US" sz="2200" b="0" dirty="0">
              <a:solidFill>
                <a:schemeClr val="bg2"/>
              </a:solidFill>
              <a:ea typeface="Arial Unicode MS" pitchFamily="34" charset="-122"/>
            </a:endParaRPr>
          </a:p>
          <a:p>
            <a:pPr algn="just" eaLnBrk="1" hangingPunct="1">
              <a:spcBef>
                <a:spcPct val="0"/>
              </a:spcBef>
              <a:buNone/>
            </a:pPr>
            <a:r>
              <a:rPr lang="zh-CN" altLang="en-US" sz="2200" b="0" dirty="0">
                <a:ea typeface="Arial Unicode MS" pitchFamily="34" charset="-122"/>
              </a:rPr>
              <a:t>   </a:t>
            </a:r>
            <a:r>
              <a:rPr lang="en-US" altLang="zh-CN" sz="2200" b="0" err="1">
                <a:ea typeface="Arial Unicode MS" pitchFamily="34" charset="-122"/>
              </a:rPr>
              <a:t>while(ch</a:t>
            </a:r>
            <a:r>
              <a:rPr lang="en-US" altLang="zh-CN" sz="2200" b="0">
                <a:ea typeface="Arial Unicode MS" pitchFamily="34" charset="-122"/>
              </a:rPr>
              <a:t> != '\n'){</a:t>
            </a:r>
            <a:endParaRPr lang="en-US" altLang="zh-CN" sz="2200" b="0">
              <a:ea typeface="Arial Unicode MS" pitchFamily="34" charset="-122"/>
            </a:endParaRPr>
          </a:p>
          <a:p>
            <a:pPr algn="just" eaLnBrk="1" hangingPunct="1">
              <a:spcBef>
                <a:spcPct val="0"/>
              </a:spcBef>
              <a:buNone/>
            </a:pPr>
            <a:r>
              <a:rPr lang="en-US" altLang="zh-CN" sz="2200" b="0">
                <a:ea typeface="Arial Unicode MS" pitchFamily="34" charset="-122"/>
              </a:rPr>
              <a:t>         </a:t>
            </a:r>
            <a:r>
              <a:rPr lang="en-US" altLang="zh-CN" sz="2200" b="0" err="1">
                <a:ea typeface="Arial Unicode MS" pitchFamily="34" charset="-122"/>
              </a:rPr>
              <a:t>if(ch</a:t>
            </a:r>
            <a:r>
              <a:rPr lang="en-US" altLang="zh-CN" sz="2200" b="0">
                <a:ea typeface="Arial Unicode MS" pitchFamily="34" charset="-122"/>
              </a:rPr>
              <a:t> &gt;= 'A' &amp;&amp; </a:t>
            </a:r>
            <a:r>
              <a:rPr lang="en-US" altLang="zh-CN" sz="2200" b="0" err="1">
                <a:ea typeface="Arial Unicode MS" pitchFamily="34" charset="-122"/>
              </a:rPr>
              <a:t>ch</a:t>
            </a:r>
            <a:r>
              <a:rPr lang="en-US" altLang="zh-CN" sz="2200" b="0">
                <a:ea typeface="Arial Unicode MS" pitchFamily="34" charset="-122"/>
              </a:rPr>
              <a:t> &lt;= 'Z')</a:t>
            </a:r>
            <a:r>
              <a:rPr lang="zh-CN" altLang="en-US" sz="2200" b="0" dirty="0">
                <a:ea typeface="Arial Unicode MS" pitchFamily="34" charset="-122"/>
              </a:rPr>
              <a:t>   </a:t>
            </a:r>
            <a:r>
              <a:rPr lang="en-US" altLang="zh-CN" sz="2200" b="0" err="1">
                <a:ea typeface="Arial Unicode MS" pitchFamily="34" charset="-122"/>
              </a:rPr>
              <a:t>ch</a:t>
            </a:r>
            <a:r>
              <a:rPr lang="en-US" altLang="zh-CN" sz="2200" b="0">
                <a:ea typeface="Arial Unicode MS" pitchFamily="34" charset="-122"/>
              </a:rPr>
              <a:t> = </a:t>
            </a:r>
            <a:r>
              <a:rPr lang="en-US" altLang="zh-CN" sz="2200" b="0" err="1">
                <a:ea typeface="Arial Unicode MS" pitchFamily="34" charset="-122"/>
              </a:rPr>
              <a:t>ch</a:t>
            </a:r>
            <a:r>
              <a:rPr lang="en-US" altLang="zh-CN" sz="2200" b="0">
                <a:ea typeface="Arial Unicode MS" pitchFamily="34" charset="-122"/>
              </a:rPr>
              <a:t> - 'A' + 'a'; </a:t>
            </a:r>
            <a:endParaRPr lang="zh-CN" altLang="en-US" sz="2200" b="0" dirty="0">
              <a:ea typeface="Arial Unicode MS" pitchFamily="34" charset="-122"/>
            </a:endParaRPr>
          </a:p>
          <a:p>
            <a:pPr algn="just" eaLnBrk="1" hangingPunct="1">
              <a:spcBef>
                <a:spcPct val="0"/>
              </a:spcBef>
              <a:buNone/>
            </a:pPr>
            <a:r>
              <a:rPr lang="zh-CN" altLang="en-US" sz="2200" b="0" dirty="0">
                <a:ea typeface="Arial Unicode MS" pitchFamily="34" charset="-122"/>
              </a:rPr>
              <a:t>         </a:t>
            </a:r>
            <a:r>
              <a:rPr lang="en-US" altLang="zh-CN" sz="2200" b="0">
                <a:ea typeface="Arial Unicode MS" pitchFamily="34" charset="-122"/>
              </a:rPr>
              <a:t>else </a:t>
            </a:r>
            <a:r>
              <a:rPr lang="en-US" altLang="zh-CN" sz="2200" b="0" err="1">
                <a:ea typeface="Arial Unicode MS" pitchFamily="34" charset="-122"/>
              </a:rPr>
              <a:t>if((ch</a:t>
            </a:r>
            <a:r>
              <a:rPr lang="en-US" altLang="zh-CN" sz="2200" b="0">
                <a:ea typeface="Arial Unicode MS" pitchFamily="34" charset="-122"/>
              </a:rPr>
              <a:t> &gt;= 'a' &amp;&amp; </a:t>
            </a:r>
            <a:r>
              <a:rPr lang="en-US" altLang="zh-CN" sz="2200" b="0" err="1">
                <a:ea typeface="Arial Unicode MS" pitchFamily="34" charset="-122"/>
              </a:rPr>
              <a:t>ch</a:t>
            </a:r>
            <a:r>
              <a:rPr lang="en-US" altLang="zh-CN" sz="2200" b="0">
                <a:ea typeface="Arial Unicode MS" pitchFamily="34" charset="-122"/>
              </a:rPr>
              <a:t> &lt;= 'z' )</a:t>
            </a:r>
            <a:r>
              <a:rPr lang="zh-CN" altLang="en-US" sz="2200" b="0" dirty="0">
                <a:ea typeface="Arial Unicode MS" pitchFamily="34" charset="-122"/>
              </a:rPr>
              <a:t> </a:t>
            </a:r>
            <a:r>
              <a:rPr lang="en-US" altLang="zh-CN" sz="2200" b="0" err="1">
                <a:ea typeface="Arial Unicode MS" pitchFamily="34" charset="-122"/>
              </a:rPr>
              <a:t>ch</a:t>
            </a:r>
            <a:r>
              <a:rPr lang="en-US" altLang="zh-CN" sz="2200" b="0">
                <a:ea typeface="Arial Unicode MS" pitchFamily="34" charset="-122"/>
              </a:rPr>
              <a:t> = </a:t>
            </a:r>
            <a:r>
              <a:rPr lang="en-US" altLang="zh-CN" sz="2200" b="0" err="1">
                <a:ea typeface="Arial Unicode MS" pitchFamily="34" charset="-122"/>
              </a:rPr>
              <a:t>ch</a:t>
            </a:r>
            <a:r>
              <a:rPr lang="en-US" altLang="zh-CN" sz="2200" b="0">
                <a:ea typeface="Arial Unicode MS" pitchFamily="34" charset="-122"/>
              </a:rPr>
              <a:t> - 'a' + 'A'; </a:t>
            </a:r>
            <a:endParaRPr lang="zh-CN" altLang="en-US" sz="2200" b="0" dirty="0">
              <a:ea typeface="Arial Unicode MS" pitchFamily="34" charset="-122"/>
            </a:endParaRPr>
          </a:p>
          <a:p>
            <a:pPr algn="just" eaLnBrk="1" hangingPunct="1">
              <a:spcBef>
                <a:spcPct val="0"/>
              </a:spcBef>
              <a:buNone/>
            </a:pPr>
            <a:r>
              <a:rPr lang="en-US" altLang="zh-CN" sz="2200" b="0">
                <a:ea typeface="Arial Unicode MS" pitchFamily="34" charset="-122"/>
              </a:rPr>
              <a:t>         </a:t>
            </a:r>
            <a:r>
              <a:rPr lang="en-US" altLang="zh-CN" sz="2200" b="0" err="1">
                <a:ea typeface="Arial Unicode MS" pitchFamily="34" charset="-122"/>
              </a:rPr>
              <a:t>putchar(ch</a:t>
            </a:r>
            <a:r>
              <a:rPr lang="en-US" altLang="zh-CN" sz="2200" b="0">
                <a:ea typeface="Arial Unicode MS" pitchFamily="34" charset="-122"/>
              </a:rPr>
              <a:t>);</a:t>
            </a:r>
            <a:endParaRPr lang="en-US" altLang="zh-CN" sz="2200" b="0">
              <a:ea typeface="Arial Unicode MS" pitchFamily="34" charset="-122"/>
            </a:endParaRPr>
          </a:p>
          <a:p>
            <a:pPr algn="just" eaLnBrk="1" hangingPunct="1">
              <a:spcBef>
                <a:spcPct val="0"/>
              </a:spcBef>
              <a:buNone/>
            </a:pPr>
            <a:r>
              <a:rPr lang="zh-CN" altLang="en-US" sz="2200" b="0" dirty="0">
                <a:ea typeface="Arial Unicode MS" pitchFamily="34" charset="-122"/>
              </a:rPr>
              <a:t>         </a:t>
            </a:r>
            <a:r>
              <a:rPr lang="en-US" altLang="zh-CN" sz="2200" b="0" err="1">
                <a:solidFill>
                  <a:schemeClr val="bg2"/>
                </a:solidFill>
                <a:ea typeface="Arial Unicode MS" pitchFamily="34" charset="-122"/>
              </a:rPr>
              <a:t>ch</a:t>
            </a:r>
            <a:r>
              <a:rPr lang="en-US" altLang="zh-CN" sz="2200" b="0">
                <a:solidFill>
                  <a:schemeClr val="bg2"/>
                </a:solidFill>
                <a:ea typeface="Arial Unicode MS" pitchFamily="34" charset="-122"/>
              </a:rPr>
              <a:t> = </a:t>
            </a:r>
            <a:r>
              <a:rPr lang="en-US" altLang="zh-CN" sz="2200" b="0" err="1">
                <a:solidFill>
                  <a:schemeClr val="bg2"/>
                </a:solidFill>
                <a:ea typeface="Arial Unicode MS" pitchFamily="34" charset="-122"/>
              </a:rPr>
              <a:t>getchar</a:t>
            </a:r>
            <a:r>
              <a:rPr lang="en-US" altLang="zh-CN" sz="2200" b="0">
                <a:solidFill>
                  <a:schemeClr val="bg2"/>
                </a:solidFill>
                <a:ea typeface="Arial Unicode MS" pitchFamily="34" charset="-122"/>
              </a:rPr>
              <a:t>()</a:t>
            </a:r>
            <a:r>
              <a:rPr lang="en-US" altLang="zh-CN" sz="2200" b="0">
                <a:ea typeface="Arial Unicode MS" pitchFamily="34" charset="-122"/>
              </a:rPr>
              <a:t>; </a:t>
            </a:r>
            <a:endParaRPr lang="en-US" altLang="zh-CN" sz="2200" b="0">
              <a:ea typeface="Arial Unicode MS" pitchFamily="34" charset="-122"/>
            </a:endParaRPr>
          </a:p>
          <a:p>
            <a:pPr algn="just" eaLnBrk="1" hangingPunct="1">
              <a:spcBef>
                <a:spcPct val="0"/>
              </a:spcBef>
              <a:buNone/>
            </a:pPr>
            <a:r>
              <a:rPr lang="en-US" altLang="zh-CN" sz="2200" b="0">
                <a:ea typeface="Arial Unicode MS" pitchFamily="34" charset="-122"/>
              </a:rPr>
              <a:t>   }</a:t>
            </a:r>
            <a:endParaRPr lang="en-US" altLang="zh-CN" sz="2200" b="0">
              <a:ea typeface="Arial Unicode MS" pitchFamily="34" charset="-122"/>
            </a:endParaRPr>
          </a:p>
          <a:p>
            <a:pPr algn="just" eaLnBrk="1" hangingPunct="1">
              <a:spcBef>
                <a:spcPct val="0"/>
              </a:spcBef>
              <a:buNone/>
            </a:pPr>
            <a:r>
              <a:rPr lang="en-US" altLang="zh-CN" sz="2200" b="0">
                <a:ea typeface="Arial Unicode MS" pitchFamily="34" charset="-122"/>
              </a:rPr>
              <a:t>   </a:t>
            </a:r>
            <a:r>
              <a:rPr lang="en-US" altLang="zh-CN" sz="2200" b="0" err="1">
                <a:ea typeface="Arial Unicode MS" pitchFamily="34" charset="-122"/>
              </a:rPr>
              <a:t>rerurn</a:t>
            </a:r>
            <a:r>
              <a:rPr lang="en-US" altLang="zh-CN" sz="2200" b="0">
                <a:ea typeface="Arial Unicode MS" pitchFamily="34" charset="-122"/>
              </a:rPr>
              <a:t> 0;</a:t>
            </a:r>
            <a:endParaRPr lang="en-US" altLang="zh-CN" sz="2200" b="0">
              <a:ea typeface="Arial Unicode MS" pitchFamily="34" charset="-122"/>
            </a:endParaRPr>
          </a:p>
          <a:p>
            <a:pPr algn="just" eaLnBrk="1" hangingPunct="1">
              <a:spcBef>
                <a:spcPct val="0"/>
              </a:spcBef>
              <a:buNone/>
            </a:pPr>
            <a:r>
              <a:rPr lang="en-US" altLang="zh-CN" sz="2200" b="0">
                <a:ea typeface="Arial Unicode MS" pitchFamily="34" charset="-122"/>
              </a:rPr>
              <a:t>}</a:t>
            </a:r>
            <a:endParaRPr lang="en-US" altLang="zh-CN" sz="2200" b="0">
              <a:ea typeface="Arial Unicode MS" pitchFamily="34" charset="-122"/>
            </a:endParaRPr>
          </a:p>
        </p:txBody>
      </p:sp>
      <p:sp>
        <p:nvSpPr>
          <p:cNvPr id="433156" name="Rectangle 4"/>
          <p:cNvSpPr/>
          <p:nvPr/>
        </p:nvSpPr>
        <p:spPr>
          <a:xfrm>
            <a:off x="4140200" y="1341438"/>
            <a:ext cx="4756150" cy="798830"/>
          </a:xfrm>
          <a:prstGeom prst="rect">
            <a:avLst/>
          </a:prstGeom>
          <a:noFill/>
          <a:ln w="12700" cap="flat" cmpd="sng">
            <a:solidFill>
              <a:schemeClr val="tx1"/>
            </a:solidFill>
            <a:prstDash val="sysDot"/>
            <a:miter/>
            <a:headEnd type="none" w="sm" len="sm"/>
            <a:tailEnd type="none" w="sm" len="sm"/>
          </a:ln>
        </p:spPr>
        <p:txBody>
          <a:bodyPr wrap="square" anchor="t" anchorCtr="0">
            <a:spAutoFit/>
          </a:bodyPr>
          <a:p>
            <a:pPr>
              <a:spcBef>
                <a:spcPct val="30000"/>
              </a:spcBef>
            </a:pPr>
            <a:r>
              <a:rPr lang="en-US" altLang="zh-CN" sz="2000">
                <a:latin typeface="Arial" panose="02080604020202020204" pitchFamily="34" charset="0"/>
                <a:ea typeface="Arial Unicode MS" pitchFamily="34" charset="-122"/>
              </a:rPr>
              <a:t>input 10 characters: </a:t>
            </a:r>
            <a:r>
              <a:rPr lang="en-US" altLang="zh-CN" sz="2000" err="1">
                <a:solidFill>
                  <a:srgbClr val="CC0066"/>
                </a:solidFill>
                <a:latin typeface="Arial" panose="02080604020202020204" pitchFamily="34" charset="0"/>
                <a:ea typeface="Arial Unicode MS" pitchFamily="34" charset="-122"/>
              </a:rPr>
              <a:t>Reold</a:t>
            </a:r>
            <a:r>
              <a:rPr lang="en-US" altLang="zh-CN" sz="2000">
                <a:solidFill>
                  <a:srgbClr val="CC0066"/>
                </a:solidFill>
                <a:latin typeface="Arial" panose="02080604020202020204" pitchFamily="34" charset="0"/>
                <a:ea typeface="Arial Unicode MS" pitchFamily="34" charset="-122"/>
              </a:rPr>
              <a:t> 123?</a:t>
            </a:r>
            <a:endParaRPr lang="en-US" altLang="zh-CN" sz="2000">
              <a:solidFill>
                <a:srgbClr val="CC0066"/>
              </a:solidFill>
              <a:latin typeface="Arial" panose="02080604020202020204" pitchFamily="34" charset="0"/>
              <a:ea typeface="Arial Unicode MS" pitchFamily="34" charset="-122"/>
            </a:endParaRPr>
          </a:p>
          <a:p>
            <a:pPr>
              <a:spcBef>
                <a:spcPct val="30000"/>
              </a:spcBef>
            </a:pPr>
            <a:r>
              <a:rPr lang="en-US" altLang="zh-CN" sz="2000" err="1">
                <a:latin typeface="Arial" panose="02080604020202020204" pitchFamily="34" charset="0"/>
              </a:rPr>
              <a:t>rEOLD</a:t>
            </a:r>
            <a:r>
              <a:rPr lang="en-US" altLang="zh-CN" sz="2000">
                <a:latin typeface="Arial" panose="02080604020202020204" pitchFamily="34" charset="0"/>
              </a:rPr>
              <a:t> 123?</a:t>
            </a:r>
            <a:endParaRPr lang="en-US" altLang="zh-CN" sz="2000">
              <a:latin typeface="Arial" panose="02080604020202020204" pitchFamily="34" charset="0"/>
            </a:endParaRPr>
          </a:p>
        </p:txBody>
      </p:sp>
      <p:sp>
        <p:nvSpPr>
          <p:cNvPr id="433158" name="Rectangle 6"/>
          <p:cNvSpPr/>
          <p:nvPr/>
        </p:nvSpPr>
        <p:spPr>
          <a:xfrm>
            <a:off x="3276600" y="3213100"/>
            <a:ext cx="4837113" cy="423545"/>
          </a:xfrm>
          <a:prstGeom prst="rect">
            <a:avLst/>
          </a:prstGeom>
          <a:solidFill>
            <a:schemeClr val="folHlink"/>
          </a:solidFill>
          <a:ln w="9525">
            <a:noFill/>
          </a:ln>
        </p:spPr>
        <p:txBody>
          <a:bodyPr lIns="92075" tIns="46038" rIns="92075" bIns="46038" anchor="t" anchorCtr="0">
            <a:spAutoFit/>
          </a:bodyPr>
          <a:p>
            <a:pPr algn="just">
              <a:lnSpc>
                <a:spcPct val="90000"/>
              </a:lnSpc>
              <a:spcBef>
                <a:spcPct val="20000"/>
              </a:spcBef>
              <a:buClr>
                <a:schemeClr val="tx2"/>
              </a:buClr>
              <a:buSzPct val="80000"/>
            </a:pPr>
            <a:r>
              <a:rPr lang="zh-CN" altLang="en-US" sz="2400" dirty="0">
                <a:latin typeface="Arial" panose="02080604020202020204" pitchFamily="34" charset="0"/>
                <a:ea typeface="Arial Unicode MS" pitchFamily="34" charset="-122"/>
              </a:rPr>
              <a:t> </a:t>
            </a:r>
            <a:r>
              <a:rPr lang="en-US" altLang="zh-CN" sz="2200" err="1">
                <a:latin typeface="Arial" panose="02080604020202020204" pitchFamily="34" charset="0"/>
                <a:ea typeface="Arial Unicode MS" pitchFamily="34" charset="-122"/>
              </a:rPr>
              <a:t>while(</a:t>
            </a:r>
            <a:r>
              <a:rPr lang="en-US" altLang="zh-CN" sz="2200" err="1">
                <a:solidFill>
                  <a:schemeClr val="folHlink"/>
                </a:solidFill>
                <a:latin typeface="Arial" panose="02080604020202020204" pitchFamily="34" charset="0"/>
                <a:ea typeface="Arial Unicode MS" pitchFamily="34" charset="-122"/>
              </a:rPr>
              <a:t>(</a:t>
            </a:r>
            <a:r>
              <a:rPr lang="en-US" altLang="zh-CN" sz="2200" err="1">
                <a:latin typeface="Arial" panose="02080604020202020204" pitchFamily="34" charset="0"/>
                <a:ea typeface="Arial Unicode MS" pitchFamily="34" charset="-122"/>
              </a:rPr>
              <a:t>ch</a:t>
            </a:r>
            <a:r>
              <a:rPr lang="en-US" altLang="zh-CN" sz="2200">
                <a:latin typeface="Arial" panose="02080604020202020204" pitchFamily="34" charset="0"/>
                <a:ea typeface="Arial Unicode MS" pitchFamily="34" charset="-122"/>
              </a:rPr>
              <a:t> = </a:t>
            </a:r>
            <a:r>
              <a:rPr lang="en-US" altLang="zh-CN" sz="2200" err="1">
                <a:latin typeface="Arial" panose="02080604020202020204" pitchFamily="34" charset="0"/>
                <a:ea typeface="Arial Unicode MS" pitchFamily="34" charset="-122"/>
              </a:rPr>
              <a:t>getchar</a:t>
            </a:r>
            <a:r>
              <a:rPr lang="en-US" altLang="zh-CN" sz="2200">
                <a:latin typeface="Arial" panose="02080604020202020204" pitchFamily="34" charset="0"/>
                <a:ea typeface="Arial Unicode MS" pitchFamily="34" charset="-122"/>
              </a:rPr>
              <a:t>()</a:t>
            </a:r>
            <a:r>
              <a:rPr lang="en-US" altLang="zh-CN" sz="2200">
                <a:solidFill>
                  <a:schemeClr val="folHlink"/>
                </a:solidFill>
                <a:latin typeface="Arial" panose="02080604020202020204" pitchFamily="34" charset="0"/>
                <a:ea typeface="Arial Unicode MS" pitchFamily="34" charset="-122"/>
              </a:rPr>
              <a:t>)</a:t>
            </a:r>
            <a:r>
              <a:rPr lang="en-US" altLang="zh-CN" sz="2200">
                <a:latin typeface="Arial" panose="02080604020202020204" pitchFamily="34" charset="0"/>
                <a:ea typeface="Arial Unicode MS" pitchFamily="34" charset="-122"/>
              </a:rPr>
              <a:t> != '\n')</a:t>
            </a:r>
            <a:endParaRPr lang="zh-CN" altLang="en-US" sz="2200" dirty="0">
              <a:latin typeface="Arial" panose="02080604020202020204" pitchFamily="34" charset="0"/>
            </a:endParaRPr>
          </a:p>
        </p:txBody>
      </p:sp>
      <p:sp>
        <p:nvSpPr>
          <p:cNvPr id="433159" name="Line 7"/>
          <p:cNvSpPr/>
          <p:nvPr/>
        </p:nvSpPr>
        <p:spPr>
          <a:xfrm>
            <a:off x="896938" y="3205163"/>
            <a:ext cx="2133600" cy="0"/>
          </a:xfrm>
          <a:prstGeom prst="line">
            <a:avLst/>
          </a:prstGeom>
          <a:ln w="12700" cap="flat" cmpd="sng">
            <a:solidFill>
              <a:schemeClr val="tx1"/>
            </a:solidFill>
            <a:prstDash val="solid"/>
            <a:round/>
            <a:headEnd type="none" w="med" len="med"/>
            <a:tailEnd type="none" w="med" len="med"/>
          </a:ln>
        </p:spPr>
      </p:sp>
      <p:sp>
        <p:nvSpPr>
          <p:cNvPr id="433162" name="Line 10"/>
          <p:cNvSpPr/>
          <p:nvPr/>
        </p:nvSpPr>
        <p:spPr>
          <a:xfrm>
            <a:off x="1425575" y="5248275"/>
            <a:ext cx="2133600" cy="0"/>
          </a:xfrm>
          <a:prstGeom prst="line">
            <a:avLst/>
          </a:prstGeom>
          <a:ln w="12700" cap="flat" cmpd="sng">
            <a:solidFill>
              <a:schemeClr val="tx1"/>
            </a:solidFill>
            <a:prstDash val="solid"/>
            <a:round/>
            <a:headEnd type="none" w="med" len="med"/>
            <a:tailEnd type="none" w="med" len="med"/>
          </a:ln>
        </p:spPr>
      </p:sp>
      <p:sp>
        <p:nvSpPr>
          <p:cNvPr id="433163" name="Line 11"/>
          <p:cNvSpPr/>
          <p:nvPr/>
        </p:nvSpPr>
        <p:spPr>
          <a:xfrm>
            <a:off x="968375" y="3514725"/>
            <a:ext cx="2133600" cy="0"/>
          </a:xfrm>
          <a:prstGeom prst="line">
            <a:avLst/>
          </a:prstGeom>
          <a:ln w="12700" cap="flat" cmpd="sng">
            <a:solidFill>
              <a:schemeClr val="tx1"/>
            </a:solidFill>
            <a:prstDash val="solid"/>
            <a:round/>
            <a:headEnd type="none" w="med" len="med"/>
            <a:tailEnd type="none" w="med" len="med"/>
          </a:ln>
        </p:spPr>
      </p:sp>
      <p:sp>
        <p:nvSpPr>
          <p:cNvPr id="433165" name="Rectangle 13"/>
          <p:cNvSpPr/>
          <p:nvPr/>
        </p:nvSpPr>
        <p:spPr>
          <a:xfrm>
            <a:off x="4333875" y="4941888"/>
            <a:ext cx="4164013" cy="1139825"/>
          </a:xfrm>
          <a:prstGeom prst="rect">
            <a:avLst/>
          </a:prstGeom>
          <a:noFill/>
          <a:ln w="9525">
            <a:noFill/>
          </a:ln>
        </p:spPr>
        <p:txBody>
          <a:bodyPr wrap="square" lIns="92075" tIns="46038" rIns="92075" bIns="46038" anchor="t" anchorCtr="0">
            <a:spAutoFit/>
          </a:bodyPr>
          <a:p>
            <a:pPr algn="just">
              <a:lnSpc>
                <a:spcPct val="90000"/>
              </a:lnSpc>
              <a:spcBef>
                <a:spcPct val="20000"/>
              </a:spcBef>
              <a:buClr>
                <a:schemeClr val="tx2"/>
              </a:buClr>
              <a:buSzPct val="80000"/>
            </a:pPr>
            <a:r>
              <a:rPr lang="en-US" altLang="zh-CN" sz="2200">
                <a:solidFill>
                  <a:srgbClr val="CC0066"/>
                </a:solidFill>
                <a:latin typeface="Arial" panose="02080604020202020204" pitchFamily="34" charset="0"/>
                <a:ea typeface="仿宋_GB2312" pitchFamily="49" charset="-122"/>
              </a:rPr>
              <a:t>(</a:t>
            </a:r>
            <a:r>
              <a:rPr lang="en-US" altLang="zh-CN" sz="2200" err="1">
                <a:solidFill>
                  <a:schemeClr val="bg2"/>
                </a:solidFill>
                <a:latin typeface="Arial" panose="02080604020202020204" pitchFamily="34" charset="0"/>
                <a:ea typeface="仿宋_GB2312" pitchFamily="49" charset="-122"/>
              </a:rPr>
              <a:t>ch</a:t>
            </a:r>
            <a:r>
              <a:rPr lang="en-US" altLang="zh-CN" sz="2200">
                <a:solidFill>
                  <a:schemeClr val="bg2"/>
                </a:solidFill>
                <a:latin typeface="Arial" panose="02080604020202020204" pitchFamily="34" charset="0"/>
                <a:ea typeface="仿宋_GB2312" pitchFamily="49" charset="-122"/>
              </a:rPr>
              <a:t> = </a:t>
            </a:r>
            <a:r>
              <a:rPr lang="en-US" altLang="zh-CN" sz="2200" err="1">
                <a:solidFill>
                  <a:schemeClr val="bg2"/>
                </a:solidFill>
                <a:latin typeface="Arial" panose="02080604020202020204" pitchFamily="34" charset="0"/>
                <a:ea typeface="仿宋_GB2312" pitchFamily="49" charset="-122"/>
              </a:rPr>
              <a:t>getchar</a:t>
            </a:r>
            <a:r>
              <a:rPr lang="en-US" altLang="zh-CN" sz="2200">
                <a:solidFill>
                  <a:schemeClr val="bg2"/>
                </a:solidFill>
                <a:latin typeface="Arial" panose="02080604020202020204" pitchFamily="34" charset="0"/>
                <a:ea typeface="仿宋_GB2312" pitchFamily="49" charset="-122"/>
              </a:rPr>
              <a:t>()</a:t>
            </a:r>
            <a:r>
              <a:rPr lang="en-US" altLang="zh-CN" sz="2200">
                <a:solidFill>
                  <a:srgbClr val="CC0066"/>
                </a:solidFill>
                <a:latin typeface="Arial" panose="02080604020202020204" pitchFamily="34" charset="0"/>
                <a:ea typeface="仿宋_GB2312" pitchFamily="49" charset="-122"/>
              </a:rPr>
              <a:t>)</a:t>
            </a:r>
            <a:r>
              <a:rPr lang="en-US" altLang="zh-CN" sz="2200">
                <a:solidFill>
                  <a:schemeClr val="bg2"/>
                </a:solidFill>
                <a:latin typeface="Arial" panose="02080604020202020204" pitchFamily="34" charset="0"/>
                <a:ea typeface="仿宋_GB2312" pitchFamily="49" charset="-122"/>
              </a:rPr>
              <a:t> != '\n'</a:t>
            </a:r>
            <a:endParaRPr lang="en-US" altLang="zh-CN" sz="2200">
              <a:solidFill>
                <a:schemeClr val="bg2"/>
              </a:solidFill>
              <a:latin typeface="Arial" panose="02080604020202020204" pitchFamily="34" charset="0"/>
              <a:ea typeface="仿宋_GB2312" pitchFamily="49" charset="-122"/>
            </a:endParaRPr>
          </a:p>
          <a:p>
            <a:pPr algn="just">
              <a:lnSpc>
                <a:spcPct val="90000"/>
              </a:lnSpc>
              <a:spcBef>
                <a:spcPct val="20000"/>
              </a:spcBef>
              <a:buClr>
                <a:schemeClr val="tx2"/>
              </a:buClr>
              <a:buSzPct val="80000"/>
            </a:pPr>
            <a:r>
              <a:rPr lang="en-US" altLang="zh-CN" sz="2200" err="1">
                <a:solidFill>
                  <a:schemeClr val="bg2"/>
                </a:solidFill>
                <a:latin typeface="Arial" panose="02080604020202020204" pitchFamily="34" charset="0"/>
                <a:ea typeface="仿宋_GB2312" pitchFamily="49" charset="-122"/>
              </a:rPr>
              <a:t>ch</a:t>
            </a:r>
            <a:r>
              <a:rPr lang="en-US" altLang="zh-CN" sz="2200">
                <a:solidFill>
                  <a:schemeClr val="bg2"/>
                </a:solidFill>
                <a:latin typeface="Arial" panose="02080604020202020204" pitchFamily="34" charset="0"/>
                <a:ea typeface="仿宋_GB2312" pitchFamily="49" charset="-122"/>
              </a:rPr>
              <a:t> = </a:t>
            </a:r>
            <a:r>
              <a:rPr lang="en-US" altLang="zh-CN" sz="2200" err="1">
                <a:solidFill>
                  <a:schemeClr val="bg2"/>
                </a:solidFill>
                <a:latin typeface="Arial" panose="02080604020202020204" pitchFamily="34" charset="0"/>
                <a:ea typeface="仿宋_GB2312" pitchFamily="49" charset="-122"/>
              </a:rPr>
              <a:t>getchar</a:t>
            </a:r>
            <a:r>
              <a:rPr lang="en-US" altLang="zh-CN" sz="2200">
                <a:solidFill>
                  <a:schemeClr val="bg2"/>
                </a:solidFill>
                <a:latin typeface="Arial" panose="02080604020202020204" pitchFamily="34" charset="0"/>
                <a:ea typeface="仿宋_GB2312" pitchFamily="49" charset="-122"/>
              </a:rPr>
              <a:t>() != '\n'</a:t>
            </a:r>
            <a:endParaRPr lang="en-US" altLang="zh-CN" sz="2200">
              <a:solidFill>
                <a:schemeClr val="bg2"/>
              </a:solidFill>
              <a:latin typeface="Arial" panose="02080604020202020204" pitchFamily="34" charset="0"/>
              <a:ea typeface="仿宋_GB2312" pitchFamily="49" charset="-122"/>
            </a:endParaRPr>
          </a:p>
          <a:p>
            <a:pPr algn="just">
              <a:lnSpc>
                <a:spcPct val="90000"/>
              </a:lnSpc>
              <a:spcBef>
                <a:spcPct val="20000"/>
              </a:spcBef>
              <a:buClr>
                <a:schemeClr val="tx2"/>
              </a:buClr>
              <a:buSzPct val="80000"/>
            </a:pPr>
            <a:r>
              <a:rPr lang="zh-CN" altLang="en-US" sz="2200" dirty="0">
                <a:solidFill>
                  <a:schemeClr val="bg2"/>
                </a:solidFill>
                <a:latin typeface="Arial" panose="02080604020202020204" pitchFamily="34" charset="0"/>
                <a:ea typeface="仿宋_GB2312" pitchFamily="49" charset="-122"/>
              </a:rPr>
              <a:t>等价吗?</a:t>
            </a:r>
            <a:endParaRPr lang="zh-CN" altLang="en-US" sz="2200" dirty="0">
              <a:solidFill>
                <a:schemeClr val="bg2"/>
              </a:solidFill>
              <a:latin typeface="Arial" panose="02080604020202020204" pitchFamily="34"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3156"/>
                                        </p:tgtEl>
                                        <p:attrNameLst>
                                          <p:attrName>style.visibility</p:attrName>
                                        </p:attrNameLst>
                                      </p:cBhvr>
                                      <p:to>
                                        <p:strVal val="visible"/>
                                      </p:to>
                                    </p:set>
                                    <p:anim calcmode="lin" valueType="num">
                                      <p:cBhvr additive="base">
                                        <p:cTn id="7" dur="500" fill="hold"/>
                                        <p:tgtEl>
                                          <p:spTgt spid="433156"/>
                                        </p:tgtEl>
                                        <p:attrNameLst>
                                          <p:attrName>ppt_x</p:attrName>
                                        </p:attrNameLst>
                                      </p:cBhvr>
                                      <p:tavLst>
                                        <p:tav tm="0">
                                          <p:val>
                                            <p:strVal val="0-#ppt_w/2"/>
                                          </p:val>
                                        </p:tav>
                                        <p:tav tm="100000">
                                          <p:val>
                                            <p:strVal val="#ppt_x"/>
                                          </p:val>
                                        </p:tav>
                                      </p:tavLst>
                                    </p:anim>
                                    <p:anim calcmode="lin" valueType="num">
                                      <p:cBhvr additive="base">
                                        <p:cTn id="8" dur="500" fill="hold"/>
                                        <p:tgtEl>
                                          <p:spTgt spid="43315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33159"/>
                                        </p:tgtEl>
                                        <p:attrNameLst>
                                          <p:attrName>style.visibility</p:attrName>
                                        </p:attrNameLst>
                                      </p:cBhvr>
                                      <p:to>
                                        <p:strVal val="visible"/>
                                      </p:to>
                                    </p:set>
                                    <p:anim calcmode="lin" valueType="num">
                                      <p:cBhvr additive="base">
                                        <p:cTn id="12" dur="500" fill="hold"/>
                                        <p:tgtEl>
                                          <p:spTgt spid="433159"/>
                                        </p:tgtEl>
                                        <p:attrNameLst>
                                          <p:attrName>ppt_x</p:attrName>
                                        </p:attrNameLst>
                                      </p:cBhvr>
                                      <p:tavLst>
                                        <p:tav tm="0">
                                          <p:val>
                                            <p:strVal val="0-#ppt_w/2"/>
                                          </p:val>
                                        </p:tav>
                                        <p:tav tm="100000">
                                          <p:val>
                                            <p:strVal val="#ppt_x"/>
                                          </p:val>
                                        </p:tav>
                                      </p:tavLst>
                                    </p:anim>
                                    <p:anim calcmode="lin" valueType="num">
                                      <p:cBhvr additive="base">
                                        <p:cTn id="13" dur="500" fill="hold"/>
                                        <p:tgtEl>
                                          <p:spTgt spid="433159"/>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433162"/>
                                        </p:tgtEl>
                                        <p:attrNameLst>
                                          <p:attrName>style.visibility</p:attrName>
                                        </p:attrNameLst>
                                      </p:cBhvr>
                                      <p:to>
                                        <p:strVal val="visible"/>
                                      </p:to>
                                    </p:set>
                                    <p:anim calcmode="lin" valueType="num">
                                      <p:cBhvr additive="base">
                                        <p:cTn id="17" dur="500" fill="hold"/>
                                        <p:tgtEl>
                                          <p:spTgt spid="433162"/>
                                        </p:tgtEl>
                                        <p:attrNameLst>
                                          <p:attrName>ppt_x</p:attrName>
                                        </p:attrNameLst>
                                      </p:cBhvr>
                                      <p:tavLst>
                                        <p:tav tm="0">
                                          <p:val>
                                            <p:strVal val="0-#ppt_w/2"/>
                                          </p:val>
                                        </p:tav>
                                        <p:tav tm="100000">
                                          <p:val>
                                            <p:strVal val="#ppt_x"/>
                                          </p:val>
                                        </p:tav>
                                      </p:tavLst>
                                    </p:anim>
                                    <p:anim calcmode="lin" valueType="num">
                                      <p:cBhvr additive="base">
                                        <p:cTn id="18" dur="500" fill="hold"/>
                                        <p:tgtEl>
                                          <p:spTgt spid="433162"/>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433163"/>
                                        </p:tgtEl>
                                        <p:attrNameLst>
                                          <p:attrName>style.visibility</p:attrName>
                                        </p:attrNameLst>
                                      </p:cBhvr>
                                      <p:to>
                                        <p:strVal val="visible"/>
                                      </p:to>
                                    </p:set>
                                    <p:anim calcmode="lin" valueType="num">
                                      <p:cBhvr additive="base">
                                        <p:cTn id="22" dur="500" fill="hold"/>
                                        <p:tgtEl>
                                          <p:spTgt spid="433163"/>
                                        </p:tgtEl>
                                        <p:attrNameLst>
                                          <p:attrName>ppt_x</p:attrName>
                                        </p:attrNameLst>
                                      </p:cBhvr>
                                      <p:tavLst>
                                        <p:tav tm="0">
                                          <p:val>
                                            <p:strVal val="0-#ppt_w/2"/>
                                          </p:val>
                                        </p:tav>
                                        <p:tav tm="100000">
                                          <p:val>
                                            <p:strVal val="#ppt_x"/>
                                          </p:val>
                                        </p:tav>
                                      </p:tavLst>
                                    </p:anim>
                                    <p:anim calcmode="lin" valueType="num">
                                      <p:cBhvr additive="base">
                                        <p:cTn id="23" dur="500" fill="hold"/>
                                        <p:tgtEl>
                                          <p:spTgt spid="43316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433158"/>
                                        </p:tgtEl>
                                        <p:attrNameLst>
                                          <p:attrName>style.visibility</p:attrName>
                                        </p:attrNameLst>
                                      </p:cBhvr>
                                      <p:to>
                                        <p:strVal val="visible"/>
                                      </p:to>
                                    </p:set>
                                    <p:anim calcmode="lin" valueType="num">
                                      <p:cBhvr additive="base">
                                        <p:cTn id="28" dur="500" fill="hold"/>
                                        <p:tgtEl>
                                          <p:spTgt spid="433158"/>
                                        </p:tgtEl>
                                        <p:attrNameLst>
                                          <p:attrName>ppt_x</p:attrName>
                                        </p:attrNameLst>
                                      </p:cBhvr>
                                      <p:tavLst>
                                        <p:tav tm="0">
                                          <p:val>
                                            <p:strVal val="0-#ppt_w/2"/>
                                          </p:val>
                                        </p:tav>
                                        <p:tav tm="100000">
                                          <p:val>
                                            <p:strVal val="#ppt_x"/>
                                          </p:val>
                                        </p:tav>
                                      </p:tavLst>
                                    </p:anim>
                                    <p:anim calcmode="lin" valueType="num">
                                      <p:cBhvr additive="base">
                                        <p:cTn id="29" dur="500" fill="hold"/>
                                        <p:tgtEl>
                                          <p:spTgt spid="433158"/>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433165"/>
                                        </p:tgtEl>
                                        <p:attrNameLst>
                                          <p:attrName>style.visibility</p:attrName>
                                        </p:attrNameLst>
                                      </p:cBhvr>
                                      <p:to>
                                        <p:strVal val="visible"/>
                                      </p:to>
                                    </p:set>
                                    <p:anim calcmode="lin" valueType="num">
                                      <p:cBhvr additive="base">
                                        <p:cTn id="34" dur="500" fill="hold"/>
                                        <p:tgtEl>
                                          <p:spTgt spid="433165"/>
                                        </p:tgtEl>
                                        <p:attrNameLst>
                                          <p:attrName>ppt_x</p:attrName>
                                        </p:attrNameLst>
                                      </p:cBhvr>
                                      <p:tavLst>
                                        <p:tav tm="0">
                                          <p:val>
                                            <p:strVal val="0-#ppt_w/2"/>
                                          </p:val>
                                        </p:tav>
                                        <p:tav tm="100000">
                                          <p:val>
                                            <p:strVal val="#ppt_x"/>
                                          </p:val>
                                        </p:tav>
                                      </p:tavLst>
                                    </p:anim>
                                    <p:anim calcmode="lin" valueType="num">
                                      <p:cBhvr additive="base">
                                        <p:cTn id="35" dur="500" fill="hold"/>
                                        <p:tgtEl>
                                          <p:spTgt spid="4331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56" grpId="0" bldLvl="0" animBg="1"/>
      <p:bldP spid="433158" grpId="0" bldLvl="0" animBg="1"/>
      <p:bldP spid="43316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Chap</a:t>
            </a:r>
            <a:r>
              <a:rPr lang="zh-CN" altLang="en-US" b="0" dirty="0">
                <a:sym typeface="+mn-ea"/>
              </a:rPr>
              <a:t> </a:t>
            </a:r>
            <a:r>
              <a:rPr lang="zh-CN" altLang="en-US" b="0" dirty="0">
                <a:sym typeface="+mn-ea"/>
              </a:rPr>
              <a:t>6  </a:t>
            </a:r>
            <a:r>
              <a:rPr lang="zh-CN" altLang="en-US" b="0" dirty="0">
                <a:sym typeface="+mn-ea"/>
              </a:rPr>
              <a:t>数据类型和表达式 </a:t>
            </a:r>
            <a:endParaRPr lang="zh-CN" altLang="en-US" b="0" dirty="0">
              <a:sym typeface="+mn-ea"/>
            </a:endParaRPr>
          </a:p>
        </p:txBody>
      </p:sp>
      <p:sp>
        <p:nvSpPr>
          <p:cNvPr id="7171" name="Rectangle 3"/>
          <p:cNvSpPr>
            <a:spLocks noGrp="1"/>
          </p:cNvSpPr>
          <p:nvPr>
            <p:ph idx="1"/>
          </p:nvPr>
        </p:nvSpPr>
        <p:spPr>
          <a:xfrm>
            <a:off x="900113" y="2133600"/>
            <a:ext cx="7200900" cy="3743325"/>
          </a:xfrm>
        </p:spPr>
        <p:txBody>
          <a:bodyPr vert="horz" wrap="square" lIns="91440" tIns="45720" rIns="91440" bIns="45720" anchor="t" anchorCtr="0"/>
          <a:p>
            <a:pPr marL="476250" indent="-476250" eaLnBrk="1" hangingPunct="1">
              <a:spcBef>
                <a:spcPct val="40000"/>
              </a:spcBef>
              <a:buNone/>
            </a:pPr>
            <a:r>
              <a:rPr lang="zh-CN" altLang="en-US" b="0">
                <a:solidFill>
                  <a:srgbClr val="FF0000"/>
                </a:solidFill>
              </a:rPr>
              <a:t>附录</a:t>
            </a:r>
            <a:r>
              <a:rPr lang="en-US" altLang="zh-CN" b="0">
                <a:solidFill>
                  <a:srgbClr val="FF0000"/>
                </a:solidFill>
              </a:rPr>
              <a:t>  </a:t>
            </a:r>
            <a:r>
              <a:rPr lang="zh-CN" altLang="en-US" b="0">
                <a:solidFill>
                  <a:srgbClr val="FF0000"/>
                </a:solidFill>
              </a:rPr>
              <a:t>浮点数格式</a:t>
            </a:r>
            <a:endParaRPr lang="zh-CN" altLang="en-US" b="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内容占位符 2"/>
          <p:cNvSpPr>
            <a:spLocks noGrp="1"/>
          </p:cNvSpPr>
          <p:nvPr>
            <p:ph idx="1"/>
          </p:nvPr>
        </p:nvSpPr>
        <p:spPr/>
        <p:txBody>
          <a:bodyPr anchor="t" anchorCtr="0"/>
          <a:p>
            <a:r>
              <a:rPr lang="zh-CN" altLang="en-US" sz="2400" b="0"/>
              <a:t>直到 20 世纪 80 年代（即在没有制定 IEEE 754 标准之前），业界还没有一个统一的浮点数标准。相反，很多计算机制造商根据自己的需要来设计自己的浮点数表示规则，以及浮点数的执行运算细节。另外，他们常常并不太关注运算的精确性，而把实现的速度和简易性看得比数字的精确性更重要，而这就给代码的可移植性造成了重大的障碍。</a:t>
            </a:r>
            <a:endParaRPr lang="zh-CN" altLang="en-US" sz="2400" b="0"/>
          </a:p>
        </p:txBody>
      </p:sp>
      <p:sp>
        <p:nvSpPr>
          <p:cNvPr id="93186" name="标题 1"/>
          <p:cNvSpPr>
            <a:spLocks noGrp="1"/>
          </p:cNvSpPr>
          <p:nvPr/>
        </p:nvSpPr>
        <p:spPr>
          <a:xfrm>
            <a:off x="584200"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sp>
        <p:nvSpPr>
          <p:cNvPr id="92162" name="内容占位符 2"/>
          <p:cNvSpPr>
            <a:spLocks noGrp="1"/>
          </p:cNvSpPr>
          <p:nvPr/>
        </p:nvSpPr>
        <p:spPr>
          <a:xfrm>
            <a:off x="457200" y="5229225"/>
            <a:ext cx="8229600" cy="1023620"/>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9pPr>
          </a:lstStyle>
          <a:p>
            <a:r>
              <a:rPr lang="zh-CN" altLang="en-US" sz="1800" b="0"/>
              <a:t>https://www.bilibili.com/video/BV11B4y1q7ZM/?spm_id_from=333.337.search-card.all.click</a:t>
            </a:r>
            <a:endParaRPr lang="zh-CN" altLang="en-US" sz="1800" b="0"/>
          </a:p>
          <a:p>
            <a:r>
              <a:rPr lang="zh-CN" altLang="en-US" sz="1800" b="0"/>
              <a:t>http://c.biancheng.net/view/314.html</a:t>
            </a:r>
            <a:endParaRPr lang="zh-CN" altLang="en-US" sz="1800" b="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内容占位符 2"/>
          <p:cNvSpPr>
            <a:spLocks noGrp="1"/>
          </p:cNvSpPr>
          <p:nvPr>
            <p:ph idx="1"/>
          </p:nvPr>
        </p:nvSpPr>
        <p:spPr/>
        <p:txBody>
          <a:bodyPr anchor="t" anchorCtr="0"/>
          <a:p>
            <a:r>
              <a:rPr lang="zh-CN" altLang="en-US" sz="2400" b="0"/>
              <a:t>直到 1976 年，Intel 公司打算为其 8086 微处理器引进一种浮点数协处理器时，意识到作为芯片设计者的电子工程师和固体物理学家也许并不能通过数值分析来选择最合理的浮点数二进制格式。于是，他们邀请加州大学伯克利分校的 William Kahan 教授（当时最优秀的数值分析家）来为 8087 浮点处理器（FPU）设计浮点数格式。而这时，William Kahan 教授又找来两个专家协助他，于是就有了 KCS 组合（Kahn、Coonan和Stone），并共同完成了 Intel 公司的浮点数格式设计。</a:t>
            </a:r>
            <a:endParaRPr lang="zh-CN" altLang="en-US" sz="2400" b="0"/>
          </a:p>
        </p:txBody>
      </p:sp>
      <p:sp>
        <p:nvSpPr>
          <p:cNvPr id="94210" name="标题 1"/>
          <p:cNvSpPr>
            <a:spLocks noGrp="1"/>
          </p:cNvSpPr>
          <p:nvPr/>
        </p:nvSpPr>
        <p:spPr>
          <a:xfrm>
            <a:off x="584200"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1"/>
          <p:cNvSpPr>
            <a:spLocks noGrp="1"/>
          </p:cNvSpPr>
          <p:nvPr>
            <p:ph type="title"/>
          </p:nvPr>
        </p:nvSpPr>
        <p:spPr>
          <a:noFill/>
          <a:ln w="9525">
            <a:noFill/>
          </a:ln>
        </p:spPr>
        <p:txBody>
          <a:bodyPr vert="horz" wrap="square" lIns="91440" tIns="45720" rIns="91440" bIns="45720" rtlCol="0" anchor="ctr" anchorCtr="0">
            <a:normAutofit/>
          </a:bodyPr>
          <a:p>
            <a:pPr lvl="0" algn="l" eaLnBrk="1" hangingPunct="1">
              <a:buClrTx/>
              <a:buSzTx/>
              <a:buFontTx/>
            </a:pPr>
            <a:r>
              <a:rPr lang="zh-CN" altLang="en-US" b="0" dirty="0">
                <a:sym typeface="+mn-ea"/>
              </a:rPr>
              <a:t>浮点数</a:t>
            </a:r>
            <a:endParaRPr lang="zh-CN" altLang="en-US" b="0" dirty="0">
              <a:sym typeface="+mn-ea"/>
            </a:endParaRPr>
          </a:p>
        </p:txBody>
      </p:sp>
      <p:sp>
        <p:nvSpPr>
          <p:cNvPr id="95234" name="文本框 3"/>
          <p:cNvSpPr txBox="1"/>
          <p:nvPr/>
        </p:nvSpPr>
        <p:spPr>
          <a:xfrm>
            <a:off x="107950" y="2492375"/>
            <a:ext cx="8613775" cy="3416300"/>
          </a:xfrm>
          <a:prstGeom prst="rect">
            <a:avLst/>
          </a:prstGeom>
          <a:noFill/>
          <a:ln w="9525">
            <a:noFill/>
          </a:ln>
        </p:spPr>
        <p:txBody>
          <a:bodyPr wrap="square" anchor="t" anchorCtr="0">
            <a:spAutoFit/>
          </a:bodyPr>
          <a:p>
            <a:r>
              <a:rPr lang="zh-CN" altLang="en-US" sz="3600">
                <a:latin typeface="Arial" panose="02080604020202020204" pitchFamily="34" charset="0"/>
                <a:ea typeface="宋体" pitchFamily="2" charset="-122"/>
              </a:rPr>
              <a:t>二进制数 </a:t>
            </a:r>
            <a:endParaRPr lang="zh-CN" altLang="en-US" sz="3600">
              <a:latin typeface="Arial" panose="02080604020202020204" pitchFamily="34" charset="0"/>
              <a:ea typeface="宋体" pitchFamily="2" charset="-122"/>
            </a:endParaRPr>
          </a:p>
          <a:p>
            <a:endParaRPr lang="zh-CN" altLang="en-US" sz="3600">
              <a:latin typeface="Arial" panose="02080604020202020204" pitchFamily="34" charset="0"/>
              <a:ea typeface="宋体" pitchFamily="2" charset="-122"/>
            </a:endParaRPr>
          </a:p>
          <a:p>
            <a:r>
              <a:rPr lang="zh-CN" altLang="en-US" sz="3600">
                <a:latin typeface="Arial" panose="02080604020202020204" pitchFamily="34" charset="0"/>
                <a:ea typeface="宋体" pitchFamily="2" charset="-122"/>
              </a:rPr>
              <a:t>1001.101</a:t>
            </a:r>
            <a:r>
              <a:rPr lang="en-US" altLang="zh-CN" sz="3600">
                <a:latin typeface="Arial" panose="02080604020202020204" pitchFamily="34" charset="0"/>
              </a:rPr>
              <a:t>=</a:t>
            </a:r>
            <a:r>
              <a:rPr lang="zh-CN" altLang="en-US" sz="3600">
                <a:latin typeface="Arial" panose="02080604020202020204" pitchFamily="34" charset="0"/>
                <a:ea typeface="宋体" pitchFamily="2" charset="-122"/>
              </a:rPr>
              <a:t>1×2</a:t>
            </a:r>
            <a:r>
              <a:rPr lang="zh-CN" altLang="en-US" sz="3600" baseline="30000">
                <a:latin typeface="Arial" panose="02080604020202020204" pitchFamily="34" charset="0"/>
                <a:ea typeface="宋体" pitchFamily="2" charset="-122"/>
              </a:rPr>
              <a:t>3</a:t>
            </a:r>
            <a:r>
              <a:rPr lang="zh-CN" altLang="en-US" sz="3600">
                <a:latin typeface="Arial" panose="02080604020202020204" pitchFamily="34" charset="0"/>
                <a:ea typeface="宋体" pitchFamily="2" charset="-122"/>
              </a:rPr>
              <a:t>+0×2</a:t>
            </a:r>
            <a:r>
              <a:rPr lang="zh-CN" altLang="en-US" sz="3600" baseline="30000">
                <a:latin typeface="Arial" panose="02080604020202020204" pitchFamily="34" charset="0"/>
                <a:ea typeface="宋体" pitchFamily="2" charset="-122"/>
              </a:rPr>
              <a:t>2</a:t>
            </a:r>
            <a:r>
              <a:rPr lang="zh-CN" altLang="en-US" sz="3600">
                <a:latin typeface="Arial" panose="02080604020202020204" pitchFamily="34" charset="0"/>
                <a:ea typeface="宋体" pitchFamily="2" charset="-122"/>
              </a:rPr>
              <a:t>+0×2</a:t>
            </a:r>
            <a:r>
              <a:rPr lang="zh-CN" altLang="en-US" sz="3600" baseline="30000">
                <a:latin typeface="Arial" panose="02080604020202020204" pitchFamily="34" charset="0"/>
                <a:ea typeface="宋体" pitchFamily="2" charset="-122"/>
              </a:rPr>
              <a:t>1</a:t>
            </a:r>
            <a:r>
              <a:rPr lang="zh-CN" altLang="en-US" sz="3600">
                <a:latin typeface="Arial" panose="02080604020202020204" pitchFamily="34" charset="0"/>
                <a:ea typeface="宋体" pitchFamily="2" charset="-122"/>
              </a:rPr>
              <a:t>+1×</a:t>
            </a:r>
            <a:r>
              <a:rPr lang="en-US" altLang="zh-CN" sz="3600">
                <a:latin typeface="Arial" panose="02080604020202020204" pitchFamily="34" charset="0"/>
              </a:rPr>
              <a:t>2</a:t>
            </a:r>
            <a:r>
              <a:rPr lang="en-US" altLang="zh-CN" sz="3600" baseline="30000">
                <a:latin typeface="Arial" panose="02080604020202020204" pitchFamily="34" charset="0"/>
              </a:rPr>
              <a:t>0</a:t>
            </a:r>
            <a:r>
              <a:rPr lang="zh-CN" altLang="en-US" sz="3600">
                <a:latin typeface="Arial" panose="02080604020202020204" pitchFamily="34" charset="0"/>
                <a:ea typeface="宋体" pitchFamily="2" charset="-122"/>
              </a:rPr>
              <a:t>+1×2</a:t>
            </a:r>
            <a:r>
              <a:rPr lang="zh-CN" altLang="en-US" sz="3600" baseline="30000">
                <a:latin typeface="Arial" panose="02080604020202020204" pitchFamily="34" charset="0"/>
                <a:ea typeface="宋体" pitchFamily="2" charset="-122"/>
              </a:rPr>
              <a:t>-1</a:t>
            </a:r>
            <a:r>
              <a:rPr lang="zh-CN" altLang="en-US" sz="3600">
                <a:latin typeface="Arial" panose="02080604020202020204" pitchFamily="34" charset="0"/>
                <a:ea typeface="宋体" pitchFamily="2" charset="-122"/>
              </a:rPr>
              <a:t>+0×2</a:t>
            </a:r>
            <a:r>
              <a:rPr lang="zh-CN" altLang="en-US" sz="3600" baseline="30000">
                <a:latin typeface="Arial" panose="02080604020202020204" pitchFamily="34" charset="0"/>
                <a:ea typeface="宋体" pitchFamily="2" charset="-122"/>
              </a:rPr>
              <a:t>-2</a:t>
            </a:r>
            <a:r>
              <a:rPr lang="zh-CN" altLang="en-US" sz="3600">
                <a:latin typeface="Arial" panose="02080604020202020204" pitchFamily="34" charset="0"/>
                <a:ea typeface="宋体" pitchFamily="2" charset="-122"/>
              </a:rPr>
              <a:t>+1×2</a:t>
            </a:r>
            <a:r>
              <a:rPr lang="zh-CN" altLang="en-US" sz="3600" baseline="30000">
                <a:latin typeface="Arial" panose="02080604020202020204" pitchFamily="34" charset="0"/>
                <a:ea typeface="宋体" pitchFamily="2" charset="-122"/>
              </a:rPr>
              <a:t>-3</a:t>
            </a:r>
            <a:endParaRPr lang="zh-CN" altLang="en-US" sz="3600" baseline="30000">
              <a:latin typeface="Arial" panose="02080604020202020204" pitchFamily="34" charset="0"/>
              <a:ea typeface="宋体" pitchFamily="2" charset="-122"/>
            </a:endParaRPr>
          </a:p>
          <a:p>
            <a:endParaRPr lang="zh-CN" altLang="en-US" sz="3600">
              <a:latin typeface="Arial" panose="02080604020202020204" pitchFamily="34" charset="0"/>
              <a:ea typeface="宋体" pitchFamily="2" charset="-122"/>
            </a:endParaRPr>
          </a:p>
          <a:p>
            <a:r>
              <a:rPr lang="zh-CN" altLang="en-US" sz="3600">
                <a:latin typeface="Arial" panose="02080604020202020204" pitchFamily="34" charset="0"/>
                <a:ea typeface="宋体" pitchFamily="2" charset="-122"/>
              </a:rPr>
              <a:t>其规范浮点数表达为 1.001101×2</a:t>
            </a:r>
            <a:r>
              <a:rPr lang="zh-CN" altLang="en-US" sz="3600" baseline="30000">
                <a:latin typeface="Arial" panose="02080604020202020204" pitchFamily="34" charset="0"/>
                <a:ea typeface="宋体" pitchFamily="2" charset="-122"/>
              </a:rPr>
              <a:t>3</a:t>
            </a:r>
            <a:r>
              <a:rPr lang="zh-CN" altLang="en-US" sz="3600">
                <a:latin typeface="Arial" panose="02080604020202020204" pitchFamily="34" charset="0"/>
                <a:ea typeface="宋体" pitchFamily="2" charset="-122"/>
              </a:rPr>
              <a:t>。</a:t>
            </a:r>
            <a:endParaRPr lang="zh-CN" altLang="en-US" sz="3600">
              <a:latin typeface="Arial" panose="02080604020202020204" pitchFamily="34" charset="0"/>
              <a:ea typeface="宋体" pitchFamily="2" charset="-122"/>
            </a:endParaRPr>
          </a:p>
        </p:txBody>
      </p:sp>
      <p:pic>
        <p:nvPicPr>
          <p:cNvPr id="95235" name="图片 4"/>
          <p:cNvPicPr>
            <a:picLocks noChangeAspect="1"/>
          </p:cNvPicPr>
          <p:nvPr/>
        </p:nvPicPr>
        <p:blipFill>
          <a:blip r:embed="rId1"/>
          <a:stretch>
            <a:fillRect/>
          </a:stretch>
        </p:blipFill>
        <p:spPr>
          <a:xfrm>
            <a:off x="2555875" y="620713"/>
            <a:ext cx="5124450" cy="1981200"/>
          </a:xfrm>
          <a:prstGeom prst="rect">
            <a:avLst/>
          </a:prstGeom>
          <a:noFill/>
          <a:ln w="9525">
            <a:noFill/>
          </a:ln>
        </p:spPr>
      </p:pic>
      <p:pic>
        <p:nvPicPr>
          <p:cNvPr id="95236" name="图片 5"/>
          <p:cNvPicPr>
            <a:picLocks noChangeAspect="1"/>
          </p:cNvPicPr>
          <p:nvPr/>
        </p:nvPicPr>
        <p:blipFill>
          <a:blip r:embed="rId2"/>
          <a:stretch>
            <a:fillRect/>
          </a:stretch>
        </p:blipFill>
        <p:spPr>
          <a:xfrm>
            <a:off x="3708400" y="1987550"/>
            <a:ext cx="5172075" cy="1543050"/>
          </a:xfrm>
          <a:prstGeom prst="rect">
            <a:avLst/>
          </a:prstGeom>
          <a:noFill/>
          <a:ln w="9525">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标题 1"/>
          <p:cNvSpPr>
            <a:spLocks noGrp="1"/>
          </p:cNvSpPr>
          <p:nvPr/>
        </p:nvSpPr>
        <p:spPr>
          <a:xfrm>
            <a:off x="584200"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pic>
        <p:nvPicPr>
          <p:cNvPr id="96258" name="图片 4"/>
          <p:cNvPicPr>
            <a:picLocks noChangeAspect="1"/>
          </p:cNvPicPr>
          <p:nvPr/>
        </p:nvPicPr>
        <p:blipFill>
          <a:blip r:embed="rId1"/>
          <a:stretch>
            <a:fillRect/>
          </a:stretch>
        </p:blipFill>
        <p:spPr>
          <a:xfrm>
            <a:off x="1547813" y="1955800"/>
            <a:ext cx="5419725" cy="476250"/>
          </a:xfrm>
          <a:prstGeom prst="rect">
            <a:avLst/>
          </a:prstGeom>
          <a:noFill/>
          <a:ln w="9525">
            <a:noFill/>
          </a:ln>
        </p:spPr>
      </p:pic>
      <p:sp>
        <p:nvSpPr>
          <p:cNvPr id="96259" name="文本框 5"/>
          <p:cNvSpPr txBox="1"/>
          <p:nvPr/>
        </p:nvSpPr>
        <p:spPr>
          <a:xfrm>
            <a:off x="1763713" y="2925763"/>
            <a:ext cx="4451350" cy="582612"/>
          </a:xfrm>
          <a:prstGeom prst="rect">
            <a:avLst/>
          </a:prstGeom>
          <a:noFill/>
          <a:ln w="9525">
            <a:noFill/>
          </a:ln>
        </p:spPr>
        <p:txBody>
          <a:bodyPr wrap="square" anchor="t" anchorCtr="0">
            <a:spAutoFit/>
          </a:bodyPr>
          <a:p>
            <a:r>
              <a:rPr lang="zh-CN" altLang="en-US" sz="3200">
                <a:latin typeface="Arial" panose="02080604020202020204" pitchFamily="34" charset="0"/>
                <a:ea typeface="宋体" pitchFamily="2" charset="-122"/>
              </a:rPr>
              <a:t> V=（-1）</a:t>
            </a:r>
            <a:r>
              <a:rPr lang="zh-CN" altLang="en-US" sz="3200" baseline="30000">
                <a:latin typeface="Arial" panose="02080604020202020204" pitchFamily="34" charset="0"/>
                <a:ea typeface="宋体" pitchFamily="2" charset="-122"/>
              </a:rPr>
              <a:t>S</a:t>
            </a:r>
            <a:r>
              <a:rPr lang="zh-CN" altLang="en-US" sz="3200">
                <a:latin typeface="Arial" panose="02080604020202020204" pitchFamily="34" charset="0"/>
                <a:ea typeface="宋体" pitchFamily="2" charset="-122"/>
              </a:rPr>
              <a:t>×M×2</a:t>
            </a:r>
            <a:r>
              <a:rPr lang="zh-CN" altLang="en-US" sz="3200" baseline="30000">
                <a:latin typeface="Arial" panose="02080604020202020204" pitchFamily="34" charset="0"/>
                <a:ea typeface="宋体" pitchFamily="2" charset="-122"/>
              </a:rPr>
              <a:t>E</a:t>
            </a:r>
            <a:endParaRPr lang="zh-CN" altLang="en-US" sz="3200" baseline="30000">
              <a:latin typeface="Arial" panose="02080604020202020204" pitchFamily="34" charset="0"/>
              <a:ea typeface="宋体" pitchFamily="2" charset="-122"/>
            </a:endParaRPr>
          </a:p>
        </p:txBody>
      </p:sp>
      <p:sp>
        <p:nvSpPr>
          <p:cNvPr id="96260" name="文本框 6"/>
          <p:cNvSpPr txBox="1"/>
          <p:nvPr/>
        </p:nvSpPr>
        <p:spPr>
          <a:xfrm>
            <a:off x="1204913" y="3717925"/>
            <a:ext cx="6734175" cy="2306638"/>
          </a:xfrm>
          <a:prstGeom prst="rect">
            <a:avLst/>
          </a:prstGeom>
          <a:noFill/>
          <a:ln w="9525">
            <a:noFill/>
          </a:ln>
        </p:spPr>
        <p:txBody>
          <a:bodyPr wrap="square" anchor="t" anchorCtr="0">
            <a:spAutoFit/>
          </a:bodyPr>
          <a:p>
            <a:endParaRPr lang="zh-CN" altLang="en-US" sz="3600">
              <a:latin typeface="Arial" panose="02080604020202020204" pitchFamily="34" charset="0"/>
              <a:ea typeface="宋体" pitchFamily="2" charset="-122"/>
            </a:endParaRPr>
          </a:p>
          <a:p>
            <a:r>
              <a:rPr lang="zh-CN" altLang="en-US" sz="3600">
                <a:latin typeface="Arial" panose="02080604020202020204" pitchFamily="34" charset="0"/>
                <a:ea typeface="宋体" pitchFamily="2" charset="-122"/>
              </a:rPr>
              <a:t>1001.101的规范浮点数表达为 1.001101×2</a:t>
            </a:r>
            <a:r>
              <a:rPr lang="zh-CN" altLang="en-US" sz="3600" baseline="30000">
                <a:latin typeface="Arial" panose="02080604020202020204" pitchFamily="34" charset="0"/>
                <a:ea typeface="宋体" pitchFamily="2" charset="-122"/>
              </a:rPr>
              <a:t>3</a:t>
            </a:r>
            <a:endParaRPr lang="zh-CN" altLang="en-US" sz="3600" baseline="30000">
              <a:latin typeface="Arial" panose="02080604020202020204" pitchFamily="34" charset="0"/>
              <a:ea typeface="宋体" pitchFamily="2" charset="-122"/>
            </a:endParaRPr>
          </a:p>
          <a:p>
            <a:r>
              <a:rPr lang="en-US" altLang="zh-CN" sz="3600">
                <a:latin typeface="Arial" panose="02080604020202020204" pitchFamily="34" charset="0"/>
              </a:rPr>
              <a:t>=</a:t>
            </a:r>
            <a:r>
              <a:rPr lang="zh-CN" altLang="en-US" sz="3600">
                <a:latin typeface="Arial" panose="02080604020202020204" pitchFamily="34" charset="0"/>
                <a:ea typeface="宋体" pitchFamily="2" charset="-122"/>
              </a:rPr>
              <a:t>（</a:t>
            </a:r>
            <a:r>
              <a:rPr lang="en-US" altLang="zh-CN" sz="3600">
                <a:latin typeface="Arial" panose="02080604020202020204" pitchFamily="34" charset="0"/>
              </a:rPr>
              <a:t>-1</a:t>
            </a:r>
            <a:r>
              <a:rPr lang="zh-CN" altLang="en-US" sz="3600">
                <a:latin typeface="Arial" panose="02080604020202020204" pitchFamily="34" charset="0"/>
                <a:ea typeface="宋体" pitchFamily="2" charset="-122"/>
              </a:rPr>
              <a:t>）</a:t>
            </a:r>
            <a:r>
              <a:rPr lang="en-US" altLang="zh-CN" sz="3600" baseline="30000">
                <a:latin typeface="Arial" panose="02080604020202020204" pitchFamily="34" charset="0"/>
              </a:rPr>
              <a:t>0</a:t>
            </a:r>
            <a:r>
              <a:rPr lang="zh-CN" altLang="en-US" sz="3600">
                <a:latin typeface="Arial" panose="02080604020202020204" pitchFamily="34" charset="0"/>
                <a:ea typeface="宋体" pitchFamily="2" charset="-122"/>
              </a:rPr>
              <a:t>x1.001101x2</a:t>
            </a:r>
            <a:r>
              <a:rPr lang="zh-CN" altLang="en-US" sz="3600" baseline="30000">
                <a:latin typeface="Arial" panose="02080604020202020204" pitchFamily="34" charset="0"/>
                <a:ea typeface="宋体" pitchFamily="2" charset="-122"/>
              </a:rPr>
              <a:t>3</a:t>
            </a:r>
            <a:endParaRPr lang="zh-CN" altLang="en-US" sz="3600" baseline="30000">
              <a:latin typeface="Arial" panose="02080604020202020204" pitchFamily="34" charset="0"/>
              <a:ea typeface="宋体"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标题 1"/>
          <p:cNvSpPr>
            <a:spLocks noGrp="1"/>
          </p:cNvSpPr>
          <p:nvPr/>
        </p:nvSpPr>
        <p:spPr>
          <a:xfrm>
            <a:off x="584200"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sp>
        <p:nvSpPr>
          <p:cNvPr id="97282" name="文本框 1"/>
          <p:cNvSpPr txBox="1"/>
          <p:nvPr/>
        </p:nvSpPr>
        <p:spPr>
          <a:xfrm>
            <a:off x="431800" y="2492375"/>
            <a:ext cx="8534400" cy="3416300"/>
          </a:xfrm>
          <a:prstGeom prst="rect">
            <a:avLst/>
          </a:prstGeom>
          <a:noFill/>
          <a:ln w="9525">
            <a:noFill/>
          </a:ln>
        </p:spPr>
        <p:txBody>
          <a:bodyPr wrap="square" anchor="t" anchorCtr="0">
            <a:spAutoFit/>
          </a:bodyPr>
          <a:p>
            <a:r>
              <a:rPr lang="zh-CN" altLang="en-US" sz="2400">
                <a:latin typeface="Arial" panose="02080604020202020204" pitchFamily="34" charset="0"/>
                <a:ea typeface="宋体" pitchFamily="2" charset="-122"/>
              </a:rPr>
              <a:t>符号位 s（Sign）决定数是正数（s＝0）还是负数（s＝1），而对于数值 0 的符号位解释则作为特殊情况处理。</a:t>
            </a:r>
            <a:endParaRPr lang="zh-CN" altLang="en-US" sz="2400">
              <a:latin typeface="Arial" panose="02080604020202020204" pitchFamily="34" charset="0"/>
              <a:ea typeface="宋体" pitchFamily="2" charset="-122"/>
            </a:endParaRPr>
          </a:p>
          <a:p>
            <a:endParaRPr lang="zh-CN" altLang="en-US" sz="2400">
              <a:latin typeface="Arial" panose="02080604020202020204" pitchFamily="34" charset="0"/>
              <a:ea typeface="宋体" pitchFamily="2" charset="-122"/>
            </a:endParaRPr>
          </a:p>
          <a:p>
            <a:r>
              <a:rPr lang="zh-CN" altLang="en-US" sz="2400">
                <a:latin typeface="Arial" panose="02080604020202020204" pitchFamily="34" charset="0"/>
                <a:ea typeface="宋体" pitchFamily="2" charset="-122"/>
              </a:rPr>
              <a:t>有效数字位 M（Significand）是二进制小数，它的取值范围为 1~2-ε，或者为 0~1-ε。它也被称为尾数位（Mantissa）、系数位（Coefficient），甚至还被称作“小数”。</a:t>
            </a:r>
            <a:endParaRPr lang="zh-CN" altLang="en-US" sz="2400">
              <a:latin typeface="Arial" panose="02080604020202020204" pitchFamily="34" charset="0"/>
              <a:ea typeface="宋体" pitchFamily="2" charset="-122"/>
            </a:endParaRPr>
          </a:p>
          <a:p>
            <a:endParaRPr lang="zh-CN" altLang="en-US" sz="2400">
              <a:latin typeface="Arial" panose="02080604020202020204" pitchFamily="34" charset="0"/>
              <a:ea typeface="宋体" pitchFamily="2" charset="-122"/>
            </a:endParaRPr>
          </a:p>
          <a:p>
            <a:r>
              <a:rPr lang="zh-CN" altLang="en-US" sz="2400">
                <a:latin typeface="Arial" panose="02080604020202020204" pitchFamily="34" charset="0"/>
                <a:ea typeface="宋体" pitchFamily="2" charset="-122"/>
              </a:rPr>
              <a:t>指数位 E（Exponent）是 2 的幂（可能是负数），它的作用是对浮点数加权。</a:t>
            </a:r>
            <a:endParaRPr lang="zh-CN" altLang="en-US" sz="2400">
              <a:latin typeface="Arial" panose="02080604020202020204" pitchFamily="34" charset="0"/>
              <a:ea typeface="宋体" pitchFamily="2" charset="-122"/>
            </a:endParaRPr>
          </a:p>
        </p:txBody>
      </p:sp>
      <p:sp>
        <p:nvSpPr>
          <p:cNvPr id="97283" name="文本框 2"/>
          <p:cNvSpPr txBox="1"/>
          <p:nvPr/>
        </p:nvSpPr>
        <p:spPr>
          <a:xfrm>
            <a:off x="3419475" y="620713"/>
            <a:ext cx="4729163" cy="1754187"/>
          </a:xfrm>
          <a:prstGeom prst="rect">
            <a:avLst/>
          </a:prstGeom>
          <a:noFill/>
          <a:ln w="9525">
            <a:noFill/>
          </a:ln>
        </p:spPr>
        <p:txBody>
          <a:bodyPr wrap="square" anchor="t" anchorCtr="0">
            <a:spAutoFit/>
          </a:bodyPr>
          <a:p>
            <a:r>
              <a:rPr lang="zh-CN" altLang="en-US" sz="3600">
                <a:latin typeface="Arial" panose="02080604020202020204" pitchFamily="34" charset="0"/>
                <a:ea typeface="宋体" pitchFamily="2" charset="-122"/>
              </a:rPr>
              <a:t>1001.101</a:t>
            </a:r>
            <a:endParaRPr lang="zh-CN" altLang="en-US" sz="3600">
              <a:latin typeface="Arial" panose="02080604020202020204" pitchFamily="34" charset="0"/>
              <a:ea typeface="宋体" pitchFamily="2" charset="-122"/>
            </a:endParaRPr>
          </a:p>
          <a:p>
            <a:r>
              <a:rPr lang="zh-CN" altLang="en-US" sz="3600">
                <a:latin typeface="Arial" panose="02080604020202020204" pitchFamily="34" charset="0"/>
                <a:ea typeface="宋体" pitchFamily="2" charset="-122"/>
              </a:rPr>
              <a:t>其规范浮点数表达为 1.001101×2</a:t>
            </a:r>
            <a:r>
              <a:rPr lang="zh-CN" altLang="en-US" sz="3600" baseline="30000">
                <a:latin typeface="Arial" panose="02080604020202020204" pitchFamily="34" charset="0"/>
                <a:ea typeface="宋体" pitchFamily="2" charset="-122"/>
              </a:rPr>
              <a:t>3</a:t>
            </a:r>
            <a:endParaRPr lang="zh-CN" altLang="en-US" sz="3600">
              <a:latin typeface="Arial" panose="02080604020202020204" pitchFamily="34" charset="0"/>
              <a:ea typeface="宋体"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标题 1"/>
          <p:cNvSpPr>
            <a:spLocks noGrp="1"/>
          </p:cNvSpPr>
          <p:nvPr/>
        </p:nvSpPr>
        <p:spPr>
          <a:xfrm>
            <a:off x="584200"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sp>
        <p:nvSpPr>
          <p:cNvPr id="98306" name="文本框 1"/>
          <p:cNvSpPr txBox="1"/>
          <p:nvPr/>
        </p:nvSpPr>
        <p:spPr>
          <a:xfrm>
            <a:off x="431800" y="2492375"/>
            <a:ext cx="8534400" cy="3416300"/>
          </a:xfrm>
          <a:prstGeom prst="rect">
            <a:avLst/>
          </a:prstGeom>
          <a:noFill/>
          <a:ln w="9525">
            <a:noFill/>
          </a:ln>
        </p:spPr>
        <p:txBody>
          <a:bodyPr wrap="square" anchor="t" anchorCtr="0">
            <a:spAutoFit/>
          </a:bodyPr>
          <a:p>
            <a:r>
              <a:rPr lang="zh-CN" altLang="en-US" sz="2400">
                <a:latin typeface="Arial" panose="02080604020202020204" pitchFamily="34" charset="0"/>
                <a:ea typeface="宋体" pitchFamily="2" charset="-122"/>
              </a:rPr>
              <a:t>符号位 s（Sign）决定数是正数（s＝0）还是负数（s＝1），而对于数值 0 的符号位解释则作为特殊情况处理。</a:t>
            </a:r>
            <a:endParaRPr lang="zh-CN" altLang="en-US" sz="2400">
              <a:latin typeface="Arial" panose="02080604020202020204" pitchFamily="34" charset="0"/>
              <a:ea typeface="宋体" pitchFamily="2" charset="-122"/>
            </a:endParaRPr>
          </a:p>
          <a:p>
            <a:endParaRPr lang="zh-CN" altLang="en-US" sz="2400">
              <a:latin typeface="Arial" panose="02080604020202020204" pitchFamily="34" charset="0"/>
              <a:ea typeface="宋体" pitchFamily="2" charset="-122"/>
            </a:endParaRPr>
          </a:p>
          <a:p>
            <a:r>
              <a:rPr lang="zh-CN" altLang="en-US" sz="2400">
                <a:latin typeface="Arial" panose="02080604020202020204" pitchFamily="34" charset="0"/>
                <a:ea typeface="宋体" pitchFamily="2" charset="-122"/>
              </a:rPr>
              <a:t>有效数字位 M（Significand）是二进制小数，它的取值范围为 1~2-ε，或者为 0~1-ε。它也被称为尾数位（Mantissa）、系数位（Coefficient），甚至还被称作“小数”。</a:t>
            </a:r>
            <a:endParaRPr lang="zh-CN" altLang="en-US" sz="2400">
              <a:latin typeface="Arial" panose="02080604020202020204" pitchFamily="34" charset="0"/>
              <a:ea typeface="宋体" pitchFamily="2" charset="-122"/>
            </a:endParaRPr>
          </a:p>
          <a:p>
            <a:endParaRPr lang="zh-CN" altLang="en-US" sz="2400">
              <a:latin typeface="Arial" panose="02080604020202020204" pitchFamily="34" charset="0"/>
              <a:ea typeface="宋体" pitchFamily="2" charset="-122"/>
            </a:endParaRPr>
          </a:p>
          <a:p>
            <a:r>
              <a:rPr lang="zh-CN" altLang="en-US" sz="2400">
                <a:latin typeface="Arial" panose="02080604020202020204" pitchFamily="34" charset="0"/>
                <a:ea typeface="宋体" pitchFamily="2" charset="-122"/>
              </a:rPr>
              <a:t>指数位 E（Exponent）是 2 的幂（可能是负数），它的作用是对浮点数加权。</a:t>
            </a:r>
            <a:endParaRPr lang="zh-CN" altLang="en-US" sz="2400">
              <a:latin typeface="Arial" panose="02080604020202020204" pitchFamily="34" charset="0"/>
              <a:ea typeface="宋体" pitchFamily="2" charset="-122"/>
            </a:endParaRPr>
          </a:p>
        </p:txBody>
      </p:sp>
      <p:sp>
        <p:nvSpPr>
          <p:cNvPr id="98307" name="文本框 2"/>
          <p:cNvSpPr txBox="1"/>
          <p:nvPr/>
        </p:nvSpPr>
        <p:spPr>
          <a:xfrm>
            <a:off x="3419475" y="620713"/>
            <a:ext cx="4729163" cy="1754187"/>
          </a:xfrm>
          <a:prstGeom prst="rect">
            <a:avLst/>
          </a:prstGeom>
          <a:noFill/>
          <a:ln w="9525">
            <a:noFill/>
          </a:ln>
        </p:spPr>
        <p:txBody>
          <a:bodyPr wrap="square" anchor="t" anchorCtr="0">
            <a:spAutoFit/>
          </a:bodyPr>
          <a:p>
            <a:r>
              <a:rPr lang="zh-CN" altLang="en-US" sz="3600">
                <a:latin typeface="Arial" panose="02080604020202020204" pitchFamily="34" charset="0"/>
                <a:ea typeface="宋体" pitchFamily="2" charset="-122"/>
              </a:rPr>
              <a:t>1001.101</a:t>
            </a:r>
            <a:endParaRPr lang="zh-CN" altLang="en-US" sz="3600">
              <a:latin typeface="Arial" panose="02080604020202020204" pitchFamily="34" charset="0"/>
              <a:ea typeface="宋体" pitchFamily="2" charset="-122"/>
            </a:endParaRPr>
          </a:p>
          <a:p>
            <a:r>
              <a:rPr lang="zh-CN" altLang="en-US" sz="3600">
                <a:latin typeface="Arial" panose="02080604020202020204" pitchFamily="34" charset="0"/>
                <a:ea typeface="宋体" pitchFamily="2" charset="-122"/>
              </a:rPr>
              <a:t>其规范浮点数表达为 1.001101×2</a:t>
            </a:r>
            <a:r>
              <a:rPr lang="zh-CN" altLang="en-US" sz="3600" baseline="30000">
                <a:latin typeface="Arial" panose="02080604020202020204" pitchFamily="34" charset="0"/>
                <a:ea typeface="宋体" pitchFamily="2" charset="-122"/>
              </a:rPr>
              <a:t>3</a:t>
            </a:r>
            <a:endParaRPr lang="zh-CN" altLang="en-US" sz="3600">
              <a:latin typeface="Arial" panose="02080604020202020204" pitchFamily="34" charset="0"/>
              <a:ea typeface="宋体" pitchFamily="2" charset="-122"/>
            </a:endParaRPr>
          </a:p>
        </p:txBody>
      </p:sp>
      <p:pic>
        <p:nvPicPr>
          <p:cNvPr id="8" name="图片 7"/>
          <p:cNvPicPr>
            <a:picLocks noChangeAspect="1"/>
          </p:cNvPicPr>
          <p:nvPr/>
        </p:nvPicPr>
        <p:blipFill>
          <a:blip r:embed="rId1"/>
          <a:stretch>
            <a:fillRect/>
          </a:stretch>
        </p:blipFill>
        <p:spPr>
          <a:xfrm>
            <a:off x="2411413" y="476250"/>
            <a:ext cx="6667500" cy="17240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标题 1"/>
          <p:cNvSpPr>
            <a:spLocks noGrp="1"/>
          </p:cNvSpPr>
          <p:nvPr/>
        </p:nvSpPr>
        <p:spPr>
          <a:xfrm>
            <a:off x="225425"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sp>
        <p:nvSpPr>
          <p:cNvPr id="99330" name="文本框 1"/>
          <p:cNvSpPr txBox="1"/>
          <p:nvPr/>
        </p:nvSpPr>
        <p:spPr>
          <a:xfrm>
            <a:off x="431800" y="2492375"/>
            <a:ext cx="8534400" cy="460375"/>
          </a:xfrm>
          <a:prstGeom prst="rect">
            <a:avLst/>
          </a:prstGeom>
          <a:noFill/>
          <a:ln w="9525">
            <a:noFill/>
          </a:ln>
        </p:spPr>
        <p:txBody>
          <a:bodyPr wrap="square" anchor="t" anchorCtr="0">
            <a:spAutoFit/>
          </a:bodyPr>
          <a:p>
            <a:r>
              <a:rPr lang="zh-CN" altLang="en-US" sz="2400">
                <a:latin typeface="Arial" panose="02080604020202020204" pitchFamily="34" charset="0"/>
                <a:ea typeface="宋体" pitchFamily="2" charset="-122"/>
              </a:rPr>
              <a:t>指数位</a:t>
            </a:r>
            <a:r>
              <a:rPr lang="zh-CN" altLang="en-US" sz="2400">
                <a:solidFill>
                  <a:srgbClr val="FF0000"/>
                </a:solidFill>
                <a:latin typeface="Arial" panose="02080604020202020204" pitchFamily="34" charset="0"/>
                <a:ea typeface="宋体" pitchFamily="2" charset="-122"/>
              </a:rPr>
              <a:t> E</a:t>
            </a:r>
            <a:r>
              <a:rPr lang="zh-CN" altLang="en-US" sz="2400">
                <a:latin typeface="Arial" panose="02080604020202020204" pitchFamily="34" charset="0"/>
                <a:ea typeface="宋体" pitchFamily="2" charset="-122"/>
              </a:rPr>
              <a:t>（Exponent）是 2 的幂（可能是负数）</a:t>
            </a:r>
            <a:endParaRPr lang="zh-CN" altLang="en-US" sz="2400">
              <a:latin typeface="Arial" panose="02080604020202020204" pitchFamily="34" charset="0"/>
              <a:ea typeface="宋体" pitchFamily="2" charset="-122"/>
            </a:endParaRPr>
          </a:p>
        </p:txBody>
      </p:sp>
      <p:pic>
        <p:nvPicPr>
          <p:cNvPr id="99331" name="图片 7"/>
          <p:cNvPicPr>
            <a:picLocks noChangeAspect="1"/>
          </p:cNvPicPr>
          <p:nvPr/>
        </p:nvPicPr>
        <p:blipFill>
          <a:blip r:embed="rId1"/>
          <a:stretch>
            <a:fillRect/>
          </a:stretch>
        </p:blipFill>
        <p:spPr>
          <a:xfrm>
            <a:off x="2146300" y="836613"/>
            <a:ext cx="6667500" cy="1724025"/>
          </a:xfrm>
          <a:prstGeom prst="rect">
            <a:avLst/>
          </a:prstGeom>
          <a:noFill/>
          <a:ln w="9525">
            <a:noFill/>
          </a:ln>
        </p:spPr>
      </p:pic>
      <p:sp>
        <p:nvSpPr>
          <p:cNvPr id="99332" name="圆角矩形 4"/>
          <p:cNvSpPr/>
          <p:nvPr/>
        </p:nvSpPr>
        <p:spPr>
          <a:xfrm>
            <a:off x="2916238" y="908050"/>
            <a:ext cx="1738312" cy="1447800"/>
          </a:xfrm>
          <a:prstGeom prst="roundRect">
            <a:avLst>
              <a:gd name="adj" fmla="val 16667"/>
            </a:avLst>
          </a:prstGeom>
          <a:noFill/>
          <a:ln w="28575" cap="flat" cmpd="sng">
            <a:solidFill>
              <a:srgbClr val="FF3300"/>
            </a:solidFill>
            <a:prstDash val="solid"/>
            <a:round/>
            <a:headEnd type="none" w="med" len="med"/>
            <a:tailEnd type="none" w="med" len="med"/>
          </a:ln>
        </p:spPr>
        <p:txBody>
          <a:bodyPr wrap="square" lIns="92075" tIns="46038" rIns="92075" bIns="46038" anchor="t" anchorCtr="0"/>
          <a:p>
            <a:pPr>
              <a:buClrTx/>
              <a:buFontTx/>
            </a:pPr>
            <a:endParaRPr lang="en-US" altLang="en-US" sz="1800">
              <a:latin typeface="Arial" panose="02080604020202020204" pitchFamily="34" charset="0"/>
            </a:endParaRPr>
          </a:p>
        </p:txBody>
      </p:sp>
      <p:sp>
        <p:nvSpPr>
          <p:cNvPr id="99333" name="文本框 5"/>
          <p:cNvSpPr txBox="1"/>
          <p:nvPr/>
        </p:nvSpPr>
        <p:spPr>
          <a:xfrm>
            <a:off x="431800" y="3141663"/>
            <a:ext cx="8534400" cy="3046412"/>
          </a:xfrm>
          <a:prstGeom prst="rect">
            <a:avLst/>
          </a:prstGeom>
          <a:noFill/>
          <a:ln w="9525">
            <a:noFill/>
          </a:ln>
        </p:spPr>
        <p:txBody>
          <a:bodyPr wrap="square" anchor="t" anchorCtr="0">
            <a:spAutoFit/>
          </a:bodyPr>
          <a:p>
            <a:r>
              <a:rPr lang="zh-CN" altLang="en-US" sz="2400">
                <a:latin typeface="Arial" panose="02080604020202020204" pitchFamily="34" charset="0"/>
                <a:ea typeface="宋体" pitchFamily="2" charset="-122"/>
              </a:rPr>
              <a:t>指数位</a:t>
            </a:r>
            <a:r>
              <a:rPr lang="zh-CN" altLang="en-US" sz="2400">
                <a:solidFill>
                  <a:srgbClr val="FF0000"/>
                </a:solidFill>
                <a:latin typeface="Arial" panose="02080604020202020204" pitchFamily="34" charset="0"/>
                <a:ea typeface="宋体" pitchFamily="2" charset="-122"/>
              </a:rPr>
              <a:t> E</a:t>
            </a:r>
            <a:r>
              <a:rPr lang="zh-CN" altLang="en-US" sz="2400">
                <a:latin typeface="Arial" panose="02080604020202020204" pitchFamily="34" charset="0"/>
                <a:ea typeface="宋体" pitchFamily="2" charset="-122"/>
              </a:rPr>
              <a:t>，有</a:t>
            </a:r>
            <a:r>
              <a:rPr lang="en-US" altLang="zh-CN" sz="2400">
                <a:latin typeface="Arial" panose="02080604020202020204" pitchFamily="34" charset="0"/>
              </a:rPr>
              <a:t>8</a:t>
            </a:r>
            <a:r>
              <a:rPr lang="zh-CN" altLang="en-US" sz="2400">
                <a:latin typeface="Arial" panose="02080604020202020204" pitchFamily="34" charset="0"/>
                <a:ea typeface="宋体" pitchFamily="2" charset="-122"/>
              </a:rPr>
              <a:t>个比特，可以表示</a:t>
            </a:r>
            <a:r>
              <a:rPr lang="en-US" altLang="zh-CN" sz="2400">
                <a:latin typeface="Arial" panose="02080604020202020204" pitchFamily="34" charset="0"/>
              </a:rPr>
              <a:t>0-255</a:t>
            </a:r>
            <a:endParaRPr lang="en-US" altLang="zh-CN" sz="2400">
              <a:latin typeface="Arial" panose="02080604020202020204" pitchFamily="34" charset="0"/>
            </a:endParaRPr>
          </a:p>
          <a:p>
            <a:r>
              <a:rPr lang="zh-CN" altLang="en-US" sz="2400">
                <a:latin typeface="Arial" panose="02080604020202020204" pitchFamily="34" charset="0"/>
                <a:ea typeface="宋体" pitchFamily="2" charset="-122"/>
              </a:rPr>
              <a:t>其中</a:t>
            </a:r>
            <a:r>
              <a:rPr lang="en-US" altLang="zh-CN" sz="2400">
                <a:latin typeface="Arial" panose="02080604020202020204" pitchFamily="34" charset="0"/>
              </a:rPr>
              <a:t> 0 </a:t>
            </a:r>
            <a:r>
              <a:rPr lang="zh-CN" altLang="en-US" sz="2400">
                <a:latin typeface="Arial" panose="02080604020202020204" pitchFamily="34" charset="0"/>
                <a:ea typeface="宋体" pitchFamily="2" charset="-122"/>
              </a:rPr>
              <a:t>（</a:t>
            </a:r>
            <a:r>
              <a:rPr lang="en-US" altLang="zh-CN" sz="2400">
                <a:latin typeface="Arial" panose="02080604020202020204" pitchFamily="34" charset="0"/>
              </a:rPr>
              <a:t>00000000</a:t>
            </a:r>
            <a:r>
              <a:rPr lang="zh-CN" altLang="en-US" sz="2400">
                <a:latin typeface="Arial" panose="02080604020202020204" pitchFamily="34" charset="0"/>
                <a:ea typeface="宋体" pitchFamily="2" charset="-122"/>
              </a:rPr>
              <a:t>）和</a:t>
            </a:r>
            <a:r>
              <a:rPr lang="en-US" altLang="zh-CN" sz="2400">
                <a:latin typeface="Arial" panose="02080604020202020204" pitchFamily="34" charset="0"/>
              </a:rPr>
              <a:t> 255</a:t>
            </a:r>
            <a:r>
              <a:rPr lang="zh-CN" altLang="en-US" sz="2400">
                <a:latin typeface="Arial" panose="02080604020202020204" pitchFamily="34" charset="0"/>
                <a:ea typeface="宋体" pitchFamily="2" charset="-122"/>
              </a:rPr>
              <a:t>（</a:t>
            </a:r>
            <a:r>
              <a:rPr lang="en-US" altLang="zh-CN" sz="2400">
                <a:latin typeface="Arial" panose="02080604020202020204" pitchFamily="34" charset="0"/>
              </a:rPr>
              <a:t>11111111</a:t>
            </a:r>
            <a:r>
              <a:rPr lang="zh-CN" altLang="en-US" sz="2400">
                <a:latin typeface="Arial" panose="02080604020202020204" pitchFamily="34" charset="0"/>
                <a:ea typeface="宋体" pitchFamily="2" charset="-122"/>
              </a:rPr>
              <a:t>）保留特殊用途</a:t>
            </a:r>
            <a:endParaRPr lang="zh-CN" altLang="en-US" sz="2400">
              <a:latin typeface="Arial" panose="02080604020202020204" pitchFamily="34" charset="0"/>
              <a:ea typeface="宋体" pitchFamily="2" charset="-122"/>
            </a:endParaRPr>
          </a:p>
          <a:p>
            <a:endParaRPr lang="zh-CN" altLang="en-US" sz="2400">
              <a:latin typeface="Arial" panose="02080604020202020204" pitchFamily="34" charset="0"/>
              <a:ea typeface="宋体" pitchFamily="2" charset="-122"/>
            </a:endParaRPr>
          </a:p>
          <a:p>
            <a:r>
              <a:rPr lang="zh-CN" altLang="en-US" sz="2400">
                <a:latin typeface="Arial" panose="02080604020202020204" pitchFamily="34" charset="0"/>
                <a:ea typeface="宋体" pitchFamily="2" charset="-122"/>
              </a:rPr>
              <a:t>剩下</a:t>
            </a:r>
            <a:r>
              <a:rPr lang="en-US" altLang="zh-CN" sz="2400">
                <a:latin typeface="Arial" panose="02080604020202020204" pitchFamily="34" charset="0"/>
              </a:rPr>
              <a:t>1-254</a:t>
            </a:r>
            <a:r>
              <a:rPr lang="zh-CN" altLang="en-US" sz="2400">
                <a:latin typeface="Arial" panose="02080604020202020204" pitchFamily="34" charset="0"/>
                <a:ea typeface="宋体" pitchFamily="2" charset="-122"/>
              </a:rPr>
              <a:t>，为了表示负指数，实际会减去</a:t>
            </a:r>
            <a:r>
              <a:rPr lang="en-US" altLang="zh-CN" sz="2400">
                <a:latin typeface="Arial" panose="02080604020202020204" pitchFamily="34" charset="0"/>
              </a:rPr>
              <a:t>127</a:t>
            </a:r>
            <a:r>
              <a:rPr lang="zh-CN" altLang="en-US" sz="2400">
                <a:latin typeface="Arial" panose="02080604020202020204" pitchFamily="34" charset="0"/>
                <a:ea typeface="宋体" pitchFamily="2" charset="-122"/>
              </a:rPr>
              <a:t>，所以指数范围是</a:t>
            </a:r>
            <a:r>
              <a:rPr lang="en-US" altLang="zh-CN" sz="2400">
                <a:latin typeface="Arial" panose="02080604020202020204" pitchFamily="34" charset="0"/>
              </a:rPr>
              <a:t>-126-127</a:t>
            </a:r>
            <a:endParaRPr lang="en-US" altLang="zh-CN" sz="2400">
              <a:latin typeface="Arial" panose="02080604020202020204" pitchFamily="34" charset="0"/>
            </a:endParaRPr>
          </a:p>
          <a:p>
            <a:endParaRPr lang="en-US" altLang="zh-CN" sz="2400">
              <a:latin typeface="Arial" panose="02080604020202020204" pitchFamily="34" charset="0"/>
            </a:endParaRPr>
          </a:p>
          <a:p>
            <a:r>
              <a:rPr lang="zh-CN" altLang="en-US" sz="2400">
                <a:latin typeface="Arial" panose="02080604020202020204" pitchFamily="34" charset="0"/>
                <a:ea typeface="宋体" pitchFamily="2" charset="-122"/>
              </a:rPr>
              <a:t>例如指数如果是</a:t>
            </a:r>
            <a:r>
              <a:rPr lang="en-US" altLang="zh-CN" sz="2400">
                <a:latin typeface="Arial" panose="02080604020202020204" pitchFamily="34" charset="0"/>
              </a:rPr>
              <a:t> 10000010 </a:t>
            </a:r>
            <a:r>
              <a:rPr lang="zh-CN" altLang="en-US" sz="2400">
                <a:latin typeface="Arial" panose="02080604020202020204" pitchFamily="34" charset="0"/>
                <a:ea typeface="宋体" pitchFamily="2" charset="-122"/>
              </a:rPr>
              <a:t>算出</a:t>
            </a:r>
            <a:r>
              <a:rPr lang="en-US" altLang="zh-CN" sz="2400">
                <a:latin typeface="Arial" panose="02080604020202020204" pitchFamily="34" charset="0"/>
              </a:rPr>
              <a:t>130 </a:t>
            </a:r>
            <a:r>
              <a:rPr lang="zh-CN" altLang="en-US" sz="2400">
                <a:latin typeface="Arial" panose="02080604020202020204" pitchFamily="34" charset="0"/>
                <a:ea typeface="宋体" pitchFamily="2" charset="-122"/>
              </a:rPr>
              <a:t>减去</a:t>
            </a:r>
            <a:r>
              <a:rPr lang="en-US" altLang="zh-CN" sz="2400">
                <a:latin typeface="Arial" panose="02080604020202020204" pitchFamily="34" charset="0"/>
              </a:rPr>
              <a:t>127</a:t>
            </a:r>
            <a:r>
              <a:rPr lang="zh-CN" altLang="en-US" sz="2400">
                <a:latin typeface="Arial" panose="02080604020202020204" pitchFamily="34" charset="0"/>
                <a:ea typeface="宋体" pitchFamily="2" charset="-122"/>
              </a:rPr>
              <a:t>的</a:t>
            </a:r>
            <a:r>
              <a:rPr lang="en-US" altLang="zh-CN" sz="2400">
                <a:latin typeface="Arial" panose="02080604020202020204" pitchFamily="34" charset="0"/>
              </a:rPr>
              <a:t>3</a:t>
            </a:r>
            <a:r>
              <a:rPr lang="zh-CN" altLang="en-US" sz="2400">
                <a:latin typeface="Arial" panose="02080604020202020204" pitchFamily="34" charset="0"/>
                <a:ea typeface="宋体" pitchFamily="2" charset="-122"/>
              </a:rPr>
              <a:t>，所以实际指数是</a:t>
            </a:r>
            <a:r>
              <a:rPr lang="en-US" altLang="zh-CN" sz="2400">
                <a:latin typeface="Arial" panose="02080604020202020204" pitchFamily="34" charset="0"/>
              </a:rPr>
              <a:t>3</a:t>
            </a:r>
            <a:r>
              <a:rPr lang="zh-CN" altLang="en-US" sz="2400">
                <a:latin typeface="Arial" panose="02080604020202020204" pitchFamily="34" charset="0"/>
                <a:ea typeface="宋体" pitchFamily="2" charset="-122"/>
              </a:rPr>
              <a:t>，即</a:t>
            </a:r>
            <a:r>
              <a:rPr lang="en-US" altLang="zh-CN" sz="2400">
                <a:latin typeface="Arial" panose="02080604020202020204" pitchFamily="34" charset="0"/>
              </a:rPr>
              <a:t>2</a:t>
            </a:r>
            <a:r>
              <a:rPr lang="en-US" altLang="zh-CN" sz="2400" baseline="30000">
                <a:latin typeface="Arial" panose="02080604020202020204" pitchFamily="34" charset="0"/>
              </a:rPr>
              <a:t>3</a:t>
            </a:r>
            <a:endParaRPr lang="en-US" altLang="zh-CN" sz="2400" baseline="30000">
              <a:latin typeface="Arial" panose="0208060402020202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nvSpPr>
        <p:spPr>
          <a:xfrm>
            <a:off x="225425"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sp>
        <p:nvSpPr>
          <p:cNvPr id="100354" name="文本框 5"/>
          <p:cNvSpPr txBox="1"/>
          <p:nvPr/>
        </p:nvSpPr>
        <p:spPr>
          <a:xfrm>
            <a:off x="280988" y="2851150"/>
            <a:ext cx="8532812" cy="3046413"/>
          </a:xfrm>
          <a:prstGeom prst="rect">
            <a:avLst/>
          </a:prstGeom>
          <a:noFill/>
          <a:ln w="9525">
            <a:noFill/>
          </a:ln>
        </p:spPr>
        <p:txBody>
          <a:bodyPr wrap="square" anchor="t" anchorCtr="0">
            <a:spAutoFit/>
          </a:bodyPr>
          <a:p>
            <a:r>
              <a:rPr lang="zh-CN" altLang="en-US" sz="2400">
                <a:latin typeface="Arial" panose="02080604020202020204" pitchFamily="34" charset="0"/>
                <a:ea typeface="宋体" pitchFamily="2" charset="-122"/>
                <a:sym typeface="宋体" pitchFamily="2" charset="-122"/>
              </a:rPr>
              <a:t>小数段 frac，可解释为描述小数值 f，其中 0≤f&lt;1，有效数字定义为 M=1+f。我们可以把 M 看成一个二进制表达式为 1.f</a:t>
            </a:r>
            <a:r>
              <a:rPr lang="zh-CN" altLang="en-US" sz="2400" baseline="-25000">
                <a:latin typeface="Arial" panose="02080604020202020204" pitchFamily="34" charset="0"/>
                <a:ea typeface="宋体" pitchFamily="2" charset="-122"/>
                <a:sym typeface="宋体" pitchFamily="2" charset="-122"/>
              </a:rPr>
              <a:t>n-1</a:t>
            </a:r>
            <a:r>
              <a:rPr lang="zh-CN" altLang="en-US" sz="2400">
                <a:latin typeface="Arial" panose="02080604020202020204" pitchFamily="34" charset="0"/>
                <a:ea typeface="宋体" pitchFamily="2" charset="-122"/>
                <a:sym typeface="宋体" pitchFamily="2" charset="-122"/>
              </a:rPr>
              <a:t>f</a:t>
            </a:r>
            <a:r>
              <a:rPr lang="zh-CN" altLang="en-US" sz="2400" baseline="-25000">
                <a:latin typeface="Arial" panose="02080604020202020204" pitchFamily="34" charset="0"/>
                <a:ea typeface="宋体" pitchFamily="2" charset="-122"/>
                <a:sym typeface="宋体" pitchFamily="2" charset="-122"/>
              </a:rPr>
              <a:t>n-2</a:t>
            </a:r>
            <a:r>
              <a:rPr lang="zh-CN" altLang="en-US" sz="2400">
                <a:latin typeface="Arial" panose="02080604020202020204" pitchFamily="34" charset="0"/>
                <a:ea typeface="宋体" pitchFamily="2" charset="-122"/>
                <a:sym typeface="宋体" pitchFamily="2" charset="-122"/>
              </a:rPr>
              <a:t>…f</a:t>
            </a:r>
            <a:r>
              <a:rPr lang="zh-CN" altLang="en-US" sz="2400" baseline="-25000">
                <a:latin typeface="Arial" panose="02080604020202020204" pitchFamily="34" charset="0"/>
                <a:ea typeface="宋体" pitchFamily="2" charset="-122"/>
                <a:sym typeface="宋体" pitchFamily="2" charset="-122"/>
              </a:rPr>
              <a:t>0</a:t>
            </a:r>
            <a:r>
              <a:rPr lang="zh-CN" altLang="en-US" sz="2400">
                <a:latin typeface="Arial" panose="02080604020202020204" pitchFamily="34" charset="0"/>
                <a:ea typeface="宋体" pitchFamily="2" charset="-122"/>
                <a:sym typeface="宋体" pitchFamily="2" charset="-122"/>
              </a:rPr>
              <a:t> 的数字。</a:t>
            </a:r>
            <a:endParaRPr lang="zh-CN" altLang="en-US" sz="2400">
              <a:latin typeface="Arial" panose="02080604020202020204" pitchFamily="34" charset="0"/>
              <a:ea typeface="宋体" pitchFamily="2" charset="-122"/>
              <a:sym typeface="宋体" pitchFamily="2" charset="-122"/>
            </a:endParaRPr>
          </a:p>
          <a:p>
            <a:endParaRPr lang="zh-CN" altLang="en-US" sz="2400">
              <a:latin typeface="Arial" panose="02080604020202020204" pitchFamily="34" charset="0"/>
              <a:ea typeface="宋体" pitchFamily="2" charset="-122"/>
              <a:sym typeface="宋体" pitchFamily="2" charset="-122"/>
            </a:endParaRPr>
          </a:p>
          <a:p>
            <a:r>
              <a:rPr lang="zh-CN" altLang="en-US" sz="2400">
                <a:latin typeface="Arial" panose="02080604020202020204" pitchFamily="34" charset="0"/>
                <a:ea typeface="宋体" pitchFamily="2" charset="-122"/>
                <a:sym typeface="宋体" pitchFamily="2" charset="-122"/>
              </a:rPr>
              <a:t>既然我们总是能够调整指数 E，使得有效数字 M 的范围为 1≤M&lt;2，那么这种表示方法是一种轻松获得一个额外精度位的技巧。同时，由于第一位总是等于 1，因此我们就不需要显式地表示它。</a:t>
            </a:r>
            <a:endParaRPr lang="zh-CN" altLang="en-US" sz="2400">
              <a:latin typeface="Arial" panose="02080604020202020204" pitchFamily="34" charset="0"/>
              <a:ea typeface="宋体" pitchFamily="2" charset="-122"/>
              <a:sym typeface="宋体" pitchFamily="2" charset="-122"/>
            </a:endParaRPr>
          </a:p>
        </p:txBody>
      </p:sp>
      <p:pic>
        <p:nvPicPr>
          <p:cNvPr id="100355" name="图片 7"/>
          <p:cNvPicPr>
            <a:picLocks noChangeAspect="1"/>
          </p:cNvPicPr>
          <p:nvPr/>
        </p:nvPicPr>
        <p:blipFill>
          <a:blip r:embed="rId1"/>
          <a:stretch>
            <a:fillRect/>
          </a:stretch>
        </p:blipFill>
        <p:spPr>
          <a:xfrm>
            <a:off x="2146300" y="836613"/>
            <a:ext cx="6667500" cy="1724025"/>
          </a:xfrm>
          <a:prstGeom prst="rect">
            <a:avLst/>
          </a:prstGeom>
          <a:noFill/>
          <a:ln w="9525">
            <a:noFill/>
          </a:ln>
        </p:spPr>
      </p:pic>
      <p:sp>
        <p:nvSpPr>
          <p:cNvPr id="100356" name="圆角矩形 4"/>
          <p:cNvSpPr/>
          <p:nvPr/>
        </p:nvSpPr>
        <p:spPr>
          <a:xfrm>
            <a:off x="4645025" y="692150"/>
            <a:ext cx="4294188" cy="1447800"/>
          </a:xfrm>
          <a:prstGeom prst="roundRect">
            <a:avLst>
              <a:gd name="adj" fmla="val 16667"/>
            </a:avLst>
          </a:prstGeom>
          <a:noFill/>
          <a:ln w="28575" cap="flat" cmpd="sng">
            <a:solidFill>
              <a:srgbClr val="FF3300"/>
            </a:solidFill>
            <a:prstDash val="solid"/>
            <a:round/>
            <a:headEnd type="none" w="med" len="med"/>
            <a:tailEnd type="none" w="med" len="med"/>
          </a:ln>
        </p:spPr>
        <p:txBody>
          <a:bodyPr wrap="square" lIns="92075" tIns="46038" rIns="92075" bIns="46038" anchor="t" anchorCtr="0"/>
          <a:p>
            <a:pPr>
              <a:buClrTx/>
              <a:buFontTx/>
            </a:pPr>
            <a:endParaRPr lang="en-US" altLang="en-US" sz="1800">
              <a:latin typeface="Arial" panose="0208060402020202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标题 1"/>
          <p:cNvSpPr>
            <a:spLocks noGrp="1"/>
          </p:cNvSpPr>
          <p:nvPr/>
        </p:nvSpPr>
        <p:spPr>
          <a:xfrm>
            <a:off x="225425"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sp>
        <p:nvSpPr>
          <p:cNvPr id="101378" name="文本框 5"/>
          <p:cNvSpPr txBox="1"/>
          <p:nvPr/>
        </p:nvSpPr>
        <p:spPr>
          <a:xfrm>
            <a:off x="280988" y="2995613"/>
            <a:ext cx="8532812" cy="2676525"/>
          </a:xfrm>
          <a:prstGeom prst="rect">
            <a:avLst/>
          </a:prstGeom>
          <a:noFill/>
          <a:ln w="9525">
            <a:noFill/>
          </a:ln>
        </p:spPr>
        <p:txBody>
          <a:bodyPr wrap="square" anchor="t" anchorCtr="0">
            <a:spAutoFit/>
          </a:bodyPr>
          <a:p>
            <a:r>
              <a:rPr lang="zh-CN" altLang="en-US" sz="2400">
                <a:latin typeface="Arial" panose="02080604020202020204" pitchFamily="34" charset="0"/>
                <a:ea typeface="宋体" pitchFamily="2" charset="-122"/>
                <a:sym typeface="宋体" pitchFamily="2" charset="-122"/>
              </a:rPr>
              <a:t>拿单精度数为例，按照上面所介绍的知识，实际上可以用 23 位长的有效数字来表达 24 位的有效数字。</a:t>
            </a:r>
            <a:endParaRPr lang="zh-CN" altLang="en-US" sz="2400">
              <a:latin typeface="Arial" panose="02080604020202020204" pitchFamily="34" charset="0"/>
              <a:ea typeface="宋体" pitchFamily="2" charset="-122"/>
              <a:sym typeface="宋体" pitchFamily="2" charset="-122"/>
            </a:endParaRPr>
          </a:p>
          <a:p>
            <a:endParaRPr lang="zh-CN" altLang="en-US" sz="2400">
              <a:latin typeface="Arial" panose="02080604020202020204" pitchFamily="34" charset="0"/>
              <a:ea typeface="宋体" pitchFamily="2" charset="-122"/>
              <a:sym typeface="宋体" pitchFamily="2" charset="-122"/>
            </a:endParaRPr>
          </a:p>
          <a:p>
            <a:r>
              <a:rPr lang="zh-CN" altLang="en-US" sz="2400">
                <a:latin typeface="Arial" panose="02080604020202020204" pitchFamily="34" charset="0"/>
                <a:ea typeface="宋体" pitchFamily="2" charset="-122"/>
                <a:sym typeface="宋体" pitchFamily="2" charset="-122"/>
              </a:rPr>
              <a:t>对单精度数而言，二进制的 1001.101（即十进制的 9.625）可以表达为 1.</a:t>
            </a:r>
            <a:r>
              <a:rPr lang="zh-CN" altLang="en-US" sz="2400">
                <a:solidFill>
                  <a:srgbClr val="FF0000"/>
                </a:solidFill>
                <a:latin typeface="Arial" panose="02080604020202020204" pitchFamily="34" charset="0"/>
                <a:ea typeface="宋体" pitchFamily="2" charset="-122"/>
                <a:sym typeface="宋体" pitchFamily="2" charset="-122"/>
              </a:rPr>
              <a:t>001101</a:t>
            </a:r>
            <a:r>
              <a:rPr lang="zh-CN" altLang="en-US" sz="2400">
                <a:latin typeface="Arial" panose="02080604020202020204" pitchFamily="34" charset="0"/>
                <a:ea typeface="宋体" pitchFamily="2" charset="-122"/>
                <a:sym typeface="宋体" pitchFamily="2" charset="-122"/>
              </a:rPr>
              <a:t>×2</a:t>
            </a:r>
            <a:r>
              <a:rPr lang="zh-CN" altLang="en-US" sz="2400" baseline="-25000">
                <a:latin typeface="Arial" panose="02080604020202020204" pitchFamily="34" charset="0"/>
                <a:ea typeface="宋体" pitchFamily="2" charset="-122"/>
                <a:sym typeface="宋体" pitchFamily="2" charset="-122"/>
              </a:rPr>
              <a:t>3</a:t>
            </a:r>
            <a:r>
              <a:rPr lang="zh-CN" altLang="en-US" sz="2400">
                <a:latin typeface="Arial" panose="02080604020202020204" pitchFamily="34" charset="0"/>
                <a:ea typeface="宋体" pitchFamily="2" charset="-122"/>
                <a:sym typeface="宋体" pitchFamily="2" charset="-122"/>
              </a:rPr>
              <a:t>，所以实际保存在有效数字位中的值为：</a:t>
            </a:r>
            <a:endParaRPr lang="zh-CN" altLang="en-US" sz="2400">
              <a:latin typeface="Arial" panose="02080604020202020204" pitchFamily="34" charset="0"/>
              <a:ea typeface="宋体" pitchFamily="2" charset="-122"/>
              <a:sym typeface="宋体" pitchFamily="2" charset="-122"/>
            </a:endParaRPr>
          </a:p>
          <a:p>
            <a:r>
              <a:rPr lang="zh-CN" altLang="en-US" sz="2400">
                <a:latin typeface="Arial" panose="02080604020202020204" pitchFamily="34" charset="0"/>
                <a:ea typeface="宋体" pitchFamily="2" charset="-122"/>
                <a:sym typeface="宋体" pitchFamily="2" charset="-122"/>
              </a:rPr>
              <a:t> </a:t>
            </a:r>
            <a:r>
              <a:rPr lang="en-US" altLang="zh-CN" sz="2400">
                <a:latin typeface="Arial" panose="02080604020202020204" pitchFamily="34" charset="0"/>
                <a:sym typeface="宋体" pitchFamily="2" charset="-122"/>
              </a:rPr>
              <a:t>     </a:t>
            </a:r>
            <a:r>
              <a:rPr lang="zh-CN" altLang="en-US" sz="2400">
                <a:solidFill>
                  <a:srgbClr val="FF0000"/>
                </a:solidFill>
                <a:latin typeface="Arial" panose="02080604020202020204" pitchFamily="34" charset="0"/>
                <a:ea typeface="宋体" pitchFamily="2" charset="-122"/>
                <a:sym typeface="宋体" pitchFamily="2" charset="-122"/>
              </a:rPr>
              <a:t>001101</a:t>
            </a:r>
            <a:r>
              <a:rPr lang="zh-CN" altLang="en-US" sz="2400">
                <a:latin typeface="Arial" panose="02080604020202020204" pitchFamily="34" charset="0"/>
                <a:ea typeface="宋体" pitchFamily="2" charset="-122"/>
                <a:sym typeface="宋体" pitchFamily="2" charset="-122"/>
              </a:rPr>
              <a:t>00000000000000000</a:t>
            </a:r>
            <a:endParaRPr lang="zh-CN" altLang="en-US" sz="2400">
              <a:latin typeface="Arial" panose="02080604020202020204" pitchFamily="34" charset="0"/>
              <a:ea typeface="宋体" pitchFamily="2" charset="-122"/>
              <a:sym typeface="宋体" pitchFamily="2" charset="-122"/>
            </a:endParaRPr>
          </a:p>
        </p:txBody>
      </p:sp>
      <p:pic>
        <p:nvPicPr>
          <p:cNvPr id="101379" name="图片 7"/>
          <p:cNvPicPr>
            <a:picLocks noChangeAspect="1"/>
          </p:cNvPicPr>
          <p:nvPr/>
        </p:nvPicPr>
        <p:blipFill>
          <a:blip r:embed="rId1"/>
          <a:stretch>
            <a:fillRect/>
          </a:stretch>
        </p:blipFill>
        <p:spPr>
          <a:xfrm>
            <a:off x="2146300" y="836613"/>
            <a:ext cx="6667500" cy="1724025"/>
          </a:xfrm>
          <a:prstGeom prst="rect">
            <a:avLst/>
          </a:prstGeom>
          <a:noFill/>
          <a:ln w="9525">
            <a:noFill/>
          </a:ln>
        </p:spPr>
      </p:pic>
      <p:sp>
        <p:nvSpPr>
          <p:cNvPr id="101380" name="圆角矩形 4"/>
          <p:cNvSpPr/>
          <p:nvPr/>
        </p:nvSpPr>
        <p:spPr>
          <a:xfrm>
            <a:off x="4645025" y="692150"/>
            <a:ext cx="4294188" cy="1447800"/>
          </a:xfrm>
          <a:prstGeom prst="roundRect">
            <a:avLst>
              <a:gd name="adj" fmla="val 16667"/>
            </a:avLst>
          </a:prstGeom>
          <a:noFill/>
          <a:ln w="28575" cap="flat" cmpd="sng">
            <a:solidFill>
              <a:srgbClr val="FF3300"/>
            </a:solidFill>
            <a:prstDash val="solid"/>
            <a:round/>
            <a:headEnd type="none" w="med" len="med"/>
            <a:tailEnd type="none" w="med" len="med"/>
          </a:ln>
        </p:spPr>
        <p:txBody>
          <a:bodyPr wrap="square" lIns="92075" tIns="46038" rIns="92075" bIns="46038" anchor="t" anchorCtr="0"/>
          <a:p>
            <a:pPr>
              <a:buClrTx/>
              <a:buFontTx/>
            </a:pPr>
            <a:endParaRPr lang="en-US" altLang="en-US" sz="1800">
              <a:latin typeface="Arial" panose="0208060402020202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标题 1"/>
          <p:cNvSpPr>
            <a:spLocks noGrp="1"/>
          </p:cNvSpPr>
          <p:nvPr/>
        </p:nvSpPr>
        <p:spPr>
          <a:xfrm>
            <a:off x="584200" y="584200"/>
            <a:ext cx="8229600" cy="1371600"/>
          </a:xfrm>
          <a:prstGeom prst="rect">
            <a:avLst/>
          </a:prstGeom>
          <a:noFill/>
          <a:ln w="9525">
            <a:noFill/>
          </a:ln>
        </p:spPr>
        <p:txBody>
          <a:bodyPr vert="horz" wrap="square" lIns="91440" tIns="45720" rIns="91440" bIns="45720" rtlCol="0" anchor="ctr" anchorCtr="0">
            <a:normAutofit/>
          </a:bodyPr>
          <a:p>
            <a:pPr lvl="0" algn="l" eaLnBrk="1" hangingPunct="1">
              <a:buClrTx/>
              <a:buSzTx/>
              <a:buFontTx/>
            </a:pPr>
            <a:r>
              <a:rPr lang="zh-CN" altLang="en-US" sz="4400" kern="0" dirty="0">
                <a:solidFill>
                  <a:schemeClr val="hlink"/>
                </a:solidFill>
                <a:latin typeface="+mj-lt"/>
                <a:ea typeface="+mj-ea"/>
                <a:cs typeface="+mj-cs"/>
                <a:sym typeface="+mn-ea"/>
              </a:rPr>
              <a:t>浮点数</a:t>
            </a:r>
            <a:endParaRPr lang="zh-CN" altLang="en-US" sz="4400" kern="0" dirty="0">
              <a:solidFill>
                <a:schemeClr val="hlink"/>
              </a:solidFill>
              <a:latin typeface="+mj-lt"/>
              <a:ea typeface="+mj-ea"/>
              <a:cs typeface="+mj-cs"/>
              <a:sym typeface="+mn-ea"/>
            </a:endParaRPr>
          </a:p>
        </p:txBody>
      </p:sp>
      <p:sp>
        <p:nvSpPr>
          <p:cNvPr id="102402" name="文本框 5"/>
          <p:cNvSpPr txBox="1"/>
          <p:nvPr/>
        </p:nvSpPr>
        <p:spPr>
          <a:xfrm>
            <a:off x="280988" y="2492375"/>
            <a:ext cx="8532812" cy="3416300"/>
          </a:xfrm>
          <a:prstGeom prst="rect">
            <a:avLst/>
          </a:prstGeom>
          <a:noFill/>
          <a:ln w="9525">
            <a:noFill/>
          </a:ln>
        </p:spPr>
        <p:txBody>
          <a:bodyPr wrap="square" anchor="t" anchorCtr="0">
            <a:spAutoFit/>
          </a:bodyPr>
          <a:p>
            <a:r>
              <a:rPr lang="zh-CN" altLang="en-US" sz="2400">
                <a:latin typeface="Arial" panose="02080604020202020204" pitchFamily="34" charset="0"/>
                <a:ea typeface="宋体" pitchFamily="2" charset="-122"/>
              </a:rPr>
              <a:t>1、首先，需要将 -9.625 用二进制浮点数表达出来，即1001.101，用规范的浮点数表达应为 1.001101×2</a:t>
            </a:r>
            <a:r>
              <a:rPr lang="zh-CN" altLang="en-US" sz="2400" baseline="30000">
                <a:latin typeface="Arial" panose="02080604020202020204" pitchFamily="34" charset="0"/>
                <a:ea typeface="宋体" pitchFamily="2" charset="-122"/>
              </a:rPr>
              <a:t>3</a:t>
            </a:r>
            <a:endParaRPr lang="zh-CN" altLang="en-US" sz="2400" baseline="30000">
              <a:latin typeface="Arial" panose="02080604020202020204" pitchFamily="34" charset="0"/>
              <a:ea typeface="宋体" pitchFamily="2" charset="-122"/>
            </a:endParaRPr>
          </a:p>
          <a:p>
            <a:endParaRPr lang="zh-CN" altLang="en-US" sz="2400">
              <a:latin typeface="Arial" panose="02080604020202020204" pitchFamily="34" charset="0"/>
              <a:ea typeface="宋体" pitchFamily="2" charset="-122"/>
            </a:endParaRPr>
          </a:p>
          <a:p>
            <a:r>
              <a:rPr lang="zh-CN" altLang="en-US" sz="2400">
                <a:latin typeface="Arial" panose="02080604020202020204" pitchFamily="34" charset="0"/>
                <a:ea typeface="宋体" pitchFamily="2" charset="-122"/>
              </a:rPr>
              <a:t>-9.625 是负数，所以符号段为 1</a:t>
            </a:r>
            <a:endParaRPr lang="zh-CN" altLang="en-US" sz="2400">
              <a:latin typeface="Arial" panose="02080604020202020204" pitchFamily="34" charset="0"/>
              <a:ea typeface="宋体" pitchFamily="2" charset="-122"/>
            </a:endParaRPr>
          </a:p>
          <a:p>
            <a:endParaRPr lang="zh-CN" altLang="en-US" sz="2400">
              <a:latin typeface="Arial" panose="02080604020202020204" pitchFamily="34" charset="0"/>
              <a:ea typeface="宋体" pitchFamily="2" charset="-122"/>
            </a:endParaRPr>
          </a:p>
          <a:p>
            <a:r>
              <a:rPr lang="zh-CN" altLang="en-US" sz="2400">
                <a:latin typeface="Arial" panose="02080604020202020204" pitchFamily="34" charset="0"/>
                <a:ea typeface="宋体" pitchFamily="2" charset="-122"/>
              </a:rPr>
              <a:t>指数为 3，所以指数段为 3+127=130，即10000010</a:t>
            </a:r>
            <a:endParaRPr lang="zh-CN" altLang="en-US" sz="2400">
              <a:latin typeface="Arial" panose="02080604020202020204" pitchFamily="34" charset="0"/>
              <a:ea typeface="宋体" pitchFamily="2" charset="-122"/>
            </a:endParaRPr>
          </a:p>
          <a:p>
            <a:endParaRPr lang="zh-CN" altLang="en-US" sz="2400">
              <a:latin typeface="Arial" panose="02080604020202020204" pitchFamily="34" charset="0"/>
              <a:ea typeface="宋体" pitchFamily="2" charset="-122"/>
            </a:endParaRPr>
          </a:p>
          <a:p>
            <a:r>
              <a:rPr lang="zh-CN" altLang="en-US" sz="2400">
                <a:latin typeface="Arial" panose="02080604020202020204" pitchFamily="34" charset="0"/>
                <a:ea typeface="宋体" pitchFamily="2" charset="-122"/>
              </a:rPr>
              <a:t>有效数字省略掉小数点左侧的 1 之后为 001101，然后在右侧用零补齐。因此所得的最终结果为：</a:t>
            </a:r>
            <a:r>
              <a:rPr lang="en-US" altLang="zh-CN" sz="2400">
                <a:solidFill>
                  <a:srgbClr val="00B050"/>
                </a:solidFill>
                <a:latin typeface="Arial" panose="02080604020202020204" pitchFamily="34" charset="0"/>
                <a:sym typeface="宋体" pitchFamily="2" charset="-122"/>
              </a:rPr>
              <a:t>         </a:t>
            </a:r>
            <a:endParaRPr lang="en-US" altLang="zh-CN" sz="2400" baseline="30000">
              <a:latin typeface="Arial" panose="02080604020202020204" pitchFamily="34" charset="0"/>
            </a:endParaRPr>
          </a:p>
        </p:txBody>
      </p:sp>
      <p:sp>
        <p:nvSpPr>
          <p:cNvPr id="102403" name="文本框 2"/>
          <p:cNvSpPr txBox="1"/>
          <p:nvPr/>
        </p:nvSpPr>
        <p:spPr>
          <a:xfrm>
            <a:off x="3203575" y="908050"/>
            <a:ext cx="2266950" cy="522288"/>
          </a:xfrm>
          <a:prstGeom prst="rect">
            <a:avLst/>
          </a:prstGeom>
          <a:noFill/>
          <a:ln w="9525">
            <a:noFill/>
          </a:ln>
        </p:spPr>
        <p:txBody>
          <a:bodyPr wrap="none" anchor="t" anchorCtr="0">
            <a:spAutoFit/>
          </a:bodyPr>
          <a:p>
            <a:r>
              <a:rPr lang="zh-CN" altLang="en-US" sz="2800">
                <a:latin typeface="Arial" panose="02080604020202020204" pitchFamily="34" charset="0"/>
                <a:ea typeface="宋体" pitchFamily="2" charset="-122"/>
                <a:sym typeface="宋体" pitchFamily="2" charset="-122"/>
              </a:rPr>
              <a:t> -9.625 为例</a:t>
            </a:r>
            <a:endParaRPr lang="zh-CN" altLang="en-US" sz="2800">
              <a:latin typeface="Arial" panose="02080604020202020204" pitchFamily="34" charset="0"/>
              <a:ea typeface="宋体" pitchFamily="2" charset="-122"/>
              <a:sym typeface="宋体" pitchFamily="2" charset="-122"/>
            </a:endParaRPr>
          </a:p>
        </p:txBody>
      </p:sp>
      <p:sp>
        <p:nvSpPr>
          <p:cNvPr id="10" name="文本框 9"/>
          <p:cNvSpPr txBox="1"/>
          <p:nvPr/>
        </p:nvSpPr>
        <p:spPr>
          <a:xfrm>
            <a:off x="360680" y="1792604"/>
            <a:ext cx="8453120" cy="583566"/>
          </a:xfrm>
          <a:prstGeom prst="rect">
            <a:avLst/>
          </a:prstGeom>
          <a:noFill/>
        </p:spPr>
        <p:txBody>
          <a:bodyPr wrap="none" rtlCol="0" anchor="t">
            <a:spAutoFit/>
          </a:bodyPr>
          <a:p>
            <a:r>
              <a:rPr lang="en-US" altLang="zh-CN" sz="3200" noProof="1">
                <a:solidFill>
                  <a:srgbClr val="00B050"/>
                </a:solidFill>
                <a:latin typeface="Arial" panose="02080604020202020204" pitchFamily="34" charset="0"/>
                <a:ea typeface="宋体" pitchFamily="2" charset="-122"/>
                <a:cs typeface="+mn-cs"/>
                <a:sym typeface="+mn-ea"/>
              </a:rPr>
              <a:t>1</a:t>
            </a:r>
            <a:r>
              <a:rPr lang="zh-CN" altLang="en-US" sz="3200" noProof="1">
                <a:gradFill>
                  <a:gsLst>
                    <a:gs pos="0">
                      <a:srgbClr val="7B32B2"/>
                    </a:gs>
                    <a:gs pos="100000">
                      <a:srgbClr val="401A5D"/>
                    </a:gs>
                  </a:gsLst>
                  <a:lin scaled="0"/>
                </a:gradFill>
                <a:latin typeface="Arial" panose="02080604020202020204" pitchFamily="34" charset="0"/>
                <a:ea typeface="宋体" pitchFamily="2" charset="-122"/>
                <a:cs typeface="+mn-cs"/>
                <a:sym typeface="+mn-ea"/>
              </a:rPr>
              <a:t>10000010</a:t>
            </a:r>
            <a:r>
              <a:rPr lang="zh-CN" altLang="en-US" sz="3200" noProof="1">
                <a:solidFill>
                  <a:srgbClr val="FF0000"/>
                </a:solidFill>
                <a:latin typeface="Arial" panose="02080604020202020204" pitchFamily="34" charset="0"/>
                <a:ea typeface="宋体" pitchFamily="2" charset="-122"/>
                <a:cs typeface="+mn-cs"/>
                <a:sym typeface="+mn-ea"/>
              </a:rPr>
              <a:t>001101</a:t>
            </a:r>
            <a:r>
              <a:rPr lang="zh-CN" altLang="en-US" sz="3200" noProof="1">
                <a:latin typeface="Arial" panose="02080604020202020204" pitchFamily="34" charset="0"/>
                <a:ea typeface="宋体" pitchFamily="2" charset="-122"/>
                <a:cs typeface="+mn-cs"/>
                <a:sym typeface="+mn-ea"/>
              </a:rPr>
              <a:t>00000000000000000</a:t>
            </a:r>
            <a:endParaRPr lang="zh-CN" altLang="en-US" sz="3200" noProof="1"/>
          </a:p>
        </p:txBody>
      </p:sp>
      <p:pic>
        <p:nvPicPr>
          <p:cNvPr id="9" name="图片 8"/>
          <p:cNvPicPr>
            <a:picLocks noChangeAspect="1"/>
          </p:cNvPicPr>
          <p:nvPr/>
        </p:nvPicPr>
        <p:blipFill>
          <a:blip r:embed="rId1"/>
          <a:stretch>
            <a:fillRect/>
          </a:stretch>
        </p:blipFill>
        <p:spPr>
          <a:xfrm>
            <a:off x="2339975" y="836613"/>
            <a:ext cx="6605588" cy="15398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文本框 3"/>
          <p:cNvSpPr txBox="1"/>
          <p:nvPr/>
        </p:nvSpPr>
        <p:spPr>
          <a:xfrm>
            <a:off x="900113" y="2060575"/>
            <a:ext cx="6076950" cy="3968750"/>
          </a:xfrm>
          <a:prstGeom prst="rect">
            <a:avLst/>
          </a:prstGeom>
          <a:noFill/>
          <a:ln w="12700" cap="flat" cmpd="sng">
            <a:solidFill>
              <a:srgbClr val="6F6FBC"/>
            </a:solidFill>
            <a:prstDash val="solid"/>
            <a:round/>
            <a:headEnd type="none" w="med" len="med"/>
            <a:tailEnd type="none" w="med" len="med"/>
          </a:ln>
        </p:spPr>
        <p:txBody>
          <a:bodyPr wrap="square" anchor="t" anchorCtr="0">
            <a:spAutoFit/>
          </a:bodyPr>
          <a:p>
            <a:r>
              <a:rPr lang="zh-CN" altLang="en-US" sz="2800">
                <a:latin typeface="Arial" panose="02080604020202020204" pitchFamily="34" charset="0"/>
                <a:ea typeface="宋体" pitchFamily="2" charset="-122"/>
              </a:rPr>
              <a:t>#include &lt;stdio.h&gt;</a:t>
            </a:r>
            <a:endParaRPr lang="zh-CN" altLang="en-US" sz="2800">
              <a:latin typeface="Arial" panose="02080604020202020204" pitchFamily="34" charset="0"/>
              <a:ea typeface="宋体" pitchFamily="2" charset="-122"/>
            </a:endParaRPr>
          </a:p>
          <a:p>
            <a:r>
              <a:rPr lang="zh-CN" altLang="en-US" sz="2800">
                <a:latin typeface="Arial" panose="02080604020202020204" pitchFamily="34" charset="0"/>
                <a:ea typeface="宋体" pitchFamily="2" charset="-122"/>
              </a:rPr>
              <a:t>int main()</a:t>
            </a:r>
            <a:endParaRPr lang="zh-CN" altLang="en-US" sz="2800">
              <a:latin typeface="Arial" panose="02080604020202020204" pitchFamily="34" charset="0"/>
              <a:ea typeface="宋体" pitchFamily="2" charset="-122"/>
            </a:endParaRPr>
          </a:p>
          <a:p>
            <a:r>
              <a:rPr lang="zh-CN" altLang="en-US" sz="2800">
                <a:latin typeface="Arial" panose="02080604020202020204" pitchFamily="34" charset="0"/>
                <a:ea typeface="宋体" pitchFamily="2" charset="-122"/>
              </a:rPr>
              <a:t>{</a:t>
            </a:r>
            <a:endParaRPr lang="zh-CN" altLang="en-US" sz="2800">
              <a:latin typeface="Arial" panose="02080604020202020204" pitchFamily="34" charset="0"/>
              <a:ea typeface="宋体" pitchFamily="2" charset="-122"/>
            </a:endParaRPr>
          </a:p>
          <a:p>
            <a:r>
              <a:rPr lang="zh-CN" altLang="en-US" sz="2800">
                <a:latin typeface="Arial" panose="02080604020202020204" pitchFamily="34" charset="0"/>
                <a:ea typeface="宋体" pitchFamily="2" charset="-122"/>
              </a:rPr>
              <a:t> </a:t>
            </a:r>
            <a:r>
              <a:rPr lang="en-US" altLang="zh-CN" sz="2800">
                <a:latin typeface="Arial" panose="02080604020202020204" pitchFamily="34" charset="0"/>
              </a:rPr>
              <a:t>    </a:t>
            </a:r>
            <a:r>
              <a:rPr lang="zh-CN" altLang="en-US" sz="2800">
                <a:latin typeface="Arial" panose="02080604020202020204" pitchFamily="34" charset="0"/>
                <a:ea typeface="宋体" pitchFamily="2" charset="-122"/>
              </a:rPr>
              <a:t>int x = 0;</a:t>
            </a:r>
            <a:endParaRPr lang="zh-CN" altLang="en-US" sz="2800">
              <a:latin typeface="Arial" panose="02080604020202020204" pitchFamily="34" charset="0"/>
              <a:ea typeface="宋体" pitchFamily="2" charset="-122"/>
            </a:endParaRPr>
          </a:p>
          <a:p>
            <a:r>
              <a:rPr lang="zh-CN" altLang="en-US" sz="2800">
                <a:latin typeface="Arial" panose="02080604020202020204" pitchFamily="34" charset="0"/>
                <a:ea typeface="宋体" pitchFamily="2" charset="-122"/>
              </a:rPr>
              <a:t> </a:t>
            </a:r>
            <a:r>
              <a:rPr lang="en-US" altLang="zh-CN" sz="2800">
                <a:latin typeface="Arial" panose="02080604020202020204" pitchFamily="34" charset="0"/>
              </a:rPr>
              <a:t>    </a:t>
            </a:r>
            <a:r>
              <a:rPr lang="zh-CN" altLang="en-US" sz="2800">
                <a:latin typeface="Arial" panose="02080604020202020204" pitchFamily="34" charset="0"/>
                <a:ea typeface="宋体" pitchFamily="2" charset="-122"/>
              </a:rPr>
              <a:t>float * pfloat = (float * )&amp;x;</a:t>
            </a:r>
            <a:endParaRPr lang="zh-CN" altLang="en-US" sz="2800">
              <a:latin typeface="Arial" panose="02080604020202020204" pitchFamily="34" charset="0"/>
              <a:ea typeface="宋体" pitchFamily="2" charset="-122"/>
            </a:endParaRPr>
          </a:p>
          <a:p>
            <a:r>
              <a:rPr lang="en-US" altLang="zh-CN" sz="2800">
                <a:latin typeface="Arial" panose="02080604020202020204" pitchFamily="34" charset="0"/>
              </a:rPr>
              <a:t>    </a:t>
            </a:r>
            <a:r>
              <a:rPr lang="zh-CN" altLang="en-US" sz="2800">
                <a:latin typeface="Arial" panose="02080604020202020204" pitchFamily="34" charset="0"/>
                <a:ea typeface="宋体" pitchFamily="2" charset="-122"/>
              </a:rPr>
              <a:t> *pfloat = -9.25;</a:t>
            </a:r>
            <a:endParaRPr lang="zh-CN" altLang="en-US" sz="2800">
              <a:latin typeface="Arial" panose="02080604020202020204" pitchFamily="34" charset="0"/>
              <a:ea typeface="宋体" pitchFamily="2" charset="-122"/>
            </a:endParaRPr>
          </a:p>
          <a:p>
            <a:r>
              <a:rPr lang="zh-CN" altLang="en-US" sz="2800">
                <a:latin typeface="Arial" panose="02080604020202020204" pitchFamily="34" charset="0"/>
                <a:ea typeface="宋体" pitchFamily="2" charset="-122"/>
              </a:rPr>
              <a:t>  </a:t>
            </a:r>
            <a:r>
              <a:rPr lang="en-US" altLang="zh-CN" sz="2800">
                <a:latin typeface="Arial" panose="02080604020202020204" pitchFamily="34" charset="0"/>
              </a:rPr>
              <a:t>   </a:t>
            </a:r>
            <a:r>
              <a:rPr lang="zh-CN" altLang="en-US" sz="2800">
                <a:latin typeface="Arial" panose="02080604020202020204" pitchFamily="34" charset="0"/>
                <a:ea typeface="宋体" pitchFamily="2" charset="-122"/>
              </a:rPr>
              <a:t>printf("------------\n");</a:t>
            </a:r>
            <a:endParaRPr lang="zh-CN" altLang="en-US" sz="2800">
              <a:latin typeface="Arial" panose="02080604020202020204" pitchFamily="34" charset="0"/>
              <a:ea typeface="宋体" pitchFamily="2" charset="-122"/>
            </a:endParaRPr>
          </a:p>
          <a:p>
            <a:r>
              <a:rPr lang="zh-CN" altLang="en-US" sz="2800">
                <a:latin typeface="Arial" panose="02080604020202020204" pitchFamily="34" charset="0"/>
                <a:ea typeface="宋体" pitchFamily="2" charset="-122"/>
              </a:rPr>
              <a:t> </a:t>
            </a:r>
            <a:r>
              <a:rPr lang="en-US" altLang="zh-CN" sz="2800">
                <a:latin typeface="Arial" panose="02080604020202020204" pitchFamily="34" charset="0"/>
              </a:rPr>
              <a:t>    </a:t>
            </a:r>
            <a:r>
              <a:rPr lang="zh-CN" altLang="en-US" sz="2800">
                <a:latin typeface="Arial" panose="02080604020202020204" pitchFamily="34" charset="0"/>
                <a:ea typeface="宋体" pitchFamily="2" charset="-122"/>
              </a:rPr>
              <a:t>printf("x = %x\n", x);</a:t>
            </a:r>
            <a:endParaRPr lang="zh-CN" altLang="en-US" sz="2800">
              <a:latin typeface="Arial" panose="02080604020202020204" pitchFamily="34" charset="0"/>
              <a:ea typeface="宋体" pitchFamily="2" charset="-122"/>
            </a:endParaRPr>
          </a:p>
          <a:p>
            <a:r>
              <a:rPr lang="zh-CN" altLang="en-US" sz="2800">
                <a:latin typeface="Arial" panose="02080604020202020204" pitchFamily="34" charset="0"/>
                <a:ea typeface="宋体" pitchFamily="2" charset="-122"/>
              </a:rPr>
              <a:t>}</a:t>
            </a:r>
            <a:endParaRPr lang="zh-CN" altLang="en-US" sz="2800">
              <a:latin typeface="Arial" panose="02080604020202020204" pitchFamily="34" charset="0"/>
              <a:ea typeface="宋体" pitchFamily="2" charset="-122"/>
            </a:endParaRPr>
          </a:p>
        </p:txBody>
      </p:sp>
      <p:pic>
        <p:nvPicPr>
          <p:cNvPr id="103426" name="图片 5"/>
          <p:cNvPicPr>
            <a:picLocks noChangeAspect="1"/>
          </p:cNvPicPr>
          <p:nvPr/>
        </p:nvPicPr>
        <p:blipFill>
          <a:blip r:embed="rId1"/>
          <a:stretch>
            <a:fillRect/>
          </a:stretch>
        </p:blipFill>
        <p:spPr>
          <a:xfrm>
            <a:off x="179388" y="620713"/>
            <a:ext cx="8720137" cy="1408112"/>
          </a:xfrm>
          <a:prstGeom prst="rect">
            <a:avLst/>
          </a:prstGeom>
          <a:noFill/>
          <a:ln w="9525">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449" name="图片 4"/>
          <p:cNvPicPr>
            <a:picLocks noChangeAspect="1"/>
          </p:cNvPicPr>
          <p:nvPr/>
        </p:nvPicPr>
        <p:blipFill>
          <a:blip r:embed="rId1"/>
          <a:stretch>
            <a:fillRect/>
          </a:stretch>
        </p:blipFill>
        <p:spPr>
          <a:xfrm>
            <a:off x="107950" y="763588"/>
            <a:ext cx="8229600" cy="3870325"/>
          </a:xfrm>
          <a:prstGeom prst="rect">
            <a:avLst/>
          </a:prstGeom>
          <a:noFill/>
          <a:ln w="9525">
            <a:noFill/>
          </a:ln>
        </p:spPr>
      </p:pic>
      <p:sp>
        <p:nvSpPr>
          <p:cNvPr id="104450" name="文本框 1"/>
          <p:cNvSpPr txBox="1"/>
          <p:nvPr/>
        </p:nvSpPr>
        <p:spPr>
          <a:xfrm>
            <a:off x="361950" y="405130"/>
            <a:ext cx="6608763" cy="368300"/>
          </a:xfrm>
          <a:prstGeom prst="rect">
            <a:avLst/>
          </a:prstGeom>
          <a:noFill/>
          <a:ln w="9525">
            <a:noFill/>
          </a:ln>
        </p:spPr>
        <p:txBody>
          <a:bodyPr wrap="square" anchor="t" anchorCtr="0">
            <a:spAutoFit/>
          </a:bodyPr>
          <a:p>
            <a:r>
              <a:rPr lang="zh-CN" altLang="en-US">
                <a:latin typeface="Arial" panose="02080604020202020204" pitchFamily="34" charset="0"/>
                <a:ea typeface="宋体" pitchFamily="2" charset="-122"/>
              </a:rPr>
              <a:t>https://zhuanlan.zhihu.com/p/343049681?utm_id=0</a:t>
            </a:r>
            <a:endParaRPr lang="zh-CN" altLang="en-US">
              <a:latin typeface="Arial" panose="02080604020202020204" pitchFamily="34" charset="0"/>
              <a:ea typeface="宋体" pitchFamily="2" charset="-122"/>
            </a:endParaRPr>
          </a:p>
        </p:txBody>
      </p:sp>
      <p:sp>
        <p:nvSpPr>
          <p:cNvPr id="4" name="文本框 3"/>
          <p:cNvSpPr txBox="1"/>
          <p:nvPr/>
        </p:nvSpPr>
        <p:spPr>
          <a:xfrm>
            <a:off x="539750" y="4508500"/>
            <a:ext cx="7069138" cy="1476375"/>
          </a:xfrm>
          <a:prstGeom prst="rect">
            <a:avLst/>
          </a:prstGeom>
          <a:noFill/>
        </p:spPr>
        <p:txBody>
          <a:bodyPr wrap="square" rtlCol="0" anchor="t">
            <a:spAutoFit/>
          </a:bodyPr>
          <a:p>
            <a:r>
              <a:rPr lang="zh-CN" altLang="en-US">
                <a:solidFill>
                  <a:srgbClr val="FF0000"/>
                </a:solidFill>
                <a:latin typeface="Arial" panose="02080604020202020204" pitchFamily="34" charset="0"/>
                <a:ea typeface="宋体" pitchFamily="2" charset="-122"/>
              </a:rPr>
              <a:t>1. normal number(规格数)</a:t>
            </a:r>
            <a:r>
              <a:rPr lang="zh-CN" altLang="zh-CN">
                <a:solidFill>
                  <a:srgbClr val="FF0000"/>
                </a:solidFill>
                <a:latin typeface="Arial" panose="02080604020202020204" pitchFamily="34" charset="0"/>
              </a:rPr>
              <a:t> </a:t>
            </a:r>
            <a:r>
              <a:rPr lang="zh-CN" altLang="en-US">
                <a:latin typeface="Arial" panose="02080604020202020204" pitchFamily="34" charset="0"/>
                <a:ea typeface="宋体" pitchFamily="2" charset="-122"/>
              </a:rPr>
              <a:t>用于表示最常见的数值</a:t>
            </a:r>
            <a:endParaRPr lang="zh-CN" altLang="en-US">
              <a:solidFill>
                <a:srgbClr val="FF0000"/>
              </a:solidFill>
              <a:latin typeface="Arial" panose="02080604020202020204" pitchFamily="34" charset="0"/>
              <a:ea typeface="宋体" pitchFamily="2" charset="-122"/>
            </a:endParaRPr>
          </a:p>
          <a:p>
            <a:endParaRPr lang="zh-CN" altLang="en-US">
              <a:latin typeface="Arial" panose="02080604020202020204" pitchFamily="34" charset="0"/>
              <a:ea typeface="宋体" pitchFamily="2" charset="-122"/>
            </a:endParaRPr>
          </a:p>
          <a:p>
            <a:r>
              <a:rPr lang="zh-CN" altLang="en-US">
                <a:solidFill>
                  <a:srgbClr val="FF9933"/>
                </a:solidFill>
                <a:latin typeface="Arial" panose="02080604020202020204" pitchFamily="34" charset="0"/>
                <a:ea typeface="宋体" pitchFamily="2" charset="-122"/>
              </a:rPr>
              <a:t>2. subnormal number(非规格数)</a:t>
            </a:r>
            <a:r>
              <a:rPr lang="zh-CN" altLang="zh-CN">
                <a:solidFill>
                  <a:srgbClr val="FF9933"/>
                </a:solidFill>
                <a:latin typeface="Arial" panose="02080604020202020204" pitchFamily="34" charset="0"/>
              </a:rPr>
              <a:t> </a:t>
            </a:r>
            <a:r>
              <a:rPr lang="zh-CN" altLang="en-US">
                <a:latin typeface="Arial" panose="02080604020202020204" pitchFamily="34" charset="0"/>
                <a:ea typeface="宋体" pitchFamily="2" charset="-122"/>
              </a:rPr>
              <a:t>用于表示0, 以及非常靠近0的数</a:t>
            </a:r>
            <a:endParaRPr lang="zh-CN" altLang="en-US">
              <a:solidFill>
                <a:srgbClr val="FF9933"/>
              </a:solidFill>
              <a:latin typeface="Arial" panose="02080604020202020204" pitchFamily="34" charset="0"/>
              <a:ea typeface="宋体" pitchFamily="2" charset="-122"/>
            </a:endParaRPr>
          </a:p>
          <a:p>
            <a:endParaRPr lang="zh-CN" altLang="en-US">
              <a:latin typeface="Arial" panose="02080604020202020204" pitchFamily="34" charset="0"/>
              <a:ea typeface="宋体" pitchFamily="2" charset="-122"/>
            </a:endParaRPr>
          </a:p>
          <a:p>
            <a:r>
              <a:rPr lang="zh-CN" altLang="en-US">
                <a:solidFill>
                  <a:srgbClr val="5858FF"/>
                </a:solidFill>
                <a:latin typeface="Arial" panose="02080604020202020204" pitchFamily="34" charset="0"/>
                <a:ea typeface="宋体" pitchFamily="2" charset="-122"/>
              </a:rPr>
              <a:t>3. non-number(特殊数)</a:t>
            </a:r>
            <a:r>
              <a:rPr lang="zh-CN" altLang="zh-CN">
                <a:solidFill>
                  <a:srgbClr val="5858FF"/>
                </a:solidFill>
                <a:latin typeface="Arial" panose="02080604020202020204" pitchFamily="34" charset="0"/>
              </a:rPr>
              <a:t> </a:t>
            </a:r>
            <a:r>
              <a:rPr lang="zh-CN" altLang="en-US">
                <a:latin typeface="Arial" panose="02080604020202020204" pitchFamily="34" charset="0"/>
                <a:ea typeface="宋体" pitchFamily="2" charset="-122"/>
              </a:rPr>
              <a:t>用于表示"无穷"和"NaN"</a:t>
            </a:r>
            <a:endParaRPr lang="zh-CN" altLang="zh-CN">
              <a:solidFill>
                <a:srgbClr val="5858FF"/>
              </a:solidFill>
              <a:latin typeface="Arial" panose="02080604020202020204" pitchFamily="34" charset="0"/>
            </a:endParaRPr>
          </a:p>
        </p:txBody>
      </p:sp>
      <p:cxnSp>
        <p:nvCxnSpPr>
          <p:cNvPr id="104452" name="肘形连接符 11"/>
          <p:cNvCxnSpPr/>
          <p:nvPr/>
        </p:nvCxnSpPr>
        <p:spPr>
          <a:xfrm rot="-5400000">
            <a:off x="2922588" y="2786063"/>
            <a:ext cx="2660650" cy="781050"/>
          </a:xfrm>
          <a:prstGeom prst="bentConnector3">
            <a:avLst>
              <a:gd name="adj1" fmla="val 49986"/>
            </a:avLst>
          </a:prstGeom>
          <a:ln w="38100" cap="flat" cmpd="sng">
            <a:solidFill>
              <a:srgbClr val="FF3300"/>
            </a:solidFill>
            <a:prstDash val="solid"/>
            <a:round/>
            <a:headEnd type="none" w="med" len="med"/>
            <a:tailEnd type="arrow" w="med" len="med"/>
          </a:ln>
        </p:spPr>
      </p:cxnSp>
      <p:cxnSp>
        <p:nvCxnSpPr>
          <p:cNvPr id="104453" name="肘形连接符 12"/>
          <p:cNvCxnSpPr/>
          <p:nvPr/>
        </p:nvCxnSpPr>
        <p:spPr>
          <a:xfrm rot="-5400000" flipV="1">
            <a:off x="5553075" y="3671888"/>
            <a:ext cx="2381250" cy="454025"/>
          </a:xfrm>
          <a:prstGeom prst="bentConnector3">
            <a:avLst>
              <a:gd name="adj1" fmla="val 50000"/>
            </a:avLst>
          </a:prstGeom>
          <a:ln w="41275" cap="flat" cmpd="sng">
            <a:solidFill>
              <a:srgbClr val="FF9933"/>
            </a:solidFill>
            <a:prstDash val="solid"/>
            <a:round/>
            <a:headEnd type="none" w="med" len="med"/>
            <a:tailEnd type="arrow" w="med" len="med"/>
          </a:ln>
        </p:spPr>
      </p:cxnSp>
      <p:sp>
        <p:nvSpPr>
          <p:cNvPr id="15" name="任意多边形 14"/>
          <p:cNvSpPr/>
          <p:nvPr/>
        </p:nvSpPr>
        <p:spPr>
          <a:xfrm>
            <a:off x="5940425" y="3702050"/>
            <a:ext cx="2025650" cy="2076450"/>
          </a:xfrm>
          <a:custGeom>
            <a:avLst/>
            <a:gdLst>
              <a:gd name="connisteX0" fmla="*/ 0 w 2060575"/>
              <a:gd name="connsiteY0" fmla="*/ 2060575 h 2060575"/>
              <a:gd name="connisteX1" fmla="*/ 2060575 w 2060575"/>
              <a:gd name="connsiteY1" fmla="*/ 2060575 h 2060575"/>
              <a:gd name="connisteX2" fmla="*/ 2025650 w 2060575"/>
              <a:gd name="connsiteY2" fmla="*/ 0 h 2060575"/>
            </a:gdLst>
            <a:ahLst/>
            <a:cxnLst>
              <a:cxn ang="0">
                <a:pos x="connisteX0" y="connsiteY0"/>
              </a:cxn>
              <a:cxn ang="0">
                <a:pos x="connisteX1" y="connsiteY1"/>
              </a:cxn>
              <a:cxn ang="0">
                <a:pos x="connisteX2" y="connsiteY2"/>
              </a:cxn>
            </a:cxnLst>
            <a:rect l="l" t="t" r="r" b="b"/>
            <a:pathLst>
              <a:path w="2060575" h="2060575">
                <a:moveTo>
                  <a:pt x="0" y="2060575"/>
                </a:moveTo>
                <a:lnTo>
                  <a:pt x="2060575" y="2060575"/>
                </a:lnTo>
                <a:lnTo>
                  <a:pt x="2025650" y="0"/>
                </a:lnTo>
              </a:path>
            </a:pathLst>
          </a:custGeom>
          <a:noFill/>
          <a:ln w="38100" cap="flat" cmpd="sng" algn="ctr">
            <a:solidFill>
              <a:schemeClr val="accent5">
                <a:lumMod val="75000"/>
              </a:schemeClr>
            </a:solidFill>
            <a:prstDash val="solid"/>
            <a:round/>
            <a:headEnd type="none" w="med" len="med"/>
            <a:tailEnd type="triangle" w="med" len="med"/>
          </a:ln>
        </p:spPr>
        <p:txBody>
          <a:bodyPr vert="horz" wrap="square" lIns="92075" tIns="46038" rIns="92075" bIns="46038"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noProof="1" smtClean="0">
              <a:ln>
                <a:noFill/>
              </a:ln>
              <a:solidFill>
                <a:schemeClr val="tx1"/>
              </a:solidFill>
              <a:effectLst/>
              <a:latin typeface="Arial" panose="02080604020202020204" pitchFamily="34" charset="0"/>
              <a:ea typeface="宋体" pitchFamily="2" charset="-122"/>
            </a:endParaRPr>
          </a:p>
        </p:txBody>
      </p:sp>
      <p:cxnSp>
        <p:nvCxnSpPr>
          <p:cNvPr id="16" name="直接箭头连接符 15"/>
          <p:cNvCxnSpPr/>
          <p:nvPr/>
        </p:nvCxnSpPr>
        <p:spPr>
          <a:xfrm flipV="1">
            <a:off x="7669213" y="4221163"/>
            <a:ext cx="0" cy="1584325"/>
          </a:xfrm>
          <a:prstGeom prst="straightConnector1">
            <a:avLst/>
          </a:prstGeom>
          <a:solidFill>
            <a:schemeClr val="accent1"/>
          </a:solidFill>
          <a:ln w="38100" cap="flat" cmpd="sng" algn="ctr">
            <a:solidFill>
              <a:schemeClr val="accent5">
                <a:lumMod val="75000"/>
              </a:schemeClr>
            </a:solidFill>
            <a:prstDash val="solid"/>
            <a:round/>
            <a:headEnd type="none" w="med" len="med"/>
            <a:tailEnd type="arrow" w="med" len="med"/>
          </a:ln>
        </p:spPr>
      </p:cxn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8060402020202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80604020202020204" pitchFamily="34"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15469</Words>
  <Application>WPS 演示</Application>
  <PresentationFormat>全屏显示(4:3)</PresentationFormat>
  <Paragraphs>1292</Paragraphs>
  <Slides>91</Slides>
  <Notes>15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91</vt:i4>
      </vt:variant>
    </vt:vector>
  </HeadingPairs>
  <TitlesOfParts>
    <vt:vector size="108" baseType="lpstr">
      <vt:lpstr>Arial</vt:lpstr>
      <vt:lpstr>宋体</vt:lpstr>
      <vt:lpstr>Wingdings</vt:lpstr>
      <vt:lpstr>DejaVu Sans</vt:lpstr>
      <vt:lpstr>文泉驿微米黑</vt:lpstr>
      <vt:lpstr>Arial Black</vt:lpstr>
      <vt:lpstr>Times New Roman</vt:lpstr>
      <vt:lpstr>仿宋_GB2312</vt:lpstr>
      <vt:lpstr>Symbol</vt:lpstr>
      <vt:lpstr>华文仿宋</vt:lpstr>
      <vt:lpstr>Arial Unicode MS</vt:lpstr>
      <vt:lpstr>微软雅黑</vt:lpstr>
      <vt:lpstr>宋体</vt:lpstr>
      <vt:lpstr>Arial Unicode MS</vt:lpstr>
      <vt:lpstr>Pixel</vt:lpstr>
      <vt:lpstr>Paint.Picture</vt:lpstr>
      <vt:lpstr>Equation.DSMT4</vt:lpstr>
      <vt:lpstr>Chap 6  数据类型和表达式 </vt:lpstr>
      <vt:lpstr>数据类型和表达式</vt:lpstr>
      <vt:lpstr>6.1 数据的存储和基本数据类型</vt:lpstr>
      <vt:lpstr>6.1.1 数据的存储－整型数据</vt:lpstr>
      <vt:lpstr>数值的表示方法－原码 反码 补码</vt:lpstr>
      <vt:lpstr>原码 反码 补码</vt:lpstr>
      <vt:lpstr>PowerPoint 演示文稿</vt:lpstr>
      <vt:lpstr>实型和字符型数据的存储</vt:lpstr>
      <vt:lpstr>5.1.2 基本数据类型</vt:lpstr>
      <vt:lpstr>基本数据类型－整型</vt:lpstr>
      <vt:lpstr>整数类型的取值范围</vt:lpstr>
      <vt:lpstr>整数类型的取值范围</vt:lpstr>
      <vt:lpstr>基本数据类型－字符型</vt:lpstr>
      <vt:lpstr>基本数据类型－实型</vt:lpstr>
      <vt:lpstr>数据精度和取值范围</vt:lpstr>
      <vt:lpstr>Chap 6  数据类型和表达式 </vt:lpstr>
      <vt:lpstr> 6.2  常量和变量</vt:lpstr>
      <vt:lpstr>6.2.1  常量</vt:lpstr>
      <vt:lpstr>例5-1  求球的表面积和体积</vt:lpstr>
      <vt:lpstr>符号常量的优点</vt:lpstr>
      <vt:lpstr>整型常量（整数）</vt:lpstr>
      <vt:lpstr>整数的表示</vt:lpstr>
      <vt:lpstr>整数的类型</vt:lpstr>
      <vt:lpstr>实型常量（实数、浮点数）</vt:lpstr>
      <vt:lpstr>字符型常量</vt:lpstr>
      <vt:lpstr>字符的数值特征</vt:lpstr>
      <vt:lpstr>转义字符</vt:lpstr>
      <vt:lpstr>6.2.2  变量</vt:lpstr>
      <vt:lpstr>变量的定义</vt:lpstr>
      <vt:lpstr>变量的使用</vt:lpstr>
      <vt:lpstr>Chap 6  数据类型和表达式 </vt:lpstr>
      <vt:lpstr> 6.3 数据的输入和输出 </vt:lpstr>
      <vt:lpstr>6.3.1 整型数据的输入输出</vt:lpstr>
      <vt:lpstr>例6-2(1) 输出整型数据 </vt:lpstr>
      <vt:lpstr>例6-2(2) 输入整型数据</vt:lpstr>
      <vt:lpstr>6.3.2 实型数据的输入和输出</vt:lpstr>
      <vt:lpstr>实型数据输出示例</vt:lpstr>
      <vt:lpstr>实型数据输入输出示例</vt:lpstr>
      <vt:lpstr>6.3.3 字符型数据输入输出</vt:lpstr>
      <vt:lpstr>例6-3(1) 输入输出字符示例</vt:lpstr>
      <vt:lpstr>例6-3(2) 输入输出字符示例</vt:lpstr>
      <vt:lpstr>例6-4 输出字符型数据</vt:lpstr>
      <vt:lpstr>PowerPoint 演示文稿</vt:lpstr>
      <vt:lpstr>字符运算</vt:lpstr>
      <vt:lpstr>Chap 6  数据类型和表达式 </vt:lpstr>
      <vt:lpstr>6.4  类型转换</vt:lpstr>
      <vt:lpstr>6.4.1 自动类型转换（非赋值运算）</vt:lpstr>
      <vt:lpstr>自动类型转换（赋值运算）</vt:lpstr>
      <vt:lpstr>自动类型转换（赋值运算）</vt:lpstr>
      <vt:lpstr>5.4.2  强制类型转换</vt:lpstr>
      <vt:lpstr>强制类型转换示例</vt:lpstr>
      <vt:lpstr>Chap 6  数据类型和表达式 </vt:lpstr>
      <vt:lpstr> 6.5 表达式 </vt:lpstr>
      <vt:lpstr>6.5.1  算术表达式－算术运算符</vt:lpstr>
      <vt:lpstr>自增运算符++和自减运算符--</vt:lpstr>
      <vt:lpstr>自增运算和自减运算</vt:lpstr>
      <vt:lpstr>算术运算符的优先级和结合性</vt:lpstr>
      <vt:lpstr>写出C表达式</vt:lpstr>
      <vt:lpstr>6.5.2  赋值表达式</vt:lpstr>
      <vt:lpstr>赋值表达式</vt:lpstr>
      <vt:lpstr>复合赋值运算符</vt:lpstr>
      <vt:lpstr>6.5.3 关系表达式－关系运算符</vt:lpstr>
      <vt:lpstr>关系表达式</vt:lpstr>
      <vt:lpstr>6.5.4  逻辑表达式－逻辑运算符</vt:lpstr>
      <vt:lpstr>逻辑运算的规则－真值表</vt:lpstr>
      <vt:lpstr>逻辑运算符的优先级和结合性</vt:lpstr>
      <vt:lpstr>逻辑表达式</vt:lpstr>
      <vt:lpstr>例6-7写出满足要求的逻辑表达式</vt:lpstr>
      <vt:lpstr>6.5.5  条件表达式</vt:lpstr>
      <vt:lpstr>6.5.6  逗号表达式</vt:lpstr>
      <vt:lpstr>逗号表达式的用途</vt:lpstr>
      <vt:lpstr>6.5.7   位运算</vt:lpstr>
      <vt:lpstr>位逻辑运算</vt:lpstr>
      <vt:lpstr>位移位运算</vt:lpstr>
      <vt:lpstr>复合位赋值运算符</vt:lpstr>
      <vt:lpstr>6.5.8  其他运算</vt:lpstr>
      <vt:lpstr>运算符的优先级和结合性</vt:lpstr>
      <vt:lpstr>6.5.9  程序解析－大小写字母转换 </vt:lpstr>
      <vt:lpstr>Chap 6  数据类型和表达式 </vt:lpstr>
      <vt:lpstr>PowerPoint 演示文稿</vt:lpstr>
      <vt:lpstr>PowerPoint 演示文稿</vt:lpstr>
      <vt:lpstr>浮点数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chap2_用C语言编写程序1-3</dc:title>
  <dc:creator>yanhui</dc:creator>
  <cp:lastModifiedBy>huxy</cp:lastModifiedBy>
  <cp:revision>1337</cp:revision>
  <dcterms:created xsi:type="dcterms:W3CDTF">2023-10-20T01:24:48Z</dcterms:created>
  <dcterms:modified xsi:type="dcterms:W3CDTF">2023-10-20T01:24:48Z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2052-11.1.0.10920</vt:lpwstr>
  </property>
</Properties>
</file>