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5"/>
  </p:handoutMasterIdLst>
  <p:sldIdLst>
    <p:sldId id="778" r:id="rId3"/>
    <p:sldId id="781" r:id="rId4"/>
    <p:sldId id="941" r:id="rId5"/>
    <p:sldId id="942" r:id="rId7"/>
    <p:sldId id="943" r:id="rId8"/>
    <p:sldId id="944" r:id="rId9"/>
    <p:sldId id="945" r:id="rId10"/>
    <p:sldId id="946" r:id="rId11"/>
    <p:sldId id="947" r:id="rId12"/>
    <p:sldId id="948" r:id="rId13"/>
    <p:sldId id="949" r:id="rId1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39BE1"/>
    <a:srgbClr val="E3D0F1"/>
    <a:srgbClr val="FF3300"/>
    <a:srgbClr val="FFFF00"/>
    <a:srgbClr val="008080"/>
    <a:srgbClr val="FF9966"/>
    <a:srgbClr val="FF9933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104"/>
        <p:guide pos="28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4AC981-3895-42EE-8AD4-27665A5AE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dirty="0">
                <a:latin typeface="宋体" pitchFamily="2" charset="-122"/>
                <a:sym typeface="+mn-ea"/>
              </a:rPr>
              <a:t>Chap</a:t>
            </a:r>
            <a:r>
              <a:rPr lang="en-US" altLang="zh-CN" dirty="0">
                <a:latin typeface="宋体" pitchFamily="2" charset="-122"/>
                <a:sym typeface="+mn-ea"/>
              </a:rPr>
              <a:t> </a:t>
            </a:r>
            <a:r>
              <a:rPr lang="en-US" altLang="zh-CN" dirty="0">
                <a:latin typeface="宋体" pitchFamily="2" charset="-122"/>
                <a:sym typeface="+mn-ea"/>
              </a:rPr>
              <a:t>6  </a:t>
            </a:r>
            <a:r>
              <a:rPr lang="en-US" altLang="zh-CN" dirty="0">
                <a:latin typeface="宋体" pitchFamily="2" charset="-122"/>
                <a:sym typeface="+mn-ea"/>
              </a:rPr>
              <a:t>数据类型和表达式 </a:t>
            </a:r>
            <a:endParaRPr lang="en-US" altLang="zh-CN" dirty="0">
              <a:latin typeface="宋体" pitchFamily="2" charset="-122"/>
              <a:sym typeface="+mn-ea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900113" y="2133600"/>
            <a:ext cx="7200900" cy="3743325"/>
          </a:xfrm>
        </p:spPr>
        <p:txBody>
          <a:bodyPr vert="horz" wrap="square" lIns="91440" tIns="45720" rIns="91440" bIns="45720" anchor="t" anchorCtr="0"/>
          <a:p>
            <a:pPr marL="476250" indent="-476250" eaLnBrk="1" hangingPunct="1">
              <a:spcBef>
                <a:spcPct val="40000"/>
              </a:spcBef>
              <a:buNone/>
            </a:pPr>
            <a:r>
              <a:rPr lang="en-US" altLang="zh-CN" b="0">
                <a:solidFill>
                  <a:srgbClr val="FF0000"/>
                </a:solidFill>
              </a:rPr>
              <a:t>6.</a:t>
            </a:r>
            <a:r>
              <a:rPr lang="x-none" altLang="en-US" b="0">
                <a:solidFill>
                  <a:srgbClr val="FF0000"/>
                </a:solidFill>
              </a:rPr>
              <a:t>0</a:t>
            </a:r>
            <a:r>
              <a:rPr lang="en-US" altLang="zh-CN" b="0">
                <a:solidFill>
                  <a:srgbClr val="FF0000"/>
                </a:solidFill>
              </a:rPr>
              <a:t>  </a:t>
            </a:r>
            <a:r>
              <a:rPr lang="zh-CN" altLang="en-US" b="0">
                <a:solidFill>
                  <a:srgbClr val="FF0000"/>
                </a:solidFill>
              </a:rPr>
              <a:t>二进制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6.0.1 </a:t>
            </a:r>
            <a:r>
              <a:rPr lang="zh-CN" altLang="en-US" b="0" dirty="0">
                <a:latin typeface="宋体" pitchFamily="2" charset="-122"/>
              </a:rPr>
              <a:t>十进制</a:t>
            </a:r>
            <a:endParaRPr lang="zh-CN" altLang="en-US" b="0" dirty="0"/>
          </a:p>
        </p:txBody>
      </p:sp>
      <p:sp>
        <p:nvSpPr>
          <p:cNvPr id="299011" name="Rectangle 3"/>
          <p:cNvSpPr>
            <a:spLocks noGrp="1"/>
          </p:cNvSpPr>
          <p:nvPr>
            <p:ph idx="1"/>
          </p:nvPr>
        </p:nvSpPr>
        <p:spPr>
          <a:xfrm>
            <a:off x="539750" y="1341755"/>
            <a:ext cx="7924800" cy="318643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b="0" dirty="0"/>
              <a:t>十进制特点</a:t>
            </a:r>
            <a:endParaRPr lang="zh-CN" altLang="en-US" b="0" dirty="0"/>
          </a:p>
          <a:p>
            <a:pPr lvl="1" algn="just" eaLnBrk="1" hangingPunct="1">
              <a:buNone/>
            </a:pPr>
            <a:r>
              <a:rPr lang="zh-CN" altLang="en-US" b="0" dirty="0"/>
              <a:t>数位：个位，十位，百位，千位，万位</a:t>
            </a:r>
            <a:r>
              <a:rPr lang="x-none" altLang="zh-CN" b="0" dirty="0"/>
              <a:t>......</a:t>
            </a:r>
            <a:endParaRPr lang="x-none" altLang="zh-CN" b="0" dirty="0"/>
          </a:p>
          <a:p>
            <a:pPr lvl="1" algn="just" eaLnBrk="1" hangingPunct="1">
              <a:buNone/>
            </a:pPr>
            <a:r>
              <a:rPr lang="zh-CN" altLang="x-none" b="0" dirty="0"/>
              <a:t>数字：</a:t>
            </a:r>
            <a:r>
              <a:rPr lang="en-US" altLang="zh-CN" b="0" dirty="0"/>
              <a:t> 0</a:t>
            </a:r>
            <a:r>
              <a:rPr lang="zh-CN" altLang="en-US" b="0" dirty="0"/>
              <a:t>，</a:t>
            </a:r>
            <a:r>
              <a:rPr lang="en-US" altLang="zh-CN" b="0" dirty="0"/>
              <a:t>1</a:t>
            </a:r>
            <a:r>
              <a:rPr lang="zh-CN" altLang="en-US" b="0" dirty="0"/>
              <a:t>，</a:t>
            </a:r>
            <a:r>
              <a:rPr lang="en-US" altLang="zh-CN" b="0" dirty="0"/>
              <a:t>2</a:t>
            </a:r>
            <a:r>
              <a:rPr lang="zh-CN" altLang="en-US" b="0" dirty="0"/>
              <a:t>，</a:t>
            </a:r>
            <a:r>
              <a:rPr lang="en-US" altLang="zh-CN" b="0" dirty="0"/>
              <a:t>3</a:t>
            </a:r>
            <a:r>
              <a:rPr lang="zh-CN" altLang="en-US" b="0" dirty="0"/>
              <a:t>，</a:t>
            </a:r>
            <a:r>
              <a:rPr lang="en-US" altLang="zh-CN" b="0" dirty="0"/>
              <a:t>4</a:t>
            </a:r>
            <a:r>
              <a:rPr lang="zh-CN" altLang="en-US" b="0" dirty="0"/>
              <a:t>，</a:t>
            </a:r>
            <a:r>
              <a:rPr lang="en-US" altLang="zh-CN" b="0" dirty="0"/>
              <a:t>5</a:t>
            </a:r>
            <a:r>
              <a:rPr lang="zh-CN" altLang="en-US" b="0" dirty="0"/>
              <a:t>，</a:t>
            </a:r>
            <a:r>
              <a:rPr lang="en-US" altLang="zh-CN" b="0" dirty="0"/>
              <a:t>6</a:t>
            </a:r>
            <a:r>
              <a:rPr lang="zh-CN" altLang="en-US" b="0" dirty="0"/>
              <a:t>，</a:t>
            </a:r>
            <a:r>
              <a:rPr lang="en-US" altLang="zh-CN" b="0" dirty="0"/>
              <a:t>7</a:t>
            </a:r>
            <a:r>
              <a:rPr lang="zh-CN" altLang="en-US" b="0" dirty="0"/>
              <a:t>，</a:t>
            </a:r>
            <a:r>
              <a:rPr lang="en-US" altLang="zh-CN" b="0" dirty="0"/>
              <a:t>8</a:t>
            </a:r>
            <a:r>
              <a:rPr lang="zh-CN" altLang="en-US" b="0" dirty="0"/>
              <a:t>，</a:t>
            </a:r>
            <a:r>
              <a:rPr lang="en-US" altLang="zh-CN" b="0" dirty="0"/>
              <a:t>9</a:t>
            </a:r>
            <a:endParaRPr lang="en-US" altLang="zh-CN" b="0" dirty="0"/>
          </a:p>
          <a:p>
            <a:pPr lvl="1" algn="just" eaLnBrk="1" hangingPunct="1">
              <a:buNone/>
            </a:pPr>
            <a:r>
              <a:rPr lang="zh-CN" altLang="en-US" b="0" dirty="0"/>
              <a:t>进位规则：满十进一</a:t>
            </a:r>
            <a:endParaRPr lang="zh-CN" altLang="en-US" b="0" dirty="0"/>
          </a:p>
          <a:p>
            <a:pPr lvl="1" algn="just" eaLnBrk="1" hangingPunct="1">
              <a:buNone/>
            </a:pPr>
            <a:endParaRPr lang="zh-CN" altLang="en-US" b="0" dirty="0"/>
          </a:p>
          <a:p>
            <a:pPr lvl="1" algn="just" eaLnBrk="1" hangingPunct="1">
              <a:buNone/>
            </a:pPr>
            <a:endParaRPr lang="zh-CN" altLang="en-US" b="0" dirty="0"/>
          </a:p>
          <a:p>
            <a:pPr lvl="1" algn="just" eaLnBrk="1" hangingPunct="1">
              <a:buNone/>
            </a:pP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644900"/>
            <a:ext cx="6505575" cy="2800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2493010"/>
            <a:ext cx="6505575" cy="2800350"/>
          </a:xfrm>
          <a:prstGeom prst="rect">
            <a:avLst/>
          </a:prstGeom>
        </p:spPr>
      </p:pic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6.0.1 </a:t>
            </a:r>
            <a:r>
              <a:rPr lang="zh-CN" altLang="en-US" b="0" dirty="0">
                <a:latin typeface="宋体" pitchFamily="2" charset="-122"/>
              </a:rPr>
              <a:t>十进制</a:t>
            </a:r>
            <a:endParaRPr lang="zh-CN" altLang="en-US" b="0" dirty="0"/>
          </a:p>
        </p:txBody>
      </p:sp>
      <p:sp>
        <p:nvSpPr>
          <p:cNvPr id="13" name="文本框 12"/>
          <p:cNvSpPr txBox="1"/>
          <p:nvPr/>
        </p:nvSpPr>
        <p:spPr>
          <a:xfrm>
            <a:off x="190276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8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18755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405045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2104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0733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09615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91190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414185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1647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5605" y="5229225"/>
            <a:ext cx="6480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11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98190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00475" y="5229225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10</a:t>
            </a:r>
            <a:r>
              <a:rPr lang="en-US" altLang="zh-CN" sz="2000" b="1" baseline="30000">
                <a:ln/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9</a:t>
            </a:r>
            <a:endParaRPr lang="en-US" altLang="zh-CN" sz="2000" b="1" baseline="30000">
              <a:ln/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8630" y="1412875"/>
            <a:ext cx="80410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2x</a:t>
            </a:r>
            <a:r>
              <a:rPr lang="x-none" altLang="en-US" sz="3200">
                <a:latin typeface="+mn-ea"/>
                <a:cs typeface="+mn-ea"/>
              </a:rPr>
              <a:t>10</a:t>
            </a:r>
            <a:r>
              <a:rPr lang="x-none" altLang="en-US" sz="3200" baseline="30000">
                <a:latin typeface="+mn-ea"/>
                <a:cs typeface="+mn-ea"/>
              </a:rPr>
              <a:t>11</a:t>
            </a:r>
            <a:r>
              <a:rPr lang="x-none" altLang="en-US" sz="3200">
                <a:latin typeface="+mn-ea"/>
                <a:cs typeface="+mn-ea"/>
              </a:rPr>
              <a:t>+4x10</a:t>
            </a:r>
            <a:r>
              <a:rPr lang="x-none" altLang="en-US" sz="3200" baseline="30000">
                <a:latin typeface="+mn-ea"/>
                <a:cs typeface="+mn-ea"/>
              </a:rPr>
              <a:t>10</a:t>
            </a:r>
            <a:r>
              <a:rPr lang="x-none" altLang="en-US" sz="3200">
                <a:latin typeface="+mn-ea"/>
                <a:cs typeface="+mn-ea"/>
              </a:rPr>
              <a:t>+6x10</a:t>
            </a:r>
            <a:r>
              <a:rPr lang="x-none" altLang="en-US" sz="3200" baseline="30000">
                <a:latin typeface="+mn-ea"/>
                <a:cs typeface="+mn-ea"/>
              </a:rPr>
              <a:t>9</a:t>
            </a:r>
            <a:r>
              <a:rPr lang="x-none" altLang="en-US" sz="3200">
                <a:latin typeface="+mn-ea"/>
                <a:cs typeface="+mn-ea"/>
              </a:rPr>
              <a:t>+2x10</a:t>
            </a:r>
            <a:r>
              <a:rPr lang="x-none" altLang="en-US" sz="3200" baseline="30000">
                <a:latin typeface="+mn-ea"/>
                <a:cs typeface="+mn-ea"/>
              </a:rPr>
              <a:t>8</a:t>
            </a:r>
            <a:r>
              <a:rPr lang="x-none" altLang="en-US" sz="3200">
                <a:latin typeface="+mn-ea"/>
                <a:cs typeface="+mn-ea"/>
              </a:rPr>
              <a:t>+3x10</a:t>
            </a:r>
            <a:r>
              <a:rPr lang="x-none" altLang="en-US" sz="3200" baseline="30000">
                <a:latin typeface="+mn-ea"/>
                <a:cs typeface="+mn-ea"/>
              </a:rPr>
              <a:t>7</a:t>
            </a:r>
            <a:r>
              <a:rPr lang="x-none" altLang="en-US" sz="3200">
                <a:latin typeface="+mn-ea"/>
                <a:cs typeface="+mn-ea"/>
              </a:rPr>
              <a:t>+4x10</a:t>
            </a:r>
            <a:r>
              <a:rPr lang="x-none" altLang="en-US" sz="3200" baseline="30000">
                <a:latin typeface="+mn-ea"/>
                <a:cs typeface="+mn-ea"/>
              </a:rPr>
              <a:t>6</a:t>
            </a:r>
            <a:r>
              <a:rPr lang="x-none" altLang="en-US" sz="3200">
                <a:latin typeface="+mn-ea"/>
                <a:cs typeface="+mn-ea"/>
              </a:rPr>
              <a:t>+1x10</a:t>
            </a:r>
            <a:r>
              <a:rPr lang="x-none" altLang="en-US" sz="3200" baseline="30000">
                <a:latin typeface="+mn-ea"/>
                <a:cs typeface="+mn-ea"/>
              </a:rPr>
              <a:t>5</a:t>
            </a:r>
            <a:r>
              <a:rPr lang="x-none" altLang="en-US" sz="3200">
                <a:latin typeface="+mn-ea"/>
                <a:cs typeface="+mn-ea"/>
              </a:rPr>
              <a:t>+</a:t>
            </a:r>
            <a:r>
              <a:rPr lang="en-US" altLang="zh-CN" sz="3200">
                <a:latin typeface="+mn-ea"/>
                <a:cs typeface="+mn-ea"/>
              </a:rPr>
              <a:t>9x10</a:t>
            </a:r>
            <a:r>
              <a:rPr lang="x-none" altLang="en-US" sz="3200" baseline="30000">
                <a:latin typeface="+mn-ea"/>
                <a:cs typeface="+mn-ea"/>
              </a:rPr>
              <a:t>4</a:t>
            </a:r>
            <a:r>
              <a:rPr lang="x-none" altLang="en-US" sz="3200">
                <a:latin typeface="+mn-ea"/>
                <a:cs typeface="+mn-ea"/>
              </a:rPr>
              <a:t>+7x10</a:t>
            </a:r>
            <a:r>
              <a:rPr lang="x-none" altLang="en-US" sz="3200" baseline="30000">
                <a:latin typeface="+mn-ea"/>
                <a:cs typeface="+mn-ea"/>
              </a:rPr>
              <a:t>3</a:t>
            </a:r>
            <a:r>
              <a:rPr lang="x-none" altLang="en-US" sz="3200">
                <a:latin typeface="+mn-ea"/>
                <a:cs typeface="+mn-ea"/>
              </a:rPr>
              <a:t>+1x10</a:t>
            </a:r>
            <a:r>
              <a:rPr lang="x-none" altLang="en-US" sz="3200" baseline="30000">
                <a:latin typeface="+mn-ea"/>
                <a:cs typeface="+mn-ea"/>
              </a:rPr>
              <a:t>2</a:t>
            </a:r>
            <a:r>
              <a:rPr lang="x-none" altLang="en-US" sz="3200">
                <a:latin typeface="+mn-ea"/>
                <a:cs typeface="+mn-ea"/>
              </a:rPr>
              <a:t>+7x10</a:t>
            </a:r>
            <a:r>
              <a:rPr lang="x-none" altLang="en-US" sz="3200" baseline="300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+4x10</a:t>
            </a:r>
            <a:r>
              <a:rPr lang="x-none" altLang="en-US" sz="3200" baseline="30000">
                <a:latin typeface="+mn-ea"/>
                <a:cs typeface="+mn-ea"/>
              </a:rPr>
              <a:t>0</a:t>
            </a:r>
            <a:endParaRPr lang="x-none" altLang="en-US" sz="3200" baseline="30000">
              <a:latin typeface="+mn-ea"/>
              <a:cs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48285" y="1412875"/>
            <a:ext cx="8403590" cy="1223645"/>
            <a:chOff x="391" y="2225"/>
            <a:chExt cx="13234" cy="1927"/>
          </a:xfrm>
        </p:grpSpPr>
        <p:sp>
          <p:nvSpPr>
            <p:cNvPr id="4" name="文本框 3"/>
            <p:cNvSpPr txBox="1"/>
            <p:nvPr/>
          </p:nvSpPr>
          <p:spPr>
            <a:xfrm>
              <a:off x="9473" y="2241"/>
              <a:ext cx="415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个位：</a:t>
              </a:r>
              <a:r>
                <a:rPr lang="en-US" altLang="zh-CN" sz="3200">
                  <a:latin typeface="+mn-ea"/>
                  <a:cs typeface="+mn-ea"/>
                </a:rPr>
                <a:t>4x10</a:t>
              </a:r>
              <a:r>
                <a:rPr lang="en-US" altLang="zh-CN" sz="3200" baseline="30000">
                  <a:latin typeface="+mn-ea"/>
                  <a:cs typeface="+mn-ea"/>
                </a:rPr>
                <a:t>0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H="1">
              <a:off x="9694" y="3132"/>
              <a:ext cx="1815" cy="90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" name="文本框 5"/>
            <p:cNvSpPr txBox="1"/>
            <p:nvPr/>
          </p:nvSpPr>
          <p:spPr>
            <a:xfrm>
              <a:off x="4943" y="2241"/>
              <a:ext cx="399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十位：</a:t>
              </a:r>
              <a:r>
                <a:rPr lang="en-US" altLang="zh-CN" sz="3200">
                  <a:latin typeface="+mn-ea"/>
                  <a:cs typeface="+mn-ea"/>
                </a:rPr>
                <a:t>7x10</a:t>
              </a:r>
              <a:r>
                <a:rPr lang="en-US" altLang="zh-CN" sz="3200" baseline="30000">
                  <a:latin typeface="+mn-ea"/>
                  <a:cs typeface="+mn-ea"/>
                </a:rPr>
                <a:t>1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8560" y="3132"/>
              <a:ext cx="114" cy="102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" name="文本框 8"/>
            <p:cNvSpPr txBox="1"/>
            <p:nvPr/>
          </p:nvSpPr>
          <p:spPr>
            <a:xfrm>
              <a:off x="396" y="2241"/>
              <a:ext cx="401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万位：</a:t>
              </a:r>
              <a:r>
                <a:rPr lang="en-US" altLang="zh-CN" sz="3200">
                  <a:latin typeface="+mn-ea"/>
                  <a:cs typeface="+mn-ea"/>
                </a:rPr>
                <a:t>9x10</a:t>
              </a:r>
              <a:r>
                <a:rPr lang="en-US" altLang="zh-CN" sz="3200" baseline="30000">
                  <a:latin typeface="+mn-ea"/>
                  <a:cs typeface="+mn-ea"/>
                </a:rPr>
                <a:t>4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3571" y="3132"/>
              <a:ext cx="2722" cy="90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6" name="文本框 25"/>
            <p:cNvSpPr txBox="1"/>
            <p:nvPr/>
          </p:nvSpPr>
          <p:spPr>
            <a:xfrm>
              <a:off x="9468" y="2225"/>
              <a:ext cx="415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个位：</a:t>
              </a:r>
              <a:r>
                <a:rPr lang="en-US" altLang="zh-CN" sz="3200">
                  <a:latin typeface="+mn-ea"/>
                  <a:cs typeface="+mn-ea"/>
                </a:rPr>
                <a:t>4x10</a:t>
              </a:r>
              <a:r>
                <a:rPr lang="en-US" altLang="zh-CN" sz="3200" baseline="30000">
                  <a:latin typeface="+mn-ea"/>
                  <a:cs typeface="+mn-ea"/>
                </a:rPr>
                <a:t>0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938" y="2225"/>
              <a:ext cx="399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十位：</a:t>
              </a:r>
              <a:r>
                <a:rPr lang="en-US" altLang="zh-CN" sz="3200">
                  <a:latin typeface="+mn-ea"/>
                  <a:cs typeface="+mn-ea"/>
                </a:rPr>
                <a:t>7x10</a:t>
              </a:r>
              <a:r>
                <a:rPr lang="en-US" altLang="zh-CN" sz="3200" baseline="30000">
                  <a:latin typeface="+mn-ea"/>
                  <a:cs typeface="+mn-ea"/>
                </a:rPr>
                <a:t>1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8555" y="3116"/>
              <a:ext cx="114" cy="102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29" name="文本框 28"/>
            <p:cNvSpPr txBox="1"/>
            <p:nvPr/>
          </p:nvSpPr>
          <p:spPr>
            <a:xfrm>
              <a:off x="391" y="2225"/>
              <a:ext cx="4016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>
                  <a:latin typeface="+mn-ea"/>
                  <a:cs typeface="+mn-ea"/>
                </a:rPr>
                <a:t>万位：</a:t>
              </a:r>
              <a:r>
                <a:rPr lang="en-US" altLang="zh-CN" sz="3200">
                  <a:latin typeface="+mn-ea"/>
                  <a:cs typeface="+mn-ea"/>
                </a:rPr>
                <a:t>9x10</a:t>
              </a:r>
              <a:r>
                <a:rPr lang="en-US" altLang="zh-CN" sz="3200" baseline="30000">
                  <a:latin typeface="+mn-ea"/>
                  <a:cs typeface="+mn-ea"/>
                </a:rPr>
                <a:t>4</a:t>
              </a:r>
              <a:endParaRPr lang="en-US" altLang="zh-CN" sz="3200" baseline="30000">
                <a:latin typeface="+mn-ea"/>
                <a:cs typeface="+mn-ea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3566" y="3116"/>
              <a:ext cx="2722" cy="90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32" name="文本框 31"/>
          <p:cNvSpPr txBox="1"/>
          <p:nvPr/>
        </p:nvSpPr>
        <p:spPr>
          <a:xfrm>
            <a:off x="467360" y="5628005"/>
            <a:ext cx="6620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2</a:t>
            </a:r>
            <a:r>
              <a:rPr lang="x-none" altLang="en-US" sz="3200">
                <a:latin typeface="+mn-ea"/>
                <a:cs typeface="+mn-ea"/>
              </a:rPr>
              <a:t>   4   6   2   3  4  1  </a:t>
            </a:r>
            <a:r>
              <a:rPr lang="en-US" altLang="zh-CN" sz="3200">
                <a:latin typeface="+mn-ea"/>
                <a:cs typeface="+mn-ea"/>
              </a:rPr>
              <a:t>9</a:t>
            </a:r>
            <a:r>
              <a:rPr lang="x-none" altLang="en-US" sz="3200">
                <a:latin typeface="+mn-ea"/>
                <a:cs typeface="+mn-ea"/>
              </a:rPr>
              <a:t>  7   1   7   4</a:t>
            </a:r>
            <a:endParaRPr lang="x-none" altLang="en-US" sz="3200" baseline="30000"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22450"/>
            <a:ext cx="4351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en-US" altLang="x-none" sz="3200">
                <a:latin typeface="+mn-ea"/>
                <a:cs typeface="+mn-ea"/>
              </a:rPr>
              <a:t> 0   0  0   1  1   0  1</a:t>
            </a:r>
            <a:endParaRPr lang="en-US" altLang="x-none" sz="3200" baseline="30000"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3912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8264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804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87616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03860" y="5373370"/>
            <a:ext cx="73482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1x</a:t>
            </a:r>
            <a:r>
              <a:rPr lang="x-none" altLang="en-US" sz="3200">
                <a:latin typeface="+mn-ea"/>
                <a:cs typeface="+mn-ea"/>
              </a:rPr>
              <a:t>2</a:t>
            </a:r>
            <a:r>
              <a:rPr lang="x-none" altLang="en-US" sz="3200" baseline="30000">
                <a:latin typeface="+mn-ea"/>
                <a:cs typeface="+mn-ea"/>
              </a:rPr>
              <a:t>7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3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2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0</a:t>
            </a:r>
            <a:r>
              <a:rPr lang="x-none" altLang="en-US" sz="3200">
                <a:latin typeface="+mn-ea"/>
                <a:cs typeface="+mn-ea"/>
              </a:rPr>
              <a:t>=128+8+4+1=141</a:t>
            </a:r>
            <a:endParaRPr lang="x-none" altLang="en-US" sz="3200" baseline="30000">
              <a:latin typeface="+mn-ea"/>
              <a:cs typeface="+mn-ea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1259840" y="1776095"/>
            <a:ext cx="4104640" cy="645160"/>
          </a:xfrm>
          <a:prstGeom prst="roundRect">
            <a:avLst/>
          </a:prstGeom>
          <a:solidFill>
            <a:schemeClr val="accent1">
              <a:alpha val="29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96280" y="1822450"/>
            <a:ext cx="3319780" cy="583565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txBody>
          <a:bodyPr wrap="square" rtlCol="0">
            <a:spAutoFit/>
          </a:bodyPr>
          <a:p>
            <a:r>
              <a:rPr lang="en-US" sz="3200">
                <a:solidFill>
                  <a:schemeClr val="tx1"/>
                </a:solidFill>
                <a:latin typeface="+mn-ea"/>
                <a:cs typeface="+mn-ea"/>
              </a:rPr>
              <a:t>1 Byte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（字节）</a:t>
            </a:r>
            <a:endParaRPr lang="zh-CN" altLang="en-US" sz="3200" baseline="3000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4824000" y="1822450"/>
            <a:ext cx="360045" cy="527050"/>
          </a:xfrm>
          <a:prstGeom prst="roundRect">
            <a:avLst/>
          </a:prstGeom>
          <a:solidFill>
            <a:srgbClr val="92D050">
              <a:alpha val="44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746115" y="977265"/>
            <a:ext cx="3370580" cy="583565"/>
          </a:xfrm>
          <a:prstGeom prst="rect">
            <a:avLst/>
          </a:prstGeom>
          <a:solidFill>
            <a:srgbClr val="92D050">
              <a:alpha val="44000"/>
            </a:srgbClr>
          </a:solidFill>
        </p:spPr>
        <p:txBody>
          <a:bodyPr wrap="square" rtlCol="0">
            <a:spAutoFit/>
          </a:bodyPr>
          <a:p>
            <a:r>
              <a:rPr lang="en-US" sz="3200">
                <a:solidFill>
                  <a:schemeClr val="tx1"/>
                </a:solidFill>
                <a:latin typeface="+mn-ea"/>
                <a:cs typeface="+mn-ea"/>
              </a:rPr>
              <a:t>1 bit 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（比特</a:t>
            </a:r>
            <a:r>
              <a:rPr lang="x-none" altLang="zh-CN" sz="3200">
                <a:solidFill>
                  <a:schemeClr val="tx1"/>
                </a:solidFill>
                <a:latin typeface="+mn-ea"/>
                <a:cs typeface="+mn-ea"/>
              </a:rPr>
              <a:t>/</a:t>
            </a:r>
            <a:r>
              <a:rPr lang="zh-CN" altLang="x-none" sz="3200">
                <a:solidFill>
                  <a:schemeClr val="tx1"/>
                </a:solidFill>
                <a:latin typeface="+mn-ea"/>
                <a:cs typeface="+mn-ea"/>
              </a:rPr>
              <a:t>位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）</a:t>
            </a:r>
            <a:endParaRPr lang="zh-CN" altLang="en-US" sz="3200" baseline="30000">
              <a:solidFill>
                <a:schemeClr val="tx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1" animBg="1"/>
      <p:bldP spid="48" grpId="0" bldLvl="0" animBg="1"/>
      <p:bldP spid="49" grpId="0" animBg="1"/>
      <p:bldP spid="5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37690"/>
            <a:ext cx="5007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en-US" altLang="x-none" sz="3200">
                <a:latin typeface="+mn-ea"/>
                <a:cs typeface="+mn-ea"/>
              </a:rPr>
              <a:t> 0   0  0   1  1   0  1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+  1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3912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8264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804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487616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876165" y="364490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3940" y="5157470"/>
            <a:ext cx="4783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1x</a:t>
            </a:r>
            <a:r>
              <a:rPr lang="x-none" altLang="en-US" sz="3200">
                <a:latin typeface="+mn-ea"/>
                <a:cs typeface="+mn-ea"/>
              </a:rPr>
              <a:t>2</a:t>
            </a:r>
            <a:r>
              <a:rPr lang="x-none" altLang="en-US" sz="3200" baseline="30000">
                <a:latin typeface="+mn-ea"/>
                <a:cs typeface="+mn-ea"/>
              </a:rPr>
              <a:t>7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3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2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0 </a:t>
            </a:r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+1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37690"/>
            <a:ext cx="5007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en-US" altLang="x-none" sz="3200">
                <a:latin typeface="+mn-ea"/>
                <a:cs typeface="+mn-ea"/>
              </a:rPr>
              <a:t> 0   0  0   1  1 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1</a:t>
            </a:r>
            <a:r>
              <a:rPr lang="x-none" altLang="en-US" sz="3200">
                <a:latin typeface="+mn-ea"/>
                <a:cs typeface="+mn-ea"/>
              </a:rPr>
              <a:t>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3912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8264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804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378325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295" y="5085715"/>
            <a:ext cx="763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1x</a:t>
            </a:r>
            <a:r>
              <a:rPr lang="x-none" altLang="en-US" sz="3200">
                <a:latin typeface="+mn-ea"/>
                <a:cs typeface="+mn-ea"/>
              </a:rPr>
              <a:t>2</a:t>
            </a:r>
            <a:r>
              <a:rPr lang="x-none" altLang="en-US" sz="3200" baseline="30000">
                <a:latin typeface="+mn-ea"/>
                <a:cs typeface="+mn-ea"/>
              </a:rPr>
              <a:t>7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3</a:t>
            </a:r>
            <a:r>
              <a:rPr lang="x-none" altLang="en-US" sz="3200">
                <a:latin typeface="+mn-ea"/>
                <a:cs typeface="+mn-ea"/>
              </a:rPr>
              <a:t>+1x2</a:t>
            </a:r>
            <a:r>
              <a:rPr lang="x-none" altLang="en-US" sz="3200" baseline="30000">
                <a:latin typeface="+mn-ea"/>
                <a:cs typeface="+mn-ea"/>
              </a:rPr>
              <a:t>2</a:t>
            </a:r>
            <a:r>
              <a:rPr lang="x-none" altLang="en-US" sz="3200">
                <a:latin typeface="+mn-ea"/>
                <a:cs typeface="+mn-ea"/>
              </a:rPr>
              <a:t>+</a:t>
            </a:r>
            <a:r>
              <a:rPr lang="x-none" altLang="en-US" sz="3200">
                <a:latin typeface="+mn-ea"/>
                <a:cs typeface="+mn-ea"/>
                <a:sym typeface="+mn-ea"/>
              </a:rPr>
              <a:t>1x2</a:t>
            </a:r>
            <a:r>
              <a:rPr lang="x-none" altLang="en-US" sz="3200" baseline="30000">
                <a:latin typeface="+mn-ea"/>
                <a:cs typeface="+mn-ea"/>
                <a:sym typeface="+mn-ea"/>
              </a:rPr>
              <a:t>1</a:t>
            </a:r>
            <a:r>
              <a:rPr lang="x-none" altLang="en-US" sz="3200" baseline="30000">
                <a:latin typeface="+mn-ea"/>
                <a:cs typeface="+mn-ea"/>
              </a:rPr>
              <a:t> </a:t>
            </a:r>
            <a:r>
              <a:rPr lang="x-none" altLang="en-US" sz="3200">
                <a:latin typeface="+mn-ea"/>
                <a:cs typeface="+mn-ea"/>
              </a:rPr>
              <a:t>=128+8+4+2=142</a:t>
            </a:r>
            <a:endParaRPr lang="x-none" altLang="en-US" sz="3200">
              <a:solidFill>
                <a:srgbClr val="FF33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37690"/>
            <a:ext cx="5007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en-US" altLang="x-none" sz="3200">
                <a:latin typeface="+mn-ea"/>
                <a:cs typeface="+mn-ea"/>
              </a:rPr>
              <a:t>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 1  1 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1</a:t>
            </a:r>
            <a:r>
              <a:rPr lang="x-none" altLang="en-US" sz="3200">
                <a:latin typeface="+mn-ea"/>
                <a:cs typeface="+mn-ea"/>
              </a:rPr>
              <a:t>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3912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8264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804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295" y="5085715"/>
            <a:ext cx="763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latin typeface="+mn-ea"/>
                <a:cs typeface="+mn-ea"/>
              </a:rPr>
              <a:t>128+64+32+16+8+4+2+1=255</a:t>
            </a:r>
            <a:endParaRPr lang="x-none" altLang="en-US" sz="32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88912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386965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884805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73880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7616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76165" y="371729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2785" y="5571490"/>
            <a:ext cx="763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latin typeface="+mn-ea"/>
                <a:cs typeface="+mn-ea"/>
              </a:rPr>
              <a:t>128+64+32+16+8+4+2+1 </a:t>
            </a:r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+1</a:t>
            </a:r>
            <a:r>
              <a:rPr lang="x-none" altLang="en-US" sz="3200">
                <a:latin typeface="+mn-ea"/>
                <a:cs typeface="+mn-ea"/>
              </a:rPr>
              <a:t> =256</a:t>
            </a:r>
            <a:endParaRPr lang="x-none" altLang="en-US" sz="32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20335" y="1773555"/>
            <a:ext cx="683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+1</a:t>
            </a:r>
            <a:r>
              <a:rPr lang="x-none" altLang="en-US" sz="3200">
                <a:latin typeface="+mn-ea"/>
                <a:cs typeface="+mn-ea"/>
              </a:rPr>
              <a:t>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5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37690"/>
            <a:ext cx="5007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 </a:t>
            </a:r>
            <a:r>
              <a:rPr lang="en-US" altLang="x-none" sz="3200">
                <a:latin typeface="+mn-ea"/>
                <a:cs typeface="+mn-ea"/>
              </a:rPr>
              <a:t>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 1  1   </a:t>
            </a:r>
            <a:r>
              <a:rPr lang="x-none" altLang="en-US" sz="3200">
                <a:latin typeface="+mn-ea"/>
                <a:cs typeface="+mn-ea"/>
              </a:rPr>
              <a:t>1</a:t>
            </a:r>
            <a:r>
              <a:rPr lang="en-US" altLang="x-none" sz="3200">
                <a:latin typeface="+mn-ea"/>
                <a:cs typeface="+mn-ea"/>
              </a:rPr>
              <a:t>  1</a:t>
            </a:r>
            <a:r>
              <a:rPr lang="x-none" altLang="en-US" sz="3200">
                <a:latin typeface="+mn-ea"/>
                <a:cs typeface="+mn-ea"/>
              </a:rPr>
              <a:t>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3912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38264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388048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295" y="5085715"/>
            <a:ext cx="763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latin typeface="+mn-ea"/>
                <a:cs typeface="+mn-ea"/>
              </a:rPr>
              <a:t>128+64+32+16+8+4+2+1=255</a:t>
            </a:r>
            <a:endParaRPr lang="x-none" altLang="en-US" sz="32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88912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386965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884805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73880" y="3861435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76165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76165" y="371729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2785" y="5571490"/>
            <a:ext cx="763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latin typeface="+mn-ea"/>
                <a:cs typeface="+mn-ea"/>
              </a:rPr>
              <a:t>128+64+32+16+8+4+2+1 </a:t>
            </a:r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+1</a:t>
            </a:r>
            <a:r>
              <a:rPr lang="x-none" altLang="en-US" sz="3200">
                <a:latin typeface="+mn-ea"/>
                <a:cs typeface="+mn-ea"/>
              </a:rPr>
              <a:t> =256</a:t>
            </a:r>
            <a:endParaRPr lang="x-none" altLang="en-US" sz="3200">
              <a:solidFill>
                <a:srgbClr val="FF3300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14" name="文本框 13"/>
          <p:cNvSpPr txBox="1"/>
          <p:nvPr/>
        </p:nvSpPr>
        <p:spPr>
          <a:xfrm>
            <a:off x="442815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1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1444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7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44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x-none" altLang="en-US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0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1673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6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1901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5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92130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4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23585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3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25870" y="443738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r>
              <a:rPr lang="en-US" altLang="zh-CN" sz="2000" b="1" baseline="30000">
                <a:solidFill>
                  <a:schemeClr val="accent5">
                    <a:lumMod val="75000"/>
                  </a:schemeClr>
                </a:solidFill>
                <a:effectLst/>
                <a:latin typeface="+mn-ea"/>
                <a:cs typeface="+mn-ea"/>
              </a:rPr>
              <a:t>2</a:t>
            </a:r>
            <a:endParaRPr lang="en-US" altLang="zh-CN" sz="2000" b="1" baseline="30000">
              <a:solidFill>
                <a:schemeClr val="accent5">
                  <a:lumMod val="7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331595" y="1837690"/>
            <a:ext cx="41757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latin typeface="+mn-ea"/>
                <a:cs typeface="+mn-ea"/>
              </a:rPr>
              <a:t> 0  0   0  0   0  0   0   0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940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7355" y="2348865"/>
            <a:ext cx="144145" cy="1656080"/>
          </a:xfrm>
          <a:prstGeom prst="rect">
            <a:avLst/>
          </a:prstGeom>
          <a:solidFill>
            <a:srgbClr val="FF33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81710" y="4004945"/>
            <a:ext cx="4773930" cy="36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176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154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133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1117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50901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0685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0469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2530" y="2421255"/>
            <a:ext cx="143510" cy="15836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9295" y="5085715"/>
            <a:ext cx="39897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256   </a:t>
            </a:r>
            <a:r>
              <a:rPr lang="zh-CN" altLang="x-none" sz="3200">
                <a:solidFill>
                  <a:schemeClr val="tx1"/>
                </a:solidFill>
                <a:latin typeface="+mn-ea"/>
                <a:cs typeface="+mn-ea"/>
              </a:rPr>
              <a:t>溢出，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结果为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0</a:t>
            </a:r>
            <a:endParaRPr lang="en-US" altLang="zh-CN" sz="320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18210" y="3849370"/>
            <a:ext cx="396000" cy="15557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9160" y="1837055"/>
            <a:ext cx="683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x-none" altLang="en-US" sz="3200">
                <a:solidFill>
                  <a:srgbClr val="FF3300"/>
                </a:solidFill>
                <a:latin typeface="+mn-ea"/>
                <a:cs typeface="+mn-ea"/>
              </a:rPr>
              <a:t>1</a:t>
            </a:r>
            <a:r>
              <a:rPr lang="x-none" altLang="en-US" sz="3200">
                <a:latin typeface="+mn-ea"/>
                <a:cs typeface="+mn-ea"/>
              </a:rPr>
              <a:t> </a:t>
            </a:r>
            <a:endParaRPr lang="x-none" altLang="en-US" sz="3200" baseline="30000">
              <a:solidFill>
                <a:srgbClr val="FF3300"/>
              </a:solidFill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7405" y="4420870"/>
            <a:ext cx="6477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 b="1">
                <a:solidFill>
                  <a:srgbClr val="FF3300"/>
                </a:solidFill>
                <a:effectLst/>
                <a:latin typeface="+mn-ea"/>
                <a:cs typeface="+mn-ea"/>
              </a:rPr>
              <a:t>2</a:t>
            </a:r>
            <a:r>
              <a:rPr lang="x-none" altLang="en-US" sz="2000" b="1" baseline="30000">
                <a:solidFill>
                  <a:srgbClr val="FF3300"/>
                </a:solidFill>
                <a:effectLst/>
                <a:latin typeface="+mn-ea"/>
                <a:cs typeface="+mn-ea"/>
              </a:rPr>
              <a:t>8</a:t>
            </a:r>
            <a:endParaRPr lang="x-none" altLang="en-US" sz="2000" b="1" baseline="30000">
              <a:solidFill>
                <a:srgbClr val="FF3300"/>
              </a:solidFill>
              <a:effectLst/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22" name="文本框 21"/>
          <p:cNvSpPr txBox="1"/>
          <p:nvPr/>
        </p:nvSpPr>
        <p:spPr>
          <a:xfrm>
            <a:off x="539750" y="1557020"/>
            <a:ext cx="76688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>
                <a:solidFill>
                  <a:schemeClr val="tx1"/>
                </a:solidFill>
                <a:latin typeface="+mn-ea"/>
                <a:cs typeface="+mn-ea"/>
              </a:rPr>
              <a:t>一个字节最大可表示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en-US" altLang="zh-CN" sz="3200" baseline="30000">
                <a:solidFill>
                  <a:schemeClr val="tx1"/>
                </a:solidFill>
                <a:latin typeface="+mn-ea"/>
                <a:cs typeface="+mn-ea"/>
              </a:rPr>
              <a:t>8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-1=255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，再大的数字会因为溢出而无法表示</a:t>
            </a:r>
            <a:endParaRPr lang="zh-CN" altLang="en-US" sz="320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3240" y="3119120"/>
            <a:ext cx="76688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3200">
                <a:solidFill>
                  <a:schemeClr val="tx1"/>
                </a:solidFill>
                <a:latin typeface="+mn-ea"/>
                <a:cs typeface="+mn-ea"/>
              </a:rPr>
              <a:t>更大的数可用更多的字节来表示，例如：</a:t>
            </a:r>
            <a:endParaRPr lang="zh-CN" sz="320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个字节，有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2x8=16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个比特，最大可以表示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en-US" altLang="zh-CN" sz="3200" baseline="30000">
                <a:solidFill>
                  <a:schemeClr val="tx1"/>
                </a:solidFill>
                <a:latin typeface="+mn-ea"/>
                <a:cs typeface="+mn-ea"/>
              </a:rPr>
              <a:t>16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-1=65535</a:t>
            </a:r>
            <a:endParaRPr lang="en-US" altLang="zh-CN" sz="320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6730" y="4896485"/>
            <a:ext cx="766889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4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个字节，有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4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x8=32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个比特，最大可以表示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en-US" altLang="zh-CN" sz="3200" baseline="30000">
                <a:solidFill>
                  <a:schemeClr val="tx1"/>
                </a:solidFill>
                <a:latin typeface="+mn-ea"/>
                <a:cs typeface="+mn-ea"/>
              </a:rPr>
              <a:t>32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-1=4294967295</a:t>
            </a:r>
            <a:endParaRPr lang="en-US" altLang="zh-CN" sz="3200">
              <a:solidFill>
                <a:schemeClr val="tx1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468313" y="333375"/>
            <a:ext cx="8135937" cy="10795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/>
              <a:t>6.0.2 </a:t>
            </a:r>
            <a:r>
              <a:rPr lang="zh-CN" altLang="en-US" b="0"/>
              <a:t>二</a:t>
            </a:r>
            <a:r>
              <a:rPr lang="zh-CN" altLang="en-US" b="0" dirty="0">
                <a:latin typeface="宋体" pitchFamily="2" charset="-122"/>
              </a:rPr>
              <a:t>进制</a:t>
            </a:r>
            <a:endParaRPr lang="zh-CN" altLang="en-US" b="0" dirty="0"/>
          </a:p>
        </p:txBody>
      </p:sp>
      <p:sp>
        <p:nvSpPr>
          <p:cNvPr id="22" name="文本框 21"/>
          <p:cNvSpPr txBox="1"/>
          <p:nvPr/>
        </p:nvSpPr>
        <p:spPr>
          <a:xfrm>
            <a:off x="539750" y="1557020"/>
            <a:ext cx="81762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2</a:t>
            </a:r>
            <a:r>
              <a:rPr lang="en-US" altLang="zh-CN" sz="3200" baseline="30000">
                <a:solidFill>
                  <a:schemeClr val="tx1"/>
                </a:solidFill>
                <a:latin typeface="+mn-ea"/>
                <a:cs typeface="+mn-ea"/>
              </a:rPr>
              <a:t>10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=1024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，表示</a:t>
            </a:r>
            <a:r>
              <a:rPr lang="en-US" altLang="zh-CN" sz="3200">
                <a:solidFill>
                  <a:schemeClr val="tx1"/>
                </a:solidFill>
                <a:latin typeface="+mn-ea"/>
                <a:cs typeface="+mn-ea"/>
              </a:rPr>
              <a:t>1K</a:t>
            </a:r>
            <a:endParaRPr lang="en-US" altLang="zh-CN" sz="3200">
              <a:solidFill>
                <a:schemeClr val="tx1"/>
              </a:solidFill>
              <a:latin typeface="+mn-ea"/>
              <a:cs typeface="+mn-ea"/>
            </a:endParaRPr>
          </a:p>
          <a:p>
            <a:endParaRPr lang="zh-CN" altLang="en-US" sz="320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lang="en-US" altLang="zh-CN" sz="3200">
                <a:latin typeface="+mn-ea"/>
                <a:cs typeface="+mn-ea"/>
                <a:sym typeface="+mn-ea"/>
              </a:rPr>
              <a:t>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20</a:t>
            </a:r>
            <a:r>
              <a:rPr lang="en-US" altLang="zh-CN" sz="3200">
                <a:latin typeface="+mn-ea"/>
                <a:cs typeface="+mn-ea"/>
                <a:sym typeface="+mn-ea"/>
              </a:rPr>
              <a:t>=2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10</a:t>
            </a:r>
            <a:r>
              <a:rPr lang="en-US" altLang="zh-CN" sz="3200">
                <a:latin typeface="+mn-ea"/>
                <a:cs typeface="+mn-ea"/>
                <a:sym typeface="+mn-ea"/>
              </a:rPr>
              <a:t>x2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10</a:t>
            </a:r>
            <a:r>
              <a:rPr lang="en-US" altLang="zh-CN" sz="3200">
                <a:latin typeface="+mn-ea"/>
                <a:cs typeface="+mn-ea"/>
                <a:sym typeface="+mn-ea"/>
              </a:rPr>
              <a:t>=1024x1024  </a:t>
            </a:r>
            <a:r>
              <a:rPr lang="zh-CN" altLang="en-US" sz="3200">
                <a:latin typeface="+mn-ea"/>
                <a:cs typeface="+mn-ea"/>
                <a:sym typeface="+mn-ea"/>
              </a:rPr>
              <a:t>表示</a:t>
            </a:r>
            <a:r>
              <a:rPr lang="en-US" altLang="zh-CN" sz="3200">
                <a:latin typeface="+mn-ea"/>
                <a:cs typeface="+mn-ea"/>
                <a:sym typeface="+mn-ea"/>
              </a:rPr>
              <a:t>1M</a:t>
            </a:r>
            <a:endParaRPr lang="en-US" altLang="zh-CN" sz="3200">
              <a:latin typeface="+mn-ea"/>
              <a:cs typeface="+mn-ea"/>
              <a:sym typeface="+mn-ea"/>
            </a:endParaRPr>
          </a:p>
          <a:p>
            <a:endParaRPr lang="zh-CN" altLang="en-US" sz="3200">
              <a:latin typeface="+mn-ea"/>
              <a:cs typeface="+mn-ea"/>
              <a:sym typeface="+mn-ea"/>
            </a:endParaRPr>
          </a:p>
          <a:p>
            <a:r>
              <a:rPr lang="en-US" altLang="zh-CN" sz="3200">
                <a:latin typeface="+mn-ea"/>
                <a:cs typeface="+mn-ea"/>
                <a:sym typeface="+mn-ea"/>
              </a:rPr>
              <a:t>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30</a:t>
            </a:r>
            <a:r>
              <a:rPr lang="en-US" altLang="zh-CN" sz="3200">
                <a:latin typeface="+mn-ea"/>
                <a:cs typeface="+mn-ea"/>
                <a:sym typeface="+mn-ea"/>
              </a:rPr>
              <a:t>=2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10</a:t>
            </a:r>
            <a:r>
              <a:rPr lang="en-US" altLang="zh-CN" sz="3200">
                <a:latin typeface="+mn-ea"/>
                <a:cs typeface="+mn-ea"/>
                <a:sym typeface="+mn-ea"/>
              </a:rPr>
              <a:t>x2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10</a:t>
            </a:r>
            <a:r>
              <a:rPr lang="en-US" altLang="zh-CN" sz="3200">
                <a:latin typeface="+mn-ea"/>
                <a:cs typeface="+mn-ea"/>
                <a:sym typeface="+mn-ea"/>
              </a:rPr>
              <a:t>x2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10</a:t>
            </a:r>
            <a:r>
              <a:rPr lang="en-US" altLang="zh-CN" sz="3200">
                <a:latin typeface="+mn-ea"/>
                <a:cs typeface="+mn-ea"/>
                <a:sym typeface="+mn-ea"/>
              </a:rPr>
              <a:t>=1024x1024x1024  </a:t>
            </a:r>
            <a:r>
              <a:rPr lang="zh-CN" altLang="en-US" sz="3200">
                <a:latin typeface="+mn-ea"/>
                <a:cs typeface="+mn-ea"/>
                <a:sym typeface="+mn-ea"/>
              </a:rPr>
              <a:t>表示</a:t>
            </a:r>
            <a:r>
              <a:rPr lang="en-US" altLang="zh-CN" sz="3200">
                <a:latin typeface="+mn-ea"/>
                <a:cs typeface="+mn-ea"/>
                <a:sym typeface="+mn-ea"/>
              </a:rPr>
              <a:t>1G</a:t>
            </a:r>
            <a:endParaRPr lang="en-US" altLang="zh-CN" sz="3200">
              <a:latin typeface="+mn-ea"/>
              <a:cs typeface="+mn-ea"/>
              <a:sym typeface="+mn-ea"/>
            </a:endParaRPr>
          </a:p>
          <a:p>
            <a:endParaRPr lang="en-US" altLang="zh-CN" sz="3200">
              <a:latin typeface="+mn-ea"/>
              <a:cs typeface="+mn-ea"/>
              <a:sym typeface="+mn-ea"/>
            </a:endParaRPr>
          </a:p>
          <a:p>
            <a:r>
              <a:rPr lang="en-US" altLang="zh-CN" sz="3200">
                <a:latin typeface="+mn-ea"/>
                <a:cs typeface="+mn-ea"/>
                <a:sym typeface="+mn-ea"/>
              </a:rPr>
              <a:t>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32</a:t>
            </a:r>
            <a:r>
              <a:rPr lang="en-US" altLang="zh-CN" sz="3200">
                <a:latin typeface="+mn-ea"/>
                <a:cs typeface="+mn-ea"/>
                <a:sym typeface="+mn-ea"/>
              </a:rPr>
              <a:t>=2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2</a:t>
            </a:r>
            <a:r>
              <a:rPr lang="en-US" altLang="zh-CN" sz="3200">
                <a:latin typeface="+mn-ea"/>
                <a:cs typeface="+mn-ea"/>
                <a:sym typeface="+mn-ea"/>
              </a:rPr>
              <a:t>x2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30</a:t>
            </a:r>
            <a:r>
              <a:rPr lang="en-US" altLang="zh-CN" sz="3200">
                <a:latin typeface="+mn-ea"/>
                <a:cs typeface="+mn-ea"/>
                <a:sym typeface="+mn-ea"/>
              </a:rPr>
              <a:t>=4G</a:t>
            </a:r>
            <a:endParaRPr lang="en-US" altLang="zh-CN" sz="3200">
              <a:latin typeface="+mn-ea"/>
              <a:cs typeface="+mn-ea"/>
              <a:sym typeface="+mn-ea"/>
            </a:endParaRPr>
          </a:p>
          <a:p>
            <a:endParaRPr lang="en-US" altLang="zh-CN" sz="3200">
              <a:latin typeface="+mn-ea"/>
              <a:cs typeface="+mn-ea"/>
              <a:sym typeface="+mn-ea"/>
            </a:endParaRPr>
          </a:p>
          <a:p>
            <a:r>
              <a:rPr lang="en-US" altLang="zh-CN" sz="3200">
                <a:latin typeface="+mn-ea"/>
                <a:cs typeface="+mn-ea"/>
                <a:sym typeface="+mn-ea"/>
              </a:rPr>
              <a:t>2</a:t>
            </a:r>
            <a:r>
              <a:rPr lang="en-US" altLang="zh-CN" sz="3200" baseline="30000">
                <a:latin typeface="+mn-ea"/>
                <a:cs typeface="+mn-ea"/>
                <a:sym typeface="+mn-ea"/>
              </a:rPr>
              <a:t>32</a:t>
            </a:r>
            <a:r>
              <a:rPr lang="en-US" altLang="zh-CN" sz="3200">
                <a:latin typeface="+mn-ea"/>
                <a:cs typeface="+mn-ea"/>
                <a:sym typeface="+mn-ea"/>
              </a:rPr>
              <a:t>-1=4G-1</a:t>
            </a:r>
            <a:endParaRPr lang="en-US" altLang="zh-CN" sz="320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WPS 演示</Application>
  <PresentationFormat>全屏显示(4:3)</PresentationFormat>
  <Paragraphs>223</Paragraphs>
  <Slides>11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仿宋_GB2312</vt:lpstr>
      <vt:lpstr>Symbol</vt:lpstr>
      <vt:lpstr>华文仿宋</vt:lpstr>
      <vt:lpstr>Arial Unicode MS</vt:lpstr>
      <vt:lpstr>微软雅黑</vt:lpstr>
      <vt:lpstr>宋体</vt:lpstr>
      <vt:lpstr>Arial Unicode MS</vt:lpstr>
      <vt:lpstr>Noto Sans Symbols2</vt:lpstr>
      <vt:lpstr>Pixel</vt:lpstr>
      <vt:lpstr>Chap 6  数据类型和表达式 </vt:lpstr>
      <vt:lpstr>6.1.1 数据的存储－整型数据</vt:lpstr>
      <vt:lpstr>6.0.1 十进制</vt:lpstr>
      <vt:lpstr>6.0.1 十进制</vt:lpstr>
      <vt:lpstr>6.0.2 二进制</vt:lpstr>
      <vt:lpstr>6.0.2 二进制</vt:lpstr>
      <vt:lpstr>6.0.2 二进制</vt:lpstr>
      <vt:lpstr>6.0.2 二进制</vt:lpstr>
      <vt:lpstr>6.0.2 二进制</vt:lpstr>
      <vt:lpstr>6.0.2 二进制</vt:lpstr>
      <vt:lpstr>6.0.2 二进制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1326</cp:revision>
  <dcterms:created xsi:type="dcterms:W3CDTF">2023-10-19T18:50:53Z</dcterms:created>
  <dcterms:modified xsi:type="dcterms:W3CDTF">2023-10-19T18:50:53Z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