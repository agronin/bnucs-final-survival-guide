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wmf" ContentType="image/x-wmf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360" r:id="rId3"/>
    <p:sldId id="361" r:id="rId4"/>
    <p:sldId id="362" r:id="rId6"/>
    <p:sldId id="486" r:id="rId7"/>
    <p:sldId id="363" r:id="rId8"/>
    <p:sldId id="364" r:id="rId9"/>
    <p:sldId id="365" r:id="rId10"/>
    <p:sldId id="317" r:id="rId11"/>
    <p:sldId id="261" r:id="rId12"/>
    <p:sldId id="268" r:id="rId13"/>
    <p:sldId id="281" r:id="rId14"/>
    <p:sldId id="269" r:id="rId15"/>
    <p:sldId id="265" r:id="rId16"/>
    <p:sldId id="263" r:id="rId17"/>
    <p:sldId id="262" r:id="rId18"/>
    <p:sldId id="275" r:id="rId19"/>
    <p:sldId id="276" r:id="rId20"/>
    <p:sldId id="282" r:id="rId21"/>
    <p:sldId id="283" r:id="rId22"/>
    <p:sldId id="274" r:id="rId23"/>
    <p:sldId id="279" r:id="rId24"/>
    <p:sldId id="285" r:id="rId25"/>
    <p:sldId id="286" r:id="rId26"/>
    <p:sldId id="288" r:id="rId27"/>
    <p:sldId id="289" r:id="rId28"/>
    <p:sldId id="290" r:id="rId29"/>
    <p:sldId id="291" r:id="rId30"/>
    <p:sldId id="309" r:id="rId31"/>
    <p:sldId id="310" r:id="rId32"/>
    <p:sldId id="311" r:id="rId33"/>
    <p:sldId id="312" r:id="rId34"/>
    <p:sldId id="313" r:id="rId35"/>
    <p:sldId id="320" r:id="rId36"/>
    <p:sldId id="319" r:id="rId37"/>
    <p:sldId id="321" r:id="rId38"/>
    <p:sldId id="322" r:id="rId39"/>
    <p:sldId id="325" r:id="rId40"/>
    <p:sldId id="350" r:id="rId41"/>
    <p:sldId id="351" r:id="rId42"/>
    <p:sldId id="352" r:id="rId43"/>
    <p:sldId id="353" r:id="rId44"/>
    <p:sldId id="301" r:id="rId45"/>
    <p:sldId id="357" r:id="rId46"/>
    <p:sldId id="358" r:id="rId47"/>
    <p:sldId id="404" r:id="rId48"/>
    <p:sldId id="406" r:id="rId49"/>
    <p:sldId id="575" r:id="rId50"/>
    <p:sldId id="408" r:id="rId51"/>
    <p:sldId id="409" r:id="rId52"/>
    <p:sldId id="410" r:id="rId53"/>
    <p:sldId id="411" r:id="rId54"/>
    <p:sldId id="412" r:id="rId55"/>
    <p:sldId id="413" r:id="rId56"/>
    <p:sldId id="415" r:id="rId57"/>
    <p:sldId id="417" r:id="rId58"/>
    <p:sldId id="418" r:id="rId59"/>
    <p:sldId id="419" r:id="rId60"/>
    <p:sldId id="420" r:id="rId61"/>
    <p:sldId id="421" r:id="rId62"/>
    <p:sldId id="422" r:id="rId63"/>
    <p:sldId id="423" r:id="rId64"/>
    <p:sldId id="425" r:id="rId65"/>
    <p:sldId id="416" r:id="rId66"/>
    <p:sldId id="428" r:id="rId67"/>
    <p:sldId id="429" r:id="rId68"/>
    <p:sldId id="430" r:id="rId69"/>
    <p:sldId id="461" r:id="rId70"/>
    <p:sldId id="433" r:id="rId71"/>
    <p:sldId id="434" r:id="rId72"/>
    <p:sldId id="435" r:id="rId73"/>
    <p:sldId id="436" r:id="rId74"/>
    <p:sldId id="437" r:id="rId75"/>
    <p:sldId id="438" r:id="rId76"/>
    <p:sldId id="443" r:id="rId77"/>
    <p:sldId id="444" r:id="rId78"/>
    <p:sldId id="445" r:id="rId79"/>
    <p:sldId id="446" r:id="rId80"/>
    <p:sldId id="447" r:id="rId81"/>
    <p:sldId id="448" r:id="rId82"/>
    <p:sldId id="449" r:id="rId83"/>
    <p:sldId id="450" r:id="rId84"/>
    <p:sldId id="451" r:id="rId85"/>
    <p:sldId id="452" r:id="rId86"/>
    <p:sldId id="453" r:id="rId87"/>
    <p:sldId id="454" r:id="rId88"/>
    <p:sldId id="455" r:id="rId89"/>
    <p:sldId id="456" r:id="rId90"/>
    <p:sldId id="457" r:id="rId91"/>
    <p:sldId id="458" r:id="rId92"/>
    <p:sldId id="459" r:id="rId93"/>
    <p:sldId id="460" r:id="rId94"/>
  </p:sldIdLst>
  <p:sldSz cx="9144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itchFamily="16" charset="0"/>
      <a:buNone/>
      <a:defRPr u="none" kern="1200" baseline="0">
        <a:solidFill>
          <a:srgbClr val="000000"/>
        </a:solidFill>
        <a:latin typeface="Arial" panose="02080604020202020204" pitchFamily="34" charset="0"/>
        <a:ea typeface="Arial" panose="02080604020202020204" pitchFamily="34" charset="0"/>
        <a:cs typeface="+mn-cs"/>
      </a:defRPr>
    </a:lvl1pPr>
    <a:lvl2pPr marL="742950" lvl="1" indent="-28575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itchFamily="16" charset="0"/>
      <a:buNone/>
      <a:defRPr sz="1800" u="none" kern="1200" baseline="0">
        <a:solidFill>
          <a:srgbClr val="000000"/>
        </a:solidFill>
        <a:latin typeface="Arial" panose="02080604020202020204" pitchFamily="34" charset="0"/>
        <a:ea typeface="+mn-ea"/>
        <a:cs typeface="+mn-cs"/>
      </a:defRPr>
    </a:lvl2pPr>
    <a:lvl3pPr marL="1143000" lvl="2" indent="-22860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itchFamily="16" charset="0"/>
      <a:buNone/>
      <a:defRPr sz="1800" u="none" kern="1200" baseline="0">
        <a:solidFill>
          <a:srgbClr val="000000"/>
        </a:solidFill>
        <a:latin typeface="Arial" panose="02080604020202020204" pitchFamily="34" charset="0"/>
        <a:ea typeface="+mn-ea"/>
        <a:cs typeface="+mn-cs"/>
      </a:defRPr>
    </a:lvl3pPr>
    <a:lvl4pPr marL="1600200" lvl="3" indent="-22860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itchFamily="16" charset="0"/>
      <a:buNone/>
      <a:defRPr sz="1800" u="none" kern="1200" baseline="0">
        <a:solidFill>
          <a:srgbClr val="000000"/>
        </a:solidFill>
        <a:latin typeface="Arial" panose="02080604020202020204" pitchFamily="34" charset="0"/>
        <a:ea typeface="+mn-ea"/>
        <a:cs typeface="+mn-cs"/>
      </a:defRPr>
    </a:lvl4pPr>
    <a:lvl5pPr marL="2057400" lvl="4" indent="-22860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itchFamily="16" charset="0"/>
      <a:buNone/>
      <a:defRPr sz="1800" u="none" kern="1200" baseline="0">
        <a:solidFill>
          <a:srgbClr val="000000"/>
        </a:solidFill>
        <a:latin typeface="Arial" panose="02080604020202020204" pitchFamily="34" charset="0"/>
        <a:ea typeface="+mn-ea"/>
        <a:cs typeface="+mn-cs"/>
      </a:defRPr>
    </a:lvl5pPr>
    <a:lvl6pPr marL="2286000" lvl="5" indent="-22860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itchFamily="16" charset="0"/>
      <a:buNone/>
      <a:defRPr sz="1800" u="none" kern="1200" baseline="0">
        <a:solidFill>
          <a:srgbClr val="000000"/>
        </a:solidFill>
        <a:latin typeface="Arial" panose="02080604020202020204" pitchFamily="34" charset="0"/>
        <a:ea typeface="+mn-ea"/>
        <a:cs typeface="+mn-cs"/>
      </a:defRPr>
    </a:lvl6pPr>
    <a:lvl7pPr marL="2743200" lvl="6" indent="-22860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itchFamily="16" charset="0"/>
      <a:buNone/>
      <a:defRPr sz="1800" u="none" kern="1200" baseline="0">
        <a:solidFill>
          <a:srgbClr val="000000"/>
        </a:solidFill>
        <a:latin typeface="Arial" panose="02080604020202020204" pitchFamily="34" charset="0"/>
        <a:ea typeface="+mn-ea"/>
        <a:cs typeface="+mn-cs"/>
      </a:defRPr>
    </a:lvl7pPr>
    <a:lvl8pPr marL="3200400" lvl="7" indent="-22860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itchFamily="16" charset="0"/>
      <a:buNone/>
      <a:defRPr sz="1800" u="none" kern="1200" baseline="0">
        <a:solidFill>
          <a:srgbClr val="000000"/>
        </a:solidFill>
        <a:latin typeface="Arial" panose="02080604020202020204" pitchFamily="34" charset="0"/>
        <a:ea typeface="+mn-ea"/>
        <a:cs typeface="+mn-cs"/>
      </a:defRPr>
    </a:lvl8pPr>
    <a:lvl9pPr marL="3657600" lvl="8" indent="-22860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itchFamily="16" charset="0"/>
      <a:buNone/>
      <a:defRPr sz="1800" u="none" kern="1200" baseline="0">
        <a:solidFill>
          <a:srgbClr val="000000"/>
        </a:solidFill>
        <a:latin typeface="Arial" panose="02080604020202020204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9680D"/>
    <a:srgbClr val="E616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666"/>
    <p:restoredTop sz="100000"/>
  </p:normalViewPr>
  <p:slideViewPr>
    <p:cSldViewPr showGuides="1">
      <p:cViewPr varScale="1">
        <p:scale>
          <a:sx n="79" d="100"/>
          <a:sy n="79" d="100"/>
        </p:scale>
        <p:origin x="-840" y="-90"/>
      </p:cViewPr>
      <p:guideLst>
        <p:guide orient="horz" pos="2244"/>
        <p:guide pos="2880"/>
      </p:guideLst>
    </p:cSldViewPr>
  </p:slideViewPr>
  <p:outlineViewPr>
    <p:cViewPr>
      <p:scale>
        <a:sx n="85" d="100"/>
        <a:sy n="8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7" Type="http://schemas.openxmlformats.org/officeDocument/2006/relationships/tableStyles" Target="tableStyles.xml"/><Relationship Id="rId96" Type="http://schemas.openxmlformats.org/officeDocument/2006/relationships/viewProps" Target="viewProps.xml"/><Relationship Id="rId95" Type="http://schemas.openxmlformats.org/officeDocument/2006/relationships/presProps" Target="presProps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幻灯片图像占位符 2049"/>
          <p:cNvSpPr>
            <a:spLocks noGrp="1"/>
          </p:cNvSpPr>
          <p:nvPr>
            <p:ph type="sldImg"/>
          </p:nvPr>
        </p:nvSpPr>
        <p:spPr>
          <a:xfrm>
            <a:off x="-11798300" y="-11796712"/>
            <a:ext cx="11798300" cy="1249203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051" name="文本占位符 2050"/>
          <p:cNvSpPr>
            <a:spLocks noGrp="1"/>
          </p:cNvSpPr>
          <p:nvPr>
            <p:ph type="body" sz="quarter"/>
          </p:nvPr>
        </p:nvSpPr>
        <p:spPr>
          <a:xfrm>
            <a:off x="685800" y="4343400"/>
            <a:ext cx="5484813" cy="41132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lvl="0"/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buNone/>
      <a:defRPr sz="1200" u="none" kern="1200" baseline="0">
        <a:solidFill>
          <a:srgbClr val="000000"/>
        </a:solidFill>
        <a:latin typeface="Times New Roman" pitchFamily="16" charset="0"/>
        <a:ea typeface="宋体" pitchFamily="2" charset="-122"/>
      </a:defRPr>
    </a:lvl1pPr>
    <a:lvl2pPr marL="742950" lvl="1" indent="-285750" algn="l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buNone/>
      <a:defRPr sz="1200" u="none" kern="1200" baseline="0">
        <a:solidFill>
          <a:srgbClr val="000000"/>
        </a:solidFill>
        <a:latin typeface="Times New Roman" pitchFamily="16" charset="0"/>
        <a:ea typeface="宋体" pitchFamily="2" charset="-122"/>
      </a:defRPr>
    </a:lvl2pPr>
    <a:lvl3pPr marL="1143000" lvl="2" indent="-228600" algn="l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buNone/>
      <a:defRPr sz="1200" u="none" kern="1200" baseline="0">
        <a:solidFill>
          <a:srgbClr val="000000"/>
        </a:solidFill>
        <a:latin typeface="Times New Roman" pitchFamily="16" charset="0"/>
        <a:ea typeface="宋体" pitchFamily="2" charset="-122"/>
      </a:defRPr>
    </a:lvl3pPr>
    <a:lvl4pPr marL="1600200" lvl="3" indent="-228600" algn="l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buNone/>
      <a:defRPr sz="1200" u="none" kern="1200" baseline="0">
        <a:solidFill>
          <a:srgbClr val="000000"/>
        </a:solidFill>
        <a:latin typeface="Times New Roman" pitchFamily="16" charset="0"/>
        <a:ea typeface="宋体" pitchFamily="2" charset="-122"/>
      </a:defRPr>
    </a:lvl4pPr>
    <a:lvl5pPr marL="2057400" lvl="4" indent="-228600" algn="l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buNone/>
      <a:defRPr sz="1200" u="none" kern="1200" baseline="0">
        <a:solidFill>
          <a:srgbClr val="000000"/>
        </a:solidFill>
        <a:latin typeface="Times New Roman" pitchFamily="16" charset="0"/>
        <a:ea typeface="宋体" pitchFamily="2" charset="-122"/>
      </a:defRPr>
    </a:lvl5pPr>
    <a:lvl6pPr marL="2286000" lvl="5" indent="-228600" algn="l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buNone/>
      <a:defRPr sz="1200" u="none" kern="1200" baseline="0">
        <a:solidFill>
          <a:srgbClr val="000000"/>
        </a:solidFill>
        <a:latin typeface="Times New Roman" pitchFamily="16" charset="0"/>
        <a:ea typeface="宋体" pitchFamily="2" charset="-122"/>
      </a:defRPr>
    </a:lvl6pPr>
    <a:lvl7pPr marL="2743200" lvl="6" indent="-228600" algn="l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buNone/>
      <a:defRPr sz="1200" u="none" kern="1200" baseline="0">
        <a:solidFill>
          <a:srgbClr val="000000"/>
        </a:solidFill>
        <a:latin typeface="Times New Roman" pitchFamily="16" charset="0"/>
        <a:ea typeface="宋体" pitchFamily="2" charset="-122"/>
      </a:defRPr>
    </a:lvl7pPr>
    <a:lvl8pPr marL="3200400" lvl="7" indent="-228600" algn="l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buNone/>
      <a:defRPr sz="1200" u="none" kern="1200" baseline="0">
        <a:solidFill>
          <a:srgbClr val="000000"/>
        </a:solidFill>
        <a:latin typeface="Times New Roman" pitchFamily="16" charset="0"/>
        <a:ea typeface="宋体" pitchFamily="2" charset="-122"/>
      </a:defRPr>
    </a:lvl8pPr>
    <a:lvl9pPr marL="3657600" lvl="8" indent="-228600" algn="l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buNone/>
      <a:defRPr sz="1200" u="none" kern="1200" baseline="0">
        <a:solidFill>
          <a:srgbClr val="000000"/>
        </a:solidFill>
        <a:latin typeface="Times New Roman" pitchFamily="16" charset="0"/>
        <a:ea typeface="宋体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218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lnSpc>
                <a:spcPct val="90000"/>
              </a:lnSpc>
            </a:pPr>
            <a:r>
              <a:rPr lang="zh-CN" altLang="en-US" sz="2400" dirty="0">
                <a:latin typeface="Tahoma" pitchFamily="34" charset="0"/>
              </a:rPr>
              <a:t>是一种高级语言</a:t>
            </a:r>
            <a:endParaRPr lang="zh-CN" altLang="en-US" sz="2400" dirty="0">
              <a:latin typeface="Tahoma" pitchFamily="34" charset="0"/>
            </a:endParaRPr>
          </a:p>
          <a:p>
            <a:pPr lvl="1" indent="0" eaLnBrk="1" hangingPunct="1">
              <a:lnSpc>
                <a:spcPct val="90000"/>
              </a:lnSpc>
            </a:pPr>
            <a:r>
              <a:rPr lang="zh-CN" altLang="en-US" sz="2000" dirty="0">
                <a:latin typeface="Tahoma" pitchFamily="34" charset="0"/>
              </a:rPr>
              <a:t>高级语言并不是</a:t>
            </a:r>
            <a:r>
              <a:rPr lang="zh-CN" altLang="en-US" sz="2000" dirty="0">
                <a:latin typeface="Arial" panose="02080604020202020204" pitchFamily="34" charset="0"/>
              </a:rPr>
              <a:t>“</a:t>
            </a:r>
            <a:r>
              <a:rPr lang="zh-CN" altLang="en-US" sz="2000" dirty="0">
                <a:latin typeface="Tahoma" pitchFamily="34" charset="0"/>
              </a:rPr>
              <a:t>高级</a:t>
            </a:r>
            <a:r>
              <a:rPr lang="zh-CN" altLang="en-US" sz="2000" dirty="0">
                <a:latin typeface="Arial" panose="02080604020202020204" pitchFamily="34" charset="0"/>
              </a:rPr>
              <a:t>”</a:t>
            </a:r>
            <a:r>
              <a:rPr lang="zh-CN" altLang="en-US" sz="2000" dirty="0">
                <a:latin typeface="Tahoma" pitchFamily="34" charset="0"/>
              </a:rPr>
              <a:t>，只是相对低级语言，在一个高的级别上进行编程</a:t>
            </a:r>
            <a:endParaRPr lang="zh-CN" altLang="en-US" sz="2000" dirty="0">
              <a:latin typeface="Tahoma" pitchFamily="34" charset="0"/>
            </a:endParaRPr>
          </a:p>
          <a:p>
            <a:pPr lvl="0" eaLnBrk="1" hangingPunct="1">
              <a:lnSpc>
                <a:spcPct val="90000"/>
              </a:lnSpc>
            </a:pPr>
            <a:r>
              <a:rPr lang="zh-CN" altLang="en-US" sz="2400" dirty="0">
                <a:latin typeface="Tahoma" pitchFamily="34" charset="0"/>
              </a:rPr>
              <a:t>历史悠久，战勋卓著</a:t>
            </a:r>
            <a:endParaRPr lang="zh-CN" altLang="en-US" sz="2400" dirty="0">
              <a:latin typeface="Tahoma" pitchFamily="34" charset="0"/>
            </a:endParaRPr>
          </a:p>
          <a:p>
            <a:pPr lvl="1" indent="0" eaLnBrk="1" hangingPunct="1">
              <a:lnSpc>
                <a:spcPct val="90000"/>
              </a:lnSpc>
            </a:pPr>
            <a:r>
              <a:rPr lang="zh-CN" altLang="en-US" sz="2000" dirty="0">
                <a:latin typeface="Tahoma" pitchFamily="34" charset="0"/>
              </a:rPr>
              <a:t>诞生于上世纪</a:t>
            </a:r>
            <a:r>
              <a:rPr lang="en-US" altLang="zh-CN" sz="2000" dirty="0">
                <a:latin typeface="Tahoma" pitchFamily="34" charset="0"/>
              </a:rPr>
              <a:t>70</a:t>
            </a:r>
            <a:r>
              <a:rPr lang="zh-CN" altLang="en-US" sz="2000" dirty="0">
                <a:latin typeface="Tahoma" pitchFamily="34" charset="0"/>
              </a:rPr>
              <a:t>年代初，成熟于</a:t>
            </a:r>
            <a:r>
              <a:rPr lang="en-US" altLang="zh-CN" sz="2000" dirty="0">
                <a:latin typeface="Tahoma" pitchFamily="34" charset="0"/>
              </a:rPr>
              <a:t>80</a:t>
            </a:r>
            <a:r>
              <a:rPr lang="zh-CN" altLang="en-US" sz="2000" dirty="0">
                <a:latin typeface="Tahoma" pitchFamily="34" charset="0"/>
              </a:rPr>
              <a:t>年代（</a:t>
            </a:r>
            <a:r>
              <a:rPr lang="en-US" altLang="zh-CN" sz="2000" dirty="0">
                <a:latin typeface="Tahoma" pitchFamily="34" charset="0"/>
              </a:rPr>
              <a:t>C89</a:t>
            </a:r>
            <a:r>
              <a:rPr lang="zh-CN" altLang="en-US" sz="2000" dirty="0">
                <a:latin typeface="Tahoma" pitchFamily="34" charset="0"/>
              </a:rPr>
              <a:t>），修订与</a:t>
            </a:r>
            <a:r>
              <a:rPr lang="en-US" altLang="zh-CN" sz="2000" dirty="0">
                <a:latin typeface="Tahoma" pitchFamily="34" charset="0"/>
              </a:rPr>
              <a:t>90</a:t>
            </a:r>
            <a:r>
              <a:rPr lang="zh-CN" altLang="en-US" sz="2000" dirty="0">
                <a:latin typeface="Tahoma" pitchFamily="34" charset="0"/>
              </a:rPr>
              <a:t>年代（</a:t>
            </a:r>
            <a:r>
              <a:rPr lang="en-US" altLang="zh-CN" sz="2000" dirty="0">
                <a:latin typeface="Tahoma" pitchFamily="34" charset="0"/>
              </a:rPr>
              <a:t>C99</a:t>
            </a:r>
            <a:r>
              <a:rPr lang="zh-CN" altLang="en-US" sz="2000" dirty="0">
                <a:latin typeface="Tahoma" pitchFamily="34" charset="0"/>
              </a:rPr>
              <a:t>）</a:t>
            </a:r>
            <a:endParaRPr lang="zh-CN" altLang="en-US" sz="2000" dirty="0">
              <a:latin typeface="Tahoma" pitchFamily="34" charset="0"/>
            </a:endParaRPr>
          </a:p>
          <a:p>
            <a:pPr lvl="1" indent="0" eaLnBrk="1" hangingPunct="1">
              <a:lnSpc>
                <a:spcPct val="90000"/>
              </a:lnSpc>
            </a:pPr>
            <a:r>
              <a:rPr lang="zh-CN" altLang="en-US" sz="2000" dirty="0">
                <a:latin typeface="Tahoma" pitchFamily="34" charset="0"/>
              </a:rPr>
              <a:t>很多重量级软件都是用</a:t>
            </a:r>
            <a:r>
              <a:rPr lang="en-US" altLang="zh-CN" sz="2000" dirty="0">
                <a:latin typeface="Tahoma" pitchFamily="34" charset="0"/>
              </a:rPr>
              <a:t>C</a:t>
            </a:r>
            <a:r>
              <a:rPr lang="zh-CN" altLang="en-US" sz="2000" dirty="0">
                <a:latin typeface="Tahoma" pitchFamily="34" charset="0"/>
              </a:rPr>
              <a:t>写的</a:t>
            </a:r>
            <a:endParaRPr lang="zh-CN" altLang="en-US" sz="2000" dirty="0">
              <a:latin typeface="Tahoma" pitchFamily="34" charset="0"/>
            </a:endParaRPr>
          </a:p>
          <a:p>
            <a:pPr lvl="0" eaLnBrk="1" hangingPunct="1">
              <a:lnSpc>
                <a:spcPct val="90000"/>
              </a:lnSpc>
            </a:pPr>
            <a:r>
              <a:rPr lang="zh-CN" altLang="en-US" sz="2400" dirty="0">
                <a:latin typeface="Tahoma" pitchFamily="34" charset="0"/>
              </a:rPr>
              <a:t>上天入地，无所不能</a:t>
            </a:r>
            <a:endParaRPr lang="zh-CN" altLang="en-US" sz="2400" dirty="0">
              <a:latin typeface="Tahoma" pitchFamily="34" charset="0"/>
            </a:endParaRPr>
          </a:p>
          <a:p>
            <a:pPr lvl="1" indent="0" eaLnBrk="1" hangingPunct="1">
              <a:lnSpc>
                <a:spcPct val="90000"/>
              </a:lnSpc>
            </a:pPr>
            <a:r>
              <a:rPr lang="zh-CN" altLang="en-US" sz="2000" dirty="0">
                <a:latin typeface="Tahoma" pitchFamily="34" charset="0"/>
              </a:rPr>
              <a:t>几乎没有不能用</a:t>
            </a:r>
            <a:r>
              <a:rPr lang="en-US" altLang="zh-CN" sz="2000" dirty="0">
                <a:latin typeface="Tahoma" pitchFamily="34" charset="0"/>
              </a:rPr>
              <a:t>C</a:t>
            </a:r>
            <a:r>
              <a:rPr lang="zh-CN" altLang="en-US" sz="2000" dirty="0">
                <a:latin typeface="Tahoma" pitchFamily="34" charset="0"/>
              </a:rPr>
              <a:t>写出来的软件，没有不支持</a:t>
            </a:r>
            <a:r>
              <a:rPr lang="en-US" altLang="zh-CN" sz="2000" dirty="0">
                <a:latin typeface="Tahoma" pitchFamily="34" charset="0"/>
              </a:rPr>
              <a:t>C</a:t>
            </a:r>
            <a:r>
              <a:rPr lang="zh-CN" altLang="en-US" sz="2000" dirty="0">
                <a:latin typeface="Tahoma" pitchFamily="34" charset="0"/>
              </a:rPr>
              <a:t>的系统</a:t>
            </a:r>
            <a:endParaRPr lang="zh-CN" altLang="en-US" sz="2000" dirty="0">
              <a:latin typeface="Tahoma" pitchFamily="34" charset="0"/>
            </a:endParaRPr>
          </a:p>
          <a:p>
            <a:pPr lvl="0" eaLnBrk="1" hangingPunct="1">
              <a:lnSpc>
                <a:spcPct val="90000"/>
              </a:lnSpc>
            </a:pPr>
            <a:r>
              <a:rPr lang="zh-CN" altLang="en-US" sz="2400" dirty="0">
                <a:latin typeface="Tahoma" pitchFamily="34" charset="0"/>
              </a:rPr>
              <a:t>很多流行语言、新生语言都借鉴了它的思想、语法</a:t>
            </a:r>
            <a:endParaRPr lang="zh-CN" altLang="en-US" sz="2400" dirty="0">
              <a:latin typeface="Tahoma" pitchFamily="34" charset="0"/>
            </a:endParaRPr>
          </a:p>
          <a:p>
            <a:pPr lvl="1" indent="0" eaLnBrk="1" hangingPunct="1">
              <a:lnSpc>
                <a:spcPct val="90000"/>
              </a:lnSpc>
            </a:pPr>
            <a:r>
              <a:rPr lang="zh-CN" altLang="en-US" sz="2000" dirty="0">
                <a:latin typeface="Tahoma" pitchFamily="34" charset="0"/>
              </a:rPr>
              <a:t>从</a:t>
            </a:r>
            <a:r>
              <a:rPr lang="en-US" altLang="zh-CN" sz="2000" dirty="0">
                <a:latin typeface="Tahoma" pitchFamily="34" charset="0"/>
              </a:rPr>
              <a:t>C++</a:t>
            </a:r>
            <a:r>
              <a:rPr lang="zh-CN" altLang="en-US" sz="2000" dirty="0">
                <a:latin typeface="Tahoma" pitchFamily="34" charset="0"/>
              </a:rPr>
              <a:t>，到</a:t>
            </a:r>
            <a:r>
              <a:rPr lang="en-US" altLang="zh-CN" sz="2000" dirty="0">
                <a:latin typeface="Tahoma" pitchFamily="34" charset="0"/>
              </a:rPr>
              <a:t>Java</a:t>
            </a:r>
            <a:r>
              <a:rPr lang="zh-CN" altLang="en-US" sz="2000" dirty="0">
                <a:latin typeface="Tahoma" pitchFamily="34" charset="0"/>
              </a:rPr>
              <a:t>，再到</a:t>
            </a:r>
            <a:r>
              <a:rPr lang="en-US" altLang="zh-CN" sz="2000" dirty="0">
                <a:latin typeface="Tahoma" pitchFamily="34" charset="0"/>
              </a:rPr>
              <a:t>C#</a:t>
            </a:r>
            <a:r>
              <a:rPr lang="zh-CN" altLang="en-US" sz="2000" dirty="0">
                <a:latin typeface="Tahoma" pitchFamily="34" charset="0"/>
              </a:rPr>
              <a:t>，还有</a:t>
            </a:r>
            <a:r>
              <a:rPr lang="en-US" altLang="zh-CN" sz="2000" dirty="0">
                <a:latin typeface="Tahoma" pitchFamily="34" charset="0"/>
              </a:rPr>
              <a:t>php</a:t>
            </a:r>
            <a:r>
              <a:rPr lang="zh-CN" altLang="en-US" sz="2000" dirty="0">
                <a:latin typeface="Tahoma" pitchFamily="34" charset="0"/>
              </a:rPr>
              <a:t>等</a:t>
            </a:r>
            <a:endParaRPr lang="zh-CN" altLang="en-US" sz="2000" dirty="0">
              <a:latin typeface="Tahoma" pitchFamily="34" charset="0"/>
            </a:endParaRPr>
          </a:p>
          <a:p>
            <a:pPr lvl="0"/>
            <a:endParaRPr lang="zh-CN" altLang="en-US" dirty="0"/>
          </a:p>
        </p:txBody>
      </p:sp>
      <p:sp>
        <p:nvSpPr>
          <p:cNvPr id="9219" name="幻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itchFamily="16" charset="0"/>
              </a:rPr>
            </a:fld>
            <a:endParaRPr lang="zh-CN" altLang="en-US" sz="1200" dirty="0">
              <a:latin typeface="Times New Roman" pitchFamily="16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6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lnSpc>
                <a:spcPct val="90000"/>
              </a:lnSpc>
            </a:pPr>
            <a:r>
              <a:rPr lang="zh-CN" altLang="en-US" sz="2400" dirty="0">
                <a:latin typeface="Tahoma" pitchFamily="34" charset="0"/>
              </a:rPr>
              <a:t>是一种高级语言</a:t>
            </a:r>
            <a:endParaRPr lang="zh-CN" altLang="en-US" sz="2400" dirty="0">
              <a:latin typeface="Tahoma" pitchFamily="34" charset="0"/>
            </a:endParaRPr>
          </a:p>
          <a:p>
            <a:pPr lvl="1" indent="0" eaLnBrk="1" hangingPunct="1">
              <a:lnSpc>
                <a:spcPct val="90000"/>
              </a:lnSpc>
            </a:pPr>
            <a:r>
              <a:rPr lang="zh-CN" altLang="en-US" sz="2000" dirty="0">
                <a:latin typeface="Tahoma" pitchFamily="34" charset="0"/>
              </a:rPr>
              <a:t>高级语言并不是</a:t>
            </a:r>
            <a:r>
              <a:rPr lang="zh-CN" altLang="en-US" sz="2000" dirty="0">
                <a:latin typeface="Arial" panose="02080604020202020204" pitchFamily="34" charset="0"/>
              </a:rPr>
              <a:t>“</a:t>
            </a:r>
            <a:r>
              <a:rPr lang="zh-CN" altLang="en-US" sz="2000" dirty="0">
                <a:latin typeface="Tahoma" pitchFamily="34" charset="0"/>
              </a:rPr>
              <a:t>高级</a:t>
            </a:r>
            <a:r>
              <a:rPr lang="zh-CN" altLang="en-US" sz="2000" dirty="0">
                <a:latin typeface="Arial" panose="02080604020202020204" pitchFamily="34" charset="0"/>
              </a:rPr>
              <a:t>”</a:t>
            </a:r>
            <a:r>
              <a:rPr lang="zh-CN" altLang="en-US" sz="2000" dirty="0">
                <a:latin typeface="Tahoma" pitchFamily="34" charset="0"/>
              </a:rPr>
              <a:t>，只是相对低级语言，在一个高的级别上进行编程</a:t>
            </a:r>
            <a:endParaRPr lang="zh-CN" altLang="en-US" sz="2000" dirty="0">
              <a:latin typeface="Tahoma" pitchFamily="34" charset="0"/>
            </a:endParaRPr>
          </a:p>
          <a:p>
            <a:pPr lvl="0" eaLnBrk="1" hangingPunct="1">
              <a:lnSpc>
                <a:spcPct val="90000"/>
              </a:lnSpc>
            </a:pPr>
            <a:r>
              <a:rPr lang="zh-CN" altLang="en-US" sz="2400" dirty="0">
                <a:latin typeface="Tahoma" pitchFamily="34" charset="0"/>
              </a:rPr>
              <a:t>历史悠久，战勋卓著</a:t>
            </a:r>
            <a:endParaRPr lang="zh-CN" altLang="en-US" sz="2400" dirty="0">
              <a:latin typeface="Tahoma" pitchFamily="34" charset="0"/>
            </a:endParaRPr>
          </a:p>
          <a:p>
            <a:pPr lvl="1" indent="0" eaLnBrk="1" hangingPunct="1">
              <a:lnSpc>
                <a:spcPct val="90000"/>
              </a:lnSpc>
            </a:pPr>
            <a:r>
              <a:rPr lang="zh-CN" altLang="en-US" sz="2000" dirty="0">
                <a:latin typeface="Tahoma" pitchFamily="34" charset="0"/>
              </a:rPr>
              <a:t>诞生于上世纪</a:t>
            </a:r>
            <a:r>
              <a:rPr lang="en-US" altLang="zh-CN" sz="2000" dirty="0">
                <a:latin typeface="Tahoma" pitchFamily="34" charset="0"/>
              </a:rPr>
              <a:t>70</a:t>
            </a:r>
            <a:r>
              <a:rPr lang="zh-CN" altLang="en-US" sz="2000" dirty="0">
                <a:latin typeface="Tahoma" pitchFamily="34" charset="0"/>
              </a:rPr>
              <a:t>年代初，成熟于</a:t>
            </a:r>
            <a:r>
              <a:rPr lang="en-US" altLang="zh-CN" sz="2000" dirty="0">
                <a:latin typeface="Tahoma" pitchFamily="34" charset="0"/>
              </a:rPr>
              <a:t>80</a:t>
            </a:r>
            <a:r>
              <a:rPr lang="zh-CN" altLang="en-US" sz="2000" dirty="0">
                <a:latin typeface="Tahoma" pitchFamily="34" charset="0"/>
              </a:rPr>
              <a:t>年代（</a:t>
            </a:r>
            <a:r>
              <a:rPr lang="en-US" altLang="zh-CN" sz="2000" dirty="0">
                <a:latin typeface="Tahoma" pitchFamily="34" charset="0"/>
              </a:rPr>
              <a:t>C89</a:t>
            </a:r>
            <a:r>
              <a:rPr lang="zh-CN" altLang="en-US" sz="2000" dirty="0">
                <a:latin typeface="Tahoma" pitchFamily="34" charset="0"/>
              </a:rPr>
              <a:t>），修订与</a:t>
            </a:r>
            <a:r>
              <a:rPr lang="en-US" altLang="zh-CN" sz="2000" dirty="0">
                <a:latin typeface="Tahoma" pitchFamily="34" charset="0"/>
              </a:rPr>
              <a:t>90</a:t>
            </a:r>
            <a:r>
              <a:rPr lang="zh-CN" altLang="en-US" sz="2000" dirty="0">
                <a:latin typeface="Tahoma" pitchFamily="34" charset="0"/>
              </a:rPr>
              <a:t>年代（</a:t>
            </a:r>
            <a:r>
              <a:rPr lang="en-US" altLang="zh-CN" sz="2000" dirty="0">
                <a:latin typeface="Tahoma" pitchFamily="34" charset="0"/>
              </a:rPr>
              <a:t>C99</a:t>
            </a:r>
            <a:r>
              <a:rPr lang="zh-CN" altLang="en-US" sz="2000" dirty="0">
                <a:latin typeface="Tahoma" pitchFamily="34" charset="0"/>
              </a:rPr>
              <a:t>）</a:t>
            </a:r>
            <a:endParaRPr lang="zh-CN" altLang="en-US" sz="2000" dirty="0">
              <a:latin typeface="Tahoma" pitchFamily="34" charset="0"/>
            </a:endParaRPr>
          </a:p>
          <a:p>
            <a:pPr lvl="1" indent="0" eaLnBrk="1" hangingPunct="1">
              <a:lnSpc>
                <a:spcPct val="90000"/>
              </a:lnSpc>
            </a:pPr>
            <a:r>
              <a:rPr lang="zh-CN" altLang="en-US" sz="2000" dirty="0">
                <a:latin typeface="Tahoma" pitchFamily="34" charset="0"/>
              </a:rPr>
              <a:t>很多重量级软件都是用</a:t>
            </a:r>
            <a:r>
              <a:rPr lang="en-US" altLang="zh-CN" sz="2000" dirty="0">
                <a:latin typeface="Tahoma" pitchFamily="34" charset="0"/>
              </a:rPr>
              <a:t>C</a:t>
            </a:r>
            <a:r>
              <a:rPr lang="zh-CN" altLang="en-US" sz="2000" dirty="0">
                <a:latin typeface="Tahoma" pitchFamily="34" charset="0"/>
              </a:rPr>
              <a:t>写的</a:t>
            </a:r>
            <a:endParaRPr lang="zh-CN" altLang="en-US" sz="2000" dirty="0">
              <a:latin typeface="Tahoma" pitchFamily="34" charset="0"/>
            </a:endParaRPr>
          </a:p>
          <a:p>
            <a:pPr lvl="0" eaLnBrk="1" hangingPunct="1">
              <a:lnSpc>
                <a:spcPct val="90000"/>
              </a:lnSpc>
            </a:pPr>
            <a:r>
              <a:rPr lang="zh-CN" altLang="en-US" sz="2400" dirty="0">
                <a:latin typeface="Tahoma" pitchFamily="34" charset="0"/>
              </a:rPr>
              <a:t>上天入地，无所不能</a:t>
            </a:r>
            <a:endParaRPr lang="zh-CN" altLang="en-US" sz="2400" dirty="0">
              <a:latin typeface="Tahoma" pitchFamily="34" charset="0"/>
            </a:endParaRPr>
          </a:p>
          <a:p>
            <a:pPr lvl="1" indent="0" eaLnBrk="1" hangingPunct="1">
              <a:lnSpc>
                <a:spcPct val="90000"/>
              </a:lnSpc>
            </a:pPr>
            <a:r>
              <a:rPr lang="zh-CN" altLang="en-US" sz="2000" dirty="0">
                <a:latin typeface="Tahoma" pitchFamily="34" charset="0"/>
              </a:rPr>
              <a:t>几乎没有不能用</a:t>
            </a:r>
            <a:r>
              <a:rPr lang="en-US" altLang="zh-CN" sz="2000" dirty="0">
                <a:latin typeface="Tahoma" pitchFamily="34" charset="0"/>
              </a:rPr>
              <a:t>C</a:t>
            </a:r>
            <a:r>
              <a:rPr lang="zh-CN" altLang="en-US" sz="2000" dirty="0">
                <a:latin typeface="Tahoma" pitchFamily="34" charset="0"/>
              </a:rPr>
              <a:t>写出来的软件，没有不支持</a:t>
            </a:r>
            <a:r>
              <a:rPr lang="en-US" altLang="zh-CN" sz="2000" dirty="0">
                <a:latin typeface="Tahoma" pitchFamily="34" charset="0"/>
              </a:rPr>
              <a:t>C</a:t>
            </a:r>
            <a:r>
              <a:rPr lang="zh-CN" altLang="en-US" sz="2000" dirty="0">
                <a:latin typeface="Tahoma" pitchFamily="34" charset="0"/>
              </a:rPr>
              <a:t>的系统</a:t>
            </a:r>
            <a:endParaRPr lang="zh-CN" altLang="en-US" sz="2000" dirty="0">
              <a:latin typeface="Tahoma" pitchFamily="34" charset="0"/>
            </a:endParaRPr>
          </a:p>
          <a:p>
            <a:pPr lvl="0" eaLnBrk="1" hangingPunct="1">
              <a:lnSpc>
                <a:spcPct val="90000"/>
              </a:lnSpc>
            </a:pPr>
            <a:r>
              <a:rPr lang="zh-CN" altLang="en-US" sz="2400" dirty="0">
                <a:latin typeface="Tahoma" pitchFamily="34" charset="0"/>
              </a:rPr>
              <a:t>很多流行语言、新生语言都借鉴了它的思想、语法</a:t>
            </a:r>
            <a:endParaRPr lang="zh-CN" altLang="en-US" sz="2400" dirty="0">
              <a:latin typeface="Tahoma" pitchFamily="34" charset="0"/>
            </a:endParaRPr>
          </a:p>
          <a:p>
            <a:pPr lvl="1" indent="0" eaLnBrk="1" hangingPunct="1">
              <a:lnSpc>
                <a:spcPct val="90000"/>
              </a:lnSpc>
            </a:pPr>
            <a:r>
              <a:rPr lang="zh-CN" altLang="en-US" sz="2000" dirty="0">
                <a:latin typeface="Tahoma" pitchFamily="34" charset="0"/>
              </a:rPr>
              <a:t>从</a:t>
            </a:r>
            <a:r>
              <a:rPr lang="en-US" altLang="zh-CN" sz="2000" dirty="0">
                <a:latin typeface="Tahoma" pitchFamily="34" charset="0"/>
              </a:rPr>
              <a:t>C++</a:t>
            </a:r>
            <a:r>
              <a:rPr lang="zh-CN" altLang="en-US" sz="2000" dirty="0">
                <a:latin typeface="Tahoma" pitchFamily="34" charset="0"/>
              </a:rPr>
              <a:t>，到</a:t>
            </a:r>
            <a:r>
              <a:rPr lang="en-US" altLang="zh-CN" sz="2000" dirty="0">
                <a:latin typeface="Tahoma" pitchFamily="34" charset="0"/>
              </a:rPr>
              <a:t>Java</a:t>
            </a:r>
            <a:r>
              <a:rPr lang="zh-CN" altLang="en-US" sz="2000" dirty="0">
                <a:latin typeface="Tahoma" pitchFamily="34" charset="0"/>
              </a:rPr>
              <a:t>，再到</a:t>
            </a:r>
            <a:r>
              <a:rPr lang="en-US" altLang="zh-CN" sz="2000" dirty="0">
                <a:latin typeface="Tahoma" pitchFamily="34" charset="0"/>
              </a:rPr>
              <a:t>C#</a:t>
            </a:r>
            <a:r>
              <a:rPr lang="zh-CN" altLang="en-US" sz="2000" dirty="0">
                <a:latin typeface="Tahoma" pitchFamily="34" charset="0"/>
              </a:rPr>
              <a:t>，还有</a:t>
            </a:r>
            <a:r>
              <a:rPr lang="en-US" altLang="zh-CN" sz="2000" dirty="0">
                <a:latin typeface="Tahoma" pitchFamily="34" charset="0"/>
              </a:rPr>
              <a:t>php</a:t>
            </a:r>
            <a:r>
              <a:rPr lang="zh-CN" altLang="en-US" sz="2000" dirty="0">
                <a:latin typeface="Tahoma" pitchFamily="34" charset="0"/>
              </a:rPr>
              <a:t>等</a:t>
            </a:r>
            <a:endParaRPr lang="zh-CN" altLang="en-US" sz="2000" dirty="0">
              <a:latin typeface="Tahoma" pitchFamily="34" charset="0"/>
            </a:endParaRPr>
          </a:p>
          <a:p>
            <a:pPr lvl="0"/>
            <a:endParaRPr lang="zh-CN" altLang="en-US" dirty="0"/>
          </a:p>
        </p:txBody>
      </p:sp>
      <p:sp>
        <p:nvSpPr>
          <p:cNvPr id="11267" name="幻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itchFamily="16" charset="0"/>
                <a:ea typeface="宋体" pitchFamily="2" charset="-122"/>
              </a:rPr>
            </a:fld>
            <a:endParaRPr lang="zh-CN" altLang="en-US" sz="1200" dirty="0">
              <a:latin typeface="Times New Roman" pitchFamily="16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3795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anchor="t" anchorCtr="0"/>
          <a:p>
            <a:pPr lvl="0"/>
            <a:r>
              <a:rPr lang="en-US" altLang="zh-CN" dirty="0"/>
              <a:t>Remote Debugger</a:t>
            </a:r>
            <a:r>
              <a:rPr lang="zh-CN" altLang="en-US" dirty="0"/>
              <a:t>：是 </a:t>
            </a:r>
            <a:r>
              <a:rPr lang="en-US" altLang="zh-CN" dirty="0"/>
              <a:t>Visual Studio </a:t>
            </a:r>
            <a:r>
              <a:rPr lang="zh-CN" altLang="en-US" dirty="0"/>
              <a:t>自带的调试器，作为最先进的开发工具，</a:t>
            </a:r>
            <a:r>
              <a:rPr lang="en-US" altLang="zh-CN" dirty="0"/>
              <a:t>Visual Studio </a:t>
            </a:r>
            <a:r>
              <a:rPr lang="zh-CN" altLang="en-US" dirty="0"/>
              <a:t>的 </a:t>
            </a:r>
            <a:r>
              <a:rPr lang="en-US" altLang="zh-CN" dirty="0"/>
              <a:t>Remote Debugger </a:t>
            </a:r>
            <a:r>
              <a:rPr lang="zh-CN" altLang="en-US" dirty="0"/>
              <a:t>也是相当强大，用起来比较方便。</a:t>
            </a:r>
            <a:endParaRPr lang="zh-CN" altLang="en-US" dirty="0"/>
          </a:p>
          <a:p>
            <a:pPr lvl="0"/>
            <a:r>
              <a:rPr lang="en-US" altLang="zh-CN" dirty="0"/>
              <a:t>WinDbg</a:t>
            </a:r>
            <a:r>
              <a:rPr lang="zh-CN" altLang="en-US" dirty="0"/>
              <a:t>：大名鼎鼎的 </a:t>
            </a:r>
            <a:r>
              <a:rPr lang="en-US" altLang="zh-CN" dirty="0"/>
              <a:t>Windows </a:t>
            </a:r>
            <a:r>
              <a:rPr lang="zh-CN" altLang="en-US" dirty="0"/>
              <a:t>下的调试器，它的调试功能甚至超越了 </a:t>
            </a:r>
            <a:r>
              <a:rPr lang="en-US" altLang="zh-CN" dirty="0"/>
              <a:t>Visual Studio </a:t>
            </a:r>
            <a:r>
              <a:rPr lang="zh-CN" altLang="en-US" dirty="0"/>
              <a:t>的 </a:t>
            </a:r>
            <a:r>
              <a:rPr lang="en-US" altLang="zh-CN" dirty="0"/>
              <a:t>Remote Debugger,</a:t>
            </a:r>
            <a:r>
              <a:rPr lang="zh-CN" altLang="en-US" dirty="0"/>
              <a:t>它还有一个命令行版本 </a:t>
            </a:r>
            <a:r>
              <a:rPr lang="en-US" altLang="zh-CN" dirty="0"/>
              <a:t>(cdb.exe),</a:t>
            </a:r>
            <a:r>
              <a:rPr lang="zh-CN" altLang="en-US" dirty="0"/>
              <a:t>但是这个命令行版本的调试器指令相对复杂。</a:t>
            </a:r>
            <a:endParaRPr lang="zh-CN" altLang="en-US" dirty="0"/>
          </a:p>
          <a:p>
            <a:pPr lvl="0"/>
            <a:r>
              <a:rPr lang="en-US" altLang="zh-CN" dirty="0"/>
              <a:t>LLDB</a:t>
            </a:r>
            <a:r>
              <a:rPr lang="zh-CN" altLang="en-US" dirty="0"/>
              <a:t>：</a:t>
            </a:r>
            <a:r>
              <a:rPr lang="en-US" altLang="zh-CN" dirty="0"/>
              <a:t>XCode </a:t>
            </a:r>
            <a:r>
              <a:rPr lang="zh-CN" altLang="en-US" dirty="0"/>
              <a:t>自带的调试器，</a:t>
            </a:r>
            <a:r>
              <a:rPr lang="en-US" altLang="zh-CN" dirty="0"/>
              <a:t>Mac OS X </a:t>
            </a:r>
            <a:r>
              <a:rPr lang="zh-CN" altLang="en-US" dirty="0"/>
              <a:t>下开发必备调试器。</a:t>
            </a:r>
            <a:endParaRPr lang="zh-CN" altLang="en-US" dirty="0"/>
          </a:p>
          <a:p>
            <a:pPr lvl="0"/>
            <a:r>
              <a:rPr lang="en-US" altLang="zh-CN" dirty="0"/>
              <a:t>GDB</a:t>
            </a:r>
            <a:r>
              <a:rPr lang="zh-CN" altLang="en-US" dirty="0"/>
              <a:t>：</a:t>
            </a:r>
            <a:r>
              <a:rPr lang="en-US" altLang="zh-CN" dirty="0"/>
              <a:t>GNU </a:t>
            </a:r>
            <a:r>
              <a:rPr lang="zh-CN" altLang="en-US" dirty="0"/>
              <a:t>的一款相当强大的调试器，在 </a:t>
            </a:r>
            <a:r>
              <a:rPr lang="en-US" altLang="zh-CN" dirty="0"/>
              <a:t>Linux </a:t>
            </a:r>
            <a:r>
              <a:rPr lang="zh-CN" altLang="en-US" dirty="0"/>
              <a:t>十分盛行，</a:t>
            </a:r>
            <a:r>
              <a:rPr lang="en-US" altLang="zh-CN" dirty="0"/>
              <a:t>Windows </a:t>
            </a:r>
            <a:r>
              <a:rPr lang="zh-CN" altLang="en-US" dirty="0"/>
              <a:t>版本也有不少用户，使用起来比 </a:t>
            </a:r>
            <a:r>
              <a:rPr lang="en-US" altLang="zh-CN" dirty="0"/>
              <a:t>cdb </a:t>
            </a:r>
            <a:r>
              <a:rPr lang="zh-CN" altLang="en-US" dirty="0"/>
              <a:t>简单一些。如果您不使用 </a:t>
            </a:r>
            <a:r>
              <a:rPr lang="en-US" altLang="zh-CN" dirty="0"/>
              <a:t>Visual Studio </a:t>
            </a:r>
            <a:r>
              <a:rPr lang="zh-CN" altLang="en-US" dirty="0"/>
              <a:t>，这将是一个不错的选择。</a:t>
            </a:r>
            <a:endParaRPr lang="zh-CN" altLang="en-US" dirty="0"/>
          </a:p>
        </p:txBody>
      </p:sp>
      <p:sp>
        <p:nvSpPr>
          <p:cNvPr id="33796" name="幻灯片编号占位符 3"/>
          <p:cNvSpPr txBox="1">
            <a:spLocks noGrp="1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itchFamily="16" charset="0"/>
              </a:rPr>
            </a:fld>
            <a:endParaRPr lang="zh-CN" altLang="en-US" sz="1200" dirty="0">
              <a:latin typeface="Times New Roman" pitchFamily="16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endParaRPr lang="zh-CN" altLang="x-none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  <a:tab pos="2244725" algn="l"/>
                <a:tab pos="2695575" algn="l"/>
              </a:tabLst>
            </a:pPr>
            <a:endParaRPr lang="zh-CN" altLang="x-none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fld id="{9A0DB2DC-4C9A-4742-B13C-FB6460FD3503}" type="slidenum">
              <a:rPr lang="zh-CN" altLang="x-none" strike="noStrike" noProof="1">
                <a:latin typeface="Arial" panose="02080604020202020204" pitchFamily="34" charset="0"/>
                <a:ea typeface="+mn-ea"/>
                <a:cs typeface="+mn-cs"/>
              </a:rPr>
            </a:fld>
            <a:endParaRPr lang="zh-CN" altLang="x-none" strike="noStrike" noProof="1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endParaRPr lang="zh-CN" altLang="x-none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  <a:tab pos="2244725" algn="l"/>
                <a:tab pos="2695575" algn="l"/>
              </a:tabLst>
            </a:pPr>
            <a:endParaRPr lang="zh-CN" altLang="x-none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fld id="{9A0DB2DC-4C9A-4742-B13C-FB6460FD3503}" type="slidenum">
              <a:rPr lang="zh-CN" altLang="x-none" strike="noStrike" noProof="1">
                <a:latin typeface="Arial" panose="02080604020202020204" pitchFamily="34" charset="0"/>
                <a:ea typeface="+mn-ea"/>
                <a:cs typeface="+mn-cs"/>
              </a:rPr>
            </a:fld>
            <a:endParaRPr lang="zh-CN" altLang="x-none" strike="noStrike" noProof="1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endParaRPr lang="zh-CN" altLang="x-none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  <a:tab pos="2244725" algn="l"/>
                <a:tab pos="2695575" algn="l"/>
              </a:tabLst>
            </a:pPr>
            <a:endParaRPr lang="zh-CN" altLang="x-none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fld id="{9A0DB2DC-4C9A-4742-B13C-FB6460FD3503}" type="slidenum">
              <a:rPr lang="zh-CN" altLang="x-none" strike="noStrike" noProof="1">
                <a:latin typeface="Arial" panose="02080604020202020204" pitchFamily="34" charset="0"/>
                <a:ea typeface="+mn-ea"/>
                <a:cs typeface="+mn-cs"/>
              </a:rPr>
            </a:fld>
            <a:endParaRPr lang="zh-CN" altLang="x-none" strike="noStrike" noProof="1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1726" cy="45243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3487" y="1600200"/>
            <a:ext cx="4031726" cy="45243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endParaRPr lang="zh-CN" altLang="x-none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  <a:tab pos="2244725" algn="l"/>
                <a:tab pos="2695575" algn="l"/>
              </a:tabLst>
            </a:pPr>
            <a:endParaRPr lang="zh-CN" altLang="x-none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fld id="{9A0DB2DC-4C9A-4742-B13C-FB6460FD3503}" type="slidenum">
              <a:rPr lang="zh-CN" altLang="x-none" strike="noStrike" noProof="1">
                <a:latin typeface="Arial" panose="02080604020202020204" pitchFamily="34" charset="0"/>
                <a:ea typeface="+mn-ea"/>
                <a:cs typeface="+mn-cs"/>
              </a:rPr>
            </a:fld>
            <a:endParaRPr lang="zh-CN" altLang="x-none" strike="noStrike" noProof="1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endParaRPr lang="zh-CN" altLang="x-none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  <a:tab pos="2244725" algn="l"/>
                <a:tab pos="2695575" algn="l"/>
              </a:tabLst>
            </a:pPr>
            <a:endParaRPr lang="zh-CN" altLang="x-none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fld id="{9A0DB2DC-4C9A-4742-B13C-FB6460FD3503}" type="slidenum">
              <a:rPr lang="zh-CN" altLang="x-none" strike="noStrike" noProof="1">
                <a:latin typeface="Arial" panose="02080604020202020204" pitchFamily="34" charset="0"/>
                <a:ea typeface="+mn-ea"/>
                <a:cs typeface="+mn-cs"/>
              </a:rPr>
            </a:fld>
            <a:endParaRPr lang="zh-CN" altLang="x-none" strike="noStrike" noProof="1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endParaRPr lang="zh-CN" altLang="x-none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  <a:tab pos="2244725" algn="l"/>
                <a:tab pos="2695575" algn="l"/>
              </a:tabLst>
            </a:pPr>
            <a:endParaRPr lang="zh-CN" altLang="x-none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fld id="{9A0DB2DC-4C9A-4742-B13C-FB6460FD3503}" type="slidenum">
              <a:rPr lang="zh-CN" altLang="x-none" strike="noStrike" noProof="1">
                <a:latin typeface="Arial" panose="02080604020202020204" pitchFamily="34" charset="0"/>
                <a:ea typeface="+mn-ea"/>
                <a:cs typeface="+mn-cs"/>
              </a:rPr>
            </a:fld>
            <a:endParaRPr lang="zh-CN" altLang="x-none" strike="noStrike" noProof="1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endParaRPr lang="zh-CN" altLang="x-none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  <a:tab pos="2244725" algn="l"/>
                <a:tab pos="2695575" algn="l"/>
              </a:tabLst>
            </a:pPr>
            <a:endParaRPr lang="zh-CN" altLang="x-none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fld id="{9A0DB2DC-4C9A-4742-B13C-FB6460FD3503}" type="slidenum">
              <a:rPr lang="zh-CN" altLang="x-none" strike="noStrike" noProof="1">
                <a:latin typeface="Arial" panose="02080604020202020204" pitchFamily="34" charset="0"/>
                <a:ea typeface="+mn-ea"/>
                <a:cs typeface="+mn-cs"/>
              </a:rPr>
            </a:fld>
            <a:endParaRPr lang="zh-CN" altLang="x-none" strike="noStrike" noProof="1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endParaRPr lang="zh-CN" altLang="x-none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  <a:tab pos="2244725" algn="l"/>
                <a:tab pos="2695575" algn="l"/>
              </a:tabLst>
            </a:pPr>
            <a:endParaRPr lang="zh-CN" altLang="x-none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fld id="{9A0DB2DC-4C9A-4742-B13C-FB6460FD3503}" type="slidenum">
              <a:rPr lang="zh-CN" altLang="x-none" strike="noStrike" noProof="1">
                <a:latin typeface="Arial" panose="02080604020202020204" pitchFamily="34" charset="0"/>
                <a:ea typeface="+mn-ea"/>
                <a:cs typeface="+mn-cs"/>
              </a:rPr>
            </a:fld>
            <a:endParaRPr lang="zh-CN" altLang="x-none" strike="noStrike" noProof="1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endParaRPr lang="zh-CN" altLang="x-none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  <a:tab pos="2244725" algn="l"/>
                <a:tab pos="2695575" algn="l"/>
              </a:tabLst>
            </a:pPr>
            <a:endParaRPr lang="zh-CN" altLang="x-none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fld id="{9A0DB2DC-4C9A-4742-B13C-FB6460FD3503}" type="slidenum">
              <a:rPr lang="zh-CN" altLang="x-none" strike="noStrike" noProof="1">
                <a:latin typeface="Arial" panose="02080604020202020204" pitchFamily="34" charset="0"/>
                <a:ea typeface="+mn-ea"/>
                <a:cs typeface="+mn-cs"/>
              </a:rPr>
            </a:fld>
            <a:endParaRPr lang="zh-CN" altLang="x-none" strike="noStrike" noProof="1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endParaRPr lang="zh-CN" altLang="x-none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  <a:tab pos="2244725" algn="l"/>
                <a:tab pos="2695575" algn="l"/>
              </a:tabLst>
            </a:pPr>
            <a:endParaRPr lang="zh-CN" altLang="x-none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fld id="{9A0DB2DC-4C9A-4742-B13C-FB6460FD3503}" type="slidenum">
              <a:rPr lang="zh-CN" altLang="x-none" strike="noStrike" noProof="1">
                <a:latin typeface="Arial" panose="02080604020202020204" pitchFamily="34" charset="0"/>
                <a:ea typeface="+mn-ea"/>
                <a:cs typeface="+mn-cs"/>
              </a:rPr>
            </a:fld>
            <a:endParaRPr lang="zh-CN" altLang="x-none" strike="noStrike" noProof="1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8210" y="274638"/>
            <a:ext cx="2057003" cy="5849937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1763" cy="5849937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endParaRPr lang="zh-CN" altLang="x-none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  <a:tab pos="2244725" algn="l"/>
                <a:tab pos="2695575" algn="l"/>
              </a:tabLst>
            </a:pPr>
            <a:endParaRPr lang="zh-CN" altLang="x-none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fld id="{9A0DB2DC-4C9A-4742-B13C-FB6460FD3503}" type="slidenum">
              <a:rPr lang="zh-CN" altLang="x-none" strike="noStrike" noProof="1">
                <a:latin typeface="Arial" panose="02080604020202020204" pitchFamily="34" charset="0"/>
                <a:ea typeface="+mn-ea"/>
                <a:cs typeface="+mn-cs"/>
              </a:rPr>
            </a:fld>
            <a:endParaRPr lang="zh-CN" altLang="x-none" strike="noStrike" noProof="1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8013" cy="114141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/>
          <a:p>
            <a:pPr lvl="0"/>
            <a:r>
              <a:rPr lang="en-US" altLang="zh-CN"/>
              <a:t>Click to edit the title text format</a:t>
            </a:r>
            <a:endParaRPr lang="en-US" altLang="zh-CN"/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013" cy="452437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t" anchorCtr="0"/>
          <a:p>
            <a:pPr lvl="0"/>
            <a:r>
              <a:rPr lang="en-US" altLang="zh-CN"/>
              <a:t>Click to edit the outline text format</a:t>
            </a:r>
            <a:endParaRPr lang="en-US" altLang="zh-CN"/>
          </a:p>
          <a:p>
            <a:pPr lvl="1"/>
            <a:r>
              <a:rPr lang="en-US" altLang="zh-CN"/>
              <a:t>Second Outline Level</a:t>
            </a:r>
            <a:endParaRPr lang="en-US" altLang="zh-CN"/>
          </a:p>
          <a:p>
            <a:pPr lvl="2"/>
            <a:r>
              <a:rPr lang="en-US" altLang="zh-CN"/>
              <a:t>Third Outline Level</a:t>
            </a:r>
            <a:endParaRPr lang="en-US" altLang="zh-CN"/>
          </a:p>
          <a:p>
            <a:pPr lvl="3"/>
            <a:r>
              <a:rPr lang="en-US" altLang="zh-CN"/>
              <a:t>Fourth Outline Level</a:t>
            </a:r>
            <a:endParaRPr lang="en-US" altLang="zh-CN"/>
          </a:p>
          <a:p>
            <a:pPr lvl="4"/>
            <a:r>
              <a:rPr lang="en-US" altLang="zh-CN"/>
              <a:t>Fifth Outline Level</a:t>
            </a:r>
            <a:endParaRPr lang="en-US" altLang="zh-CN"/>
          </a:p>
          <a:p>
            <a:pPr lvl="4"/>
            <a:r>
              <a:rPr lang="en-US" altLang="zh-CN"/>
              <a:t>Sixth Outline Level</a:t>
            </a:r>
            <a:endParaRPr lang="en-US" altLang="zh-CN"/>
          </a:p>
          <a:p>
            <a:pPr lvl="4"/>
            <a:r>
              <a:rPr lang="en-US" altLang="zh-CN"/>
              <a:t>Seventh Outline Level</a:t>
            </a:r>
            <a:endParaRPr lang="en-US" altLang="zh-CN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2013" cy="47466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>
            <a:lvl1pPr marL="0" indent="0">
              <a:defRPr sz="1400"/>
            </a:lvl1pPr>
          </a:lstStyle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endParaRPr lang="zh-CN" altLang="x-none" strike="noStrike" noProof="1"/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4013" cy="47466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>
            <a:lvl1pPr marL="0" indent="0" algn="ctr">
              <a:defRPr sz="1400"/>
            </a:lvl1pPr>
          </a:lstStyle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  <a:tab pos="2244725" algn="l"/>
                <a:tab pos="2695575" algn="l"/>
              </a:tabLst>
            </a:pPr>
            <a:endParaRPr lang="zh-CN" altLang="x-none" strike="noStrike" noProof="1"/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2013" cy="47466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>
            <a:lvl1pPr marL="0" indent="0" algn="r">
              <a:defRPr sz="1400"/>
            </a:lvl1pPr>
          </a:lstStyle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fld id="{9A0DB2DC-4C9A-4742-B13C-FB6460FD3503}" type="slidenum">
              <a:rPr lang="zh-CN" altLang="x-none" strike="noStrike" noProof="1">
                <a:latin typeface="Arial" panose="02080604020202020204" pitchFamily="34" charset="0"/>
                <a:ea typeface="+mn-ea"/>
                <a:cs typeface="+mn-cs"/>
              </a:rPr>
            </a:fld>
            <a:endParaRPr lang="zh-CN" altLang="x-none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hf sldNum="0" hdr="0" ftr="0" dt="0"/>
  <p:txStyles>
    <p:titleStyle>
      <a:lvl1pPr marL="0" lvl="0" indent="0" algn="ctr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buNone/>
        <a:defRPr sz="4400" u="none" kern="1200" baseline="0">
          <a:solidFill>
            <a:srgbClr val="000000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buNone/>
        <a:defRPr sz="320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buNone/>
        <a:defRPr sz="2800" u="none" kern="1200" baseline="0">
          <a:solidFill>
            <a:srgbClr val="000000"/>
          </a:solidFill>
          <a:latin typeface="Arial" panose="02080604020202020204" pitchFamily="34" charset="0"/>
          <a:ea typeface="Arial" panose="02080604020202020204" pitchFamily="34" charset="0"/>
          <a:cs typeface="+mn-cs"/>
        </a:defRPr>
      </a:lvl2pPr>
      <a:lvl3pPr marL="1143000" lvl="2" indent="-228600" algn="l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buNone/>
        <a:defRPr sz="2400" u="none" kern="1200" baseline="0">
          <a:solidFill>
            <a:srgbClr val="000000"/>
          </a:solidFill>
          <a:latin typeface="Arial" panose="02080604020202020204" pitchFamily="34" charset="0"/>
          <a:ea typeface="Arial" panose="02080604020202020204" pitchFamily="34" charset="0"/>
          <a:cs typeface="+mn-cs"/>
        </a:defRPr>
      </a:lvl3pPr>
      <a:lvl4pPr marL="1600200" lvl="3" indent="-228600" algn="l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buNone/>
        <a:defRPr sz="2000" u="none" kern="1200" baseline="0">
          <a:solidFill>
            <a:srgbClr val="000000"/>
          </a:solidFill>
          <a:latin typeface="Arial" panose="02080604020202020204" pitchFamily="34" charset="0"/>
          <a:ea typeface="Arial" panose="02080604020202020204" pitchFamily="34" charset="0"/>
          <a:cs typeface="+mn-cs"/>
        </a:defRPr>
      </a:lvl4pPr>
      <a:lvl5pPr marL="2057400" lvl="4" indent="-228600" algn="l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buNone/>
        <a:defRPr sz="2000" u="none" kern="1200" baseline="0">
          <a:solidFill>
            <a:srgbClr val="000000"/>
          </a:solidFill>
          <a:latin typeface="Arial" panose="02080604020202020204" pitchFamily="34" charset="0"/>
          <a:ea typeface="Arial" panose="02080604020202020204" pitchFamily="34" charset="0"/>
          <a:cs typeface="+mn-cs"/>
        </a:defRPr>
      </a:lvl5pPr>
      <a:lvl6pPr marL="2514600" lvl="5" indent="-228600" algn="l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buNone/>
        <a:defRPr sz="2000" u="none" kern="1200" baseline="0">
          <a:solidFill>
            <a:srgbClr val="000000"/>
          </a:solidFill>
          <a:latin typeface="Arial" panose="02080604020202020204" pitchFamily="34" charset="0"/>
          <a:ea typeface="Arial" panose="02080604020202020204" pitchFamily="34" charset="0"/>
          <a:cs typeface="+mn-cs"/>
        </a:defRPr>
      </a:lvl6pPr>
      <a:lvl7pPr marL="2971800" lvl="6" indent="-228600" algn="l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buNone/>
        <a:defRPr sz="2000" u="none" kern="1200" baseline="0">
          <a:solidFill>
            <a:srgbClr val="000000"/>
          </a:solidFill>
          <a:latin typeface="Arial" panose="02080604020202020204" pitchFamily="34" charset="0"/>
          <a:ea typeface="Arial" panose="02080604020202020204" pitchFamily="34" charset="0"/>
          <a:cs typeface="+mn-cs"/>
        </a:defRPr>
      </a:lvl7pPr>
      <a:lvl8pPr marL="3429000" lvl="7" indent="-228600" algn="l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buNone/>
        <a:defRPr sz="2000" u="none" kern="1200" baseline="0">
          <a:solidFill>
            <a:srgbClr val="000000"/>
          </a:solidFill>
          <a:latin typeface="Arial" panose="02080604020202020204" pitchFamily="34" charset="0"/>
          <a:ea typeface="Arial" panose="02080604020202020204" pitchFamily="34" charset="0"/>
          <a:cs typeface="+mn-cs"/>
        </a:defRPr>
      </a:lvl8pPr>
      <a:lvl9pPr marL="3886200" lvl="8" indent="-228600" algn="l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buNone/>
        <a:defRPr sz="2000" u="none" kern="1200" baseline="0">
          <a:solidFill>
            <a:srgbClr val="000000"/>
          </a:solidFill>
          <a:latin typeface="Arial" panose="02080604020202020204" pitchFamily="34" charset="0"/>
          <a:ea typeface="Arial" panose="02080604020202020204" pitchFamily="34" charset="0"/>
          <a:cs typeface="+mn-cs"/>
        </a:defRPr>
      </a:lvl9pPr>
    </p:bodyStyle>
    <p:otherStyle>
      <a:lvl1pPr marL="0" lvl="0" indent="0" algn="l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buNone/>
        <a:defRPr sz="180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buNone/>
        <a:defRPr sz="1800" u="none" kern="1200" baseline="0">
          <a:solidFill>
            <a:srgbClr val="000000"/>
          </a:solidFill>
          <a:latin typeface="Arial" panose="02080604020202020204" pitchFamily="34" charset="0"/>
          <a:ea typeface="+mn-ea"/>
          <a:cs typeface="+mn-cs"/>
        </a:defRPr>
      </a:lvl2pPr>
      <a:lvl3pPr marL="1143000" lvl="2" indent="-228600" algn="l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buNone/>
        <a:defRPr sz="1800" u="none" kern="1200" baseline="0">
          <a:solidFill>
            <a:srgbClr val="000000"/>
          </a:solidFill>
          <a:latin typeface="Arial" panose="02080604020202020204" pitchFamily="34" charset="0"/>
          <a:ea typeface="+mn-ea"/>
          <a:cs typeface="+mn-cs"/>
        </a:defRPr>
      </a:lvl3pPr>
      <a:lvl4pPr marL="1600200" lvl="3" indent="-228600" algn="l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buNone/>
        <a:defRPr sz="1800" u="none" kern="1200" baseline="0">
          <a:solidFill>
            <a:srgbClr val="000000"/>
          </a:solidFill>
          <a:latin typeface="Arial" panose="02080604020202020204" pitchFamily="34" charset="0"/>
          <a:ea typeface="+mn-ea"/>
          <a:cs typeface="+mn-cs"/>
        </a:defRPr>
      </a:lvl4pPr>
      <a:lvl5pPr marL="2057400" lvl="4" indent="-228600" algn="l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buNone/>
        <a:defRPr sz="1800" u="none" kern="1200" baseline="0">
          <a:solidFill>
            <a:srgbClr val="000000"/>
          </a:solidFill>
          <a:latin typeface="Arial" panose="02080604020202020204" pitchFamily="34" charset="0"/>
          <a:ea typeface="+mn-ea"/>
          <a:cs typeface="+mn-cs"/>
        </a:defRPr>
      </a:lvl5pPr>
      <a:lvl6pPr marL="2286000" lvl="5" indent="-228600" algn="l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buNone/>
        <a:defRPr sz="1800" u="none" kern="1200" baseline="0">
          <a:solidFill>
            <a:srgbClr val="000000"/>
          </a:solidFill>
          <a:latin typeface="Arial" panose="02080604020202020204" pitchFamily="34" charset="0"/>
          <a:ea typeface="+mn-ea"/>
          <a:cs typeface="+mn-cs"/>
        </a:defRPr>
      </a:lvl6pPr>
      <a:lvl7pPr marL="2743200" lvl="6" indent="-228600" algn="l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buNone/>
        <a:defRPr sz="1800" u="none" kern="1200" baseline="0">
          <a:solidFill>
            <a:srgbClr val="000000"/>
          </a:solidFill>
          <a:latin typeface="Arial" panose="02080604020202020204" pitchFamily="34" charset="0"/>
          <a:ea typeface="+mn-ea"/>
          <a:cs typeface="+mn-cs"/>
        </a:defRPr>
      </a:lvl7pPr>
      <a:lvl8pPr marL="3200400" lvl="7" indent="-228600" algn="l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buNone/>
        <a:defRPr sz="1800" u="none" kern="1200" baseline="0">
          <a:solidFill>
            <a:srgbClr val="000000"/>
          </a:solidFill>
          <a:latin typeface="Arial" panose="02080604020202020204" pitchFamily="34" charset="0"/>
          <a:ea typeface="+mn-ea"/>
          <a:cs typeface="+mn-cs"/>
        </a:defRPr>
      </a:lvl8pPr>
      <a:lvl9pPr marL="3657600" lvl="8" indent="-228600" algn="l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buNone/>
        <a:defRPr sz="1800" u="none" kern="1200" baseline="0">
          <a:solidFill>
            <a:srgbClr val="000000"/>
          </a:solidFill>
          <a:latin typeface="Arial" panose="0208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microsoft.com/office/2007/relationships/media" Target="../media/media1.mp4"/><Relationship Id="rId3" Type="http://schemas.openxmlformats.org/officeDocument/2006/relationships/video" Target="../media/media1.mp4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4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4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5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5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8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9.jpe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Rectangle 1028"/>
          <p:cNvSpPr>
            <a:spLocks noGrp="1"/>
          </p:cNvSpPr>
          <p:nvPr>
            <p:ph type="ctr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>
                <a:solidFill>
                  <a:srgbClr val="FFFFFF"/>
                </a:solidFill>
                <a:latin typeface="+mj-lt"/>
                <a:ea typeface="+mj-ea"/>
                <a:cs typeface="宋体" charset="0"/>
              </a:rPr>
              <a:t>程序设计基础</a:t>
            </a:r>
            <a:endParaRPr lang="zh-CN" altLang="en-US" dirty="0">
              <a:solidFill>
                <a:srgbClr val="FFFFFF"/>
              </a:solidFill>
              <a:latin typeface="+mj-lt"/>
              <a:ea typeface="+mj-ea"/>
              <a:cs typeface="宋体" charset="0"/>
            </a:endParaRPr>
          </a:p>
        </p:txBody>
      </p:sp>
      <p:sp>
        <p:nvSpPr>
          <p:cNvPr id="7170" name="Rectangle 1030"/>
          <p:cNvSpPr/>
          <p:nvPr/>
        </p:nvSpPr>
        <p:spPr>
          <a:xfrm>
            <a:off x="1263650" y="3816033"/>
            <a:ext cx="7229475" cy="242093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sz="3600" dirty="0">
                <a:latin typeface="+mj-lt"/>
                <a:ea typeface="+mj-ea"/>
                <a:cs typeface="+mj-cs"/>
              </a:rPr>
              <a:t>人工智能学院  胡晓雁</a:t>
            </a:r>
            <a:endParaRPr lang="zh-CN" altLang="en-US" sz="3600" dirty="0"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sz="3600" dirty="0">
                <a:latin typeface="+mj-lt"/>
                <a:ea typeface="+mj-ea"/>
                <a:cs typeface="+mj-cs"/>
              </a:rPr>
              <a:t>Email: huxy@bnu.edu.cn</a:t>
            </a:r>
            <a:endParaRPr lang="zh-CN" altLang="en-US" sz="3600" dirty="0"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sz="3600" dirty="0">
                <a:latin typeface="+mj-lt"/>
                <a:ea typeface="+mj-ea"/>
                <a:cs typeface="+mj-cs"/>
              </a:rPr>
              <a:t>TEL:13910181464 </a:t>
            </a:r>
            <a:endParaRPr lang="zh-CN" altLang="en-US" sz="3600" dirty="0"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sz="3600" dirty="0">
                <a:latin typeface="+mj-lt"/>
                <a:ea typeface="+mj-ea"/>
                <a:cs typeface="+mj-cs"/>
              </a:rPr>
              <a:t>办公室：电子楼</a:t>
            </a:r>
            <a:r>
              <a:rPr lang="x-none" altLang="zh-CN" sz="3600" dirty="0">
                <a:latin typeface="+mj-lt"/>
                <a:ea typeface="+mj-ea"/>
                <a:cs typeface="+mj-cs"/>
              </a:rPr>
              <a:t>311</a:t>
            </a:r>
            <a:endParaRPr lang="x-none" altLang="zh-CN" sz="3600" dirty="0">
              <a:latin typeface="+mj-lt"/>
              <a:ea typeface="+mj-ea"/>
              <a:cs typeface="+mj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27760" y="1036320"/>
            <a:ext cx="6888480" cy="14452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8800" dirty="0">
                <a:solidFill>
                  <a:schemeClr val="accent2"/>
                </a:solidFill>
                <a:latin typeface="+mj-lt"/>
                <a:ea typeface="+mj-ea"/>
                <a:cs typeface="宋体" charset="0"/>
                <a:sym typeface="+mn-ea"/>
              </a:rPr>
              <a:t>程序设计基础</a:t>
            </a:r>
            <a:endParaRPr lang="zh-CN" altLang="en-US" sz="8800" dirty="0">
              <a:solidFill>
                <a:schemeClr val="accent2"/>
              </a:solidFill>
              <a:latin typeface="+mj-lt"/>
              <a:ea typeface="+mj-ea"/>
              <a:cs typeface="宋体" charset="0"/>
              <a:sym typeface="+mn-ea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Rectangle 6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为什么要学习</a:t>
            </a:r>
            <a:r>
              <a:rPr lang="en-US" altLang="zh-CN" dirty="0"/>
              <a:t>C</a:t>
            </a:r>
            <a:r>
              <a:rPr lang="zh-CN" altLang="en-US" dirty="0"/>
              <a:t>语言？</a:t>
            </a:r>
            <a:endParaRPr lang="zh-CN" altLang="en-US" dirty="0"/>
          </a:p>
        </p:txBody>
      </p:sp>
      <p:pic>
        <p:nvPicPr>
          <p:cNvPr id="8194" name="图片 2" descr="屏幕快照 2017-02-11 下午6.48.1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00530"/>
            <a:ext cx="9144000" cy="4394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Rectangle 6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为什么要学习</a:t>
            </a:r>
            <a:r>
              <a:rPr lang="en-US" altLang="zh-CN" dirty="0"/>
              <a:t>C</a:t>
            </a:r>
            <a:r>
              <a:rPr lang="zh-CN" altLang="en-US" dirty="0"/>
              <a:t>语言？</a:t>
            </a:r>
            <a:endParaRPr lang="zh-CN" altLang="en-US" dirty="0"/>
          </a:p>
        </p:txBody>
      </p:sp>
      <p:pic>
        <p:nvPicPr>
          <p:cNvPr id="10242" name="图片 1" descr="深度截图_选择区域_202002101714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88" y="1601788"/>
            <a:ext cx="9039225" cy="42291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sym typeface="+mn-ea"/>
              </a:rPr>
              <a:t>为什么要学习</a:t>
            </a:r>
            <a:r>
              <a:rPr lang="en-US" altLang="zh-CN" dirty="0">
                <a:sym typeface="+mn-ea"/>
              </a:rPr>
              <a:t>C</a:t>
            </a:r>
            <a:r>
              <a:rPr lang="zh-CN" altLang="en-US" dirty="0">
                <a:sym typeface="+mn-ea"/>
              </a:rPr>
              <a:t>语言？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8265" y="2252345"/>
            <a:ext cx="8967470" cy="297370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dirty="0"/>
              <a:t>C</a:t>
            </a:r>
            <a:r>
              <a:rPr lang="zh-CN" altLang="en-US" dirty="0"/>
              <a:t>语言与</a:t>
            </a:r>
            <a:r>
              <a:rPr lang="en-US" altLang="zh-CN" dirty="0"/>
              <a:t>python</a:t>
            </a:r>
            <a:r>
              <a:rPr lang="zh-CN" altLang="en-US" dirty="0"/>
              <a:t>语言的不同</a:t>
            </a:r>
            <a:endParaRPr lang="zh-CN" altLang="en-US" dirty="0"/>
          </a:p>
        </p:txBody>
      </p:sp>
      <p:sp>
        <p:nvSpPr>
          <p:cNvPr id="12290" name="内容占位符 2"/>
          <p:cNvSpPr>
            <a:spLocks noGrp="1"/>
          </p:cNvSpPr>
          <p:nvPr>
            <p:ph idx="1"/>
          </p:nvPr>
        </p:nvSpPr>
        <p:spPr>
          <a:xfrm>
            <a:off x="250825" y="1413510"/>
            <a:ext cx="8713788" cy="5129213"/>
          </a:xfrm>
        </p:spPr>
        <p:txBody>
          <a:bodyPr vert="horz" wrap="square" lIns="91440" tIns="45720" rIns="91440" bIns="45720" anchor="t" anchorCtr="0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en-US" altLang="zh-CN" dirty="0">
                <a:solidFill>
                  <a:schemeClr val="accent4"/>
                </a:solidFill>
              </a:rPr>
              <a:t>Python</a:t>
            </a:r>
            <a:r>
              <a:rPr lang="zh-CN" altLang="en-US" dirty="0">
                <a:solidFill>
                  <a:schemeClr val="accent4"/>
                </a:solidFill>
              </a:rPr>
              <a:t>的设计理念</a:t>
            </a:r>
            <a:endParaRPr lang="en-US" altLang="zh-CN" dirty="0">
              <a:solidFill>
                <a:schemeClr val="accent4"/>
              </a:solidFill>
            </a:endParaRPr>
          </a:p>
          <a:p>
            <a:pPr lvl="1"/>
            <a:r>
              <a:rPr lang="zh-CN" altLang="en-US" dirty="0">
                <a:solidFill>
                  <a:schemeClr val="accent4"/>
                </a:solidFill>
              </a:rPr>
              <a:t>  无所不用其极地适应人的直觉</a:t>
            </a:r>
            <a:endParaRPr lang="en-US" altLang="zh-CN" dirty="0">
              <a:solidFill>
                <a:schemeClr val="accent4"/>
              </a:solidFill>
            </a:endParaRPr>
          </a:p>
          <a:p>
            <a:pPr lvl="1"/>
            <a:r>
              <a:rPr lang="zh-CN" altLang="en-US" dirty="0">
                <a:solidFill>
                  <a:schemeClr val="accent4"/>
                </a:solidFill>
              </a:rPr>
              <a:t>  可执行的伪代码</a:t>
            </a:r>
            <a:endParaRPr lang="en-US" altLang="zh-CN" dirty="0">
              <a:solidFill>
                <a:schemeClr val="accent4"/>
              </a:solidFill>
            </a:endParaRPr>
          </a:p>
          <a:p>
            <a:r>
              <a:rPr lang="en-US" altLang="zh-CN" dirty="0">
                <a:solidFill>
                  <a:schemeClr val="accent4"/>
                </a:solidFill>
              </a:rPr>
              <a:t>C</a:t>
            </a:r>
            <a:r>
              <a:rPr lang="zh-CN" altLang="en-US" dirty="0">
                <a:solidFill>
                  <a:schemeClr val="accent4"/>
                </a:solidFill>
              </a:rPr>
              <a:t>的设计精神</a:t>
            </a:r>
            <a:endParaRPr lang="zh-CN" altLang="zh-CN" dirty="0">
              <a:solidFill>
                <a:schemeClr val="accent4"/>
              </a:solidFill>
            </a:endParaRPr>
          </a:p>
          <a:p>
            <a:pPr lvl="1"/>
            <a:r>
              <a:rPr lang="en-US" altLang="zh-CN" dirty="0">
                <a:solidFill>
                  <a:schemeClr val="accent4"/>
                </a:solidFill>
              </a:rPr>
              <a:t>  Make it fast, even if it is not guaranteed to be portable.(C</a:t>
            </a:r>
            <a:r>
              <a:rPr lang="zh-CN" altLang="en-US" dirty="0">
                <a:solidFill>
                  <a:schemeClr val="accent4"/>
                </a:solidFill>
              </a:rPr>
              <a:t>标准委员会写的</a:t>
            </a:r>
            <a:r>
              <a:rPr lang="en-US" altLang="zh-CN" dirty="0">
                <a:solidFill>
                  <a:schemeClr val="accent4"/>
                </a:solidFill>
              </a:rPr>
              <a:t>C</a:t>
            </a:r>
            <a:r>
              <a:rPr lang="zh-CN" altLang="en-US" dirty="0">
                <a:solidFill>
                  <a:schemeClr val="accent4"/>
                </a:solidFill>
              </a:rPr>
              <a:t>语言基本原理</a:t>
            </a:r>
            <a:r>
              <a:rPr lang="en-US" altLang="zh-CN" u="sng" dirty="0">
                <a:solidFill>
                  <a:schemeClr val="accent2"/>
                </a:solidFill>
                <a:effectLst/>
              </a:rPr>
              <a:t>http://www.open-std.org/jtc1/sc22/wg14/www/C99RationaleV5.10.pdf</a:t>
            </a:r>
            <a:r>
              <a:rPr lang="en-US" altLang="zh-CN" dirty="0">
                <a:solidFill>
                  <a:schemeClr val="accent2"/>
                </a:solidFill>
                <a:effectLst/>
              </a:rPr>
              <a:t>)</a:t>
            </a:r>
            <a:endParaRPr lang="en-US" altLang="zh-CN" dirty="0">
              <a:solidFill>
                <a:schemeClr val="accent4"/>
              </a:solidFill>
            </a:endParaRPr>
          </a:p>
          <a:p>
            <a:pPr lvl="1"/>
            <a:r>
              <a:rPr lang="zh-CN" altLang="en-US" dirty="0">
                <a:solidFill>
                  <a:schemeClr val="accent4"/>
                </a:solidFill>
              </a:rPr>
              <a:t>首先要适应机器直觉，其次才是适应人的直觉</a:t>
            </a:r>
            <a:endParaRPr lang="zh-CN" altLang="en-US"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dirty="0"/>
              <a:t>C</a:t>
            </a:r>
            <a:r>
              <a:rPr lang="zh-CN" altLang="en-US" dirty="0"/>
              <a:t>语言与</a:t>
            </a:r>
            <a:r>
              <a:rPr lang="en-US" altLang="zh-CN" dirty="0"/>
              <a:t>python</a:t>
            </a:r>
            <a:r>
              <a:rPr lang="zh-CN" altLang="en-US" dirty="0"/>
              <a:t>语言的不同</a:t>
            </a:r>
            <a:endParaRPr lang="zh-CN" altLang="en-US" dirty="0"/>
          </a:p>
        </p:txBody>
      </p:sp>
      <p:sp>
        <p:nvSpPr>
          <p:cNvPr id="13314" name="内容占位符 2"/>
          <p:cNvSpPr>
            <a:spLocks noGrp="1"/>
          </p:cNvSpPr>
          <p:nvPr>
            <p:ph idx="1"/>
          </p:nvPr>
        </p:nvSpPr>
        <p:spPr>
          <a:xfrm>
            <a:off x="250825" y="1628775"/>
            <a:ext cx="8713788" cy="5129213"/>
          </a:xfrm>
        </p:spPr>
        <p:txBody>
          <a:bodyPr vert="horz" wrap="square" lIns="91440" tIns="45720" rIns="91440" bIns="45720" anchor="t" anchorCtr="0"/>
          <a:p>
            <a:r>
              <a:rPr lang="en-US" altLang="zh-CN" dirty="0"/>
              <a:t>Python</a:t>
            </a:r>
            <a:r>
              <a:rPr lang="zh-CN" altLang="en-US" dirty="0"/>
              <a:t>语言</a:t>
            </a:r>
            <a:endParaRPr lang="en-US" altLang="zh-CN" dirty="0"/>
          </a:p>
          <a:p>
            <a:pPr lvl="1"/>
            <a:r>
              <a:rPr lang="en-US" altLang="zh-CN" dirty="0"/>
              <a:t>Python</a:t>
            </a:r>
            <a:r>
              <a:rPr lang="zh-CN" altLang="en-US" dirty="0"/>
              <a:t>是一种解释性语言。</a:t>
            </a:r>
            <a:endParaRPr lang="en-US" altLang="zh-CN" dirty="0"/>
          </a:p>
          <a:p>
            <a:pPr lvl="1"/>
            <a:r>
              <a:rPr lang="en-US" altLang="zh-CN" dirty="0"/>
              <a:t>Python</a:t>
            </a:r>
            <a:r>
              <a:rPr lang="zh-CN" altLang="en-US" dirty="0"/>
              <a:t>是一种面向对象语言。</a:t>
            </a:r>
            <a:endParaRPr lang="en-US" altLang="zh-CN" dirty="0"/>
          </a:p>
          <a:p>
            <a:pPr lvl="1"/>
            <a:r>
              <a:rPr lang="zh-CN" altLang="en-US" dirty="0"/>
              <a:t>用</a:t>
            </a:r>
            <a:r>
              <a:rPr lang="en-US" altLang="zh-CN" dirty="0"/>
              <a:t>C</a:t>
            </a:r>
            <a:r>
              <a:rPr lang="zh-CN" altLang="en-US" dirty="0"/>
              <a:t>语言编写完成，执行效率不如</a:t>
            </a:r>
            <a:r>
              <a:rPr lang="en-US" altLang="zh-CN" dirty="0"/>
              <a:t>C</a:t>
            </a:r>
            <a:r>
              <a:rPr lang="zh-CN" altLang="en-US" dirty="0"/>
              <a:t>语言。</a:t>
            </a:r>
            <a:endParaRPr lang="en-US" altLang="zh-CN" dirty="0"/>
          </a:p>
          <a:p>
            <a:r>
              <a:rPr lang="en-US" altLang="zh-CN" dirty="0"/>
              <a:t>C</a:t>
            </a:r>
            <a:r>
              <a:rPr lang="zh-CN" altLang="en-US" dirty="0"/>
              <a:t>语言</a:t>
            </a:r>
            <a:endParaRPr lang="zh-CN" altLang="zh-CN" dirty="0"/>
          </a:p>
          <a:p>
            <a:pPr lvl="1"/>
            <a:r>
              <a:rPr lang="en-US" altLang="zh-CN" dirty="0"/>
              <a:t>C</a:t>
            </a:r>
            <a:r>
              <a:rPr lang="zh-CN" altLang="en-US" dirty="0"/>
              <a:t>语言是一种编译性语言。</a:t>
            </a:r>
            <a:endParaRPr lang="en-US" altLang="zh-CN" dirty="0"/>
          </a:p>
          <a:p>
            <a:pPr lvl="1"/>
            <a:r>
              <a:rPr lang="en-US" altLang="zh-CN" dirty="0"/>
              <a:t>C</a:t>
            </a:r>
            <a:r>
              <a:rPr lang="zh-CN" altLang="en-US" dirty="0"/>
              <a:t>语言是一种面向过程的语言。</a:t>
            </a:r>
            <a:endParaRPr lang="en-US" altLang="zh-CN" dirty="0"/>
          </a:p>
          <a:p>
            <a:pPr lvl="1"/>
            <a:r>
              <a:rPr lang="zh-CN" altLang="en-US" dirty="0"/>
              <a:t>支持指针直接操作内存，运行效率极高。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2837" name="Rectangle 5"/>
          <p:cNvSpPr>
            <a:spLocks noGrp="1"/>
          </p:cNvSpPr>
          <p:nvPr>
            <p:ph idx="1"/>
          </p:nvPr>
        </p:nvSpPr>
        <p:spPr>
          <a:xfrm>
            <a:off x="685800" y="3500438"/>
            <a:ext cx="7772400" cy="2881312"/>
          </a:xfrm>
        </p:spPr>
        <p:txBody>
          <a:bodyPr vert="horz" wrap="square" lIns="92075" tIns="46037" rIns="92075" bIns="46037" anchor="t" anchorCtr="0"/>
          <a:p>
            <a:pPr marL="0" indent="0" eaLnBrk="1" hangingPunct="1">
              <a:buNone/>
            </a:pPr>
            <a:r>
              <a:rPr lang="en-US" altLang="zh-CN" dirty="0">
                <a:latin typeface="Tahoma" pitchFamily="34" charset="0"/>
              </a:rPr>
              <a:t>#include &lt;stdio.h&gt;</a:t>
            </a:r>
            <a:endParaRPr lang="en-US" altLang="zh-CN" dirty="0">
              <a:latin typeface="Tahoma" pitchFamily="34" charset="0"/>
            </a:endParaRPr>
          </a:p>
          <a:p>
            <a:pPr marL="0" indent="0" eaLnBrk="1" hangingPunct="1">
              <a:buNone/>
            </a:pPr>
            <a:r>
              <a:rPr lang="x-none" altLang="en-US" dirty="0">
                <a:latin typeface="Tahoma" pitchFamily="34" charset="0"/>
              </a:rPr>
              <a:t>int </a:t>
            </a:r>
            <a:r>
              <a:rPr lang="en-US" altLang="zh-CN" dirty="0">
                <a:latin typeface="Tahoma" pitchFamily="34" charset="0"/>
              </a:rPr>
              <a:t>main(</a:t>
            </a:r>
            <a:r>
              <a:rPr lang="x-none" altLang="en-US" dirty="0">
                <a:latin typeface="Tahoma" pitchFamily="34" charset="0"/>
              </a:rPr>
              <a:t>void</a:t>
            </a:r>
            <a:r>
              <a:rPr lang="en-US" altLang="zh-CN" dirty="0">
                <a:latin typeface="Tahoma" pitchFamily="34" charset="0"/>
              </a:rPr>
              <a:t>)</a:t>
            </a:r>
            <a:endParaRPr lang="en-US" altLang="zh-CN" dirty="0">
              <a:latin typeface="Tahoma" pitchFamily="34" charset="0"/>
            </a:endParaRPr>
          </a:p>
          <a:p>
            <a:pPr marL="0" indent="0" eaLnBrk="1" hangingPunct="1">
              <a:buNone/>
            </a:pPr>
            <a:r>
              <a:rPr lang="en-US" altLang="zh-CN" dirty="0">
                <a:latin typeface="Tahoma" pitchFamily="34" charset="0"/>
              </a:rPr>
              <a:t>{</a:t>
            </a:r>
            <a:endParaRPr lang="en-US" altLang="zh-CN" dirty="0">
              <a:latin typeface="Tahoma" pitchFamily="34" charset="0"/>
            </a:endParaRPr>
          </a:p>
          <a:p>
            <a:pPr marL="0" indent="0" eaLnBrk="1" hangingPunct="1">
              <a:buNone/>
            </a:pPr>
            <a:r>
              <a:rPr lang="en-US" altLang="zh-CN" dirty="0">
                <a:latin typeface="Tahoma" pitchFamily="34" charset="0"/>
              </a:rPr>
              <a:t>		printf ("hello, world\n");</a:t>
            </a:r>
            <a:endParaRPr lang="en-US" altLang="zh-CN" dirty="0">
              <a:latin typeface="Tahoma" pitchFamily="34" charset="0"/>
            </a:endParaRPr>
          </a:p>
          <a:p>
            <a:pPr marL="0" indent="0" eaLnBrk="1" hangingPunct="1">
              <a:buNone/>
            </a:pPr>
            <a:r>
              <a:rPr lang="en-US" altLang="zh-CN" dirty="0">
                <a:latin typeface="Tahoma" pitchFamily="34" charset="0"/>
              </a:rPr>
              <a:t>}</a:t>
            </a:r>
            <a:endParaRPr lang="zh-CN" altLang="en-US" dirty="0">
              <a:latin typeface="Tahoma" pitchFamily="34" charset="0"/>
            </a:endParaRPr>
          </a:p>
        </p:txBody>
      </p:sp>
      <p:sp>
        <p:nvSpPr>
          <p:cNvPr id="632838" name="Rectangle 6"/>
          <p:cNvSpPr/>
          <p:nvPr/>
        </p:nvSpPr>
        <p:spPr>
          <a:xfrm>
            <a:off x="685800" y="3500755"/>
            <a:ext cx="4173855" cy="50482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p>
            <a:pPr eaLnBrk="0" hangingPunct="0"/>
            <a:endParaRPr lang="zh-CN" altLang="en-US" dirty="0">
              <a:latin typeface="Arial" panose="02080604020202020204" pitchFamily="34" charset="0"/>
            </a:endParaRPr>
          </a:p>
        </p:txBody>
      </p:sp>
      <p:sp>
        <p:nvSpPr>
          <p:cNvPr id="632839" name="Rectangle 7"/>
          <p:cNvSpPr/>
          <p:nvPr/>
        </p:nvSpPr>
        <p:spPr>
          <a:xfrm>
            <a:off x="756285" y="4148455"/>
            <a:ext cx="2931160" cy="50482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p>
            <a:pPr eaLnBrk="0" hangingPunct="0"/>
            <a:endParaRPr lang="zh-CN" altLang="en-US" dirty="0">
              <a:latin typeface="Arial" panose="02080604020202020204" pitchFamily="34" charset="0"/>
            </a:endParaRPr>
          </a:p>
        </p:txBody>
      </p:sp>
      <p:sp>
        <p:nvSpPr>
          <p:cNvPr id="632840" name="Rectangle 8"/>
          <p:cNvSpPr/>
          <p:nvPr/>
        </p:nvSpPr>
        <p:spPr>
          <a:xfrm>
            <a:off x="755650" y="4814888"/>
            <a:ext cx="431800" cy="1566862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p>
            <a:pPr eaLnBrk="0" hangingPunct="0"/>
            <a:endParaRPr lang="zh-CN" altLang="en-US" dirty="0">
              <a:latin typeface="Arial" panose="02080604020202020204" pitchFamily="34" charset="0"/>
            </a:endParaRPr>
          </a:p>
        </p:txBody>
      </p:sp>
      <p:sp>
        <p:nvSpPr>
          <p:cNvPr id="632841" name="Rectangle 9"/>
          <p:cNvSpPr/>
          <p:nvPr/>
        </p:nvSpPr>
        <p:spPr>
          <a:xfrm>
            <a:off x="2638425" y="5300663"/>
            <a:ext cx="1141413" cy="50482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p>
            <a:pPr eaLnBrk="0" hangingPunct="0"/>
            <a:endParaRPr lang="zh-CN" altLang="en-US" dirty="0">
              <a:latin typeface="Arial" panose="02080604020202020204" pitchFamily="34" charset="0"/>
            </a:endParaRPr>
          </a:p>
        </p:txBody>
      </p:sp>
      <p:sp>
        <p:nvSpPr>
          <p:cNvPr id="632842" name="Rectangle 10"/>
          <p:cNvSpPr/>
          <p:nvPr/>
        </p:nvSpPr>
        <p:spPr>
          <a:xfrm>
            <a:off x="3838575" y="5300980"/>
            <a:ext cx="3325495" cy="50482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p>
            <a:pPr eaLnBrk="0" hangingPunct="0"/>
            <a:endParaRPr lang="zh-CN" altLang="en-US" dirty="0">
              <a:latin typeface="Arial" panose="02080604020202020204" pitchFamily="34" charset="0"/>
            </a:endParaRPr>
          </a:p>
        </p:txBody>
      </p:sp>
      <p:sp>
        <p:nvSpPr>
          <p:cNvPr id="632843" name="Rectangle 11"/>
          <p:cNvSpPr/>
          <p:nvPr/>
        </p:nvSpPr>
        <p:spPr>
          <a:xfrm>
            <a:off x="7237730" y="5300663"/>
            <a:ext cx="195263" cy="50482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p>
            <a:pPr eaLnBrk="0" hangingPunct="0"/>
            <a:endParaRPr lang="zh-CN" altLang="en-US" dirty="0">
              <a:latin typeface="Arial" panose="02080604020202020204" pitchFamily="34" charset="0"/>
            </a:endParaRPr>
          </a:p>
        </p:txBody>
      </p:sp>
      <p:sp>
        <p:nvSpPr>
          <p:cNvPr id="632848" name="Rectangle 16"/>
          <p:cNvSpPr/>
          <p:nvPr/>
        </p:nvSpPr>
        <p:spPr>
          <a:xfrm>
            <a:off x="6482715" y="5300980"/>
            <a:ext cx="497205" cy="50482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/>
            <a:endParaRPr lang="zh-CN" altLang="en-US" dirty="0">
              <a:latin typeface="Arial" panose="02080604020202020204" pitchFamily="34" charset="0"/>
            </a:endParaRPr>
          </a:p>
        </p:txBody>
      </p:sp>
      <p:sp>
        <p:nvSpPr>
          <p:cNvPr id="14345" name="标题 1"/>
          <p:cNvSpPr>
            <a:spLocks noGrp="1"/>
          </p:cNvSpPr>
          <p:nvPr>
            <p:ph type="title"/>
          </p:nvPr>
        </p:nvSpPr>
        <p:spPr>
          <a:xfrm>
            <a:off x="457200" y="260350"/>
            <a:ext cx="8229600" cy="1371600"/>
          </a:xfrm>
        </p:spPr>
        <p:txBody>
          <a:bodyPr vert="horz" wrap="square" lIns="91440" tIns="45720" rIns="91440" bIns="45720" anchor="ctr" anchorCtr="0"/>
          <a:p>
            <a:r>
              <a:rPr lang="en-US" altLang="zh-CN" dirty="0"/>
              <a:t>Hello World</a:t>
            </a:r>
            <a:r>
              <a:rPr lang="zh-CN" altLang="en-US" dirty="0"/>
              <a:t>程序</a:t>
            </a:r>
            <a:endParaRPr lang="zh-CN" altLang="en-US" dirty="0"/>
          </a:p>
        </p:txBody>
      </p:sp>
      <p:sp>
        <p:nvSpPr>
          <p:cNvPr id="14346" name="内容占位符 2"/>
          <p:cNvSpPr txBox="1"/>
          <p:nvPr/>
        </p:nvSpPr>
        <p:spPr>
          <a:xfrm>
            <a:off x="468313" y="2800350"/>
            <a:ext cx="8229600" cy="7921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zh-CN" sz="3200" b="1" dirty="0">
                <a:latin typeface="Arial" panose="02080604020202020204" pitchFamily="34" charset="0"/>
              </a:rPr>
              <a:t>C</a:t>
            </a:r>
            <a:r>
              <a:rPr lang="zh-CN" altLang="en-US" sz="3200" b="1" dirty="0">
                <a:latin typeface="Arial" panose="02080604020202020204" pitchFamily="34" charset="0"/>
              </a:rPr>
              <a:t>语言版</a:t>
            </a:r>
            <a:endParaRPr lang="en-US" altLang="zh-CN" sz="3200" b="1" dirty="0">
              <a:latin typeface="Arial" panose="02080604020202020204" pitchFamily="34" charset="0"/>
            </a:endParaRPr>
          </a:p>
        </p:txBody>
      </p:sp>
      <p:sp>
        <p:nvSpPr>
          <p:cNvPr id="14347" name="内容占位符 2"/>
          <p:cNvSpPr txBox="1"/>
          <p:nvPr/>
        </p:nvSpPr>
        <p:spPr>
          <a:xfrm>
            <a:off x="468313" y="1576388"/>
            <a:ext cx="8229600" cy="1231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zh-CN" sz="3200" b="1" dirty="0">
                <a:latin typeface="Arial" panose="02080604020202020204" pitchFamily="34" charset="0"/>
              </a:rPr>
              <a:t>Python</a:t>
            </a:r>
            <a:r>
              <a:rPr lang="zh-CN" altLang="en-US" sz="3200" b="1" dirty="0">
                <a:latin typeface="Arial" panose="02080604020202020204" pitchFamily="34" charset="0"/>
              </a:rPr>
              <a:t>版</a:t>
            </a:r>
            <a:endParaRPr lang="en-US" altLang="zh-CN" sz="3200" b="1" dirty="0">
              <a:latin typeface="Arial" panose="02080604020202020204" pitchFamily="34" charset="0"/>
            </a:endParaRPr>
          </a:p>
          <a:p>
            <a:pPr marL="342900" indent="-342900" algn="ctr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3200" b="1" dirty="0">
                <a:latin typeface="Arial" panose="02080604020202020204" pitchFamily="34" charset="0"/>
              </a:rPr>
              <a:t>Print(“Hello World”) </a:t>
            </a:r>
            <a:endParaRPr lang="zh-CN" altLang="en-US" sz="3200" b="1" dirty="0">
              <a:latin typeface="Arial" panose="0208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7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2837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7">
                                            <p:txEl>
                                              <p:charRg st="19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32837">
                                            <p:txEl>
                                              <p:charRg st="19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7">
                                            <p:txEl>
                                              <p:charRg st="26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32837">
                                            <p:txEl>
                                              <p:charRg st="26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7">
                                            <p:txEl>
                                              <p:charRg st="28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32837">
                                            <p:txEl>
                                              <p:charRg st="28" end="5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7">
                                            <p:txEl>
                                              <p:charRg st="57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32837">
                                            <p:txEl>
                                              <p:charRg st="57" end="5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328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328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6328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2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328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328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6328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2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328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328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6328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2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328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328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6328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2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328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328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6328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2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328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6328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1000"/>
                                        <p:tgtEl>
                                          <p:spTgt spid="6328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32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6328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6328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6328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2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2837" grpId="0" build="p"/>
      <p:bldP spid="632838" grpId="0" bldLvl="0" animBg="1"/>
      <p:bldP spid="632838" grpId="1" bldLvl="0" animBg="1"/>
      <p:bldP spid="632839" grpId="0" bldLvl="0" animBg="1"/>
      <p:bldP spid="632839" grpId="1" bldLvl="0" animBg="1"/>
      <p:bldP spid="632840" grpId="0" bldLvl="0" animBg="1"/>
      <p:bldP spid="632840" grpId="1" bldLvl="0" animBg="1"/>
      <p:bldP spid="632841" grpId="0" bldLvl="0" animBg="1"/>
      <p:bldP spid="632841" grpId="1" bldLvl="0" animBg="1"/>
      <p:bldP spid="632842" grpId="0" bldLvl="0" animBg="1"/>
      <p:bldP spid="632842" grpId="1" bldLvl="0" animBg="1"/>
      <p:bldP spid="632843" grpId="0" bldLvl="0" animBg="1"/>
      <p:bldP spid="632843" grpId="1" bldLvl="0" animBg="1"/>
      <p:bldP spid="632848" grpId="0" bldLvl="0" animBg="1"/>
      <p:bldP spid="632848" grpId="1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计算机语言的发展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/>
            <a:r>
              <a:rPr lang="en-US" altLang="zh-CN">
                <a:sym typeface="+mn-ea"/>
              </a:rPr>
              <a:t>C</a:t>
            </a:r>
            <a:r>
              <a:rPr lang="zh-CN" altLang="en-US">
                <a:ea typeface="宋体" charset="0"/>
                <a:sym typeface="+mn-ea"/>
              </a:rPr>
              <a:t>语言是一种高级语言，它是编译执行的，这两个概念往往对初学者来说不够直观，下面我们通过梳理计算机语言的发展，来尝试获得一个初步的认识。</a:t>
            </a:r>
            <a:endParaRPr lang="zh-CN" altLang="en-US">
              <a:ea typeface="宋体" charset="0"/>
              <a:sym typeface="+mn-ea"/>
            </a:endParaRPr>
          </a:p>
          <a:p>
            <a:pPr marL="0" indent="0"/>
            <a:endParaRPr lang="zh-CN" altLang="en-US">
              <a:ea typeface="宋体" charset="0"/>
              <a:sym typeface="+mn-ea"/>
            </a:endParaRPr>
          </a:p>
          <a:p>
            <a:pPr marL="0" indent="0"/>
            <a:r>
              <a:rPr lang="zh-CN" altLang="en-US">
                <a:sym typeface="+mn-ea"/>
              </a:rPr>
              <a:t>我们先从世界上第一台现代电子计算机讲起，那就是</a:t>
            </a:r>
            <a:r>
              <a:rPr lang="en-US" altLang="zh-CN">
                <a:sym typeface="+mn-ea"/>
              </a:rPr>
              <a:t>1945</a:t>
            </a:r>
            <a:r>
              <a:rPr lang="zh-CN" altLang="en-US">
                <a:ea typeface="宋体" charset="0"/>
                <a:sym typeface="+mn-ea"/>
              </a:rPr>
              <a:t>年</a:t>
            </a:r>
            <a:r>
              <a:rPr lang="zh-CN" altLang="en-US">
                <a:sym typeface="+mn-ea"/>
              </a:rPr>
              <a:t>在美国宾夕法尼亚大学诞生的埃尼阿克（ENIAC）。</a:t>
            </a:r>
            <a:endParaRPr lang="zh-CN" altLang="en-US">
              <a:ea typeface="宋体" charset="0"/>
              <a:sym typeface="+mn-ea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085" y="1328420"/>
            <a:ext cx="7783830" cy="534924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20370" y="568325"/>
            <a:ext cx="835596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/>
              <a:t>界上第一台现代电子计算机，埃尼阿克（ENIAC）</a:t>
            </a:r>
            <a:endParaRPr lang="zh-CN" altLang="en-US" sz="280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88" y="1505902"/>
            <a:ext cx="9115425" cy="384619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10578" y="5351780"/>
            <a:ext cx="75228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http://www.columbia.edu/cu/computinghistory/eniac.html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563880" y="496570"/>
            <a:ext cx="70739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界上第一台现代电子计算机，俗称电脑，埃尼阿克（ENIAC）在美国宾夕法尼亚大学诞生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计算机语言的发展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1. 机器语言</a:t>
            </a:r>
            <a:endParaRPr lang="zh-CN" altLang="en-US"/>
          </a:p>
          <a:p>
            <a:r>
              <a:rPr lang="zh-CN" altLang="en-US"/>
              <a:t>   计算机能够直接识别和接受的二进制代码称机器指令(machine instruction)。机器指令的集合就是该计算机的机器语言(machine language)。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von neumann architecture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180" y="2668905"/>
            <a:ext cx="4752975" cy="37623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290" y="2624455"/>
            <a:ext cx="4122420" cy="3806825"/>
          </a:xfrm>
          <a:prstGeom prst="rect">
            <a:avLst/>
          </a:prstGeom>
        </p:spPr>
      </p:pic>
      <p:sp>
        <p:nvSpPr>
          <p:cNvPr id="100" name="文本框 99"/>
          <p:cNvSpPr txBox="1"/>
          <p:nvPr/>
        </p:nvSpPr>
        <p:spPr>
          <a:xfrm>
            <a:off x="241300" y="1366520"/>
            <a:ext cx="8515985" cy="9531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 algn="l"/>
            <a:r>
              <a:rPr lang="zh-CN" sz="2800" b="0">
                <a:latin typeface="Calibri" charset="0"/>
                <a:cs typeface="宋体" charset="0"/>
              </a:rPr>
              <a:t>第一台按冯·诺依曼原理制成的通用电动计算机是</a:t>
            </a:r>
            <a:r>
              <a:rPr lang="en-US" sz="2800" b="0">
                <a:latin typeface="Calibri" charset="0"/>
                <a:cs typeface="宋体" charset="0"/>
              </a:rPr>
              <a:t>1951</a:t>
            </a:r>
            <a:r>
              <a:rPr lang="zh-CN" sz="2800" b="0">
                <a:latin typeface="Calibri" charset="0"/>
                <a:cs typeface="宋体" charset="0"/>
              </a:rPr>
              <a:t>年美国兰德公司的</a:t>
            </a:r>
            <a:r>
              <a:rPr lang="en-US" sz="2800" b="0">
                <a:latin typeface="Calibri" charset="0"/>
                <a:cs typeface="宋体" charset="0"/>
              </a:rPr>
              <a:t>UNIVAC-1</a:t>
            </a:r>
            <a:r>
              <a:rPr lang="zh-CN" sz="2800" b="0">
                <a:latin typeface="Calibri" charset="0"/>
                <a:cs typeface="宋体" charset="0"/>
              </a:rPr>
              <a:t>。</a:t>
            </a:r>
            <a:endParaRPr lang="zh-CN" altLang="en-US" sz="2800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-2147482621" descr="IMG_2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450" y="989013"/>
            <a:ext cx="7620000" cy="50768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340" y="540385"/>
            <a:ext cx="8612505" cy="425958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计算机语言的发展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1. 机器语言</a:t>
            </a:r>
            <a:endParaRPr lang="zh-CN" altLang="en-US"/>
          </a:p>
          <a:p>
            <a:r>
              <a:rPr lang="zh-CN" altLang="en-US"/>
              <a:t>   计算机能够直接识别和接受的二进制代码称机器指令(machine instruction)。机器指令的集合就是该计算机的机器语言(machine language)。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121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76213"/>
            <a:ext cx="5038725" cy="36290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22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1500" y="176213"/>
            <a:ext cx="3133725" cy="58864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屏幕录像 2020-02-15 07:30:10">
            <a:hlinkClick r:id="" action="ppaction://media"/>
          </p:cNvPr>
          <p:cNvPicPr/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15035" y="3885565"/>
            <a:ext cx="2999105" cy="273431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122" name="图片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36550" y="454025"/>
            <a:ext cx="3178810" cy="597154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2" name="组合 21"/>
          <p:cNvGrpSpPr/>
          <p:nvPr/>
        </p:nvGrpSpPr>
        <p:grpSpPr>
          <a:xfrm>
            <a:off x="3556000" y="487680"/>
            <a:ext cx="2160270" cy="5848350"/>
            <a:chOff x="5600" y="768"/>
            <a:chExt cx="3402" cy="9210"/>
          </a:xfrm>
        </p:grpSpPr>
        <p:sp>
          <p:nvSpPr>
            <p:cNvPr id="4" name="折角形 3"/>
            <p:cNvSpPr/>
            <p:nvPr/>
          </p:nvSpPr>
          <p:spPr>
            <a:xfrm>
              <a:off x="5600" y="768"/>
              <a:ext cx="3402" cy="9210"/>
            </a:xfrm>
            <a:prstGeom prst="foldedCorner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6050" y="1591"/>
              <a:ext cx="2414" cy="3598"/>
              <a:chOff x="6050" y="1591"/>
              <a:chExt cx="2414" cy="3598"/>
            </a:xfrm>
          </p:grpSpPr>
          <p:grpSp>
            <p:nvGrpSpPr>
              <p:cNvPr id="99" name="组合 98"/>
              <p:cNvGrpSpPr>
                <a:grpSpLocks noChangeAspect="1"/>
              </p:cNvGrpSpPr>
              <p:nvPr/>
            </p:nvGrpSpPr>
            <p:grpSpPr>
              <a:xfrm>
                <a:off x="6050" y="1591"/>
                <a:ext cx="2414" cy="228"/>
                <a:chOff x="2005" y="2198"/>
                <a:chExt cx="9656" cy="913"/>
              </a:xfrm>
            </p:grpSpPr>
            <p:sp>
              <p:nvSpPr>
                <p:cNvPr id="100" name="流程图: 联系 99"/>
                <p:cNvSpPr/>
                <p:nvPr/>
              </p:nvSpPr>
              <p:spPr>
                <a:xfrm>
                  <a:off x="2005" y="2198"/>
                  <a:ext cx="907" cy="907"/>
                </a:xfrm>
                <a:prstGeom prst="flowChartConnector">
                  <a:avLst/>
                </a:prstGeom>
                <a:noFill/>
                <a:ln w="28575" cmpd="sng">
                  <a:solidFill>
                    <a:schemeClr val="accent1">
                      <a:shade val="50000"/>
                    </a:schemeClr>
                  </a:solidFill>
                  <a:prstDash val="sysDot"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101" name="流程图: 联系 100"/>
                <p:cNvSpPr/>
                <p:nvPr/>
              </p:nvSpPr>
              <p:spPr>
                <a:xfrm>
                  <a:off x="3255" y="2199"/>
                  <a:ext cx="907" cy="907"/>
                </a:xfrm>
                <a:prstGeom prst="flowChartConnector">
                  <a:avLst/>
                </a:prstGeom>
                <a:noFill/>
                <a:ln w="28575" cmpd="sng">
                  <a:solidFill>
                    <a:schemeClr val="accent1">
                      <a:shade val="50000"/>
                    </a:schemeClr>
                  </a:solidFill>
                  <a:prstDash val="sysDot"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102" name="流程图: 联系 101"/>
                <p:cNvSpPr/>
                <p:nvPr/>
              </p:nvSpPr>
              <p:spPr>
                <a:xfrm>
                  <a:off x="4505" y="2200"/>
                  <a:ext cx="907" cy="907"/>
                </a:xfrm>
                <a:prstGeom prst="flowChartConnector">
                  <a:avLst/>
                </a:prstGeom>
                <a:noFill/>
                <a:ln w="28575" cmpd="sng">
                  <a:solidFill>
                    <a:schemeClr val="accent1">
                      <a:shade val="50000"/>
                    </a:schemeClr>
                  </a:solidFill>
                  <a:prstDash val="sysDot"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103" name="流程图: 联系 102"/>
                <p:cNvSpPr/>
                <p:nvPr/>
              </p:nvSpPr>
              <p:spPr>
                <a:xfrm>
                  <a:off x="5755" y="2201"/>
                  <a:ext cx="907" cy="907"/>
                </a:xfrm>
                <a:prstGeom prst="flowChartConnector">
                  <a:avLst/>
                </a:prstGeom>
                <a:noFill/>
                <a:ln w="28575" cmpd="sng">
                  <a:solidFill>
                    <a:schemeClr val="accent1">
                      <a:shade val="50000"/>
                    </a:schemeClr>
                  </a:solidFill>
                  <a:prstDash val="sysDot"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104" name="流程图: 联系 103"/>
                <p:cNvSpPr/>
                <p:nvPr/>
              </p:nvSpPr>
              <p:spPr>
                <a:xfrm>
                  <a:off x="7005" y="2202"/>
                  <a:ext cx="907" cy="907"/>
                </a:xfrm>
                <a:prstGeom prst="flowChartConnector">
                  <a:avLst/>
                </a:prstGeom>
                <a:noFill/>
                <a:ln w="28575" cmpd="sng">
                  <a:solidFill>
                    <a:schemeClr val="accent1">
                      <a:shade val="50000"/>
                    </a:schemeClr>
                  </a:solidFill>
                  <a:prstDash val="sysDot"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105" name="流程图: 联系 104"/>
                <p:cNvSpPr/>
                <p:nvPr/>
              </p:nvSpPr>
              <p:spPr>
                <a:xfrm>
                  <a:off x="8255" y="2203"/>
                  <a:ext cx="907" cy="907"/>
                </a:xfrm>
                <a:prstGeom prst="flowChartConnector">
                  <a:avLst/>
                </a:prstGeom>
                <a:noFill/>
                <a:ln w="28575" cmpd="sng">
                  <a:solidFill>
                    <a:schemeClr val="accent1">
                      <a:shade val="50000"/>
                    </a:schemeClr>
                  </a:solidFill>
                  <a:prstDash val="sysDot"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106" name="流程图: 联系 105"/>
                <p:cNvSpPr/>
                <p:nvPr/>
              </p:nvSpPr>
              <p:spPr>
                <a:xfrm>
                  <a:off x="9505" y="2204"/>
                  <a:ext cx="907" cy="907"/>
                </a:xfrm>
                <a:prstGeom prst="flowChartConnector">
                  <a:avLst/>
                </a:prstGeom>
                <a:noFill/>
                <a:ln w="28575" cmpd="sng">
                  <a:solidFill>
                    <a:schemeClr val="accent1">
                      <a:shade val="50000"/>
                    </a:schemeClr>
                  </a:solidFill>
                  <a:prstDash val="sysDot"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107" name="流程图: 联系 106"/>
                <p:cNvSpPr/>
                <p:nvPr/>
              </p:nvSpPr>
              <p:spPr>
                <a:xfrm>
                  <a:off x="10755" y="2205"/>
                  <a:ext cx="907" cy="907"/>
                </a:xfrm>
                <a:prstGeom prst="flowChartConnector">
                  <a:avLst/>
                </a:prstGeom>
                <a:solidFill>
                  <a:schemeClr val="tx1"/>
                </a:solidFill>
                <a:ln w="12700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08" name="组合 107"/>
              <p:cNvGrpSpPr>
                <a:grpSpLocks noChangeAspect="1"/>
              </p:cNvGrpSpPr>
              <p:nvPr/>
            </p:nvGrpSpPr>
            <p:grpSpPr>
              <a:xfrm>
                <a:off x="6050" y="2265"/>
                <a:ext cx="2414" cy="228"/>
                <a:chOff x="1979" y="3302"/>
                <a:chExt cx="9656" cy="913"/>
              </a:xfrm>
            </p:grpSpPr>
            <p:sp>
              <p:nvSpPr>
                <p:cNvPr id="109" name="流程图: 联系 108"/>
                <p:cNvSpPr/>
                <p:nvPr/>
              </p:nvSpPr>
              <p:spPr>
                <a:xfrm>
                  <a:off x="1979" y="3302"/>
                  <a:ext cx="907" cy="907"/>
                </a:xfrm>
                <a:prstGeom prst="flowChartConnector">
                  <a:avLst/>
                </a:prstGeom>
                <a:noFill/>
                <a:ln w="28575" cmpd="sng">
                  <a:solidFill>
                    <a:schemeClr val="accent1">
                      <a:shade val="50000"/>
                    </a:schemeClr>
                  </a:solidFill>
                  <a:prstDash val="sysDot"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110" name="流程图: 联系 109"/>
                <p:cNvSpPr/>
                <p:nvPr/>
              </p:nvSpPr>
              <p:spPr>
                <a:xfrm>
                  <a:off x="3229" y="3303"/>
                  <a:ext cx="907" cy="907"/>
                </a:xfrm>
                <a:prstGeom prst="flowChartConnector">
                  <a:avLst/>
                </a:prstGeom>
                <a:noFill/>
                <a:ln w="28575" cmpd="sng">
                  <a:solidFill>
                    <a:schemeClr val="accent1">
                      <a:shade val="50000"/>
                    </a:schemeClr>
                  </a:solidFill>
                  <a:prstDash val="sysDot"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111" name="流程图: 联系 110"/>
                <p:cNvSpPr/>
                <p:nvPr/>
              </p:nvSpPr>
              <p:spPr>
                <a:xfrm>
                  <a:off x="4479" y="3304"/>
                  <a:ext cx="907" cy="907"/>
                </a:xfrm>
                <a:prstGeom prst="flowChartConnector">
                  <a:avLst/>
                </a:prstGeom>
                <a:noFill/>
                <a:ln w="28575" cmpd="sng">
                  <a:solidFill>
                    <a:schemeClr val="accent1">
                      <a:shade val="50000"/>
                    </a:schemeClr>
                  </a:solidFill>
                  <a:prstDash val="sysDot"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112" name="流程图: 联系 111"/>
                <p:cNvSpPr/>
                <p:nvPr/>
              </p:nvSpPr>
              <p:spPr>
                <a:xfrm>
                  <a:off x="5729" y="3305"/>
                  <a:ext cx="907" cy="907"/>
                </a:xfrm>
                <a:prstGeom prst="flowChartConnector">
                  <a:avLst/>
                </a:prstGeom>
                <a:noFill/>
                <a:ln w="28575" cmpd="sng">
                  <a:solidFill>
                    <a:schemeClr val="accent1">
                      <a:shade val="50000"/>
                    </a:schemeClr>
                  </a:solidFill>
                  <a:prstDash val="sysDot"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113" name="流程图: 联系 112"/>
                <p:cNvSpPr/>
                <p:nvPr/>
              </p:nvSpPr>
              <p:spPr>
                <a:xfrm>
                  <a:off x="6979" y="3306"/>
                  <a:ext cx="907" cy="907"/>
                </a:xfrm>
                <a:prstGeom prst="flowChartConnector">
                  <a:avLst/>
                </a:prstGeom>
                <a:noFill/>
                <a:ln w="28575" cmpd="sng">
                  <a:solidFill>
                    <a:schemeClr val="accent1">
                      <a:shade val="50000"/>
                    </a:schemeClr>
                  </a:solidFill>
                  <a:prstDash val="sysDot"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114" name="流程图: 联系 113"/>
                <p:cNvSpPr/>
                <p:nvPr/>
              </p:nvSpPr>
              <p:spPr>
                <a:xfrm>
                  <a:off x="8229" y="3307"/>
                  <a:ext cx="907" cy="907"/>
                </a:xfrm>
                <a:prstGeom prst="flowChartConnector">
                  <a:avLst/>
                </a:prstGeom>
                <a:noFill/>
                <a:ln w="28575" cmpd="sng">
                  <a:solidFill>
                    <a:schemeClr val="accent1">
                      <a:shade val="50000"/>
                    </a:schemeClr>
                  </a:solidFill>
                  <a:prstDash val="sysDot"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115" name="流程图: 联系 114"/>
                <p:cNvSpPr/>
                <p:nvPr/>
              </p:nvSpPr>
              <p:spPr>
                <a:xfrm>
                  <a:off x="9479" y="3308"/>
                  <a:ext cx="907" cy="907"/>
                </a:xfrm>
                <a:prstGeom prst="flowChartConnector">
                  <a:avLst/>
                </a:prstGeom>
                <a:solidFill>
                  <a:schemeClr val="tx1"/>
                </a:solidFill>
                <a:ln w="12700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116" name="流程图: 联系 115"/>
                <p:cNvSpPr/>
                <p:nvPr/>
              </p:nvSpPr>
              <p:spPr>
                <a:xfrm>
                  <a:off x="10729" y="3309"/>
                  <a:ext cx="907" cy="907"/>
                </a:xfrm>
                <a:prstGeom prst="flowChartConnector">
                  <a:avLst/>
                </a:prstGeom>
                <a:noFill/>
                <a:ln w="28575" cmpd="sng">
                  <a:solidFill>
                    <a:schemeClr val="accent1">
                      <a:shade val="50000"/>
                    </a:schemeClr>
                  </a:solidFill>
                  <a:prstDash val="sysDot"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17" name="组合 116"/>
              <p:cNvGrpSpPr>
                <a:grpSpLocks noChangeAspect="1"/>
              </p:cNvGrpSpPr>
              <p:nvPr/>
            </p:nvGrpSpPr>
            <p:grpSpPr>
              <a:xfrm>
                <a:off x="6050" y="2939"/>
                <a:ext cx="2414" cy="228"/>
                <a:chOff x="1979" y="4432"/>
                <a:chExt cx="9656" cy="913"/>
              </a:xfrm>
            </p:grpSpPr>
            <p:sp>
              <p:nvSpPr>
                <p:cNvPr id="118" name="流程图: 联系 117"/>
                <p:cNvSpPr/>
                <p:nvPr/>
              </p:nvSpPr>
              <p:spPr>
                <a:xfrm>
                  <a:off x="1979" y="4432"/>
                  <a:ext cx="907" cy="907"/>
                </a:xfrm>
                <a:prstGeom prst="flowChartConnector">
                  <a:avLst/>
                </a:prstGeom>
                <a:noFill/>
                <a:ln w="28575" cmpd="sng">
                  <a:solidFill>
                    <a:schemeClr val="accent1">
                      <a:shade val="50000"/>
                    </a:schemeClr>
                  </a:solidFill>
                  <a:prstDash val="sysDot"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119" name="流程图: 联系 118"/>
                <p:cNvSpPr/>
                <p:nvPr/>
              </p:nvSpPr>
              <p:spPr>
                <a:xfrm>
                  <a:off x="3229" y="4433"/>
                  <a:ext cx="907" cy="907"/>
                </a:xfrm>
                <a:prstGeom prst="flowChartConnector">
                  <a:avLst/>
                </a:prstGeom>
                <a:noFill/>
                <a:ln w="28575" cmpd="sng">
                  <a:solidFill>
                    <a:schemeClr val="accent1">
                      <a:shade val="50000"/>
                    </a:schemeClr>
                  </a:solidFill>
                  <a:prstDash val="sysDot"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120" name="流程图: 联系 119"/>
                <p:cNvSpPr/>
                <p:nvPr/>
              </p:nvSpPr>
              <p:spPr>
                <a:xfrm>
                  <a:off x="4479" y="4434"/>
                  <a:ext cx="907" cy="907"/>
                </a:xfrm>
                <a:prstGeom prst="flowChartConnector">
                  <a:avLst/>
                </a:prstGeom>
                <a:noFill/>
                <a:ln w="28575" cmpd="sng">
                  <a:solidFill>
                    <a:schemeClr val="accent1">
                      <a:shade val="50000"/>
                    </a:schemeClr>
                  </a:solidFill>
                  <a:prstDash val="sysDot"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121" name="流程图: 联系 120"/>
                <p:cNvSpPr/>
                <p:nvPr/>
              </p:nvSpPr>
              <p:spPr>
                <a:xfrm>
                  <a:off x="5729" y="4435"/>
                  <a:ext cx="907" cy="907"/>
                </a:xfrm>
                <a:prstGeom prst="flowChartConnector">
                  <a:avLst/>
                </a:prstGeom>
                <a:noFill/>
                <a:ln w="28575" cmpd="sng">
                  <a:solidFill>
                    <a:schemeClr val="accent1">
                      <a:shade val="50000"/>
                    </a:schemeClr>
                  </a:solidFill>
                  <a:prstDash val="sysDot"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122" name="流程图: 联系 121"/>
                <p:cNvSpPr/>
                <p:nvPr/>
              </p:nvSpPr>
              <p:spPr>
                <a:xfrm>
                  <a:off x="6979" y="4436"/>
                  <a:ext cx="907" cy="907"/>
                </a:xfrm>
                <a:prstGeom prst="flowChartConnector">
                  <a:avLst/>
                </a:prstGeom>
                <a:noFill/>
                <a:ln w="28575" cmpd="sng">
                  <a:solidFill>
                    <a:schemeClr val="accent1">
                      <a:shade val="50000"/>
                    </a:schemeClr>
                  </a:solidFill>
                  <a:prstDash val="sysDot"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123" name="流程图: 联系 122"/>
                <p:cNvSpPr/>
                <p:nvPr/>
              </p:nvSpPr>
              <p:spPr>
                <a:xfrm>
                  <a:off x="8229" y="4437"/>
                  <a:ext cx="907" cy="907"/>
                </a:xfrm>
                <a:prstGeom prst="flowChartConnector">
                  <a:avLst/>
                </a:prstGeom>
                <a:noFill/>
                <a:ln w="28575" cmpd="sng">
                  <a:solidFill>
                    <a:schemeClr val="accent1">
                      <a:shade val="50000"/>
                    </a:schemeClr>
                  </a:solidFill>
                  <a:prstDash val="sysDot"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124" name="流程图: 联系 123"/>
                <p:cNvSpPr/>
                <p:nvPr/>
              </p:nvSpPr>
              <p:spPr>
                <a:xfrm>
                  <a:off x="9479" y="4438"/>
                  <a:ext cx="907" cy="907"/>
                </a:xfrm>
                <a:prstGeom prst="flowChartConnector">
                  <a:avLst/>
                </a:prstGeom>
                <a:noFill/>
                <a:ln w="28575" cmpd="sng">
                  <a:solidFill>
                    <a:schemeClr val="accent1">
                      <a:shade val="50000"/>
                    </a:schemeClr>
                  </a:solidFill>
                  <a:prstDash val="sysDot"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125" name="流程图: 联系 124"/>
                <p:cNvSpPr/>
                <p:nvPr/>
              </p:nvSpPr>
              <p:spPr>
                <a:xfrm>
                  <a:off x="10729" y="4439"/>
                  <a:ext cx="907" cy="907"/>
                </a:xfrm>
                <a:prstGeom prst="flowChartConnector">
                  <a:avLst/>
                </a:prstGeom>
                <a:solidFill>
                  <a:schemeClr val="tx1"/>
                </a:solidFill>
                <a:ln w="12700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</a:pPr>
                  <a:endParaRPr lang="zh-CN" altLang="en-US" sz="1800">
                    <a:sym typeface="+mn-ea"/>
                  </a:endParaRPr>
                </a:p>
              </p:txBody>
            </p:sp>
          </p:grpSp>
          <p:grpSp>
            <p:nvGrpSpPr>
              <p:cNvPr id="126" name="组合 125"/>
              <p:cNvGrpSpPr>
                <a:grpSpLocks noChangeAspect="1"/>
              </p:cNvGrpSpPr>
              <p:nvPr/>
            </p:nvGrpSpPr>
            <p:grpSpPr>
              <a:xfrm>
                <a:off x="6050" y="3613"/>
                <a:ext cx="2414" cy="228"/>
                <a:chOff x="1979" y="5562"/>
                <a:chExt cx="9656" cy="913"/>
              </a:xfrm>
            </p:grpSpPr>
            <p:sp>
              <p:nvSpPr>
                <p:cNvPr id="127" name="流程图: 联系 126"/>
                <p:cNvSpPr/>
                <p:nvPr/>
              </p:nvSpPr>
              <p:spPr>
                <a:xfrm>
                  <a:off x="1979" y="5562"/>
                  <a:ext cx="907" cy="907"/>
                </a:xfrm>
                <a:prstGeom prst="flowChartConnector">
                  <a:avLst/>
                </a:prstGeom>
                <a:noFill/>
                <a:ln w="28575" cmpd="sng">
                  <a:solidFill>
                    <a:schemeClr val="accent1">
                      <a:shade val="50000"/>
                    </a:schemeClr>
                  </a:solidFill>
                  <a:prstDash val="sysDot"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128" name="流程图: 联系 127"/>
                <p:cNvSpPr/>
                <p:nvPr/>
              </p:nvSpPr>
              <p:spPr>
                <a:xfrm>
                  <a:off x="3229" y="5563"/>
                  <a:ext cx="907" cy="907"/>
                </a:xfrm>
                <a:prstGeom prst="flowChartConnector">
                  <a:avLst/>
                </a:prstGeom>
                <a:noFill/>
                <a:ln w="28575" cmpd="sng">
                  <a:solidFill>
                    <a:schemeClr val="accent1">
                      <a:shade val="50000"/>
                    </a:schemeClr>
                  </a:solidFill>
                  <a:prstDash val="sysDot"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129" name="流程图: 联系 128"/>
                <p:cNvSpPr/>
                <p:nvPr/>
              </p:nvSpPr>
              <p:spPr>
                <a:xfrm>
                  <a:off x="4479" y="5564"/>
                  <a:ext cx="907" cy="907"/>
                </a:xfrm>
                <a:prstGeom prst="flowChartConnector">
                  <a:avLst/>
                </a:prstGeom>
                <a:noFill/>
                <a:ln w="28575" cmpd="sng">
                  <a:solidFill>
                    <a:schemeClr val="accent1">
                      <a:shade val="50000"/>
                    </a:schemeClr>
                  </a:solidFill>
                  <a:prstDash val="sysDot"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130" name="流程图: 联系 129"/>
                <p:cNvSpPr/>
                <p:nvPr/>
              </p:nvSpPr>
              <p:spPr>
                <a:xfrm>
                  <a:off x="5729" y="5565"/>
                  <a:ext cx="907" cy="907"/>
                </a:xfrm>
                <a:prstGeom prst="flowChartConnector">
                  <a:avLst/>
                </a:prstGeom>
                <a:noFill/>
                <a:ln w="28575" cmpd="sng">
                  <a:solidFill>
                    <a:schemeClr val="accent1">
                      <a:shade val="50000"/>
                    </a:schemeClr>
                  </a:solidFill>
                  <a:prstDash val="sysDot"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131" name="流程图: 联系 130"/>
                <p:cNvSpPr/>
                <p:nvPr/>
              </p:nvSpPr>
              <p:spPr>
                <a:xfrm>
                  <a:off x="6979" y="5566"/>
                  <a:ext cx="907" cy="907"/>
                </a:xfrm>
                <a:prstGeom prst="flowChartConnector">
                  <a:avLst/>
                </a:prstGeom>
                <a:noFill/>
                <a:ln w="28575" cmpd="sng">
                  <a:solidFill>
                    <a:schemeClr val="accent1">
                      <a:shade val="50000"/>
                    </a:schemeClr>
                  </a:solidFill>
                  <a:prstDash val="sysDot"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132" name="流程图: 联系 131"/>
                <p:cNvSpPr/>
                <p:nvPr/>
              </p:nvSpPr>
              <p:spPr>
                <a:xfrm>
                  <a:off x="8229" y="5567"/>
                  <a:ext cx="907" cy="907"/>
                </a:xfrm>
                <a:prstGeom prst="flowChartConnector">
                  <a:avLst/>
                </a:prstGeom>
                <a:noFill/>
                <a:ln w="28575" cmpd="sng">
                  <a:solidFill>
                    <a:schemeClr val="accent1">
                      <a:shade val="50000"/>
                    </a:schemeClr>
                  </a:solidFill>
                  <a:prstDash val="sysDot"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133" name="流程图: 联系 132"/>
                <p:cNvSpPr/>
                <p:nvPr/>
              </p:nvSpPr>
              <p:spPr>
                <a:xfrm>
                  <a:off x="9479" y="5568"/>
                  <a:ext cx="907" cy="907"/>
                </a:xfrm>
                <a:prstGeom prst="flowChartConnector">
                  <a:avLst/>
                </a:prstGeom>
                <a:solidFill>
                  <a:schemeClr val="tx1"/>
                </a:solidFill>
                <a:ln w="12700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134" name="流程图: 联系 133"/>
                <p:cNvSpPr/>
                <p:nvPr/>
              </p:nvSpPr>
              <p:spPr>
                <a:xfrm>
                  <a:off x="10729" y="5569"/>
                  <a:ext cx="907" cy="907"/>
                </a:xfrm>
                <a:prstGeom prst="flowChartConnector">
                  <a:avLst/>
                </a:prstGeom>
                <a:noFill/>
                <a:ln w="28575" cmpd="sng">
                  <a:solidFill>
                    <a:schemeClr val="accent1">
                      <a:shade val="50000"/>
                    </a:schemeClr>
                  </a:solidFill>
                  <a:prstDash val="sysDot"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35" name="组合 134"/>
              <p:cNvGrpSpPr>
                <a:grpSpLocks noChangeAspect="1"/>
              </p:cNvGrpSpPr>
              <p:nvPr/>
            </p:nvGrpSpPr>
            <p:grpSpPr>
              <a:xfrm>
                <a:off x="6050" y="4287"/>
                <a:ext cx="2414" cy="228"/>
                <a:chOff x="1979" y="6692"/>
                <a:chExt cx="9656" cy="913"/>
              </a:xfrm>
            </p:grpSpPr>
            <p:sp>
              <p:nvSpPr>
                <p:cNvPr id="136" name="流程图: 联系 135"/>
                <p:cNvSpPr/>
                <p:nvPr/>
              </p:nvSpPr>
              <p:spPr>
                <a:xfrm>
                  <a:off x="1979" y="6692"/>
                  <a:ext cx="907" cy="907"/>
                </a:xfrm>
                <a:prstGeom prst="flowChartConnector">
                  <a:avLst/>
                </a:prstGeom>
                <a:noFill/>
                <a:ln w="28575" cmpd="sng">
                  <a:solidFill>
                    <a:schemeClr val="accent1">
                      <a:shade val="50000"/>
                    </a:schemeClr>
                  </a:solidFill>
                  <a:prstDash val="sysDot"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137" name="流程图: 联系 136"/>
                <p:cNvSpPr/>
                <p:nvPr/>
              </p:nvSpPr>
              <p:spPr>
                <a:xfrm>
                  <a:off x="3229" y="6693"/>
                  <a:ext cx="907" cy="907"/>
                </a:xfrm>
                <a:prstGeom prst="flowChartConnector">
                  <a:avLst/>
                </a:prstGeom>
                <a:noFill/>
                <a:ln w="28575" cmpd="sng">
                  <a:solidFill>
                    <a:schemeClr val="accent1">
                      <a:shade val="50000"/>
                    </a:schemeClr>
                  </a:solidFill>
                  <a:prstDash val="sysDot"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138" name="流程图: 联系 137"/>
                <p:cNvSpPr/>
                <p:nvPr/>
              </p:nvSpPr>
              <p:spPr>
                <a:xfrm>
                  <a:off x="4479" y="6694"/>
                  <a:ext cx="907" cy="907"/>
                </a:xfrm>
                <a:prstGeom prst="flowChartConnector">
                  <a:avLst/>
                </a:prstGeom>
                <a:noFill/>
                <a:ln w="28575" cmpd="sng">
                  <a:solidFill>
                    <a:schemeClr val="accent1">
                      <a:shade val="50000"/>
                    </a:schemeClr>
                  </a:solidFill>
                  <a:prstDash val="sysDot"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139" name="流程图: 联系 138"/>
                <p:cNvSpPr/>
                <p:nvPr/>
              </p:nvSpPr>
              <p:spPr>
                <a:xfrm>
                  <a:off x="5729" y="6695"/>
                  <a:ext cx="907" cy="907"/>
                </a:xfrm>
                <a:prstGeom prst="flowChartConnector">
                  <a:avLst/>
                </a:prstGeom>
                <a:noFill/>
                <a:ln w="28575" cmpd="sng">
                  <a:solidFill>
                    <a:schemeClr val="accent1">
                      <a:shade val="50000"/>
                    </a:schemeClr>
                  </a:solidFill>
                  <a:prstDash val="sysDot"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140" name="流程图: 联系 139"/>
                <p:cNvSpPr/>
                <p:nvPr/>
              </p:nvSpPr>
              <p:spPr>
                <a:xfrm>
                  <a:off x="6979" y="6696"/>
                  <a:ext cx="907" cy="907"/>
                </a:xfrm>
                <a:prstGeom prst="flowChartConnector">
                  <a:avLst/>
                </a:prstGeom>
                <a:noFill/>
                <a:ln w="28575" cmpd="sng">
                  <a:solidFill>
                    <a:schemeClr val="accent1">
                      <a:shade val="50000"/>
                    </a:schemeClr>
                  </a:solidFill>
                  <a:prstDash val="sysDot"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141" name="流程图: 联系 140"/>
                <p:cNvSpPr/>
                <p:nvPr/>
              </p:nvSpPr>
              <p:spPr>
                <a:xfrm>
                  <a:off x="8229" y="6697"/>
                  <a:ext cx="907" cy="907"/>
                </a:xfrm>
                <a:prstGeom prst="flowChartConnector">
                  <a:avLst/>
                </a:prstGeom>
                <a:solidFill>
                  <a:schemeClr val="tx1"/>
                </a:solidFill>
                <a:ln w="12700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142" name="流程图: 联系 141"/>
                <p:cNvSpPr/>
                <p:nvPr/>
              </p:nvSpPr>
              <p:spPr>
                <a:xfrm>
                  <a:off x="9479" y="6698"/>
                  <a:ext cx="907" cy="907"/>
                </a:xfrm>
                <a:prstGeom prst="flowChartConnector">
                  <a:avLst/>
                </a:prstGeom>
                <a:noFill/>
                <a:ln w="28575" cmpd="sng">
                  <a:solidFill>
                    <a:schemeClr val="accent1">
                      <a:shade val="50000"/>
                    </a:schemeClr>
                  </a:solidFill>
                  <a:prstDash val="sysDot"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143" name="流程图: 联系 142"/>
                <p:cNvSpPr/>
                <p:nvPr/>
              </p:nvSpPr>
              <p:spPr>
                <a:xfrm>
                  <a:off x="10729" y="6699"/>
                  <a:ext cx="907" cy="907"/>
                </a:xfrm>
                <a:prstGeom prst="flowChartConnector">
                  <a:avLst/>
                </a:prstGeom>
                <a:noFill/>
                <a:ln w="28575" cmpd="sng">
                  <a:solidFill>
                    <a:schemeClr val="accent1">
                      <a:shade val="50000"/>
                    </a:schemeClr>
                  </a:solidFill>
                  <a:prstDash val="sysDot"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44" name="组合 143"/>
              <p:cNvGrpSpPr>
                <a:grpSpLocks noChangeAspect="1"/>
              </p:cNvGrpSpPr>
              <p:nvPr/>
            </p:nvGrpSpPr>
            <p:grpSpPr>
              <a:xfrm>
                <a:off x="6050" y="4961"/>
                <a:ext cx="2414" cy="228"/>
                <a:chOff x="1979" y="7935"/>
                <a:chExt cx="9656" cy="913"/>
              </a:xfrm>
            </p:grpSpPr>
            <p:sp>
              <p:nvSpPr>
                <p:cNvPr id="145" name="流程图: 联系 144"/>
                <p:cNvSpPr/>
                <p:nvPr/>
              </p:nvSpPr>
              <p:spPr>
                <a:xfrm>
                  <a:off x="1979" y="7935"/>
                  <a:ext cx="907" cy="907"/>
                </a:xfrm>
                <a:prstGeom prst="flowChartConnector">
                  <a:avLst/>
                </a:prstGeom>
                <a:noFill/>
                <a:ln w="28575" cmpd="sng">
                  <a:solidFill>
                    <a:schemeClr val="accent1">
                      <a:shade val="50000"/>
                    </a:schemeClr>
                  </a:solidFill>
                  <a:prstDash val="sysDot"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146" name="流程图: 联系 145"/>
                <p:cNvSpPr/>
                <p:nvPr/>
              </p:nvSpPr>
              <p:spPr>
                <a:xfrm>
                  <a:off x="3229" y="7936"/>
                  <a:ext cx="907" cy="907"/>
                </a:xfrm>
                <a:prstGeom prst="flowChartConnector">
                  <a:avLst/>
                </a:prstGeom>
                <a:noFill/>
                <a:ln w="28575" cmpd="sng">
                  <a:solidFill>
                    <a:schemeClr val="accent1">
                      <a:shade val="50000"/>
                    </a:schemeClr>
                  </a:solidFill>
                  <a:prstDash val="sysDot"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147" name="流程图: 联系 146"/>
                <p:cNvSpPr/>
                <p:nvPr/>
              </p:nvSpPr>
              <p:spPr>
                <a:xfrm>
                  <a:off x="4479" y="7937"/>
                  <a:ext cx="907" cy="907"/>
                </a:xfrm>
                <a:prstGeom prst="flowChartConnector">
                  <a:avLst/>
                </a:prstGeom>
                <a:noFill/>
                <a:ln w="28575" cmpd="sng">
                  <a:solidFill>
                    <a:schemeClr val="accent1">
                      <a:shade val="50000"/>
                    </a:schemeClr>
                  </a:solidFill>
                  <a:prstDash val="sysDot"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148" name="流程图: 联系 147"/>
                <p:cNvSpPr/>
                <p:nvPr/>
              </p:nvSpPr>
              <p:spPr>
                <a:xfrm>
                  <a:off x="5729" y="7938"/>
                  <a:ext cx="907" cy="907"/>
                </a:xfrm>
                <a:prstGeom prst="flowChartConnector">
                  <a:avLst/>
                </a:prstGeom>
                <a:noFill/>
                <a:ln w="28575" cmpd="sng">
                  <a:solidFill>
                    <a:schemeClr val="accent1">
                      <a:shade val="50000"/>
                    </a:schemeClr>
                  </a:solidFill>
                  <a:prstDash val="sysDot"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149" name="流程图: 联系 148"/>
                <p:cNvSpPr/>
                <p:nvPr/>
              </p:nvSpPr>
              <p:spPr>
                <a:xfrm>
                  <a:off x="6979" y="7939"/>
                  <a:ext cx="907" cy="907"/>
                </a:xfrm>
                <a:prstGeom prst="flowChartConnector">
                  <a:avLst/>
                </a:prstGeom>
                <a:noFill/>
                <a:ln w="28575" cmpd="sng">
                  <a:solidFill>
                    <a:schemeClr val="accent1">
                      <a:shade val="50000"/>
                    </a:schemeClr>
                  </a:solidFill>
                  <a:prstDash val="sysDot"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150" name="流程图: 联系 149"/>
                <p:cNvSpPr/>
                <p:nvPr/>
              </p:nvSpPr>
              <p:spPr>
                <a:xfrm>
                  <a:off x="8229" y="7940"/>
                  <a:ext cx="907" cy="907"/>
                </a:xfrm>
                <a:prstGeom prst="flowChartConnector">
                  <a:avLst/>
                </a:prstGeom>
                <a:solidFill>
                  <a:schemeClr val="tx1"/>
                </a:solidFill>
                <a:ln w="12700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151" name="流程图: 联系 150"/>
                <p:cNvSpPr/>
                <p:nvPr/>
              </p:nvSpPr>
              <p:spPr>
                <a:xfrm>
                  <a:off x="9479" y="7941"/>
                  <a:ext cx="907" cy="907"/>
                </a:xfrm>
                <a:prstGeom prst="flowChartConnector">
                  <a:avLst/>
                </a:prstGeom>
                <a:noFill/>
                <a:ln w="28575" cmpd="sng">
                  <a:solidFill>
                    <a:schemeClr val="accent1">
                      <a:shade val="50000"/>
                    </a:schemeClr>
                  </a:solidFill>
                  <a:prstDash val="sysDot"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152" name="流程图: 联系 151"/>
                <p:cNvSpPr/>
                <p:nvPr/>
              </p:nvSpPr>
              <p:spPr>
                <a:xfrm>
                  <a:off x="10729" y="7942"/>
                  <a:ext cx="907" cy="907"/>
                </a:xfrm>
                <a:prstGeom prst="flowChartConnector">
                  <a:avLst/>
                </a:prstGeom>
                <a:noFill/>
                <a:ln w="28575" cmpd="sng">
                  <a:solidFill>
                    <a:schemeClr val="accent1">
                      <a:shade val="50000"/>
                    </a:schemeClr>
                  </a:solidFill>
                  <a:prstDash val="sysDot"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21" name="组合 20"/>
            <p:cNvGrpSpPr/>
            <p:nvPr/>
          </p:nvGrpSpPr>
          <p:grpSpPr>
            <a:xfrm>
              <a:off x="7154" y="5966"/>
              <a:ext cx="90" cy="1381"/>
              <a:chOff x="12282" y="1678"/>
              <a:chExt cx="90" cy="1381"/>
            </a:xfrm>
          </p:grpSpPr>
          <p:sp>
            <p:nvSpPr>
              <p:cNvPr id="13" name="流程图: 联系 12"/>
              <p:cNvSpPr>
                <a:spLocks noChangeAspect="1"/>
              </p:cNvSpPr>
              <p:nvPr/>
            </p:nvSpPr>
            <p:spPr>
              <a:xfrm>
                <a:off x="12282" y="1937"/>
                <a:ext cx="91" cy="9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4" name="流程图: 联系 13"/>
              <p:cNvSpPr>
                <a:spLocks noChangeAspect="1"/>
              </p:cNvSpPr>
              <p:nvPr/>
            </p:nvSpPr>
            <p:spPr>
              <a:xfrm>
                <a:off x="12282" y="1678"/>
                <a:ext cx="91" cy="91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5" name="流程图: 联系 14"/>
              <p:cNvSpPr>
                <a:spLocks noChangeAspect="1"/>
              </p:cNvSpPr>
              <p:nvPr/>
            </p:nvSpPr>
            <p:spPr>
              <a:xfrm>
                <a:off x="12282" y="2195"/>
                <a:ext cx="91" cy="9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6" name="流程图: 联系 15"/>
              <p:cNvSpPr>
                <a:spLocks noChangeAspect="1"/>
              </p:cNvSpPr>
              <p:nvPr/>
            </p:nvSpPr>
            <p:spPr>
              <a:xfrm>
                <a:off x="12282" y="2453"/>
                <a:ext cx="91" cy="9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7" name="流程图: 联系 16"/>
              <p:cNvSpPr>
                <a:spLocks noChangeAspect="1"/>
              </p:cNvSpPr>
              <p:nvPr/>
            </p:nvSpPr>
            <p:spPr>
              <a:xfrm>
                <a:off x="12282" y="2711"/>
                <a:ext cx="91" cy="9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8" name="流程图: 联系 17"/>
              <p:cNvSpPr>
                <a:spLocks noChangeAspect="1"/>
              </p:cNvSpPr>
              <p:nvPr/>
            </p:nvSpPr>
            <p:spPr>
              <a:xfrm>
                <a:off x="12282" y="2969"/>
                <a:ext cx="91" cy="9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计算机语言的发展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2</a:t>
            </a:r>
            <a:r>
              <a:rPr lang="zh-CN" altLang="en-US"/>
              <a:t>. 汇编语言</a:t>
            </a:r>
            <a:endParaRPr lang="zh-CN" altLang="en-US"/>
          </a:p>
          <a:p>
            <a:r>
              <a:rPr lang="zh-CN" altLang="en-US"/>
              <a:t>   </a:t>
            </a:r>
            <a:r>
              <a:rPr lang="zh-CN" altLang="en-US">
                <a:sym typeface="+mn-ea"/>
              </a:rPr>
              <a:t>汇编语言(assembler language)本质上和机器语言相同，指令采用了英文缩写的标识符，更容易识别和记忆，称为助记符。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   </a:t>
            </a:r>
            <a:r>
              <a:rPr lang="zh-CN" altLang="en-US"/>
              <a:t>在汇编语言中，用助记符代替机器指令的操作码，用地址符号或标号代替指令或操作数的地址。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12115" y="239395"/>
            <a:ext cx="7806055" cy="22453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/>
              <a:t>操作：       将寄存器BX的内容送入寄存器AX</a:t>
            </a:r>
            <a:endParaRPr lang="zh-CN" altLang="en-US" sz="2800"/>
          </a:p>
          <a:p>
            <a:endParaRPr lang="zh-CN" altLang="en-US" sz="2800"/>
          </a:p>
          <a:p>
            <a:r>
              <a:rPr lang="zh-CN" altLang="en-US" sz="2800"/>
              <a:t>机器语言： 1000100111011000</a:t>
            </a:r>
            <a:endParaRPr lang="zh-CN" altLang="en-US" sz="2800"/>
          </a:p>
          <a:p>
            <a:endParaRPr lang="zh-CN" altLang="en-US" sz="2800"/>
          </a:p>
          <a:p>
            <a:r>
              <a:rPr lang="zh-CN" altLang="en-US" sz="2800"/>
              <a:t>汇编语言： mov ax, bx</a:t>
            </a:r>
            <a:endParaRPr lang="zh-CN" altLang="en-US" sz="28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r="1293" b="35728"/>
          <a:stretch>
            <a:fillRect/>
          </a:stretch>
        </p:blipFill>
        <p:spPr>
          <a:xfrm>
            <a:off x="340360" y="2639060"/>
            <a:ext cx="8336280" cy="356743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097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677863"/>
            <a:ext cx="8001000" cy="48101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571500" y="306705"/>
            <a:ext cx="2967355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sym typeface="+mn-ea"/>
              </a:rPr>
              <a:t>汇编程序代码</a:t>
            </a:r>
            <a:endParaRPr lang="zh-CN" altLang="en-US" sz="2800">
              <a:sym typeface="+mn-ea"/>
            </a:endParaRPr>
          </a:p>
          <a:p>
            <a:r>
              <a:rPr lang="zh-CN" altLang="en-US" sz="2800"/>
              <a:t>assembly </a:t>
            </a:r>
            <a:r>
              <a:rPr lang="en-US" altLang="zh-CN" sz="2800"/>
              <a:t>code</a:t>
            </a:r>
            <a:endParaRPr lang="en-US" altLang="zh-CN" sz="2800"/>
          </a:p>
        </p:txBody>
      </p:sp>
      <p:sp>
        <p:nvSpPr>
          <p:cNvPr id="3" name="文本框 2"/>
          <p:cNvSpPr txBox="1"/>
          <p:nvPr/>
        </p:nvSpPr>
        <p:spPr>
          <a:xfrm>
            <a:off x="3393440" y="2747645"/>
            <a:ext cx="269557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ea typeface="宋体" charset="0"/>
                <a:sym typeface="+mn-ea"/>
              </a:rPr>
              <a:t>汇编器（</a:t>
            </a:r>
            <a:r>
              <a:rPr lang="en-US" altLang="zh-CN">
                <a:ea typeface="宋体" charset="0"/>
                <a:sym typeface="+mn-ea"/>
              </a:rPr>
              <a:t>assembler</a:t>
            </a:r>
            <a:r>
              <a:rPr lang="zh-CN" altLang="en-US">
                <a:ea typeface="宋体" charset="0"/>
                <a:sym typeface="+mn-ea"/>
              </a:rPr>
              <a:t>）</a:t>
            </a:r>
            <a:r>
              <a:rPr lang="zh-CN" altLang="en-US">
                <a:sym typeface="+mn-ea"/>
              </a:rPr>
              <a:t>将汇编程序代码翻译成机器代码（目标代码）</a:t>
            </a:r>
            <a:endParaRPr lang="en-US" altLang="zh-CN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71500" y="5209540"/>
            <a:ext cx="8339455" cy="92202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p>
            <a:r>
              <a:rPr lang="zh-CN" altLang="en-US"/>
              <a:t>汇编语言与机器语言一一对应，每一条机器指令都有与之对应的汇编指令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汇编语言可以通过编译得到机器语言，机器语言可以通过反汇编得到汇编语言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207125" y="347345"/>
            <a:ext cx="246634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sym typeface="+mn-ea"/>
              </a:rPr>
              <a:t>目标代码</a:t>
            </a:r>
            <a:endParaRPr lang="zh-CN" altLang="en-US" sz="2800">
              <a:sym typeface="+mn-ea"/>
            </a:endParaRPr>
          </a:p>
          <a:p>
            <a:r>
              <a:rPr lang="en-US" altLang="zh-CN" sz="2800"/>
              <a:t>object  code</a:t>
            </a:r>
            <a:endParaRPr lang="en-US" altLang="zh-CN" sz="2800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4" name="文本框 153"/>
          <p:cNvSpPr txBox="1"/>
          <p:nvPr/>
        </p:nvSpPr>
        <p:spPr>
          <a:xfrm>
            <a:off x="322580" y="246380"/>
            <a:ext cx="3413125" cy="2030095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 anchor="t">
            <a:spAutoFit/>
          </a:bodyPr>
          <a:p>
            <a:r>
              <a:rPr lang="zh-CN" altLang="en-US"/>
              <a:t>#include &lt;stdio.h&gt;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int main(void)</a:t>
            </a:r>
            <a:endParaRPr lang="zh-CN" altLang="en-US"/>
          </a:p>
          <a:p>
            <a:r>
              <a:rPr lang="zh-CN" altLang="en-US"/>
              <a:t>{</a:t>
            </a:r>
            <a:endParaRPr lang="zh-CN" altLang="en-US"/>
          </a:p>
          <a:p>
            <a:r>
              <a:rPr lang="zh-CN" altLang="en-US"/>
              <a:t>    printf("Hello World!");</a:t>
            </a:r>
            <a:endParaRPr lang="zh-CN" altLang="en-US"/>
          </a:p>
          <a:p>
            <a:r>
              <a:rPr lang="zh-CN" altLang="en-US"/>
              <a:t>    return 0;</a:t>
            </a:r>
            <a:endParaRPr lang="zh-CN" altLang="en-US"/>
          </a:p>
          <a:p>
            <a:r>
              <a:rPr lang="zh-CN" altLang="en-US"/>
              <a:t>}</a:t>
            </a:r>
            <a:endParaRPr lang="zh-CN" altLang="en-US"/>
          </a:p>
        </p:txBody>
      </p:sp>
      <p:sp>
        <p:nvSpPr>
          <p:cNvPr id="155" name="文本框 154"/>
          <p:cNvSpPr txBox="1"/>
          <p:nvPr/>
        </p:nvSpPr>
        <p:spPr>
          <a:xfrm>
            <a:off x="4311650" y="246380"/>
            <a:ext cx="4081145" cy="6462395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 anchor="t">
            <a:spAutoFit/>
          </a:bodyPr>
          <a:p>
            <a:r>
              <a:rPr lang="zh-CN" altLang="en-US"/>
              <a:t>	.file	"hello.c"</a:t>
            </a:r>
            <a:endParaRPr lang="zh-CN" altLang="en-US"/>
          </a:p>
          <a:p>
            <a:r>
              <a:rPr lang="zh-CN" altLang="en-US"/>
              <a:t>	.section	.rodata</a:t>
            </a:r>
            <a:endParaRPr lang="zh-CN" altLang="en-US"/>
          </a:p>
          <a:p>
            <a:r>
              <a:rPr lang="zh-CN" altLang="en-US"/>
              <a:t>.LC0:</a:t>
            </a:r>
            <a:endParaRPr lang="zh-CN" altLang="en-US"/>
          </a:p>
          <a:p>
            <a:r>
              <a:rPr lang="zh-CN" altLang="en-US"/>
              <a:t>	.string	"Hello World!"</a:t>
            </a:r>
            <a:endParaRPr lang="zh-CN" altLang="en-US"/>
          </a:p>
          <a:p>
            <a:r>
              <a:rPr lang="zh-CN" altLang="en-US"/>
              <a:t>	.text</a:t>
            </a:r>
            <a:endParaRPr lang="zh-CN" altLang="en-US"/>
          </a:p>
          <a:p>
            <a:r>
              <a:rPr lang="zh-CN" altLang="en-US"/>
              <a:t>	.globl	main</a:t>
            </a:r>
            <a:endParaRPr lang="zh-CN" altLang="en-US"/>
          </a:p>
          <a:p>
            <a:r>
              <a:rPr lang="zh-CN" altLang="en-US"/>
              <a:t>	.type	main, @function</a:t>
            </a:r>
            <a:endParaRPr lang="zh-CN" altLang="en-US"/>
          </a:p>
          <a:p>
            <a:r>
              <a:rPr lang="zh-CN" altLang="en-US"/>
              <a:t>main:</a:t>
            </a:r>
            <a:endParaRPr lang="zh-CN" altLang="en-US"/>
          </a:p>
          <a:p>
            <a:r>
              <a:rPr lang="zh-CN" altLang="en-US"/>
              <a:t>.LFB0:</a:t>
            </a:r>
            <a:endParaRPr lang="zh-CN" altLang="en-US"/>
          </a:p>
          <a:p>
            <a:r>
              <a:rPr lang="zh-CN" altLang="en-US"/>
              <a:t>	.cfi_startproc</a:t>
            </a:r>
            <a:endParaRPr lang="zh-CN" altLang="en-US"/>
          </a:p>
          <a:p>
            <a:r>
              <a:rPr lang="zh-CN" altLang="en-US"/>
              <a:t>	pushq	%rbp</a:t>
            </a:r>
            <a:endParaRPr lang="zh-CN" altLang="en-US"/>
          </a:p>
          <a:p>
            <a:r>
              <a:rPr lang="zh-CN" altLang="en-US"/>
              <a:t>	.cfi_def_cfa_offset 16</a:t>
            </a:r>
            <a:endParaRPr lang="zh-CN" altLang="en-US"/>
          </a:p>
          <a:p>
            <a:r>
              <a:rPr lang="zh-CN" altLang="en-US"/>
              <a:t>	.cfi_offset 6, -16</a:t>
            </a:r>
            <a:endParaRPr lang="zh-CN" altLang="en-US"/>
          </a:p>
          <a:p>
            <a:r>
              <a:rPr lang="zh-CN" altLang="en-US"/>
              <a:t>	movq	%rsp, %rbp</a:t>
            </a:r>
            <a:endParaRPr lang="zh-CN" altLang="en-US"/>
          </a:p>
          <a:p>
            <a:r>
              <a:rPr lang="zh-CN" altLang="en-US"/>
              <a:t>	.cfi_def_cfa_register 6</a:t>
            </a:r>
            <a:endParaRPr lang="zh-CN" altLang="en-US"/>
          </a:p>
          <a:p>
            <a:r>
              <a:rPr lang="zh-CN" altLang="en-US"/>
              <a:t>	leaq	.LC0(%rip), %rdi</a:t>
            </a:r>
            <a:endParaRPr lang="zh-CN" altLang="en-US"/>
          </a:p>
          <a:p>
            <a:r>
              <a:rPr lang="zh-CN" altLang="en-US"/>
              <a:t>	movl	$0, %eax</a:t>
            </a:r>
            <a:endParaRPr lang="zh-CN" altLang="en-US"/>
          </a:p>
          <a:p>
            <a:r>
              <a:rPr lang="zh-CN" altLang="en-US"/>
              <a:t>	call	printf@PLT</a:t>
            </a:r>
            <a:endParaRPr lang="zh-CN" altLang="en-US"/>
          </a:p>
          <a:p>
            <a:r>
              <a:rPr lang="zh-CN" altLang="en-US"/>
              <a:t>	movl	$0, %eax</a:t>
            </a:r>
            <a:endParaRPr lang="zh-CN" altLang="en-US"/>
          </a:p>
          <a:p>
            <a:r>
              <a:rPr lang="zh-CN" altLang="en-US"/>
              <a:t>	popq	%rbp</a:t>
            </a:r>
            <a:endParaRPr lang="zh-CN" altLang="en-US"/>
          </a:p>
          <a:p>
            <a:r>
              <a:rPr lang="zh-CN" altLang="en-US"/>
              <a:t>	.cfi_def_cfa 7, 8</a:t>
            </a:r>
            <a:endParaRPr lang="zh-CN" altLang="en-US"/>
          </a:p>
          <a:p>
            <a:r>
              <a:rPr lang="zh-CN" altLang="en-US"/>
              <a:t>	ret</a:t>
            </a:r>
            <a:endParaRPr lang="zh-CN" altLang="en-US"/>
          </a:p>
          <a:p>
            <a:r>
              <a:rPr lang="zh-CN" altLang="en-US"/>
              <a:t>	.cfi_endproc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计算机语言的发展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13180"/>
            <a:ext cx="8228013" cy="4524375"/>
          </a:xfrm>
        </p:spPr>
        <p:txBody>
          <a:bodyPr/>
          <a:p>
            <a:r>
              <a:rPr lang="en-US" altLang="zh-CN"/>
              <a:t>2</a:t>
            </a:r>
            <a:r>
              <a:rPr lang="zh-CN" altLang="en-US"/>
              <a:t>. 汇编语言</a:t>
            </a:r>
            <a:endParaRPr lang="zh-CN" altLang="en-US"/>
          </a:p>
          <a:p>
            <a:endParaRPr lang="zh-CN" altLang="en-US"/>
          </a:p>
          <a:p>
            <a:r>
              <a:rPr lang="zh-CN" altLang="en-US" sz="2800">
                <a:sym typeface="+mn-ea"/>
              </a:rPr>
              <a:t>    编写的代码非常难懂，不好维护；</a:t>
            </a:r>
            <a:endParaRPr lang="zh-CN" altLang="en-US" sz="2800"/>
          </a:p>
          <a:p>
            <a:r>
              <a:rPr lang="zh-CN" altLang="en-US" sz="2800">
                <a:sym typeface="+mn-ea"/>
              </a:rPr>
              <a:t>    很容易产生Bug，难于调试；</a:t>
            </a:r>
            <a:endParaRPr lang="zh-CN" altLang="en-US" sz="2800"/>
          </a:p>
          <a:p>
            <a:r>
              <a:rPr lang="zh-CN" altLang="en-US" sz="2800">
                <a:sym typeface="+mn-ea"/>
              </a:rPr>
              <a:t>    只能针对特定的体系结构和处理器进行优化；</a:t>
            </a:r>
            <a:endParaRPr lang="zh-CN" altLang="en-US" sz="2800"/>
          </a:p>
          <a:p>
            <a:r>
              <a:rPr lang="zh-CN" altLang="en-US" sz="2800">
                <a:sym typeface="+mn-ea"/>
              </a:rPr>
              <a:t>    开发效率很低，时间长且单调。</a:t>
            </a:r>
            <a:endParaRPr lang="zh-CN" altLang="en-US" sz="2800"/>
          </a:p>
          <a:p>
            <a:endParaRPr lang="zh-CN" altLang="en-US" sz="2800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计算机语言的发展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3</a:t>
            </a:r>
            <a:r>
              <a:rPr lang="zh-CN" altLang="en-US"/>
              <a:t>. 高级语言</a:t>
            </a:r>
            <a:endParaRPr lang="zh-CN" altLang="en-US"/>
          </a:p>
          <a:p>
            <a:r>
              <a:rPr lang="zh-CN" altLang="en-US">
                <a:sym typeface="+mn-ea"/>
              </a:rPr>
              <a:t>   高级语言，它是在低级语言的基础上，采用接近于人类自然语言的单词和符号来表示一组低级语言程序，使编程变得更加简单，易学，且写出的程序可读性强。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计算机语言的发展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3</a:t>
            </a:r>
            <a:r>
              <a:rPr lang="zh-CN" altLang="en-US"/>
              <a:t>. 高级语言</a:t>
            </a:r>
            <a:r>
              <a:rPr lang="en-US" altLang="zh-CN"/>
              <a:t>-Fortran</a:t>
            </a:r>
            <a:endParaRPr lang="zh-CN" altLang="en-US"/>
          </a:p>
          <a:p>
            <a:r>
              <a:rPr lang="zh-CN" altLang="en-US">
                <a:sym typeface="+mn-ea"/>
              </a:rPr>
              <a:t>   </a:t>
            </a:r>
            <a:r>
              <a:rPr lang="zh-CN" altLang="en-US" sz="2800">
                <a:sym typeface="+mn-ea"/>
              </a:rPr>
              <a:t>1954年Backus根据1951年Rutishauser提出的用编译程序实现高级语言的思想，研究出第一个脱离具体机器的高级语言FORTRAN I。其编译程序用18个人一年完成(用汇编语言写)。</a:t>
            </a:r>
            <a:endParaRPr lang="zh-CN" altLang="en-US" sz="280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81685" y="4309745"/>
            <a:ext cx="8206740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/>
              <a:t>约翰·巴克斯（JohnWarnerBackus）</a:t>
            </a:r>
            <a:endParaRPr lang="zh-CN" altLang="en-US" sz="2800"/>
          </a:p>
          <a:p>
            <a:r>
              <a:rPr lang="zh-CN" altLang="en-US" sz="2800"/>
              <a:t>提出了BNF范式（用来定义形式语言语法的记号法）</a:t>
            </a:r>
            <a:endParaRPr lang="zh-CN" altLang="en-US" sz="2800"/>
          </a:p>
          <a:p>
            <a:r>
              <a:rPr lang="zh-CN" altLang="en-US" sz="2800"/>
              <a:t>发明了</a:t>
            </a:r>
            <a:r>
              <a:rPr lang="en-US" altLang="zh-CN" sz="2800"/>
              <a:t>Fortran</a:t>
            </a:r>
            <a:r>
              <a:rPr lang="zh-CN" altLang="en-US" sz="2800">
                <a:ea typeface="宋体" charset="0"/>
              </a:rPr>
              <a:t>，被</a:t>
            </a:r>
            <a:r>
              <a:rPr lang="zh-CN" altLang="en-US" sz="2800"/>
              <a:t>誉为“Fortran 语言之父”。</a:t>
            </a:r>
            <a:endParaRPr lang="zh-CN" altLang="en-US" sz="2800"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计算机语言的发展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3</a:t>
            </a:r>
            <a:r>
              <a:rPr lang="zh-CN" altLang="en-US"/>
              <a:t>. 高级语言</a:t>
            </a:r>
            <a:r>
              <a:rPr lang="en-US" altLang="zh-CN">
                <a:sym typeface="+mn-ea"/>
              </a:rPr>
              <a:t>-Fortran</a:t>
            </a:r>
            <a:endParaRPr lang="zh-CN" altLang="en-US"/>
          </a:p>
          <a:p>
            <a:r>
              <a:rPr lang="zh-CN" altLang="en-US" sz="2800">
                <a:sym typeface="+mn-ea"/>
              </a:rPr>
              <a:t>   到1957年的FORTRAN Ⅱ，它就比较完善了。它有变量、表达式、赋值、调用、输入/输出等概念; 有条件比较、顺序、选择、循环控制概念; 有满足科技计算的整、实数、复数和数组，以及为保证运算精度的双精度等数据类型。表达式采用代数模型。</a:t>
            </a:r>
            <a:endParaRPr lang="zh-CN" altLang="en-US" sz="2800">
              <a:sym typeface="+mn-ea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计算机语言的发展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3</a:t>
            </a:r>
            <a:r>
              <a:rPr lang="zh-CN" altLang="en-US"/>
              <a:t>. 高级语言</a:t>
            </a:r>
            <a:r>
              <a:rPr lang="en-US" altLang="zh-CN"/>
              <a:t>-Algol</a:t>
            </a:r>
            <a:endParaRPr lang="zh-CN" altLang="en-US"/>
          </a:p>
          <a:p>
            <a:r>
              <a:rPr lang="zh-CN" altLang="en-US" sz="2800">
                <a:sym typeface="+mn-ea"/>
              </a:rPr>
              <a:t>   1958年12月，ALGOL小组发表了ALGOL58报告引起反响。这语言被视程序设计语言思想的集成者。</a:t>
            </a:r>
            <a:endParaRPr lang="zh-CN" altLang="en-US" sz="2800">
              <a:sym typeface="+mn-ea"/>
            </a:endParaRPr>
          </a:p>
          <a:p>
            <a:endParaRPr lang="zh-CN" altLang="en-US" sz="2800">
              <a:sym typeface="+mn-ea"/>
            </a:endParaRPr>
          </a:p>
          <a:p>
            <a:r>
              <a:rPr lang="zh-CN" altLang="en-US" sz="2800">
                <a:sym typeface="+mn-ea"/>
              </a:rPr>
              <a:t>   1960年1月，第二次ALGOL会议在巴黎召开，正式对80项提案作出讨论。这就是</a:t>
            </a:r>
            <a:r>
              <a:rPr lang="en-US" altLang="zh-CN" sz="2800">
                <a:sym typeface="+mn-ea"/>
              </a:rPr>
              <a:t>ALGOL60</a:t>
            </a:r>
            <a:r>
              <a:rPr lang="zh-CN" altLang="en-US" sz="2800">
                <a:ea typeface="宋体" charset="0"/>
                <a:sym typeface="+mn-ea"/>
              </a:rPr>
              <a:t>，</a:t>
            </a:r>
            <a:r>
              <a:rPr lang="zh-CN" altLang="en-US" sz="2800">
                <a:sym typeface="+mn-ea"/>
              </a:rPr>
              <a:t>来自丹麦的Peter Naur认定应该使用John Backus提出的BNF来正式描述1960年ALGOL会议的成果。</a:t>
            </a:r>
            <a:endParaRPr lang="zh-CN" altLang="en-US" sz="2800">
              <a:sym typeface="+mn-ea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计算机语言的发展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3</a:t>
            </a:r>
            <a:r>
              <a:rPr lang="zh-CN" altLang="en-US"/>
              <a:t>. 高级语言</a:t>
            </a:r>
            <a:r>
              <a:rPr lang="en-US" altLang="zh-CN">
                <a:sym typeface="+mn-ea"/>
              </a:rPr>
              <a:t>-Algol</a:t>
            </a:r>
            <a:endParaRPr lang="zh-CN" altLang="en-US"/>
          </a:p>
          <a:p>
            <a:r>
              <a:rPr lang="zh-CN" altLang="en-US" sz="2800">
                <a:sym typeface="+mn-ea"/>
              </a:rPr>
              <a:t>   Algol 60引进了许多新的概念如：局部性概念、动态、递归、巴科斯-诺尔范式BNF（Backus-Naur Form）等等。</a:t>
            </a:r>
            <a:endParaRPr lang="zh-CN" altLang="en-US" sz="2800">
              <a:sym typeface="+mn-ea"/>
            </a:endParaRP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计算机语言的发展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3</a:t>
            </a:r>
            <a:r>
              <a:rPr lang="zh-CN" altLang="en-US"/>
              <a:t>. 高级语言</a:t>
            </a:r>
            <a:r>
              <a:rPr lang="en-US" altLang="zh-CN"/>
              <a:t>-Cobol</a:t>
            </a:r>
            <a:endParaRPr lang="zh-CN" altLang="en-US"/>
          </a:p>
          <a:p>
            <a:r>
              <a:rPr lang="zh-CN" altLang="en-US" sz="2800">
                <a:sym typeface="+mn-ea"/>
              </a:rPr>
              <a:t>    1959年为了开发在商用事务处理方面的程序设计语言，美国各厂商和机构组成一个委员会于1960年4月发表了数据处理的COBOL 60语言。</a:t>
            </a:r>
            <a:endParaRPr lang="zh-CN" altLang="en-US" sz="2800">
              <a:sym typeface="+mn-ea"/>
            </a:endParaRPr>
          </a:p>
          <a:p>
            <a:endParaRPr lang="zh-CN" altLang="en-US" sz="2800">
              <a:sym typeface="+mn-ea"/>
            </a:endParaRPr>
          </a:p>
          <a:p>
            <a:r>
              <a:rPr lang="zh-CN" altLang="en-US" sz="2800">
                <a:sym typeface="+mn-ea"/>
              </a:rPr>
              <a:t>   开发者的目标要尽可能英语化，使没有计算机知识的老板们也能看得懂。</a:t>
            </a:r>
            <a:endParaRPr lang="zh-CN" altLang="en-US" sz="2800">
              <a:sym typeface="+mn-ea"/>
            </a:endParaRP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计算机语言的发展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3</a:t>
            </a:r>
            <a:r>
              <a:rPr lang="zh-CN" altLang="en-US"/>
              <a:t>. 高级语言</a:t>
            </a:r>
            <a:r>
              <a:rPr lang="en-US" altLang="zh-CN"/>
              <a:t>-</a:t>
            </a:r>
            <a:r>
              <a:rPr lang="en-US" altLang="zh-CN">
                <a:sym typeface="+mn-ea"/>
              </a:rPr>
              <a:t>Cobol</a:t>
            </a:r>
            <a:endParaRPr lang="zh-CN" altLang="en-US"/>
          </a:p>
          <a:p>
            <a:r>
              <a:rPr lang="zh-CN" altLang="en-US" sz="2800">
                <a:sym typeface="+mn-ea"/>
              </a:rPr>
              <a:t>   所以像算术运算符+、*都用英文ADD、MULTIPLY。 数据描述大大扩展了，除了表(相当于数组)还有纪录、文件等概念。</a:t>
            </a:r>
            <a:endParaRPr lang="zh-CN" altLang="en-US" sz="2800">
              <a:sym typeface="+mn-ea"/>
            </a:endParaRPr>
          </a:p>
          <a:p>
            <a:endParaRPr lang="zh-CN" altLang="en-US" sz="2800">
              <a:sym typeface="+mn-ea"/>
            </a:endParaRPr>
          </a:p>
          <a:p>
            <a:r>
              <a:rPr lang="zh-CN" altLang="en-US" sz="2800">
                <a:sym typeface="+mn-ea"/>
              </a:rPr>
              <a:t>  COBOL 60由于其优异的输入/出功能，报表、分类归并的方便快速，使它存活并牢固占领商用事务软件市场。</a:t>
            </a:r>
            <a:endParaRPr lang="zh-CN" altLang="en-US" sz="2800">
              <a:sym typeface="+mn-ea"/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计算机语言的发展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3</a:t>
            </a:r>
            <a:r>
              <a:rPr lang="zh-CN" altLang="en-US"/>
              <a:t>. 高级语言</a:t>
            </a:r>
            <a:r>
              <a:rPr lang="en-US" altLang="zh-CN"/>
              <a:t>-LISP</a:t>
            </a:r>
            <a:endParaRPr lang="en-US" altLang="zh-CN"/>
          </a:p>
          <a:p>
            <a:r>
              <a:rPr lang="zh-CN" altLang="en-US" sz="2800">
                <a:sym typeface="+mn-ea"/>
              </a:rPr>
              <a:t>   1957年，美国MIT科学家McCarthy提出LISP，并把它用于数学定理验证等较为智能性的程序。</a:t>
            </a:r>
            <a:endParaRPr lang="zh-CN" altLang="en-US" sz="2800">
              <a:sym typeface="+mn-ea"/>
            </a:endParaRPr>
          </a:p>
          <a:p>
            <a:r>
              <a:rPr lang="en-US" altLang="zh-CN" sz="2800">
                <a:sym typeface="+mn-ea"/>
              </a:rPr>
              <a:t>   </a:t>
            </a:r>
            <a:endParaRPr lang="en-US" altLang="zh-CN" sz="2800">
              <a:sym typeface="+mn-ea"/>
            </a:endParaRP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计算机语言的发展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3</a:t>
            </a:r>
            <a:r>
              <a:rPr lang="zh-CN" altLang="en-US"/>
              <a:t>. 高级语言</a:t>
            </a:r>
            <a:r>
              <a:rPr lang="en-US" altLang="zh-CN"/>
              <a:t>-BASIC</a:t>
            </a:r>
            <a:endParaRPr lang="en-US" altLang="zh-CN"/>
          </a:p>
          <a:p>
            <a:r>
              <a:rPr lang="zh-CN" altLang="en-US" sz="2800">
                <a:sym typeface="+mn-ea"/>
              </a:rPr>
              <a:t>   </a:t>
            </a:r>
            <a:r>
              <a:rPr lang="en-US" altLang="zh-CN" sz="2800">
                <a:sym typeface="+mn-ea"/>
              </a:rPr>
              <a:t>1967年为普及程序语言教育，美国达特茅斯学院的J.G. Kemeny和T.E.Kurtz研制出交互式、解释型语言BASIC(“初学者通用符号指令码”字头)。</a:t>
            </a:r>
            <a:endParaRPr lang="en-US" altLang="zh-CN" sz="2800">
              <a:sym typeface="+mn-ea"/>
            </a:endParaRPr>
          </a:p>
          <a:p>
            <a:endParaRPr lang="en-US" altLang="zh-CN" sz="2800">
              <a:sym typeface="+mn-ea"/>
            </a:endParaRPr>
          </a:p>
          <a:p>
            <a:r>
              <a:rPr lang="en-US" altLang="zh-CN" sz="2800">
                <a:sym typeface="+mn-ea"/>
              </a:rPr>
              <a:t>   由于解释程序小(仅8K)赶上70年代微机大普及，BASIC取得众所周知的成就。</a:t>
            </a:r>
            <a:endParaRPr lang="en-US" altLang="zh-CN" sz="2800">
              <a:sym typeface="+mn-ea"/>
            </a:endParaRPr>
          </a:p>
          <a:p>
            <a:endParaRPr lang="en-US" altLang="zh-CN" sz="2800">
              <a:sym typeface="+mn-ea"/>
            </a:endParaRPr>
          </a:p>
          <a:p>
            <a:r>
              <a:rPr lang="en-US" altLang="zh-CN" sz="2800">
                <a:sym typeface="+mn-ea"/>
              </a:rPr>
              <a:t>   但是它的弱类型、全程量数据、无模块，决定了它只能编制小程序。它是程序员入门的启蒙语言</a:t>
            </a:r>
            <a:endParaRPr lang="en-US" altLang="zh-CN" sz="2800">
              <a:sym typeface="+mn-ea"/>
            </a:endParaRP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计算机语言的发展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3</a:t>
            </a:r>
            <a:r>
              <a:rPr lang="zh-CN" altLang="en-US"/>
              <a:t>. 高级语言</a:t>
            </a:r>
            <a:r>
              <a:rPr lang="en-US" altLang="zh-CN"/>
              <a:t>-LOGO</a:t>
            </a:r>
            <a:endParaRPr lang="en-US" altLang="zh-CN"/>
          </a:p>
          <a:p>
            <a:r>
              <a:rPr lang="zh-CN" altLang="en-US" sz="2800">
                <a:sym typeface="+mn-ea"/>
              </a:rPr>
              <a:t>   </a:t>
            </a:r>
            <a:r>
              <a:rPr lang="en-US" altLang="zh-CN" sz="2800">
                <a:sym typeface="+mn-ea"/>
              </a:rPr>
              <a:t>LOGO语言是美国MIT的S. Papert教授于1967年开发的小型语言。其目的是无数学基础的青少年也能学习使用计算机，理解程序设计思想，自己编制过程或程序。</a:t>
            </a:r>
            <a:endParaRPr lang="en-US" altLang="zh-CN" sz="2800">
              <a:sym typeface="+mn-ea"/>
            </a:endParaRPr>
          </a:p>
          <a:p>
            <a:r>
              <a:rPr lang="en-US" altLang="zh-CN" sz="2800">
                <a:sym typeface="+mn-ea"/>
              </a:rPr>
              <a:t>   </a:t>
            </a:r>
            <a:endParaRPr lang="en-US" altLang="zh-CN" sz="2800">
              <a:sym typeface="+mn-ea"/>
            </a:endParaRPr>
          </a:p>
          <a:p>
            <a:r>
              <a:rPr lang="en-US" altLang="zh-CN" sz="2800">
                <a:sym typeface="+mn-ea"/>
              </a:rPr>
              <a:t>   屏幕上的海龟使青少年直观地构造各种图形。</a:t>
            </a:r>
            <a:endParaRPr lang="en-US" altLang="zh-CN" sz="2800">
              <a:sym typeface="+mn-ea"/>
            </a:endParaRP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计算机语言的发展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3</a:t>
            </a:r>
            <a:r>
              <a:rPr lang="zh-CN" altLang="en-US"/>
              <a:t>. 高级语言</a:t>
            </a:r>
            <a:r>
              <a:rPr lang="en-US" altLang="zh-CN"/>
              <a:t>-LOGO</a:t>
            </a:r>
            <a:endParaRPr lang="en-US" altLang="zh-CN"/>
          </a:p>
          <a:p>
            <a:r>
              <a:rPr lang="zh-CN" altLang="en-US" sz="2800">
                <a:sym typeface="+mn-ea"/>
              </a:rPr>
              <a:t>   </a:t>
            </a:r>
            <a:r>
              <a:rPr lang="en-US" altLang="zh-CN" sz="2800">
                <a:sym typeface="+mn-ea"/>
              </a:rPr>
              <a:t>屏幕上的海龟使青少年直观地构造各种图形。</a:t>
            </a:r>
            <a:endParaRPr lang="en-US" altLang="zh-CN" sz="2800"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0535" y="3113405"/>
            <a:ext cx="4648200" cy="28575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55" y="3218815"/>
            <a:ext cx="3848152" cy="2340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计算机语言的发展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3</a:t>
            </a:r>
            <a:r>
              <a:rPr lang="zh-CN" altLang="en-US"/>
              <a:t>. 高级语言</a:t>
            </a:r>
            <a:r>
              <a:rPr lang="en-US" altLang="zh-CN"/>
              <a:t>-SIMULA67</a:t>
            </a:r>
            <a:endParaRPr lang="en-US" altLang="zh-CN"/>
          </a:p>
          <a:p>
            <a:r>
              <a:rPr lang="zh-CN" altLang="en-US" sz="2800">
                <a:sym typeface="+mn-ea"/>
              </a:rPr>
              <a:t>   </a:t>
            </a:r>
            <a:r>
              <a:rPr lang="en-US" altLang="zh-CN" sz="2800">
                <a:sym typeface="+mn-ea"/>
              </a:rPr>
              <a:t>1967年挪威计算机科学家O.J. DahI等人研制出通用模拟语言SIMULA67。它以ALGOL 60为基础，为分层模拟离散事件提出了类(Class)的概念。类将数据和其上的操作集为一体，定义出类似类型的样板。以实例进入运算。这是抽象数据类型及对象的先声。</a:t>
            </a:r>
            <a:endParaRPr lang="en-US" altLang="zh-CN" sz="2800">
              <a:sym typeface="+mn-ea"/>
            </a:endParaRP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计算机语言的发展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3</a:t>
            </a:r>
            <a:r>
              <a:rPr lang="zh-CN" altLang="en-US"/>
              <a:t>. 高级语言</a:t>
            </a:r>
            <a:r>
              <a:rPr lang="en-US" altLang="zh-CN"/>
              <a:t>-</a:t>
            </a:r>
            <a:r>
              <a:rPr lang="en-US" altLang="zh-CN">
                <a:sym typeface="+mn-ea"/>
              </a:rPr>
              <a:t>Pascal</a:t>
            </a:r>
            <a:endParaRPr lang="en-US" altLang="zh-CN"/>
          </a:p>
          <a:p>
            <a:r>
              <a:rPr lang="zh-CN" altLang="en-US" sz="2800">
                <a:sym typeface="+mn-ea"/>
              </a:rPr>
              <a:t>   </a:t>
            </a:r>
            <a:r>
              <a:rPr lang="en-US" altLang="zh-CN" sz="2800">
                <a:sym typeface="+mn-ea"/>
              </a:rPr>
              <a:t>1971年Pascal正式问世</a:t>
            </a:r>
            <a:r>
              <a:rPr lang="zh-CN" altLang="en-US" sz="2800">
                <a:ea typeface="宋体" charset="0"/>
                <a:sym typeface="+mn-ea"/>
              </a:rPr>
              <a:t>：</a:t>
            </a:r>
            <a:r>
              <a:rPr lang="en-US" altLang="zh-CN" sz="2800">
                <a:sym typeface="+mn-ea"/>
              </a:rPr>
              <a:t>“简单、有效、可靠”是结构化程序设计教育示范语言。</a:t>
            </a:r>
            <a:endParaRPr lang="en-US" altLang="zh-CN" sz="2800">
              <a:sym typeface="+mn-ea"/>
            </a:endParaRPr>
          </a:p>
          <a:p>
            <a:endParaRPr lang="en-US" altLang="zh-CN" sz="2800">
              <a:sym typeface="+mn-ea"/>
            </a:endParaRPr>
          </a:p>
          <a:p>
            <a:r>
              <a:rPr lang="en-US" altLang="zh-CN" sz="2800">
                <a:sym typeface="+mn-ea"/>
              </a:rPr>
              <a:t>   Pascal有</a:t>
            </a:r>
            <a:r>
              <a:rPr lang="zh-CN" altLang="en-US" sz="2800">
                <a:ea typeface="宋体" charset="0"/>
                <a:sym typeface="+mn-ea"/>
              </a:rPr>
              <a:t>顺序、分支、循环</a:t>
            </a:r>
            <a:r>
              <a:rPr lang="en-US" altLang="zh-CN" sz="2800">
                <a:sym typeface="+mn-ea"/>
              </a:rPr>
              <a:t>控制结构</a:t>
            </a:r>
            <a:r>
              <a:rPr lang="zh-CN" altLang="en-US" sz="2800">
                <a:ea typeface="宋体" charset="0"/>
                <a:sym typeface="+mn-ea"/>
              </a:rPr>
              <a:t>；有</a:t>
            </a:r>
            <a:r>
              <a:rPr lang="en-US" altLang="zh-CN" sz="2800">
                <a:sym typeface="+mn-ea"/>
              </a:rPr>
              <a:t>子程序(过程和函数)，可任意嵌套，有</a:t>
            </a:r>
            <a:r>
              <a:rPr lang="zh-CN" altLang="en-US" sz="2800">
                <a:ea typeface="宋体" charset="0"/>
                <a:sym typeface="+mn-ea"/>
              </a:rPr>
              <a:t>全局变</a:t>
            </a:r>
            <a:r>
              <a:rPr lang="en-US" altLang="zh-CN" sz="2800">
                <a:sym typeface="+mn-ea"/>
              </a:rPr>
              <a:t>量、局部</a:t>
            </a:r>
            <a:r>
              <a:rPr lang="zh-CN" altLang="en-US" sz="2800">
                <a:ea typeface="宋体" charset="0"/>
                <a:sym typeface="+mn-ea"/>
              </a:rPr>
              <a:t>变</a:t>
            </a:r>
            <a:r>
              <a:rPr lang="en-US" altLang="zh-CN" sz="2800">
                <a:sym typeface="+mn-ea"/>
              </a:rPr>
              <a:t>量、作用域与可见性概念。</a:t>
            </a:r>
            <a:endParaRPr lang="en-US" altLang="zh-CN" sz="2800">
              <a:sym typeface="+mn-ea"/>
            </a:endParaRP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计算机语言的发展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3</a:t>
            </a:r>
            <a:r>
              <a:rPr lang="zh-CN" altLang="en-US"/>
              <a:t>. 高级语言</a:t>
            </a:r>
            <a:r>
              <a:rPr lang="en-US" altLang="zh-CN"/>
              <a:t>-</a:t>
            </a:r>
            <a:r>
              <a:rPr lang="en-US" altLang="zh-CN">
                <a:sym typeface="+mn-ea"/>
              </a:rPr>
              <a:t>Pascal</a:t>
            </a:r>
            <a:endParaRPr lang="en-US" altLang="zh-CN"/>
          </a:p>
          <a:p>
            <a:r>
              <a:rPr lang="zh-CN" altLang="en-US" sz="2800">
                <a:sym typeface="+mn-ea"/>
              </a:rPr>
              <a:t>   </a:t>
            </a:r>
            <a:r>
              <a:rPr lang="en-US" altLang="zh-CN" sz="2800">
                <a:sym typeface="+mn-ea"/>
              </a:rPr>
              <a:t>Pascal数据类型丰富，有整、实、字符、布尔等纯量类型: 有数组、记录、变体记录、串等结构类型; 增加了集合、枚举、指针类型。</a:t>
            </a:r>
            <a:endParaRPr lang="en-US" altLang="zh-CN" sz="2800">
              <a:sym typeface="+mn-ea"/>
            </a:endParaRPr>
          </a:p>
          <a:p>
            <a:endParaRPr lang="en-US" altLang="zh-CN" sz="2800">
              <a:sym typeface="+mn-ea"/>
            </a:endParaRPr>
          </a:p>
          <a:p>
            <a:r>
              <a:rPr lang="en-US" altLang="zh-CN" sz="2800">
                <a:sym typeface="+mn-ea"/>
              </a:rPr>
              <a:t>   Pascal得到普遍好评，但它只能描述顺序的小程序，功能太弱。在大型、并发、实时程序设计中无能为力。</a:t>
            </a:r>
            <a:endParaRPr lang="en-US" altLang="zh-CN" sz="2800">
              <a:sym typeface="+mn-ea"/>
            </a:endParaRP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计算机语言的发展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3</a:t>
            </a:r>
            <a:r>
              <a:rPr lang="zh-CN" altLang="en-US"/>
              <a:t>. 高级语言</a:t>
            </a:r>
            <a:r>
              <a:rPr lang="en-US" altLang="zh-CN"/>
              <a:t>-</a:t>
            </a:r>
            <a:r>
              <a:rPr lang="en-US" altLang="zh-CN">
                <a:sym typeface="+mn-ea"/>
              </a:rPr>
              <a:t>C</a:t>
            </a:r>
            <a:endParaRPr lang="en-US" altLang="zh-CN">
              <a:sym typeface="+mn-ea"/>
            </a:endParaRPr>
          </a:p>
          <a:p>
            <a:r>
              <a:rPr lang="zh-CN" altLang="en-US" sz="2800">
                <a:sym typeface="+mn-ea"/>
              </a:rPr>
              <a:t>   1972年，AT&amp;T公司贝尔实验室Ritchie开发了C语言。C语言的原型是1969年Richard开发的系统程序设计语BCPL。K.Thompson将BCPL改造成B语言，用于重写UNIX多用户操作系统。在PDP-11机的UNIX第五版时用的是将B改造后的C。</a:t>
            </a:r>
            <a:endParaRPr lang="en-US" altLang="zh-CN" sz="2800">
              <a:sym typeface="+mn-ea"/>
            </a:endParaRP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计算机语言的发展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3</a:t>
            </a:r>
            <a:r>
              <a:rPr lang="zh-CN" altLang="en-US"/>
              <a:t>. 高级语言</a:t>
            </a:r>
            <a:endParaRPr lang="en-US" altLang="zh-CN">
              <a:sym typeface="+mn-ea"/>
            </a:endParaRPr>
          </a:p>
          <a:p>
            <a:r>
              <a:rPr lang="zh-CN" altLang="en-US" sz="2800">
                <a:sym typeface="+mn-ea"/>
              </a:rPr>
              <a:t>   Modula：Pascal在工程实践上暴露出设计上的许多缺点，于是其设计者开发了Modula-2。Modula-2除了改进Pascal的弱点外，最重要的是有模块结构，且支持并发程序设计</a:t>
            </a:r>
            <a:endParaRPr lang="zh-CN" altLang="en-US" sz="2800">
              <a:sym typeface="+mn-ea"/>
            </a:endParaRPr>
          </a:p>
          <a:p>
            <a:endParaRPr lang="zh-CN" altLang="en-US" sz="2800">
              <a:sym typeface="+mn-ea"/>
            </a:endParaRPr>
          </a:p>
          <a:p>
            <a:r>
              <a:rPr lang="zh-CN" altLang="en-US" sz="2800">
                <a:sym typeface="+mn-ea"/>
              </a:rPr>
              <a:t>   </a:t>
            </a:r>
            <a:r>
              <a:rPr lang="en-US" altLang="zh-CN" sz="2800">
                <a:sym typeface="+mn-ea"/>
              </a:rPr>
              <a:t>Ada</a:t>
            </a:r>
            <a:r>
              <a:rPr lang="zh-CN" altLang="en-US" sz="2800">
                <a:ea typeface="宋体" charset="0"/>
                <a:sym typeface="+mn-ea"/>
              </a:rPr>
              <a:t>：</a:t>
            </a:r>
            <a:r>
              <a:rPr lang="en-US" altLang="zh-CN" sz="2800">
                <a:sym typeface="+mn-ea"/>
              </a:rPr>
              <a:t>Modula</a:t>
            </a:r>
            <a:r>
              <a:rPr lang="zh-CN" altLang="en-US" sz="2800">
                <a:sym typeface="+mn-ea"/>
              </a:rPr>
              <a:t>它不巧与美国开发的Ada非常近似，</a:t>
            </a:r>
            <a:r>
              <a:rPr lang="en-US" altLang="zh-CN" sz="2800">
                <a:sym typeface="+mn-ea"/>
              </a:rPr>
              <a:t>Ada</a:t>
            </a:r>
            <a:r>
              <a:rPr lang="zh-CN" altLang="en-US" sz="2800">
                <a:ea typeface="宋体" charset="0"/>
                <a:sym typeface="+mn-ea"/>
              </a:rPr>
              <a:t>是美国军方力推的</a:t>
            </a:r>
            <a:r>
              <a:rPr lang="zh-CN" altLang="en-US" sz="2800">
                <a:sym typeface="+mn-ea"/>
              </a:rPr>
              <a:t>统一的军用通用语言，完全按软件工程方式进行，具有里程碑意义。</a:t>
            </a:r>
            <a:endParaRPr lang="zh-CN" altLang="en-US" sz="2800">
              <a:sym typeface="+mn-ea"/>
            </a:endParaRPr>
          </a:p>
          <a:p>
            <a:endParaRPr lang="zh-CN" altLang="en-US" sz="2800">
              <a:sym typeface="+mn-ea"/>
            </a:endParaRP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计算机语言的发展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3</a:t>
            </a:r>
            <a:r>
              <a:rPr lang="zh-CN" altLang="en-US"/>
              <a:t>. 高级语言</a:t>
            </a:r>
            <a:endParaRPr lang="en-US" altLang="zh-CN">
              <a:sym typeface="+mn-ea"/>
            </a:endParaRPr>
          </a:p>
          <a:p>
            <a:r>
              <a:rPr lang="zh-CN" altLang="en-US" sz="2800">
                <a:sym typeface="+mn-ea"/>
              </a:rPr>
              <a:t>   </a:t>
            </a:r>
            <a:r>
              <a:rPr lang="en-US" altLang="zh-CN" sz="2800">
                <a:sym typeface="+mn-ea"/>
              </a:rPr>
              <a:t>Smalltalk</a:t>
            </a:r>
            <a:r>
              <a:rPr lang="zh-CN" altLang="en-US" sz="2800">
                <a:sym typeface="+mn-ea"/>
              </a:rPr>
              <a:t>：</a:t>
            </a:r>
            <a:r>
              <a:rPr lang="en-US" altLang="zh-CN" sz="2800">
                <a:sym typeface="+mn-ea"/>
              </a:rPr>
              <a:t>美国施乐公司Alan Kay</a:t>
            </a:r>
            <a:r>
              <a:rPr lang="zh-CN" altLang="en-US" sz="2800">
                <a:ea typeface="宋体" charset="0"/>
                <a:sym typeface="+mn-ea"/>
              </a:rPr>
              <a:t>小组开发了近</a:t>
            </a:r>
            <a:r>
              <a:rPr lang="en-US" altLang="zh-CN" sz="2800">
                <a:ea typeface="宋体" charset="0"/>
                <a:sym typeface="+mn-ea"/>
              </a:rPr>
              <a:t>10</a:t>
            </a:r>
            <a:r>
              <a:rPr lang="zh-CN" altLang="en-US" sz="2800">
                <a:ea typeface="宋体" charset="0"/>
                <a:sym typeface="+mn-ea"/>
              </a:rPr>
              <a:t>年，于</a:t>
            </a:r>
            <a:r>
              <a:rPr lang="en-US" altLang="zh-CN" sz="2800">
                <a:sym typeface="+mn-ea"/>
              </a:rPr>
              <a:t>1980年</a:t>
            </a:r>
            <a:r>
              <a:rPr lang="zh-CN" altLang="en-US" sz="2800">
                <a:ea typeface="宋体" charset="0"/>
                <a:sym typeface="+mn-ea"/>
              </a:rPr>
              <a:t>正式发布</a:t>
            </a:r>
            <a:r>
              <a:rPr lang="en-US" altLang="zh-CN" sz="2800">
                <a:sym typeface="+mn-ea"/>
              </a:rPr>
              <a:t>Smalltalk-80。</a:t>
            </a:r>
            <a:endParaRPr lang="en-US" altLang="zh-CN" sz="2800">
              <a:sym typeface="+mn-ea"/>
            </a:endParaRPr>
          </a:p>
          <a:p>
            <a:r>
              <a:rPr lang="en-US" altLang="zh-CN" sz="2800">
                <a:sym typeface="+mn-ea"/>
              </a:rPr>
              <a:t>   Smalltalk是最具有代表性和运用最广泛的面向对象程序</a:t>
            </a:r>
            <a:r>
              <a:rPr lang="zh-CN" altLang="en-US" sz="2800">
                <a:ea typeface="宋体" charset="0"/>
                <a:sym typeface="+mn-ea"/>
              </a:rPr>
              <a:t>设计语言，其语言和环境一致性，交互式和极端用户友好(用菜单和鼠标即可上机)，影响深远，是里程碑式的语言。</a:t>
            </a:r>
            <a:endParaRPr lang="zh-CN" altLang="en-US" sz="2800">
              <a:ea typeface="宋体" charset="0"/>
              <a:sym typeface="+mn-ea"/>
            </a:endParaRP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计算机语言的发展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3</a:t>
            </a:r>
            <a:r>
              <a:rPr lang="zh-CN" altLang="en-US"/>
              <a:t>. 高级语言</a:t>
            </a:r>
            <a:endParaRPr lang="en-US" altLang="zh-CN">
              <a:sym typeface="+mn-ea"/>
            </a:endParaRPr>
          </a:p>
          <a:p>
            <a:r>
              <a:rPr lang="zh-CN" altLang="en-US" sz="2800">
                <a:sym typeface="+mn-ea"/>
              </a:rPr>
              <a:t>   </a:t>
            </a:r>
            <a:r>
              <a:rPr lang="en-US" altLang="zh-CN" sz="2800">
                <a:sym typeface="+mn-ea"/>
              </a:rPr>
              <a:t>C++</a:t>
            </a:r>
            <a:r>
              <a:rPr lang="zh-CN" altLang="en-US" sz="2800">
                <a:sym typeface="+mn-ea"/>
              </a:rPr>
              <a:t>：Bjarne Stroustrup以C为背景，以Simula思想为基础，在Bell实验室，将C改良为带类的C（C with classes），1983年该语言被正式命名为C++。</a:t>
            </a:r>
            <a:endParaRPr lang="zh-CN" altLang="en-US" sz="2800">
              <a:sym typeface="+mn-ea"/>
            </a:endParaRPr>
          </a:p>
          <a:p>
            <a:endParaRPr lang="zh-CN" altLang="en-US" sz="2800">
              <a:sym typeface="+mn-ea"/>
            </a:endParaRPr>
          </a:p>
          <a:p>
            <a:r>
              <a:rPr lang="zh-CN" altLang="en-US" sz="2800">
                <a:sym typeface="+mn-ea"/>
              </a:rPr>
              <a:t>   Java吸收了C++的各种优点，放弃了多继承、指针等概念，其最主要的特点是采用平台无关的字节码，实现</a:t>
            </a:r>
            <a:r>
              <a:rPr lang="en-US" altLang="zh-CN" sz="2800">
                <a:sym typeface="+mn-ea"/>
              </a:rPr>
              <a:t>“</a:t>
            </a:r>
            <a:r>
              <a:rPr lang="zh-CN" altLang="en-US" sz="2800">
                <a:ea typeface="宋体" charset="0"/>
                <a:sym typeface="+mn-ea"/>
              </a:rPr>
              <a:t>一次编译，到处运行</a:t>
            </a:r>
            <a:r>
              <a:rPr lang="en-US" altLang="zh-CN" sz="2800">
                <a:ea typeface="宋体" charset="0"/>
                <a:sym typeface="+mn-ea"/>
              </a:rPr>
              <a:t>”</a:t>
            </a:r>
            <a:r>
              <a:rPr lang="zh-CN" altLang="en-US" sz="2800">
                <a:ea typeface="宋体" charset="0"/>
                <a:sym typeface="+mn-ea"/>
              </a:rPr>
              <a:t>。</a:t>
            </a:r>
            <a:endParaRPr lang="zh-CN" altLang="en-US" sz="2800">
              <a:ea typeface="宋体" charset="0"/>
              <a:sym typeface="+mn-ea"/>
            </a:endParaRP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计算机语言的发展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3</a:t>
            </a:r>
            <a:r>
              <a:rPr lang="zh-CN" altLang="en-US"/>
              <a:t>. 高级语言</a:t>
            </a:r>
            <a:endParaRPr lang="en-US" altLang="zh-CN">
              <a:sym typeface="+mn-ea"/>
            </a:endParaRPr>
          </a:p>
          <a:p>
            <a:r>
              <a:rPr lang="zh-CN" altLang="en-US" sz="2800">
                <a:sym typeface="+mn-ea"/>
              </a:rPr>
              <a:t>   其他高级语言：</a:t>
            </a:r>
            <a:r>
              <a:rPr lang="en-US" altLang="zh-CN" sz="2800">
                <a:sym typeface="+mn-ea"/>
              </a:rPr>
              <a:t>C#</a:t>
            </a:r>
            <a:r>
              <a:rPr lang="zh-CN" altLang="en-US" sz="2800">
                <a:ea typeface="宋体" charset="0"/>
                <a:sym typeface="+mn-ea"/>
              </a:rPr>
              <a:t>，</a:t>
            </a:r>
            <a:r>
              <a:rPr lang="en-US" altLang="zh-CN" sz="2800">
                <a:ea typeface="宋体" charset="0"/>
                <a:sym typeface="+mn-ea"/>
              </a:rPr>
              <a:t>PHP</a:t>
            </a:r>
            <a:r>
              <a:rPr lang="zh-CN" altLang="en-US" sz="2800">
                <a:ea typeface="宋体" charset="0"/>
                <a:sym typeface="+mn-ea"/>
              </a:rPr>
              <a:t>，</a:t>
            </a:r>
            <a:r>
              <a:rPr lang="en-US" altLang="zh-CN" sz="2800">
                <a:ea typeface="宋体" charset="0"/>
                <a:sym typeface="+mn-ea"/>
              </a:rPr>
              <a:t>Python</a:t>
            </a:r>
            <a:r>
              <a:rPr lang="zh-CN" altLang="en-US" sz="2800">
                <a:ea typeface="宋体" charset="0"/>
                <a:sym typeface="+mn-ea"/>
              </a:rPr>
              <a:t>，</a:t>
            </a:r>
            <a:r>
              <a:rPr lang="en-US" altLang="zh-CN" sz="2800">
                <a:ea typeface="宋体" charset="0"/>
                <a:sym typeface="+mn-ea"/>
              </a:rPr>
              <a:t>Ruby</a:t>
            </a:r>
            <a:r>
              <a:rPr lang="zh-CN" altLang="en-US" sz="2800">
                <a:ea typeface="宋体" charset="0"/>
                <a:sym typeface="+mn-ea"/>
              </a:rPr>
              <a:t>，</a:t>
            </a:r>
            <a:r>
              <a:rPr lang="en-US" altLang="zh-CN" sz="2800">
                <a:ea typeface="宋体" charset="0"/>
                <a:sym typeface="+mn-ea"/>
              </a:rPr>
              <a:t>VB</a:t>
            </a:r>
            <a:r>
              <a:rPr lang="zh-CN" altLang="en-US" sz="2800">
                <a:ea typeface="宋体" charset="0"/>
                <a:sym typeface="+mn-ea"/>
              </a:rPr>
              <a:t>，</a:t>
            </a:r>
            <a:r>
              <a:rPr lang="en-US" altLang="zh-CN" sz="2800">
                <a:ea typeface="宋体" charset="0"/>
                <a:sym typeface="+mn-ea"/>
              </a:rPr>
              <a:t>Delphi</a:t>
            </a:r>
            <a:r>
              <a:rPr lang="zh-CN" altLang="en-US" sz="2800">
                <a:ea typeface="宋体" charset="0"/>
                <a:sym typeface="+mn-ea"/>
              </a:rPr>
              <a:t>，</a:t>
            </a:r>
            <a:r>
              <a:rPr lang="en-US" altLang="zh-CN" sz="2800">
                <a:ea typeface="宋体" charset="0"/>
                <a:sym typeface="+mn-ea"/>
              </a:rPr>
              <a:t>JavaScript ......</a:t>
            </a:r>
            <a:endParaRPr lang="zh-CN" altLang="en-US" sz="2800">
              <a:ea typeface="宋体" charset="0"/>
              <a:sym typeface="+mn-ea"/>
            </a:endParaRP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289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571500"/>
            <a:ext cx="7620000" cy="5715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/>
        </p:nvSpPr>
        <p:spPr>
          <a:xfrm>
            <a:off x="457200" y="274638"/>
            <a:ext cx="8228013" cy="114141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/>
          <a:lstStyle>
            <a:lvl1pPr marL="0" lvl="0" indent="0" algn="ctr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4400" u="none" kern="1200" baseline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计算机语言的发展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3349625" y="1510983"/>
            <a:ext cx="3155950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noProof="1">
                <a:latin typeface="Arial" panose="02080604020202020204" pitchFamily="34" charset="0"/>
                <a:ea typeface="+mn-ea"/>
                <a:cs typeface="+mn-cs"/>
              </a:rPr>
              <a:t>// i = 15;</a:t>
            </a:r>
            <a:endParaRPr lang="zh-CN" altLang="en-US" noProof="1"/>
          </a:p>
          <a:p>
            <a:r>
              <a:rPr lang="zh-CN" altLang="en-US" noProof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+mn-ea"/>
                <a:cs typeface="+mn-cs"/>
              </a:rPr>
              <a:t>mov</a:t>
            </a:r>
            <a:r>
              <a:rPr lang="zh-CN" altLang="en-US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+mn-ea"/>
                <a:cs typeface="+mn-cs"/>
              </a:rPr>
              <a:t> r3, </a:t>
            </a:r>
            <a:r>
              <a:rPr lang="zh-CN" altLang="en-US" noProof="1">
                <a:solidFill>
                  <a:srgbClr val="E616E8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+mn-ea"/>
                <a:cs typeface="+mn-cs"/>
              </a:rPr>
              <a:t>#15</a:t>
            </a:r>
            <a:endParaRPr lang="zh-CN" altLang="en-US" noProof="1">
              <a:solidFill>
                <a:srgbClr val="FFFF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zh-CN" altLang="en-US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+mn-ea"/>
                <a:cs typeface="+mn-cs"/>
              </a:rPr>
              <a:t>str r3, [r11, #-8]</a:t>
            </a:r>
            <a:endParaRPr lang="zh-CN" altLang="en-US" noProof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endParaRPr lang="zh-CN" altLang="en-US" noProof="1"/>
          </a:p>
          <a:p>
            <a:r>
              <a:rPr lang="zh-CN" altLang="en-US" noProof="1">
                <a:latin typeface="Arial" panose="02080604020202020204" pitchFamily="34" charset="0"/>
                <a:ea typeface="+mn-ea"/>
                <a:cs typeface="+mn-cs"/>
              </a:rPr>
              <a:t>//j = 25;</a:t>
            </a:r>
            <a:endParaRPr lang="zh-CN" altLang="en-US" noProof="1"/>
          </a:p>
          <a:p>
            <a:r>
              <a:rPr lang="zh-CN" altLang="en-US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+mn-ea"/>
                <a:cs typeface="+mn-cs"/>
              </a:rPr>
              <a:t>mov r3, #25</a:t>
            </a:r>
            <a:endParaRPr lang="zh-CN" altLang="en-US" noProof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zh-CN" altLang="en-US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+mn-ea"/>
                <a:cs typeface="+mn-cs"/>
              </a:rPr>
              <a:t>str r3, [r11, #-12]</a:t>
            </a:r>
            <a:endParaRPr lang="zh-CN" altLang="en-US" noProof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endParaRPr lang="zh-CN" altLang="en-US" noProof="1"/>
          </a:p>
          <a:p>
            <a:r>
              <a:rPr lang="zh-CN" altLang="en-US" noProof="1">
                <a:latin typeface="Arial" panose="02080604020202020204" pitchFamily="34" charset="0"/>
                <a:ea typeface="+mn-ea"/>
                <a:cs typeface="+mn-cs"/>
              </a:rPr>
              <a:t>// i = i + j;</a:t>
            </a:r>
            <a:endParaRPr lang="zh-CN" altLang="en-US" noProof="1"/>
          </a:p>
          <a:p>
            <a:r>
              <a:rPr lang="zh-CN" altLang="en-US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+mn-ea"/>
                <a:cs typeface="+mn-cs"/>
              </a:rPr>
              <a:t>ldr r2, [r11, #-8]</a:t>
            </a:r>
            <a:endParaRPr lang="zh-CN" altLang="en-US" noProof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zh-CN" altLang="en-US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+mn-ea"/>
                <a:cs typeface="+mn-cs"/>
              </a:rPr>
              <a:t>ldr r3, [r11, #-12]</a:t>
            </a:r>
            <a:endParaRPr lang="zh-CN" altLang="en-US" noProof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zh-CN" altLang="en-US" noProof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+mn-ea"/>
                <a:cs typeface="+mn-cs"/>
              </a:rPr>
              <a:t>add</a:t>
            </a:r>
            <a:r>
              <a:rPr lang="zh-CN" altLang="en-US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+mn-ea"/>
                <a:cs typeface="+mn-cs"/>
              </a:rPr>
              <a:t> r3, </a:t>
            </a:r>
            <a:r>
              <a:rPr lang="zh-CN" altLang="en-US" noProof="1">
                <a:solidFill>
                  <a:srgbClr val="FFC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+mn-ea"/>
                <a:cs typeface="+mn-cs"/>
              </a:rPr>
              <a:t>r2</a:t>
            </a:r>
            <a:r>
              <a:rPr lang="zh-CN" altLang="en-US" noProof="1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+mn-ea"/>
                <a:cs typeface="+mn-cs"/>
              </a:rPr>
              <a:t>,</a:t>
            </a:r>
            <a:r>
              <a:rPr lang="zh-CN" altLang="en-US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+mn-ea"/>
                <a:cs typeface="+mn-cs"/>
              </a:rPr>
              <a:t> </a:t>
            </a:r>
            <a:r>
              <a:rPr lang="zh-CN" altLang="en-US" noProof="1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+mn-ea"/>
                <a:cs typeface="+mn-cs"/>
              </a:rPr>
              <a:t>r3</a:t>
            </a:r>
            <a:endParaRPr lang="zh-CN" altLang="en-US" noProof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zh-CN" altLang="en-US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+mn-ea"/>
                <a:cs typeface="+mn-cs"/>
              </a:rPr>
              <a:t>str r3, [r11, #-8]</a:t>
            </a:r>
            <a:endParaRPr lang="zh-CN" altLang="en-US" noProof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074" name="文本框 8"/>
          <p:cNvSpPr txBox="1"/>
          <p:nvPr/>
        </p:nvSpPr>
        <p:spPr>
          <a:xfrm>
            <a:off x="5920423" y="1734820"/>
            <a:ext cx="2963862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Arial" panose="02080604020202020204" pitchFamily="34" charset="0"/>
                <a:ea typeface="+mn-ea"/>
              </a:rPr>
              <a:t>1011</a:t>
            </a:r>
            <a:r>
              <a:rPr lang="en-US" altLang="zh-CN">
                <a:solidFill>
                  <a:srgbClr val="00B050"/>
                </a:solidFill>
                <a:latin typeface="Arial" panose="02080604020202020204" pitchFamily="34" charset="0"/>
                <a:ea typeface="+mn-ea"/>
              </a:rPr>
              <a:t>0000</a:t>
            </a:r>
            <a:r>
              <a:rPr lang="zh-CN" altLang="en-US">
                <a:latin typeface="Arial" panose="02080604020202020204" pitchFamily="34" charset="0"/>
                <a:ea typeface="+mn-ea"/>
              </a:rPr>
              <a:t> </a:t>
            </a:r>
            <a:r>
              <a:rPr lang="en-US" altLang="zh-CN">
                <a:solidFill>
                  <a:srgbClr val="E616E8"/>
                </a:solidFill>
                <a:latin typeface="Arial" panose="02080604020202020204" pitchFamily="34" charset="0"/>
                <a:ea typeface="+mn-ea"/>
              </a:rPr>
              <a:t>00001111</a:t>
            </a:r>
            <a:endParaRPr lang="en-US" altLang="zh-CN">
              <a:solidFill>
                <a:srgbClr val="E616E8"/>
              </a:solidFill>
              <a:latin typeface="Arial" panose="02080604020202020204" pitchFamily="34" charset="0"/>
              <a:ea typeface="+mn-ea"/>
            </a:endParaRPr>
          </a:p>
        </p:txBody>
      </p:sp>
      <p:sp>
        <p:nvSpPr>
          <p:cNvPr id="3075" name="文本框 9"/>
          <p:cNvSpPr txBox="1"/>
          <p:nvPr/>
        </p:nvSpPr>
        <p:spPr>
          <a:xfrm>
            <a:off x="5985510" y="4547870"/>
            <a:ext cx="27590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Arial" panose="02080604020202020204" pitchFamily="34" charset="0"/>
                <a:ea typeface="+mn-ea"/>
              </a:rPr>
              <a:t>0000001</a:t>
            </a:r>
            <a:r>
              <a:rPr lang="en-US" altLang="zh-CN">
                <a:latin typeface="Arial" panose="02080604020202020204" pitchFamily="34" charset="0"/>
                <a:ea typeface="+mn-ea"/>
              </a:rPr>
              <a:t>011</a:t>
            </a:r>
            <a:r>
              <a:rPr lang="en-US" altLang="zh-CN">
                <a:solidFill>
                  <a:srgbClr val="FFC000"/>
                </a:solidFill>
                <a:latin typeface="Arial" panose="02080604020202020204" pitchFamily="34" charset="0"/>
                <a:ea typeface="+mn-ea"/>
              </a:rPr>
              <a:t>001</a:t>
            </a:r>
            <a:r>
              <a:rPr lang="en-US" altLang="zh-CN">
                <a:solidFill>
                  <a:srgbClr val="00B050"/>
                </a:solidFill>
                <a:latin typeface="Arial" panose="02080604020202020204" pitchFamily="34" charset="0"/>
                <a:ea typeface="+mn-ea"/>
              </a:rPr>
              <a:t>000</a:t>
            </a:r>
            <a:endParaRPr lang="en-US" altLang="zh-CN">
              <a:solidFill>
                <a:srgbClr val="00B050"/>
              </a:solidFill>
              <a:latin typeface="Arial" panose="02080604020202020204" pitchFamily="34" charset="0"/>
              <a:ea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5595" y="274955"/>
            <a:ext cx="8627110" cy="1141095"/>
          </a:xfrm>
        </p:spPr>
        <p:txBody>
          <a:bodyPr/>
          <a:p>
            <a:r>
              <a:rPr lang="zh-CN" altLang="en-US"/>
              <a:t>高级语言    汇编代码    机器代码</a:t>
            </a:r>
            <a:endParaRPr lang="en-US" altLang="zh-CN">
              <a:ea typeface="宋体" charset="0"/>
            </a:endParaRPr>
          </a:p>
        </p:txBody>
      </p:sp>
      <p:cxnSp>
        <p:nvCxnSpPr>
          <p:cNvPr id="4" name="直接箭头连接符 3"/>
          <p:cNvCxnSpPr/>
          <p:nvPr/>
        </p:nvCxnSpPr>
        <p:spPr>
          <a:xfrm>
            <a:off x="2901315" y="778510"/>
            <a:ext cx="540000" cy="3810"/>
          </a:xfrm>
          <a:prstGeom prst="straightConnector1">
            <a:avLst/>
          </a:prstGeom>
          <a:ln w="57150">
            <a:solidFill>
              <a:srgbClr val="00B0F0"/>
            </a:solidFill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>
            <a:off x="5826760" y="762000"/>
            <a:ext cx="540000" cy="3810"/>
          </a:xfrm>
          <a:prstGeom prst="straightConnector1">
            <a:avLst/>
          </a:prstGeom>
          <a:ln w="57150">
            <a:solidFill>
              <a:srgbClr val="00B0F0"/>
            </a:solidFill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3" name="组合 12"/>
          <p:cNvGrpSpPr/>
          <p:nvPr/>
        </p:nvGrpSpPr>
        <p:grpSpPr>
          <a:xfrm>
            <a:off x="7071360" y="2869565"/>
            <a:ext cx="57150" cy="806450"/>
            <a:chOff x="915" y="3641"/>
            <a:chExt cx="90" cy="1270"/>
          </a:xfrm>
        </p:grpSpPr>
        <p:sp>
          <p:nvSpPr>
            <p:cNvPr id="7" name="流程图: 联系 6"/>
            <p:cNvSpPr>
              <a:spLocks noChangeAspect="1"/>
            </p:cNvSpPr>
            <p:nvPr/>
          </p:nvSpPr>
          <p:spPr>
            <a:xfrm>
              <a:off x="915" y="4349"/>
              <a:ext cx="91" cy="90"/>
            </a:xfrm>
            <a:prstGeom prst="flowChartConnector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流程图: 联系 7"/>
            <p:cNvSpPr>
              <a:spLocks noChangeAspect="1"/>
            </p:cNvSpPr>
            <p:nvPr/>
          </p:nvSpPr>
          <p:spPr>
            <a:xfrm>
              <a:off x="915" y="4821"/>
              <a:ext cx="91" cy="90"/>
            </a:xfrm>
            <a:prstGeom prst="flowChartConnector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流程图: 联系 8"/>
            <p:cNvSpPr>
              <a:spLocks noChangeAspect="1"/>
            </p:cNvSpPr>
            <p:nvPr/>
          </p:nvSpPr>
          <p:spPr>
            <a:xfrm>
              <a:off x="915" y="3877"/>
              <a:ext cx="91" cy="90"/>
            </a:xfrm>
            <a:prstGeom prst="flowChartConnector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流程图: 联系 9"/>
            <p:cNvSpPr>
              <a:spLocks noChangeAspect="1"/>
            </p:cNvSpPr>
            <p:nvPr/>
          </p:nvSpPr>
          <p:spPr>
            <a:xfrm>
              <a:off x="915" y="4113"/>
              <a:ext cx="91" cy="90"/>
            </a:xfrm>
            <a:prstGeom prst="flowChartConnector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流程图: 联系 10"/>
            <p:cNvSpPr>
              <a:spLocks noChangeAspect="1"/>
            </p:cNvSpPr>
            <p:nvPr/>
          </p:nvSpPr>
          <p:spPr>
            <a:xfrm>
              <a:off x="915" y="4585"/>
              <a:ext cx="91" cy="90"/>
            </a:xfrm>
            <a:prstGeom prst="flowChartConnector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流程图: 联系 11"/>
            <p:cNvSpPr>
              <a:spLocks noChangeAspect="1"/>
            </p:cNvSpPr>
            <p:nvPr/>
          </p:nvSpPr>
          <p:spPr>
            <a:xfrm>
              <a:off x="915" y="3641"/>
              <a:ext cx="91" cy="90"/>
            </a:xfrm>
            <a:prstGeom prst="flowChartConnector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965200" y="1635443"/>
            <a:ext cx="315595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noProof="1">
                <a:latin typeface="Arial" panose="02080604020202020204" pitchFamily="34" charset="0"/>
                <a:ea typeface="+mn-ea"/>
                <a:cs typeface="+mn-cs"/>
              </a:rPr>
              <a:t>i = 15;</a:t>
            </a:r>
            <a:endParaRPr lang="zh-CN" altLang="en-US" noProof="1"/>
          </a:p>
          <a:p>
            <a:r>
              <a:rPr lang="zh-CN" altLang="en-US" noProof="1">
                <a:latin typeface="Arial" panose="02080604020202020204" pitchFamily="34" charset="0"/>
                <a:ea typeface="+mn-ea"/>
                <a:cs typeface="+mn-cs"/>
              </a:rPr>
              <a:t>j = 25;</a:t>
            </a:r>
            <a:endParaRPr lang="zh-CN" altLang="en-US" noProof="1"/>
          </a:p>
          <a:p>
            <a:r>
              <a:rPr lang="zh-CN" altLang="en-US" noProof="1">
                <a:latin typeface="Arial" panose="02080604020202020204" pitchFamily="34" charset="0"/>
                <a:ea typeface="+mn-ea"/>
                <a:cs typeface="+mn-cs"/>
              </a:rPr>
              <a:t>i = i + j;</a:t>
            </a:r>
            <a:endParaRPr lang="zh-CN" altLang="en-US" noProof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7" name="标题 1"/>
          <p:cNvSpPr>
            <a:spLocks noGrp="1"/>
          </p:cNvSpPr>
          <p:nvPr/>
        </p:nvSpPr>
        <p:spPr>
          <a:xfrm>
            <a:off x="330200" y="5347970"/>
            <a:ext cx="2476500" cy="69215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/>
          <a:lstStyle>
            <a:lvl1pPr marL="0" lvl="0" indent="0" algn="ctr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4400" u="none" kern="1200" baseline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000"/>
              <a:t>source</a:t>
            </a:r>
            <a:r>
              <a:rPr lang="zh-CN" altLang="en-US" sz="2000"/>
              <a:t> </a:t>
            </a:r>
            <a:r>
              <a:rPr lang="en-US" altLang="zh-CN" sz="2000"/>
              <a:t>code</a:t>
            </a:r>
            <a:endParaRPr lang="en-US" altLang="zh-CN" sz="2000">
              <a:ea typeface="宋体" charset="0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323215" y="1483360"/>
            <a:ext cx="8425180" cy="38163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>
            <a:off x="2806700" y="1827530"/>
            <a:ext cx="0" cy="2896235"/>
          </a:xfrm>
          <a:prstGeom prst="line">
            <a:avLst/>
          </a:prstGeom>
          <a:ln w="28575" cmpd="sng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5732145" y="1811020"/>
            <a:ext cx="0" cy="2896235"/>
          </a:xfrm>
          <a:prstGeom prst="line">
            <a:avLst/>
          </a:prstGeom>
          <a:ln w="28575" cmpd="sng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标题 1"/>
          <p:cNvSpPr>
            <a:spLocks noGrp="1"/>
          </p:cNvSpPr>
          <p:nvPr/>
        </p:nvSpPr>
        <p:spPr>
          <a:xfrm>
            <a:off x="3040380" y="5331460"/>
            <a:ext cx="2476500" cy="69215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/>
          <a:lstStyle>
            <a:lvl1pPr marL="0" lvl="0" indent="0" algn="ctr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4400" u="none" kern="1200" baseline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000"/>
              <a:t>assemble</a:t>
            </a:r>
            <a:r>
              <a:rPr lang="zh-CN" altLang="en-US" sz="2000"/>
              <a:t> </a:t>
            </a:r>
            <a:r>
              <a:rPr lang="en-US" altLang="zh-CN" sz="2000"/>
              <a:t>code</a:t>
            </a:r>
            <a:endParaRPr lang="en-US" altLang="zh-CN" sz="2000">
              <a:ea typeface="宋体" charset="0"/>
            </a:endParaRPr>
          </a:p>
        </p:txBody>
      </p:sp>
      <p:sp>
        <p:nvSpPr>
          <p:cNvPr id="24" name="标题 1"/>
          <p:cNvSpPr>
            <a:spLocks noGrp="1"/>
          </p:cNvSpPr>
          <p:nvPr/>
        </p:nvSpPr>
        <p:spPr>
          <a:xfrm>
            <a:off x="5965825" y="5314950"/>
            <a:ext cx="2476500" cy="69215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/>
          <a:lstStyle>
            <a:lvl1pPr marL="0" lvl="0" indent="0" algn="ctr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4400" u="none" kern="1200" baseline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/>
              <a:t>object </a:t>
            </a:r>
            <a:r>
              <a:rPr lang="en-US" altLang="zh-CN" sz="2000"/>
              <a:t>code</a:t>
            </a:r>
            <a:endParaRPr lang="en-US" altLang="zh-CN" sz="2000">
              <a:ea typeface="宋体" charset="0"/>
            </a:endParaRP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35365" y="8573"/>
            <a:ext cx="9072000" cy="68408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l="1365"/>
          <a:stretch>
            <a:fillRect/>
          </a:stretch>
        </p:blipFill>
        <p:spPr>
          <a:xfrm>
            <a:off x="582930" y="113030"/>
            <a:ext cx="3409315" cy="2177415"/>
          </a:xfrm>
          <a:prstGeom prst="rect">
            <a:avLst/>
          </a:prstGeom>
          <a:ln w="28575" cmpd="thickThin">
            <a:solidFill>
              <a:schemeClr val="accent2"/>
            </a:solidFill>
            <a:prstDash val="solid"/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55" y="2418080"/>
            <a:ext cx="6229350" cy="4371975"/>
          </a:xfrm>
          <a:prstGeom prst="rect">
            <a:avLst/>
          </a:prstGeom>
          <a:ln w="28575" cmpd="thickThin">
            <a:solidFill>
              <a:schemeClr val="accent2"/>
            </a:solidFill>
            <a:prstDash val="solid"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2960" y="264795"/>
            <a:ext cx="3038475" cy="4371975"/>
          </a:xfrm>
          <a:prstGeom prst="rect">
            <a:avLst/>
          </a:prstGeom>
          <a:ln w="28575" cmpd="sng">
            <a:solidFill>
              <a:schemeClr val="accent2"/>
            </a:solidFill>
            <a:prstDash val="solid"/>
          </a:ln>
        </p:spPr>
      </p:pic>
      <p:cxnSp>
        <p:nvCxnSpPr>
          <p:cNvPr id="8" name="直接箭头连接符 7"/>
          <p:cNvCxnSpPr/>
          <p:nvPr/>
        </p:nvCxnSpPr>
        <p:spPr>
          <a:xfrm>
            <a:off x="4276090" y="1001395"/>
            <a:ext cx="1448435" cy="483235"/>
          </a:xfrm>
          <a:prstGeom prst="straightConnector1">
            <a:avLst/>
          </a:prstGeom>
          <a:ln w="762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H="1">
            <a:off x="6588125" y="4780280"/>
            <a:ext cx="1143000" cy="1168400"/>
          </a:xfrm>
          <a:prstGeom prst="straightConnector1">
            <a:avLst/>
          </a:prstGeom>
          <a:ln w="762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标题 1"/>
          <p:cNvSpPr>
            <a:spLocks noGrp="1"/>
          </p:cNvSpPr>
          <p:nvPr/>
        </p:nvSpPr>
        <p:spPr>
          <a:xfrm>
            <a:off x="3935730" y="489585"/>
            <a:ext cx="1860550" cy="46164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/>
          <a:lstStyle>
            <a:lvl1pPr marL="0" lvl="0" indent="0" algn="ctr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4400" u="none" kern="1200" baseline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>
                <a:solidFill>
                  <a:srgbClr val="FFC000"/>
                </a:solidFill>
                <a:ea typeface="宋体" charset="0"/>
              </a:rPr>
              <a:t>转成汇编代码</a:t>
            </a:r>
            <a:endParaRPr lang="zh-CN" altLang="en-US" sz="2000">
              <a:solidFill>
                <a:srgbClr val="FFC000"/>
              </a:solidFill>
              <a:ea typeface="宋体" charset="0"/>
            </a:endParaRPr>
          </a:p>
        </p:txBody>
      </p:sp>
      <p:sp>
        <p:nvSpPr>
          <p:cNvPr id="14" name="标题 1"/>
          <p:cNvSpPr>
            <a:spLocks noGrp="1"/>
          </p:cNvSpPr>
          <p:nvPr/>
        </p:nvSpPr>
        <p:spPr>
          <a:xfrm>
            <a:off x="7035165" y="5307965"/>
            <a:ext cx="1860550" cy="46164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/>
          <a:lstStyle>
            <a:lvl1pPr marL="0" lvl="0" indent="0" algn="ctr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4400" u="none" kern="1200" baseline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>
                <a:solidFill>
                  <a:srgbClr val="FFC000"/>
                </a:solidFill>
                <a:ea typeface="宋体" charset="0"/>
              </a:rPr>
              <a:t>转成目标代码</a:t>
            </a:r>
            <a:endParaRPr lang="zh-CN" altLang="en-US" sz="2000">
              <a:solidFill>
                <a:srgbClr val="FFC000"/>
              </a:solidFill>
              <a:ea typeface="宋体" charset="0"/>
            </a:endParaRPr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36000" y="8573"/>
            <a:ext cx="9072000" cy="68408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l="1365"/>
          <a:stretch>
            <a:fillRect/>
          </a:stretch>
        </p:blipFill>
        <p:spPr>
          <a:xfrm>
            <a:off x="172085" y="228600"/>
            <a:ext cx="2386222" cy="1524000"/>
          </a:xfrm>
          <a:prstGeom prst="rect">
            <a:avLst/>
          </a:prstGeom>
          <a:ln w="28575" cmpd="thickThin">
            <a:solidFill>
              <a:schemeClr val="accent2"/>
            </a:solidFill>
            <a:prstDash val="solid"/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 l="50377" t="6231" b="52970"/>
          <a:stretch>
            <a:fillRect/>
          </a:stretch>
        </p:blipFill>
        <p:spPr>
          <a:xfrm>
            <a:off x="172085" y="4417060"/>
            <a:ext cx="3091180" cy="1783715"/>
          </a:xfrm>
          <a:prstGeom prst="rect">
            <a:avLst/>
          </a:prstGeom>
          <a:ln w="28575" cmpd="thickThin">
            <a:solidFill>
              <a:schemeClr val="accent2"/>
            </a:solidFill>
            <a:prstDash val="solid"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l="14734" t="11387" b="47306"/>
          <a:stretch>
            <a:fillRect/>
          </a:stretch>
        </p:blipFill>
        <p:spPr>
          <a:xfrm>
            <a:off x="172085" y="2170430"/>
            <a:ext cx="2590800" cy="1805940"/>
          </a:xfrm>
          <a:prstGeom prst="rect">
            <a:avLst/>
          </a:prstGeom>
          <a:ln w="28575" cmpd="sng">
            <a:solidFill>
              <a:schemeClr val="accent2"/>
            </a:solidFill>
            <a:prstDash val="solid"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rcRect l="12913" t="32244" r="12297"/>
          <a:stretch>
            <a:fillRect/>
          </a:stretch>
        </p:blipFill>
        <p:spPr>
          <a:xfrm>
            <a:off x="3458845" y="300355"/>
            <a:ext cx="4630420" cy="4659630"/>
          </a:xfrm>
          <a:prstGeom prst="rect">
            <a:avLst/>
          </a:prstGeom>
          <a:ln w="28575" cmpd="sng">
            <a:solidFill>
              <a:schemeClr val="accent2"/>
            </a:solidFill>
            <a:prstDash val="solid"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l="12913" t="58938" r="12297" b="28329"/>
          <a:stretch>
            <a:fillRect/>
          </a:stretch>
        </p:blipFill>
        <p:spPr>
          <a:xfrm>
            <a:off x="3458845" y="5295900"/>
            <a:ext cx="4630420" cy="875665"/>
          </a:xfrm>
          <a:prstGeom prst="rect">
            <a:avLst/>
          </a:prstGeom>
          <a:ln w="28575" cmpd="sng">
            <a:solidFill>
              <a:schemeClr val="accent2"/>
            </a:solidFill>
            <a:prstDash val="solid"/>
          </a:ln>
        </p:spPr>
      </p:pic>
      <p:sp>
        <p:nvSpPr>
          <p:cNvPr id="10" name="圆角矩形 9"/>
          <p:cNvSpPr/>
          <p:nvPr/>
        </p:nvSpPr>
        <p:spPr>
          <a:xfrm>
            <a:off x="3326130" y="2136775"/>
            <a:ext cx="4896485" cy="1081405"/>
          </a:xfrm>
          <a:prstGeom prst="roundRect">
            <a:avLst/>
          </a:prstGeom>
          <a:noFill/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标题 1"/>
          <p:cNvSpPr>
            <a:spLocks noGrp="1"/>
          </p:cNvSpPr>
          <p:nvPr/>
        </p:nvSpPr>
        <p:spPr>
          <a:xfrm>
            <a:off x="8016240" y="2095500"/>
            <a:ext cx="1257300" cy="46164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/>
          <a:lstStyle>
            <a:lvl1pPr marL="0" lvl="0" indent="0" algn="ctr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4400" u="none" kern="1200" baseline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000">
                <a:solidFill>
                  <a:srgbClr val="FF0000"/>
                </a:solidFill>
                <a:ea typeface="宋体" charset="0"/>
              </a:rPr>
              <a:t>C</a:t>
            </a:r>
            <a:r>
              <a:rPr lang="zh-CN" altLang="en-US" sz="2000">
                <a:solidFill>
                  <a:srgbClr val="FF0000"/>
                </a:solidFill>
                <a:ea typeface="宋体" charset="0"/>
              </a:rPr>
              <a:t>标准库</a:t>
            </a:r>
            <a:endParaRPr lang="zh-CN" altLang="en-US" sz="2000">
              <a:solidFill>
                <a:srgbClr val="FF0000"/>
              </a:solidFill>
              <a:ea typeface="宋体" charset="0"/>
            </a:endParaRPr>
          </a:p>
          <a:p>
            <a:endParaRPr lang="zh-CN" altLang="en-US" sz="2000">
              <a:solidFill>
                <a:srgbClr val="FF0000"/>
              </a:solidFill>
              <a:ea typeface="宋体" charset="0"/>
            </a:endParaRPr>
          </a:p>
          <a:p>
            <a:r>
              <a:rPr lang="zh-CN" altLang="en-US" sz="2000">
                <a:solidFill>
                  <a:srgbClr val="FF0000"/>
                </a:solidFill>
                <a:ea typeface="宋体" charset="0"/>
              </a:rPr>
              <a:t>库函数</a:t>
            </a:r>
            <a:endParaRPr lang="en-US" altLang="zh-CN" sz="2000">
              <a:solidFill>
                <a:srgbClr val="FF0000"/>
              </a:solidFill>
              <a:ea typeface="宋体" charset="0"/>
            </a:endParaRPr>
          </a:p>
          <a:p>
            <a:r>
              <a:rPr lang="en-US" altLang="zh-CN" sz="2000">
                <a:solidFill>
                  <a:srgbClr val="FF0000"/>
                </a:solidFill>
                <a:ea typeface="宋体" charset="0"/>
              </a:rPr>
              <a:t>printf</a:t>
            </a:r>
            <a:endParaRPr lang="en-US" altLang="zh-CN" sz="2000">
              <a:solidFill>
                <a:srgbClr val="FF0000"/>
              </a:solidFill>
              <a:ea typeface="宋体" charset="0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 flipH="1">
            <a:off x="1115060" y="1752600"/>
            <a:ext cx="0" cy="379730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H="1">
            <a:off x="1098550" y="4032250"/>
            <a:ext cx="0" cy="379730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标题 1"/>
          <p:cNvSpPr>
            <a:spLocks noGrp="1"/>
          </p:cNvSpPr>
          <p:nvPr/>
        </p:nvSpPr>
        <p:spPr>
          <a:xfrm>
            <a:off x="8206105" y="5443220"/>
            <a:ext cx="1020445" cy="46164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/>
          <a:lstStyle>
            <a:lvl1pPr marL="0" lvl="0" indent="0" algn="ctr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4400" u="none" kern="1200" baseline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>
                <a:solidFill>
                  <a:srgbClr val="FFC000"/>
                </a:solidFill>
                <a:ea typeface="宋体" charset="0"/>
              </a:rPr>
              <a:t>取出</a:t>
            </a:r>
            <a:r>
              <a:rPr lang="en-US" altLang="zh-CN" sz="2000">
                <a:solidFill>
                  <a:srgbClr val="FFC000"/>
                </a:solidFill>
                <a:ea typeface="宋体" charset="0"/>
              </a:rPr>
              <a:t>printf</a:t>
            </a:r>
            <a:r>
              <a:rPr lang="zh-CN" altLang="en-US" sz="2000">
                <a:solidFill>
                  <a:srgbClr val="FFC000"/>
                </a:solidFill>
                <a:ea typeface="宋体" charset="0"/>
              </a:rPr>
              <a:t>代码</a:t>
            </a:r>
            <a:endParaRPr lang="zh-CN" altLang="en-US" sz="2000">
              <a:solidFill>
                <a:srgbClr val="FFC000"/>
              </a:solidFill>
              <a:ea typeface="宋体" charset="0"/>
            </a:endParaRPr>
          </a:p>
        </p:txBody>
      </p:sp>
      <p:sp>
        <p:nvSpPr>
          <p:cNvPr id="14" name="标题 1"/>
          <p:cNvSpPr>
            <a:spLocks noGrp="1"/>
          </p:cNvSpPr>
          <p:nvPr/>
        </p:nvSpPr>
        <p:spPr>
          <a:xfrm>
            <a:off x="1151255" y="4016375"/>
            <a:ext cx="1860550" cy="46164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/>
          <a:lstStyle>
            <a:lvl1pPr marL="0" lvl="0" indent="0" algn="ctr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4400" u="none" kern="1200" baseline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>
                <a:solidFill>
                  <a:srgbClr val="FFC000"/>
                </a:solidFill>
                <a:ea typeface="宋体" charset="0"/>
              </a:rPr>
              <a:t>转成目标代码</a:t>
            </a:r>
            <a:endParaRPr lang="zh-CN" altLang="en-US" sz="2000">
              <a:solidFill>
                <a:srgbClr val="FFC000"/>
              </a:solidFill>
              <a:ea typeface="宋体" charset="0"/>
            </a:endParaRPr>
          </a:p>
        </p:txBody>
      </p:sp>
      <p:sp>
        <p:nvSpPr>
          <p:cNvPr id="18" name="任意多边形 17"/>
          <p:cNvSpPr/>
          <p:nvPr/>
        </p:nvSpPr>
        <p:spPr>
          <a:xfrm>
            <a:off x="8232140" y="3217545"/>
            <a:ext cx="398145" cy="2356485"/>
          </a:xfrm>
          <a:custGeom>
            <a:avLst/>
            <a:gdLst>
              <a:gd name="connisteX0" fmla="*/ 0 w 577850"/>
              <a:gd name="connsiteY0" fmla="*/ 0 h 2748280"/>
              <a:gd name="connisteX1" fmla="*/ 577850 w 577850"/>
              <a:gd name="connsiteY1" fmla="*/ 1489710 h 2748280"/>
              <a:gd name="connisteX2" fmla="*/ 0 w 577850"/>
              <a:gd name="connsiteY2" fmla="*/ 2748280 h 274828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577850" h="2748280">
                <a:moveTo>
                  <a:pt x="0" y="0"/>
                </a:moveTo>
                <a:cubicBezTo>
                  <a:pt x="127000" y="273050"/>
                  <a:pt x="577850" y="939800"/>
                  <a:pt x="577850" y="1489710"/>
                </a:cubicBezTo>
                <a:cubicBezTo>
                  <a:pt x="577850" y="2039620"/>
                  <a:pt x="127000" y="2526665"/>
                  <a:pt x="0" y="2748280"/>
                </a:cubicBezTo>
              </a:path>
            </a:pathLst>
          </a:custGeom>
          <a:noFill/>
          <a:ln w="38100" cmpd="sng">
            <a:solidFill>
              <a:srgbClr val="FFC000"/>
            </a:solidFill>
            <a:prstDash val="solid"/>
            <a:headEnd type="none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标题 1"/>
          <p:cNvSpPr>
            <a:spLocks noGrp="1"/>
          </p:cNvSpPr>
          <p:nvPr/>
        </p:nvSpPr>
        <p:spPr>
          <a:xfrm>
            <a:off x="1294765" y="1791970"/>
            <a:ext cx="1860550" cy="46164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/>
          <a:lstStyle>
            <a:lvl1pPr marL="0" lvl="0" indent="0" algn="ctr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4400" u="none" kern="1200" baseline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>
                <a:solidFill>
                  <a:srgbClr val="FFC000"/>
                </a:solidFill>
                <a:ea typeface="宋体" charset="0"/>
              </a:rPr>
              <a:t>转成汇编代码</a:t>
            </a:r>
            <a:endParaRPr lang="zh-CN" altLang="en-US" sz="2000">
              <a:solidFill>
                <a:srgbClr val="FFC000"/>
              </a:solidFill>
              <a:ea typeface="宋体" charset="0"/>
            </a:endParaRPr>
          </a:p>
        </p:txBody>
      </p:sp>
      <p:cxnSp>
        <p:nvCxnSpPr>
          <p:cNvPr id="21" name="直接箭头连接符 20"/>
          <p:cNvCxnSpPr/>
          <p:nvPr/>
        </p:nvCxnSpPr>
        <p:spPr>
          <a:xfrm flipH="1">
            <a:off x="1098550" y="6256655"/>
            <a:ext cx="0" cy="379730"/>
          </a:xfrm>
          <a:prstGeom prst="straightConnector1">
            <a:avLst/>
          </a:prstGeom>
          <a:ln w="38100" cmpd="sng">
            <a:solidFill>
              <a:srgbClr val="FFC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 flipV="1">
            <a:off x="1082040" y="6624000"/>
            <a:ext cx="4320000" cy="0"/>
          </a:xfrm>
          <a:prstGeom prst="straightConnector1">
            <a:avLst/>
          </a:prstGeom>
          <a:ln w="38100" cmpd="sng">
            <a:solidFill>
              <a:srgbClr val="FFC000"/>
            </a:solidFill>
            <a:prstDash val="soli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H="1">
            <a:off x="4669790" y="6240145"/>
            <a:ext cx="0" cy="379730"/>
          </a:xfrm>
          <a:prstGeom prst="straightConnector1">
            <a:avLst/>
          </a:prstGeom>
          <a:ln w="38100" cmpd="sng">
            <a:solidFill>
              <a:srgbClr val="FFC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标题 1"/>
          <p:cNvSpPr>
            <a:spLocks noGrp="1"/>
          </p:cNvSpPr>
          <p:nvPr/>
        </p:nvSpPr>
        <p:spPr>
          <a:xfrm>
            <a:off x="5296535" y="6367780"/>
            <a:ext cx="3619500" cy="46164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/>
          <a:lstStyle>
            <a:lvl1pPr marL="0" lvl="0" indent="0" algn="ctr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4400" u="none" kern="1200" baseline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>
                <a:solidFill>
                  <a:srgbClr val="FFC000"/>
                </a:solidFill>
                <a:ea typeface="宋体" charset="0"/>
              </a:rPr>
              <a:t>合并起来，生成可执行文件</a:t>
            </a:r>
            <a:endParaRPr lang="zh-CN" altLang="en-US" sz="2000">
              <a:solidFill>
                <a:srgbClr val="FFC000"/>
              </a:solidFill>
              <a:ea typeface="宋体" charset="0"/>
            </a:endParaRPr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Rectangle 4"/>
          <p:cNvSpPr>
            <a:spLocks noGrp="1"/>
          </p:cNvSpPr>
          <p:nvPr>
            <p:ph type="title" idx="4294967295"/>
          </p:nvPr>
        </p:nvSpPr>
        <p:spPr/>
        <p:txBody>
          <a:bodyPr vert="horz" wrap="square" anchor="ctr" anchorCtr="0"/>
          <a:p>
            <a:pPr eaLnBrk="1" hangingPunct="1"/>
            <a:r>
              <a:rPr lang="zh-CN" altLang="en-US"/>
              <a:t>程序的编译和链接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l="1365"/>
          <a:stretch>
            <a:fillRect/>
          </a:stretch>
        </p:blipFill>
        <p:spPr>
          <a:xfrm>
            <a:off x="760095" y="1514726"/>
            <a:ext cx="1670355" cy="1066800"/>
          </a:xfrm>
          <a:prstGeom prst="rect">
            <a:avLst/>
          </a:prstGeom>
          <a:ln w="28575" cmpd="thickThin">
            <a:solidFill>
              <a:schemeClr val="accent2"/>
            </a:solidFill>
            <a:prstDash val="solid"/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 l="50377" t="6231" b="52970"/>
          <a:stretch>
            <a:fillRect/>
          </a:stretch>
        </p:blipFill>
        <p:spPr>
          <a:xfrm>
            <a:off x="6015025" y="1423824"/>
            <a:ext cx="2163445" cy="1248605"/>
          </a:xfrm>
          <a:prstGeom prst="rect">
            <a:avLst/>
          </a:prstGeom>
          <a:ln w="28575" cmpd="thickThin">
            <a:solidFill>
              <a:schemeClr val="accent2"/>
            </a:solidFill>
            <a:prstDash val="solid"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l="14734" t="11387" b="47306"/>
          <a:stretch>
            <a:fillRect/>
          </a:stretch>
        </p:blipFill>
        <p:spPr>
          <a:xfrm>
            <a:off x="3316275" y="1416050"/>
            <a:ext cx="1812925" cy="1264152"/>
          </a:xfrm>
          <a:prstGeom prst="rect">
            <a:avLst/>
          </a:prstGeom>
          <a:ln w="28575" cmpd="sng">
            <a:solidFill>
              <a:schemeClr val="accent2"/>
            </a:solidFill>
            <a:prstDash val="solid"/>
          </a:ln>
        </p:spPr>
      </p:pic>
      <p:sp>
        <p:nvSpPr>
          <p:cNvPr id="8" name="标题 1"/>
          <p:cNvSpPr>
            <a:spLocks noGrp="1"/>
          </p:cNvSpPr>
          <p:nvPr/>
        </p:nvSpPr>
        <p:spPr>
          <a:xfrm>
            <a:off x="1350010" y="2680970"/>
            <a:ext cx="6443980" cy="64198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1"/>
          <a:lstStyle>
            <a:lvl1pPr marL="0" lvl="0" indent="0" algn="ctr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4400" u="none" kern="1200" baseline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>
                <a:solidFill>
                  <a:schemeClr val="accent2"/>
                </a:solidFill>
                <a:ea typeface="宋体" charset="0"/>
              </a:rPr>
              <a:t>把源代码翻译成目标代码的过程称为编译  </a:t>
            </a:r>
            <a:r>
              <a:rPr lang="en-US" altLang="zh-CN" sz="2000">
                <a:solidFill>
                  <a:schemeClr val="accent2"/>
                </a:solidFill>
                <a:ea typeface="宋体" charset="0"/>
              </a:rPr>
              <a:t>compile</a:t>
            </a:r>
            <a:endParaRPr lang="en-US" altLang="zh-CN" sz="2000">
              <a:solidFill>
                <a:schemeClr val="accent2"/>
              </a:solidFill>
              <a:ea typeface="宋体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rcRect l="50377" t="6231" b="52970"/>
          <a:stretch>
            <a:fillRect/>
          </a:stretch>
        </p:blipFill>
        <p:spPr>
          <a:xfrm>
            <a:off x="343535" y="3698240"/>
            <a:ext cx="3091180" cy="1783715"/>
          </a:xfrm>
          <a:prstGeom prst="rect">
            <a:avLst/>
          </a:prstGeom>
          <a:ln w="28575" cmpd="thickThin">
            <a:solidFill>
              <a:schemeClr val="accent2"/>
            </a:solidFill>
            <a:prstDash val="solid"/>
          </a:ln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rcRect l="12913" t="58938" r="12297" b="28329"/>
          <a:stretch>
            <a:fillRect/>
          </a:stretch>
        </p:blipFill>
        <p:spPr>
          <a:xfrm>
            <a:off x="4005580" y="4152265"/>
            <a:ext cx="4630420" cy="875665"/>
          </a:xfrm>
          <a:prstGeom prst="rect">
            <a:avLst/>
          </a:prstGeom>
          <a:ln w="28575" cmpd="sng">
            <a:solidFill>
              <a:schemeClr val="accent2"/>
            </a:solidFill>
            <a:prstDash val="solid"/>
          </a:ln>
        </p:spPr>
      </p:pic>
      <p:cxnSp>
        <p:nvCxnSpPr>
          <p:cNvPr id="18" name="直接连接符 17"/>
          <p:cNvCxnSpPr/>
          <p:nvPr/>
        </p:nvCxnSpPr>
        <p:spPr>
          <a:xfrm flipV="1">
            <a:off x="243205" y="3356610"/>
            <a:ext cx="8361045" cy="7620"/>
          </a:xfrm>
          <a:prstGeom prst="line">
            <a:avLst/>
          </a:prstGeom>
          <a:ln w="76200" cmpd="sng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标题 1"/>
          <p:cNvSpPr>
            <a:spLocks noGrp="1"/>
          </p:cNvSpPr>
          <p:nvPr/>
        </p:nvSpPr>
        <p:spPr>
          <a:xfrm>
            <a:off x="3140710" y="4269105"/>
            <a:ext cx="1116330" cy="64198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1"/>
          <a:lstStyle>
            <a:lvl1pPr marL="0" lvl="0" indent="0" algn="ctr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4400" u="none" kern="1200" baseline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800">
                <a:solidFill>
                  <a:srgbClr val="FFC000"/>
                </a:solidFill>
                <a:ea typeface="宋体" charset="0"/>
              </a:rPr>
              <a:t>+</a:t>
            </a:r>
            <a:endParaRPr lang="en-US" altLang="zh-CN" sz="4800">
              <a:solidFill>
                <a:srgbClr val="FFC000"/>
              </a:solidFill>
              <a:ea typeface="宋体" charset="0"/>
            </a:endParaRPr>
          </a:p>
        </p:txBody>
      </p:sp>
      <p:sp>
        <p:nvSpPr>
          <p:cNvPr id="20" name="标题 1"/>
          <p:cNvSpPr>
            <a:spLocks noGrp="1"/>
          </p:cNvSpPr>
          <p:nvPr/>
        </p:nvSpPr>
        <p:spPr>
          <a:xfrm>
            <a:off x="401003" y="5534660"/>
            <a:ext cx="8341995" cy="64198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1"/>
          <a:lstStyle>
            <a:lvl1pPr marL="0" lvl="0" indent="0" algn="ctr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4400" u="none" kern="1200" baseline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>
                <a:solidFill>
                  <a:schemeClr val="accent2"/>
                </a:solidFill>
                <a:ea typeface="宋体" charset="0"/>
                <a:sym typeface="+mn-ea"/>
              </a:rPr>
              <a:t>把多个目标文件合并起来，生成可执行文件的过程称为链接  </a:t>
            </a:r>
            <a:r>
              <a:rPr lang="en-US" altLang="zh-CN" sz="2000">
                <a:solidFill>
                  <a:schemeClr val="accent2"/>
                </a:solidFill>
                <a:ea typeface="宋体" charset="0"/>
                <a:sym typeface="+mn-ea"/>
              </a:rPr>
              <a:t>link</a:t>
            </a:r>
            <a:endParaRPr lang="en-US" altLang="zh-CN" sz="2000">
              <a:solidFill>
                <a:schemeClr val="accent2"/>
              </a:solidFill>
              <a:ea typeface="宋体" charset="0"/>
              <a:sym typeface="+mn-ea"/>
            </a:endParaRPr>
          </a:p>
        </p:txBody>
      </p:sp>
      <p:cxnSp>
        <p:nvCxnSpPr>
          <p:cNvPr id="24" name="直接箭头连接符 23"/>
          <p:cNvCxnSpPr/>
          <p:nvPr/>
        </p:nvCxnSpPr>
        <p:spPr>
          <a:xfrm>
            <a:off x="2430145" y="1981835"/>
            <a:ext cx="845820" cy="6350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>
            <a:off x="5140325" y="1965325"/>
            <a:ext cx="845820" cy="6350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9" name="Text Box 36"/>
          <p:cNvSpPr txBox="1"/>
          <p:nvPr/>
        </p:nvSpPr>
        <p:spPr>
          <a:xfrm>
            <a:off x="14605" y="3562985"/>
            <a:ext cx="76517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 eaLnBrk="0" hangingPunct="0"/>
            <a:r>
              <a:rPr lang="zh-CN" altLang="x-none" sz="2000" dirty="0">
                <a:latin typeface="Arial" panose="02080604020202020204" pitchFamily="34" charset="0"/>
                <a:ea typeface="宋体" charset="0"/>
              </a:rPr>
              <a:t>设计</a:t>
            </a:r>
            <a:endParaRPr lang="zh-CN" altLang="x-none" sz="2000" dirty="0">
              <a:latin typeface="Arial" panose="02080604020202020204" pitchFamily="34" charset="0"/>
              <a:ea typeface="宋体" charset="0"/>
            </a:endParaRPr>
          </a:p>
        </p:txBody>
      </p:sp>
      <p:sp>
        <p:nvSpPr>
          <p:cNvPr id="29701" name="Line 13"/>
          <p:cNvSpPr/>
          <p:nvPr/>
        </p:nvSpPr>
        <p:spPr>
          <a:xfrm>
            <a:off x="708025" y="3791585"/>
            <a:ext cx="1080000" cy="0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9704" name="Text Box 37"/>
          <p:cNvSpPr txBox="1"/>
          <p:nvPr/>
        </p:nvSpPr>
        <p:spPr>
          <a:xfrm>
            <a:off x="1838325" y="4939665"/>
            <a:ext cx="1682750" cy="398780"/>
          </a:xfrm>
          <a:prstGeom prst="rect">
            <a:avLst/>
          </a:prstGeom>
          <a:noFill/>
          <a:ln w="12700" cap="sq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 algn="ctr" eaLnBrk="0" hangingPunct="0"/>
            <a:r>
              <a:rPr lang="zh-CN" altLang="en-US" sz="2000" dirty="0">
                <a:latin typeface="Arial" panose="02080604020202020204" pitchFamily="34" charset="0"/>
              </a:rPr>
              <a:t>源程序</a:t>
            </a:r>
            <a:endParaRPr lang="zh-CN" altLang="en-US" sz="2000" dirty="0">
              <a:latin typeface="Arial" panose="02080604020202020204" pitchFamily="34" charset="0"/>
              <a:ea typeface="宋体" charset="0"/>
            </a:endParaRPr>
          </a:p>
        </p:txBody>
      </p:sp>
      <p:sp>
        <p:nvSpPr>
          <p:cNvPr id="29707" name="Text Box 41"/>
          <p:cNvSpPr txBox="1"/>
          <p:nvPr/>
        </p:nvSpPr>
        <p:spPr>
          <a:xfrm>
            <a:off x="770890" y="3281045"/>
            <a:ext cx="914400" cy="398780"/>
          </a:xfrm>
          <a:prstGeom prst="rect">
            <a:avLst/>
          </a:prstGeom>
          <a:noFill/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algn="ctr" eaLnBrk="0" hangingPunct="0"/>
            <a:r>
              <a:rPr lang="zh-CN" altLang="en-US" sz="2000" dirty="0">
                <a:latin typeface="Arial" panose="02080604020202020204" pitchFamily="34" charset="0"/>
              </a:rPr>
              <a:t>编辑</a:t>
            </a:r>
            <a:endParaRPr lang="zh-CN" altLang="en-US" sz="2000" dirty="0">
              <a:latin typeface="Arial" panose="02080604020202020204" pitchFamily="34" charset="0"/>
            </a:endParaRPr>
          </a:p>
        </p:txBody>
      </p:sp>
      <p:sp>
        <p:nvSpPr>
          <p:cNvPr id="3" name="流程图: 文档 2"/>
          <p:cNvSpPr/>
          <p:nvPr/>
        </p:nvSpPr>
        <p:spPr>
          <a:xfrm>
            <a:off x="1838325" y="2346960"/>
            <a:ext cx="575945" cy="381635"/>
          </a:xfrm>
          <a:prstGeom prst="flowChartDocument">
            <a:avLst/>
          </a:prstGeom>
          <a:solidFill>
            <a:schemeClr val="accent6">
              <a:lumMod val="40000"/>
              <a:lumOff val="60000"/>
              <a:alpha val="42000"/>
            </a:schemeClr>
          </a:solidFill>
          <a:ln w="254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Text Box 37"/>
          <p:cNvSpPr txBox="1"/>
          <p:nvPr/>
        </p:nvSpPr>
        <p:spPr>
          <a:xfrm>
            <a:off x="2270760" y="2329815"/>
            <a:ext cx="1165225" cy="398780"/>
          </a:xfrm>
          <a:prstGeom prst="rect">
            <a:avLst/>
          </a:prstGeom>
          <a:noFill/>
          <a:ln w="12700" cap="sq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 algn="ctr" eaLnBrk="0" hangingPunct="0"/>
            <a:r>
              <a:rPr lang="en-US" altLang="zh-CN" sz="2000" dirty="0">
                <a:latin typeface="Arial" panose="02080604020202020204" pitchFamily="34" charset="0"/>
              </a:rPr>
              <a:t>calc.c</a:t>
            </a:r>
            <a:endParaRPr lang="zh-CN" altLang="en-US" sz="2000" dirty="0">
              <a:latin typeface="Arial" panose="02080604020202020204" pitchFamily="34" charset="0"/>
              <a:ea typeface="宋体" charset="0"/>
            </a:endParaRPr>
          </a:p>
        </p:txBody>
      </p:sp>
      <p:sp>
        <p:nvSpPr>
          <p:cNvPr id="5" name="Text Box 37"/>
          <p:cNvSpPr txBox="1"/>
          <p:nvPr/>
        </p:nvSpPr>
        <p:spPr>
          <a:xfrm>
            <a:off x="2343150" y="3562985"/>
            <a:ext cx="1472565" cy="398780"/>
          </a:xfrm>
          <a:prstGeom prst="rect">
            <a:avLst/>
          </a:prstGeom>
          <a:noFill/>
          <a:ln w="12700" cap="sq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 algn="ctr" eaLnBrk="0" hangingPunct="0"/>
            <a:r>
              <a:rPr lang="en-US" altLang="zh-CN" sz="2000" dirty="0">
                <a:latin typeface="Arial" panose="02080604020202020204" pitchFamily="34" charset="0"/>
              </a:rPr>
              <a:t>storage.c</a:t>
            </a:r>
            <a:endParaRPr lang="zh-CN" altLang="en-US" sz="2000" dirty="0">
              <a:latin typeface="Arial" panose="02080604020202020204" pitchFamily="34" charset="0"/>
              <a:ea typeface="宋体" charset="0"/>
            </a:endParaRPr>
          </a:p>
        </p:txBody>
      </p:sp>
      <p:sp>
        <p:nvSpPr>
          <p:cNvPr id="9" name="Text Box 37"/>
          <p:cNvSpPr txBox="1"/>
          <p:nvPr/>
        </p:nvSpPr>
        <p:spPr>
          <a:xfrm>
            <a:off x="2271395" y="2922905"/>
            <a:ext cx="1224280" cy="398780"/>
          </a:xfrm>
          <a:prstGeom prst="rect">
            <a:avLst/>
          </a:prstGeom>
          <a:noFill/>
          <a:ln w="12700" cap="sq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 algn="ctr" eaLnBrk="0" hangingPunct="0"/>
            <a:r>
              <a:rPr lang="en-US" altLang="zh-CN" sz="2000" dirty="0">
                <a:latin typeface="Arial" panose="02080604020202020204" pitchFamily="34" charset="0"/>
              </a:rPr>
              <a:t>main.c</a:t>
            </a:r>
            <a:endParaRPr lang="zh-CN" altLang="en-US" sz="2000" dirty="0">
              <a:latin typeface="Arial" panose="02080604020202020204" pitchFamily="34" charset="0"/>
              <a:ea typeface="宋体" charset="0"/>
            </a:endParaRPr>
          </a:p>
        </p:txBody>
      </p:sp>
      <p:sp>
        <p:nvSpPr>
          <p:cNvPr id="13" name="流程图: 文档 12"/>
          <p:cNvSpPr/>
          <p:nvPr/>
        </p:nvSpPr>
        <p:spPr>
          <a:xfrm>
            <a:off x="1838325" y="2994660"/>
            <a:ext cx="575945" cy="381635"/>
          </a:xfrm>
          <a:prstGeom prst="flowChartDocument">
            <a:avLst/>
          </a:prstGeom>
          <a:solidFill>
            <a:schemeClr val="accent6">
              <a:lumMod val="40000"/>
              <a:lumOff val="60000"/>
              <a:alpha val="42000"/>
            </a:schemeClr>
          </a:solidFill>
          <a:ln w="254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流程图: 文档 13"/>
          <p:cNvSpPr/>
          <p:nvPr/>
        </p:nvSpPr>
        <p:spPr>
          <a:xfrm>
            <a:off x="1838325" y="3601085"/>
            <a:ext cx="575945" cy="381635"/>
          </a:xfrm>
          <a:prstGeom prst="flowChartDocument">
            <a:avLst/>
          </a:prstGeom>
          <a:solidFill>
            <a:schemeClr val="accent6">
              <a:lumMod val="40000"/>
              <a:lumOff val="60000"/>
              <a:alpha val="42000"/>
            </a:schemeClr>
          </a:solidFill>
          <a:ln w="254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</a:pPr>
            <a:endParaRPr lang="zh-CN" altLang="en-US" sz="1800">
              <a:sym typeface="+mn-ea"/>
            </a:endParaRPr>
          </a:p>
        </p:txBody>
      </p:sp>
      <p:sp>
        <p:nvSpPr>
          <p:cNvPr id="15" name="流程图: 文档 14"/>
          <p:cNvSpPr/>
          <p:nvPr/>
        </p:nvSpPr>
        <p:spPr>
          <a:xfrm>
            <a:off x="1838325" y="4436110"/>
            <a:ext cx="575945" cy="381635"/>
          </a:xfrm>
          <a:prstGeom prst="flowChartDocument">
            <a:avLst/>
          </a:prstGeom>
          <a:solidFill>
            <a:schemeClr val="accent6">
              <a:lumMod val="40000"/>
              <a:lumOff val="60000"/>
              <a:alpha val="42000"/>
            </a:schemeClr>
          </a:solidFill>
          <a:ln w="254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</a:pPr>
            <a:endParaRPr lang="zh-CN" altLang="en-US" sz="1800">
              <a:sym typeface="+mn-ea"/>
            </a:endParaRPr>
          </a:p>
        </p:txBody>
      </p:sp>
      <p:sp>
        <p:nvSpPr>
          <p:cNvPr id="16" name="Text Box 37"/>
          <p:cNvSpPr txBox="1"/>
          <p:nvPr/>
        </p:nvSpPr>
        <p:spPr>
          <a:xfrm>
            <a:off x="2406650" y="4352290"/>
            <a:ext cx="1223010" cy="398780"/>
          </a:xfrm>
          <a:prstGeom prst="rect">
            <a:avLst/>
          </a:prstGeom>
          <a:noFill/>
          <a:ln w="12700" cap="sq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 algn="ctr" eaLnBrk="0" hangingPunct="0"/>
            <a:r>
              <a:rPr lang="en-US" altLang="zh-CN" sz="2000" dirty="0">
                <a:latin typeface="Arial" panose="02080604020202020204" pitchFamily="34" charset="0"/>
              </a:rPr>
              <a:t>others.c</a:t>
            </a:r>
            <a:endParaRPr lang="zh-CN" altLang="en-US" sz="2000" dirty="0">
              <a:latin typeface="Arial" panose="02080604020202020204" pitchFamily="34" charset="0"/>
              <a:ea typeface="宋体" charset="0"/>
            </a:endParaRPr>
          </a:p>
        </p:txBody>
      </p:sp>
      <p:sp>
        <p:nvSpPr>
          <p:cNvPr id="17" name="Text Box 37"/>
          <p:cNvSpPr txBox="1"/>
          <p:nvPr/>
        </p:nvSpPr>
        <p:spPr>
          <a:xfrm>
            <a:off x="1720850" y="3974465"/>
            <a:ext cx="829310" cy="398780"/>
          </a:xfrm>
          <a:prstGeom prst="rect">
            <a:avLst/>
          </a:prstGeom>
          <a:noFill/>
          <a:ln w="12700" cap="sq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 algn="ctr" eaLnBrk="0" hangingPunct="0"/>
            <a:r>
              <a:rPr lang="x-none" altLang="zh-CN" sz="2000" dirty="0">
                <a:latin typeface="Arial" panose="02080604020202020204" pitchFamily="34" charset="0"/>
                <a:ea typeface="宋体" charset="0"/>
              </a:rPr>
              <a:t>......</a:t>
            </a:r>
            <a:endParaRPr lang="x-none" altLang="zh-CN" sz="2000" dirty="0">
              <a:latin typeface="Arial" panose="02080604020202020204" pitchFamily="34" charset="0"/>
              <a:ea typeface="宋体" charset="0"/>
            </a:endParaRPr>
          </a:p>
        </p:txBody>
      </p:sp>
      <p:sp>
        <p:nvSpPr>
          <p:cNvPr id="19" name="Line 13"/>
          <p:cNvSpPr/>
          <p:nvPr/>
        </p:nvSpPr>
        <p:spPr>
          <a:xfrm>
            <a:off x="3705225" y="3775075"/>
            <a:ext cx="1080000" cy="0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0" name="Text Box 41"/>
          <p:cNvSpPr txBox="1"/>
          <p:nvPr/>
        </p:nvSpPr>
        <p:spPr>
          <a:xfrm>
            <a:off x="3768090" y="3264535"/>
            <a:ext cx="914400" cy="398780"/>
          </a:xfrm>
          <a:prstGeom prst="rect">
            <a:avLst/>
          </a:prstGeom>
          <a:noFill/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algn="ctr" eaLnBrk="0" hangingPunct="0"/>
            <a:r>
              <a:rPr lang="zh-CN" altLang="x-none" sz="2000" dirty="0">
                <a:latin typeface="Arial" panose="02080604020202020204" pitchFamily="34" charset="0"/>
                <a:ea typeface="宋体" charset="0"/>
              </a:rPr>
              <a:t>编译</a:t>
            </a:r>
            <a:endParaRPr lang="zh-CN" altLang="x-none" sz="2000" dirty="0">
              <a:latin typeface="Arial" panose="02080604020202020204" pitchFamily="34" charset="0"/>
              <a:ea typeface="宋体" charset="0"/>
            </a:endParaRPr>
          </a:p>
        </p:txBody>
      </p:sp>
      <p:sp>
        <p:nvSpPr>
          <p:cNvPr id="21" name="流程图: 文档 20"/>
          <p:cNvSpPr/>
          <p:nvPr/>
        </p:nvSpPr>
        <p:spPr>
          <a:xfrm>
            <a:off x="4835525" y="2330450"/>
            <a:ext cx="575945" cy="381635"/>
          </a:xfrm>
          <a:prstGeom prst="flowChartDocument">
            <a:avLst/>
          </a:prstGeom>
          <a:solidFill>
            <a:schemeClr val="accent6">
              <a:lumMod val="40000"/>
              <a:lumOff val="60000"/>
              <a:alpha val="69000"/>
            </a:schemeClr>
          </a:solidFill>
          <a:ln w="254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Text Box 37"/>
          <p:cNvSpPr txBox="1"/>
          <p:nvPr/>
        </p:nvSpPr>
        <p:spPr>
          <a:xfrm>
            <a:off x="5267960" y="2313305"/>
            <a:ext cx="1165225" cy="398780"/>
          </a:xfrm>
          <a:prstGeom prst="rect">
            <a:avLst/>
          </a:prstGeom>
          <a:noFill/>
          <a:ln w="12700" cap="sq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 algn="ctr" eaLnBrk="0" hangingPunct="0"/>
            <a:r>
              <a:rPr lang="en-US" altLang="zh-CN" sz="2000" dirty="0">
                <a:latin typeface="Arial" panose="02080604020202020204" pitchFamily="34" charset="0"/>
              </a:rPr>
              <a:t>calc.o</a:t>
            </a:r>
            <a:endParaRPr lang="zh-CN" altLang="en-US" sz="2000" dirty="0">
              <a:latin typeface="Arial" panose="02080604020202020204" pitchFamily="34" charset="0"/>
              <a:ea typeface="宋体" charset="0"/>
            </a:endParaRPr>
          </a:p>
        </p:txBody>
      </p:sp>
      <p:sp>
        <p:nvSpPr>
          <p:cNvPr id="23" name="Text Box 37"/>
          <p:cNvSpPr txBox="1"/>
          <p:nvPr/>
        </p:nvSpPr>
        <p:spPr>
          <a:xfrm>
            <a:off x="5340350" y="3546475"/>
            <a:ext cx="1472565" cy="398780"/>
          </a:xfrm>
          <a:prstGeom prst="rect">
            <a:avLst/>
          </a:prstGeom>
          <a:noFill/>
          <a:ln w="12700" cap="sq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 algn="ctr" eaLnBrk="0" hangingPunct="0"/>
            <a:r>
              <a:rPr lang="en-US" altLang="zh-CN" sz="2000" dirty="0">
                <a:latin typeface="Arial" panose="02080604020202020204" pitchFamily="34" charset="0"/>
              </a:rPr>
              <a:t>storage.</a:t>
            </a:r>
            <a:r>
              <a:rPr lang="x-none" altLang="en-US" sz="2000" dirty="0">
                <a:latin typeface="Arial" panose="02080604020202020204" pitchFamily="34" charset="0"/>
              </a:rPr>
              <a:t>o</a:t>
            </a:r>
            <a:endParaRPr lang="x-none" altLang="en-US" sz="2000" dirty="0">
              <a:latin typeface="Arial" panose="02080604020202020204" pitchFamily="34" charset="0"/>
              <a:ea typeface="宋体" charset="0"/>
            </a:endParaRPr>
          </a:p>
        </p:txBody>
      </p:sp>
      <p:sp>
        <p:nvSpPr>
          <p:cNvPr id="24" name="Text Box 37"/>
          <p:cNvSpPr txBox="1"/>
          <p:nvPr/>
        </p:nvSpPr>
        <p:spPr>
          <a:xfrm>
            <a:off x="5268595" y="2906395"/>
            <a:ext cx="1224280" cy="398780"/>
          </a:xfrm>
          <a:prstGeom prst="rect">
            <a:avLst/>
          </a:prstGeom>
          <a:noFill/>
          <a:ln w="12700" cap="sq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 algn="ctr" eaLnBrk="0" hangingPunct="0"/>
            <a:r>
              <a:rPr lang="en-US" altLang="zh-CN" sz="2000" dirty="0">
                <a:latin typeface="Arial" panose="02080604020202020204" pitchFamily="34" charset="0"/>
              </a:rPr>
              <a:t>main.</a:t>
            </a:r>
            <a:r>
              <a:rPr lang="x-none" altLang="en-US" sz="2000" dirty="0">
                <a:latin typeface="Arial" panose="02080604020202020204" pitchFamily="34" charset="0"/>
              </a:rPr>
              <a:t>o</a:t>
            </a:r>
            <a:endParaRPr lang="x-none" altLang="en-US" sz="2000" dirty="0">
              <a:latin typeface="Arial" panose="02080604020202020204" pitchFamily="34" charset="0"/>
              <a:ea typeface="宋体" charset="0"/>
            </a:endParaRPr>
          </a:p>
        </p:txBody>
      </p:sp>
      <p:sp>
        <p:nvSpPr>
          <p:cNvPr id="25" name="流程图: 文档 24"/>
          <p:cNvSpPr/>
          <p:nvPr/>
        </p:nvSpPr>
        <p:spPr>
          <a:xfrm>
            <a:off x="4835525" y="2978150"/>
            <a:ext cx="575945" cy="381635"/>
          </a:xfrm>
          <a:prstGeom prst="flowChartDocument">
            <a:avLst/>
          </a:prstGeom>
          <a:solidFill>
            <a:schemeClr val="accent6">
              <a:lumMod val="40000"/>
              <a:lumOff val="60000"/>
              <a:alpha val="69000"/>
            </a:schemeClr>
          </a:solidFill>
          <a:ln w="254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</a:pPr>
            <a:endParaRPr lang="zh-CN" altLang="en-US" sz="1800">
              <a:sym typeface="+mn-ea"/>
            </a:endParaRPr>
          </a:p>
        </p:txBody>
      </p:sp>
      <p:sp>
        <p:nvSpPr>
          <p:cNvPr id="26" name="流程图: 文档 25"/>
          <p:cNvSpPr/>
          <p:nvPr/>
        </p:nvSpPr>
        <p:spPr>
          <a:xfrm>
            <a:off x="4835525" y="3584575"/>
            <a:ext cx="575945" cy="381635"/>
          </a:xfrm>
          <a:prstGeom prst="flowChartDocument">
            <a:avLst/>
          </a:prstGeom>
          <a:solidFill>
            <a:schemeClr val="accent6">
              <a:lumMod val="40000"/>
              <a:lumOff val="60000"/>
              <a:alpha val="69000"/>
            </a:schemeClr>
          </a:solidFill>
          <a:ln w="254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</a:pPr>
            <a:endParaRPr lang="zh-CN" altLang="en-US" sz="1800">
              <a:sym typeface="+mn-ea"/>
            </a:endParaRPr>
          </a:p>
        </p:txBody>
      </p:sp>
      <p:sp>
        <p:nvSpPr>
          <p:cNvPr id="27" name="流程图: 文档 26"/>
          <p:cNvSpPr/>
          <p:nvPr/>
        </p:nvSpPr>
        <p:spPr>
          <a:xfrm>
            <a:off x="4835525" y="4419600"/>
            <a:ext cx="575945" cy="381635"/>
          </a:xfrm>
          <a:prstGeom prst="flowChartDocument">
            <a:avLst/>
          </a:prstGeom>
          <a:solidFill>
            <a:schemeClr val="accent6">
              <a:lumMod val="40000"/>
              <a:lumOff val="60000"/>
              <a:alpha val="69000"/>
            </a:schemeClr>
          </a:solidFill>
          <a:ln w="254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</a:pPr>
            <a:endParaRPr lang="zh-CN" altLang="en-US" sz="1800">
              <a:sym typeface="+mn-ea"/>
            </a:endParaRPr>
          </a:p>
        </p:txBody>
      </p:sp>
      <p:sp>
        <p:nvSpPr>
          <p:cNvPr id="28" name="Text Box 37"/>
          <p:cNvSpPr txBox="1"/>
          <p:nvPr/>
        </p:nvSpPr>
        <p:spPr>
          <a:xfrm>
            <a:off x="5403850" y="4335780"/>
            <a:ext cx="1283335" cy="398780"/>
          </a:xfrm>
          <a:prstGeom prst="rect">
            <a:avLst/>
          </a:prstGeom>
          <a:noFill/>
          <a:ln w="12700" cap="sq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 algn="ctr" eaLnBrk="0" hangingPunct="0"/>
            <a:r>
              <a:rPr lang="en-US" altLang="zh-CN" sz="2000" dirty="0">
                <a:latin typeface="Arial" panose="02080604020202020204" pitchFamily="34" charset="0"/>
              </a:rPr>
              <a:t>others.</a:t>
            </a:r>
            <a:r>
              <a:rPr lang="x-none" altLang="en-US" sz="2000" dirty="0">
                <a:latin typeface="Arial" panose="02080604020202020204" pitchFamily="34" charset="0"/>
              </a:rPr>
              <a:t>o</a:t>
            </a:r>
            <a:endParaRPr lang="x-none" altLang="en-US" sz="2000" dirty="0">
              <a:latin typeface="Arial" panose="02080604020202020204" pitchFamily="34" charset="0"/>
              <a:ea typeface="宋体" charset="0"/>
            </a:endParaRPr>
          </a:p>
        </p:txBody>
      </p:sp>
      <p:sp>
        <p:nvSpPr>
          <p:cNvPr id="29" name="Text Box 37"/>
          <p:cNvSpPr txBox="1"/>
          <p:nvPr/>
        </p:nvSpPr>
        <p:spPr>
          <a:xfrm>
            <a:off x="4718050" y="3957955"/>
            <a:ext cx="829310" cy="398780"/>
          </a:xfrm>
          <a:prstGeom prst="rect">
            <a:avLst/>
          </a:prstGeom>
          <a:noFill/>
          <a:ln w="12700" cap="sq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 algn="ctr" eaLnBrk="0" hangingPunct="0"/>
            <a:r>
              <a:rPr lang="x-none" altLang="zh-CN" sz="2000" dirty="0">
                <a:latin typeface="Arial" panose="02080604020202020204" pitchFamily="34" charset="0"/>
                <a:ea typeface="宋体" charset="0"/>
              </a:rPr>
              <a:t>......</a:t>
            </a:r>
            <a:endParaRPr lang="x-none" altLang="zh-CN" sz="2000" dirty="0">
              <a:latin typeface="Arial" panose="02080604020202020204" pitchFamily="34" charset="0"/>
              <a:ea typeface="宋体" charset="0"/>
            </a:endParaRPr>
          </a:p>
        </p:txBody>
      </p:sp>
      <p:sp>
        <p:nvSpPr>
          <p:cNvPr id="30" name="Text Box 37"/>
          <p:cNvSpPr txBox="1"/>
          <p:nvPr/>
        </p:nvSpPr>
        <p:spPr>
          <a:xfrm>
            <a:off x="4817110" y="4939665"/>
            <a:ext cx="1682750" cy="398780"/>
          </a:xfrm>
          <a:prstGeom prst="rect">
            <a:avLst/>
          </a:prstGeom>
          <a:noFill/>
          <a:ln w="12700" cap="sq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 algn="ctr" eaLnBrk="0" hangingPunct="0"/>
            <a:r>
              <a:rPr lang="zh-CN" altLang="en-US" sz="2000" dirty="0">
                <a:latin typeface="Arial" panose="02080604020202020204" pitchFamily="34" charset="0"/>
                <a:ea typeface="宋体" charset="0"/>
              </a:rPr>
              <a:t>目标文件</a:t>
            </a:r>
            <a:endParaRPr lang="zh-CN" altLang="en-US" sz="2000" dirty="0">
              <a:latin typeface="Arial" panose="02080604020202020204" pitchFamily="34" charset="0"/>
              <a:ea typeface="宋体" charset="0"/>
            </a:endParaRPr>
          </a:p>
        </p:txBody>
      </p:sp>
      <p:sp>
        <p:nvSpPr>
          <p:cNvPr id="31" name="Line 13"/>
          <p:cNvSpPr/>
          <p:nvPr/>
        </p:nvSpPr>
        <p:spPr>
          <a:xfrm>
            <a:off x="6774180" y="3758565"/>
            <a:ext cx="1080000" cy="0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32" name="Text Box 41"/>
          <p:cNvSpPr txBox="1"/>
          <p:nvPr/>
        </p:nvSpPr>
        <p:spPr>
          <a:xfrm>
            <a:off x="6837045" y="3248025"/>
            <a:ext cx="914400" cy="398780"/>
          </a:xfrm>
          <a:prstGeom prst="rect">
            <a:avLst/>
          </a:prstGeom>
          <a:noFill/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algn="ctr" eaLnBrk="0" hangingPunct="0"/>
            <a:r>
              <a:rPr lang="zh-CN" altLang="x-none" sz="2000" dirty="0">
                <a:latin typeface="Arial" panose="02080604020202020204" pitchFamily="34" charset="0"/>
                <a:ea typeface="宋体" charset="0"/>
              </a:rPr>
              <a:t>链接</a:t>
            </a:r>
            <a:endParaRPr lang="zh-CN" altLang="x-none" sz="2000" dirty="0">
              <a:latin typeface="Arial" panose="02080604020202020204" pitchFamily="34" charset="0"/>
              <a:ea typeface="宋体" charset="0"/>
            </a:endParaRPr>
          </a:p>
        </p:txBody>
      </p:sp>
      <p:sp>
        <p:nvSpPr>
          <p:cNvPr id="33" name="流程图: 文档 32"/>
          <p:cNvSpPr/>
          <p:nvPr/>
        </p:nvSpPr>
        <p:spPr>
          <a:xfrm>
            <a:off x="7957820" y="3563620"/>
            <a:ext cx="575945" cy="381635"/>
          </a:xfrm>
          <a:prstGeom prst="flowChartDocument">
            <a:avLst/>
          </a:prstGeom>
          <a:solidFill>
            <a:schemeClr val="accent6">
              <a:lumMod val="40000"/>
              <a:lumOff val="60000"/>
            </a:schemeClr>
          </a:solidFill>
          <a:ln w="25400" cmpd="sng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Text Box 37"/>
          <p:cNvSpPr txBox="1"/>
          <p:nvPr/>
        </p:nvSpPr>
        <p:spPr>
          <a:xfrm>
            <a:off x="7470775" y="4037330"/>
            <a:ext cx="1481455" cy="398780"/>
          </a:xfrm>
          <a:prstGeom prst="rect">
            <a:avLst/>
          </a:prstGeom>
          <a:noFill/>
          <a:ln w="12700" cap="sq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 algn="ctr" eaLnBrk="0" hangingPunct="0"/>
            <a:r>
              <a:rPr lang="en-US" altLang="x-none" sz="2000" dirty="0">
                <a:latin typeface="Arial" panose="02080604020202020204" pitchFamily="34" charset="0"/>
                <a:ea typeface="宋体" charset="0"/>
              </a:rPr>
              <a:t>prog</a:t>
            </a:r>
            <a:r>
              <a:rPr lang="x-none" altLang="en-US" sz="2000" dirty="0">
                <a:latin typeface="Arial" panose="02080604020202020204" pitchFamily="34" charset="0"/>
                <a:ea typeface="宋体" charset="0"/>
              </a:rPr>
              <a:t>.exe</a:t>
            </a:r>
            <a:endParaRPr lang="x-none" altLang="en-US" sz="2000" dirty="0">
              <a:latin typeface="Arial" panose="02080604020202020204" pitchFamily="34" charset="0"/>
              <a:ea typeface="宋体" charset="0"/>
            </a:endParaRPr>
          </a:p>
        </p:txBody>
      </p:sp>
      <p:sp>
        <p:nvSpPr>
          <p:cNvPr id="27649" name="Rectangle 4"/>
          <p:cNvSpPr>
            <a:spLocks noGrp="1"/>
          </p:cNvSpPr>
          <p:nvPr/>
        </p:nvSpPr>
        <p:spPr>
          <a:xfrm>
            <a:off x="457200" y="274638"/>
            <a:ext cx="8228013" cy="1141412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0000" tIns="46800" rIns="90000" bIns="46800" anchor="ctr" anchorCtr="0"/>
          <a:lstStyle>
            <a:lvl1pPr marL="0" lvl="0" indent="0" algn="ctr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4400" u="none" kern="1200" baseline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/>
              <a:t>程序的编译和链接</a:t>
            </a:r>
            <a:endParaRPr lang="zh-CN" altLang="en-US"/>
          </a:p>
        </p:txBody>
      </p:sp>
      <p:sp>
        <p:nvSpPr>
          <p:cNvPr id="2" name="流程图: 文档 1"/>
          <p:cNvSpPr/>
          <p:nvPr/>
        </p:nvSpPr>
        <p:spPr>
          <a:xfrm>
            <a:off x="6862445" y="1695450"/>
            <a:ext cx="575945" cy="381635"/>
          </a:xfrm>
          <a:prstGeom prst="flowChartDocument">
            <a:avLst/>
          </a:prstGeom>
          <a:solidFill>
            <a:schemeClr val="accent6">
              <a:lumMod val="60000"/>
              <a:lumOff val="40000"/>
              <a:alpha val="69000"/>
            </a:schemeClr>
          </a:solidFill>
          <a:ln w="25400" cmpd="sng">
            <a:solidFill>
              <a:srgbClr val="F9680D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流程图: 文档 5"/>
          <p:cNvSpPr/>
          <p:nvPr/>
        </p:nvSpPr>
        <p:spPr>
          <a:xfrm>
            <a:off x="6862445" y="2237740"/>
            <a:ext cx="575945" cy="381635"/>
          </a:xfrm>
          <a:prstGeom prst="flowChartDocument">
            <a:avLst/>
          </a:prstGeom>
          <a:solidFill>
            <a:schemeClr val="accent6">
              <a:lumMod val="40000"/>
              <a:lumOff val="60000"/>
              <a:alpha val="69000"/>
            </a:schemeClr>
          </a:solidFill>
          <a:ln w="25400">
            <a:solidFill>
              <a:srgbClr val="F9680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Text Box 37"/>
          <p:cNvSpPr txBox="1"/>
          <p:nvPr/>
        </p:nvSpPr>
        <p:spPr>
          <a:xfrm>
            <a:off x="7383145" y="1628140"/>
            <a:ext cx="1215390" cy="398780"/>
          </a:xfrm>
          <a:prstGeom prst="rect">
            <a:avLst/>
          </a:prstGeom>
          <a:noFill/>
          <a:ln w="12700" cap="sq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 algn="ctr" eaLnBrk="0" hangingPunct="0"/>
            <a:r>
              <a:rPr lang="x-none" altLang="en-US" sz="2000" dirty="0">
                <a:latin typeface="Arial" panose="02080604020202020204" pitchFamily="34" charset="0"/>
              </a:rPr>
              <a:t>stdio.lib</a:t>
            </a:r>
            <a:endParaRPr lang="x-none" altLang="en-US" sz="2000" dirty="0">
              <a:latin typeface="Arial" panose="02080604020202020204" pitchFamily="34" charset="0"/>
              <a:ea typeface="宋体" charset="0"/>
            </a:endParaRPr>
          </a:p>
        </p:txBody>
      </p:sp>
      <p:sp>
        <p:nvSpPr>
          <p:cNvPr id="8" name="Text Box 37"/>
          <p:cNvSpPr txBox="1"/>
          <p:nvPr/>
        </p:nvSpPr>
        <p:spPr>
          <a:xfrm>
            <a:off x="7383145" y="2220595"/>
            <a:ext cx="1258570" cy="398780"/>
          </a:xfrm>
          <a:prstGeom prst="rect">
            <a:avLst/>
          </a:prstGeom>
          <a:noFill/>
          <a:ln w="12700" cap="sq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 algn="ctr" eaLnBrk="0" hangingPunct="0"/>
            <a:r>
              <a:rPr lang="x-none" altLang="en-US" sz="2000" dirty="0">
                <a:latin typeface="Arial" panose="02080604020202020204" pitchFamily="34" charset="0"/>
              </a:rPr>
              <a:t>math.lib</a:t>
            </a:r>
            <a:endParaRPr lang="x-none" altLang="en-US" sz="2000" dirty="0">
              <a:latin typeface="Arial" panose="02080604020202020204" pitchFamily="34" charset="0"/>
              <a:ea typeface="宋体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733540" y="1522095"/>
            <a:ext cx="1944370" cy="161671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Text Box 37"/>
          <p:cNvSpPr txBox="1"/>
          <p:nvPr/>
        </p:nvSpPr>
        <p:spPr>
          <a:xfrm>
            <a:off x="7255510" y="2634615"/>
            <a:ext cx="829310" cy="398780"/>
          </a:xfrm>
          <a:prstGeom prst="rect">
            <a:avLst/>
          </a:prstGeom>
          <a:noFill/>
          <a:ln w="12700" cap="sq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 algn="ctr" eaLnBrk="0" hangingPunct="0"/>
            <a:r>
              <a:rPr lang="x-none" altLang="zh-CN" sz="2000" dirty="0">
                <a:latin typeface="Arial" panose="02080604020202020204" pitchFamily="34" charset="0"/>
                <a:ea typeface="宋体" charset="0"/>
              </a:rPr>
              <a:t>......</a:t>
            </a:r>
            <a:endParaRPr lang="x-none" altLang="zh-CN" sz="2000" dirty="0">
              <a:latin typeface="Arial" panose="02080604020202020204" pitchFamily="34" charset="0"/>
              <a:ea typeface="宋体" charset="0"/>
            </a:endParaRPr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Rectangle 4"/>
          <p:cNvSpPr>
            <a:spLocks noGrp="1"/>
          </p:cNvSpPr>
          <p:nvPr>
            <p:ph type="title" idx="4294967295"/>
          </p:nvPr>
        </p:nvSpPr>
        <p:spPr/>
        <p:txBody>
          <a:bodyPr vert="horz" wrap="square" anchor="ctr" anchorCtr="0"/>
          <a:p>
            <a:pPr eaLnBrk="1" hangingPunct="1"/>
            <a:r>
              <a:rPr lang="zh-CN" altLang="en-US"/>
              <a:t>高级语言的执行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457200" y="1600200"/>
            <a:ext cx="8228013" cy="452437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t" anchorCtr="0"/>
          <a:lstStyle>
            <a:lvl1pPr marL="342900" lvl="0" indent="-342900" algn="l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320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8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2pPr>
            <a:lvl3pPr marL="1143000" lvl="2" indent="-228600" algn="l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4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3pPr>
            <a:lvl4pPr marL="1600200" lvl="3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4pPr>
            <a:lvl5pPr marL="2057400" lvl="4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5pPr>
            <a:lvl6pPr marL="2514600" lvl="5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6pPr>
            <a:lvl7pPr marL="2971800" lvl="6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7pPr>
            <a:lvl8pPr marL="3429000" lvl="7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8pPr>
            <a:lvl9pPr marL="3886200" lvl="8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9pPr>
          </a:lstStyle>
          <a:p>
            <a:r>
              <a:rPr lang="en-US" altLang="zh-CN">
                <a:ea typeface="宋体" charset="0"/>
              </a:rPr>
              <a:t>1. </a:t>
            </a:r>
            <a:r>
              <a:rPr lang="zh-CN" altLang="en-US">
                <a:ea typeface="宋体" charset="0"/>
              </a:rPr>
              <a:t>编译执行：</a:t>
            </a:r>
            <a:endParaRPr lang="zh-CN" altLang="en-US">
              <a:ea typeface="宋体" charset="0"/>
            </a:endParaRPr>
          </a:p>
          <a:p>
            <a:r>
              <a:rPr lang="en-US" altLang="zh-CN"/>
              <a:t>   </a:t>
            </a:r>
            <a:endParaRPr lang="en-US" altLang="zh-CN"/>
          </a:p>
          <a:p>
            <a:r>
              <a:rPr lang="zh-CN" altLang="en-US"/>
              <a:t>   高级语言的代码经过编译链接后，形成的可执行文件，就可以在机器上反复执行。</a:t>
            </a:r>
            <a:endParaRPr lang="zh-CN" altLang="en-US"/>
          </a:p>
          <a:p>
            <a:endParaRPr lang="zh-CN" altLang="en-US" sz="2800">
              <a:ea typeface="宋体" charset="0"/>
              <a:sym typeface="+mn-ea"/>
            </a:endParaRPr>
          </a:p>
          <a:p>
            <a:r>
              <a:rPr lang="zh-CN" altLang="en-US" sz="2800">
                <a:ea typeface="宋体" charset="0"/>
                <a:sym typeface="+mn-ea"/>
              </a:rPr>
              <a:t>   </a:t>
            </a:r>
            <a:r>
              <a:rPr lang="en-US" altLang="zh-CN" sz="2800">
                <a:ea typeface="宋体" charset="0"/>
                <a:sym typeface="+mn-ea"/>
              </a:rPr>
              <a:t>C</a:t>
            </a:r>
            <a:r>
              <a:rPr lang="zh-CN" altLang="en-US" sz="2800">
                <a:ea typeface="宋体" charset="0"/>
                <a:sym typeface="+mn-ea"/>
              </a:rPr>
              <a:t>，</a:t>
            </a:r>
            <a:r>
              <a:rPr lang="en-US" altLang="zh-CN" sz="2800">
                <a:ea typeface="宋体" charset="0"/>
                <a:sym typeface="+mn-ea"/>
              </a:rPr>
              <a:t>C++</a:t>
            </a:r>
            <a:r>
              <a:rPr lang="zh-CN" altLang="en-US" sz="2800">
                <a:ea typeface="宋体" charset="0"/>
                <a:sym typeface="+mn-ea"/>
              </a:rPr>
              <a:t>，</a:t>
            </a:r>
            <a:r>
              <a:rPr lang="en-US" altLang="zh-CN" sz="2800">
                <a:ea typeface="宋体" charset="0"/>
                <a:sym typeface="+mn-ea"/>
              </a:rPr>
              <a:t>Fortran</a:t>
            </a:r>
            <a:r>
              <a:rPr lang="zh-CN" altLang="en-US" sz="2800">
                <a:ea typeface="宋体" charset="0"/>
                <a:sym typeface="+mn-ea"/>
              </a:rPr>
              <a:t>，</a:t>
            </a:r>
            <a:r>
              <a:rPr lang="en-US" altLang="zh-CN" sz="2800">
                <a:ea typeface="宋体" charset="0"/>
                <a:sym typeface="+mn-ea"/>
              </a:rPr>
              <a:t>Pascal</a:t>
            </a:r>
            <a:r>
              <a:rPr lang="zh-CN" altLang="en-US" sz="2800">
                <a:ea typeface="宋体" charset="0"/>
                <a:sym typeface="+mn-ea"/>
              </a:rPr>
              <a:t>等</a:t>
            </a:r>
            <a:endParaRPr lang="zh-CN" altLang="en-US" sz="2800">
              <a:ea typeface="宋体" charset="0"/>
              <a:sym typeface="+mn-ea"/>
            </a:endParaRPr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Rectangle 4"/>
          <p:cNvSpPr>
            <a:spLocks noGrp="1"/>
          </p:cNvSpPr>
          <p:nvPr>
            <p:ph type="title" idx="4294967295"/>
          </p:nvPr>
        </p:nvSpPr>
        <p:spPr/>
        <p:txBody>
          <a:bodyPr vert="horz" wrap="square" anchor="ctr" anchorCtr="0"/>
          <a:p>
            <a:pPr eaLnBrk="1" hangingPunct="1"/>
            <a:r>
              <a:rPr lang="zh-CN" altLang="en-US"/>
              <a:t>高级语言的执行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457200" y="1600200"/>
            <a:ext cx="8228013" cy="452437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t" anchorCtr="0"/>
          <a:lstStyle>
            <a:lvl1pPr marL="342900" lvl="0" indent="-342900" algn="l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320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8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2pPr>
            <a:lvl3pPr marL="1143000" lvl="2" indent="-228600" algn="l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4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3pPr>
            <a:lvl4pPr marL="1600200" lvl="3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4pPr>
            <a:lvl5pPr marL="2057400" lvl="4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5pPr>
            <a:lvl6pPr marL="2514600" lvl="5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6pPr>
            <a:lvl7pPr marL="2971800" lvl="6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7pPr>
            <a:lvl8pPr marL="3429000" lvl="7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8pPr>
            <a:lvl9pPr marL="3886200" lvl="8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9pPr>
          </a:lstStyle>
          <a:p>
            <a:r>
              <a:rPr lang="en-US" altLang="zh-CN">
                <a:ea typeface="宋体" charset="0"/>
              </a:rPr>
              <a:t>2. </a:t>
            </a:r>
            <a:r>
              <a:rPr lang="zh-CN" altLang="en-US">
                <a:ea typeface="宋体" charset="0"/>
              </a:rPr>
              <a:t>解释执行：</a:t>
            </a:r>
            <a:endParaRPr lang="zh-CN" altLang="en-US">
              <a:ea typeface="宋体" charset="0"/>
            </a:endParaRPr>
          </a:p>
          <a:p>
            <a:r>
              <a:rPr lang="en-US" altLang="zh-CN"/>
              <a:t>   </a:t>
            </a:r>
            <a:endParaRPr lang="en-US" altLang="zh-CN"/>
          </a:p>
          <a:p>
            <a:r>
              <a:rPr lang="zh-CN" altLang="en-US"/>
              <a:t>   高级语言的代码不提前进行编译，而是在运行时由解释器一行一行代码翻译成机器代码再执行。</a:t>
            </a:r>
            <a:endParaRPr lang="zh-CN" altLang="en-US"/>
          </a:p>
          <a:p>
            <a:endParaRPr lang="zh-CN" altLang="en-US" sz="2800">
              <a:ea typeface="宋体" charset="0"/>
              <a:sym typeface="+mn-ea"/>
            </a:endParaRPr>
          </a:p>
          <a:p>
            <a:r>
              <a:rPr lang="zh-CN" altLang="en-US" sz="2800">
                <a:ea typeface="宋体" charset="0"/>
                <a:sym typeface="+mn-ea"/>
              </a:rPr>
              <a:t>   </a:t>
            </a:r>
            <a:r>
              <a:rPr lang="en-US" altLang="zh-CN" sz="2800">
                <a:ea typeface="宋体" charset="0"/>
                <a:sym typeface="+mn-ea"/>
              </a:rPr>
              <a:t>Python</a:t>
            </a:r>
            <a:r>
              <a:rPr lang="zh-CN" altLang="en-US" sz="2800">
                <a:ea typeface="宋体" charset="0"/>
                <a:sym typeface="+mn-ea"/>
              </a:rPr>
              <a:t>，</a:t>
            </a:r>
            <a:r>
              <a:rPr lang="en-US" altLang="zh-CN" sz="2800">
                <a:ea typeface="宋体" charset="0"/>
                <a:sym typeface="+mn-ea"/>
              </a:rPr>
              <a:t>Basic</a:t>
            </a:r>
            <a:r>
              <a:rPr lang="zh-CN" altLang="en-US" sz="2800">
                <a:ea typeface="宋体" charset="0"/>
                <a:sym typeface="+mn-ea"/>
              </a:rPr>
              <a:t>，</a:t>
            </a:r>
            <a:r>
              <a:rPr lang="en-US" altLang="zh-CN" sz="2800">
                <a:ea typeface="宋体" charset="0"/>
                <a:sym typeface="+mn-ea"/>
              </a:rPr>
              <a:t>PHP</a:t>
            </a:r>
            <a:r>
              <a:rPr lang="zh-CN" altLang="en-US" sz="2800">
                <a:ea typeface="宋体" charset="0"/>
                <a:sym typeface="+mn-ea"/>
              </a:rPr>
              <a:t>，</a:t>
            </a:r>
            <a:r>
              <a:rPr lang="en-US" altLang="zh-CN" sz="2800">
                <a:ea typeface="宋体" charset="0"/>
                <a:sym typeface="+mn-ea"/>
              </a:rPr>
              <a:t>JavaScript</a:t>
            </a:r>
            <a:endParaRPr lang="en-US" altLang="zh-CN" sz="2800">
              <a:ea typeface="宋体" charset="0"/>
              <a:sym typeface="+mn-ea"/>
            </a:endParaRPr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Rectangle 4"/>
          <p:cNvSpPr>
            <a:spLocks noGrp="1"/>
          </p:cNvSpPr>
          <p:nvPr>
            <p:ph type="title" idx="4294967295"/>
          </p:nvPr>
        </p:nvSpPr>
        <p:spPr/>
        <p:txBody>
          <a:bodyPr vert="horz" wrap="square" anchor="ctr" anchorCtr="0"/>
          <a:p>
            <a:pPr eaLnBrk="1" hangingPunct="1"/>
            <a:r>
              <a:rPr lang="zh-CN" altLang="en-US"/>
              <a:t>高级语言的执行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457200" y="1600200"/>
            <a:ext cx="8228013" cy="452437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t" anchorCtr="0"/>
          <a:lstStyle>
            <a:lvl1pPr marL="342900" lvl="0" indent="-342900" algn="l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320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8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2pPr>
            <a:lvl3pPr marL="1143000" lvl="2" indent="-228600" algn="l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4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3pPr>
            <a:lvl4pPr marL="1600200" lvl="3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4pPr>
            <a:lvl5pPr marL="2057400" lvl="4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5pPr>
            <a:lvl6pPr marL="2514600" lvl="5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6pPr>
            <a:lvl7pPr marL="2971800" lvl="6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7pPr>
            <a:lvl8pPr marL="3429000" lvl="7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8pPr>
            <a:lvl9pPr marL="3886200" lvl="8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9pPr>
          </a:lstStyle>
          <a:p>
            <a:pPr marL="0" indent="0"/>
            <a:r>
              <a:rPr lang="zh-CN" altLang="en-US">
                <a:ea typeface="宋体" charset="0"/>
              </a:rPr>
              <a:t>编译执行和解释执行的直观区别：是用编译器翻译后的代码去执行，还是直接拿着源代码去执行。</a:t>
            </a:r>
            <a:endParaRPr lang="zh-CN" altLang="en-US">
              <a:ea typeface="宋体" charset="0"/>
            </a:endParaRPr>
          </a:p>
          <a:p>
            <a:pPr marL="0" indent="0"/>
            <a:endParaRPr lang="zh-CN" altLang="en-US">
              <a:ea typeface="宋体" charset="0"/>
            </a:endParaRPr>
          </a:p>
          <a:p>
            <a:pPr marL="0" indent="0"/>
            <a:r>
              <a:rPr lang="zh-CN" altLang="en-US">
                <a:ea typeface="宋体" charset="0"/>
              </a:rPr>
              <a:t>可以类比于是提前把英文讲稿翻译成中文讲稿，还是在演讲现场同声传译。</a:t>
            </a:r>
            <a:endParaRPr lang="en-US" altLang="zh-CN">
              <a:ea typeface="宋体" charset="0"/>
            </a:endParaRPr>
          </a:p>
          <a:p>
            <a:endParaRPr lang="zh-CN" altLang="en-US" sz="2800">
              <a:ea typeface="宋体" charset="0"/>
              <a:sym typeface="+mn-ea"/>
            </a:endParaRPr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Rectangle 4"/>
          <p:cNvSpPr>
            <a:spLocks noGrp="1"/>
          </p:cNvSpPr>
          <p:nvPr>
            <p:ph type="title" idx="4294967295"/>
          </p:nvPr>
        </p:nvSpPr>
        <p:spPr/>
        <p:txBody>
          <a:bodyPr vert="horz" wrap="square" anchor="ctr" anchorCtr="0"/>
          <a:p>
            <a:pPr eaLnBrk="1" hangingPunct="1"/>
            <a:r>
              <a:rPr lang="zh-CN" altLang="en-US"/>
              <a:t>高级语言的执行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457200" y="1600200"/>
            <a:ext cx="8228013" cy="452437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t" anchorCtr="0"/>
          <a:lstStyle>
            <a:lvl1pPr marL="342900" lvl="0" indent="-342900" algn="l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320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8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2pPr>
            <a:lvl3pPr marL="1143000" lvl="2" indent="-228600" algn="l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4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3pPr>
            <a:lvl4pPr marL="1600200" lvl="3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4pPr>
            <a:lvl5pPr marL="2057400" lvl="4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5pPr>
            <a:lvl6pPr marL="2514600" lvl="5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6pPr>
            <a:lvl7pPr marL="2971800" lvl="6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7pPr>
            <a:lvl8pPr marL="3429000" lvl="7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8pPr>
            <a:lvl9pPr marL="3886200" lvl="8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9pPr>
          </a:lstStyle>
          <a:p>
            <a:pPr marL="0" indent="0"/>
            <a:r>
              <a:rPr lang="zh-CN" altLang="en-US">
                <a:ea typeface="宋体" charset="0"/>
              </a:rPr>
              <a:t>编译执行的优点是程序执行效率高，可用于操作系统、大型应用程序、数据库系统等开发。</a:t>
            </a:r>
            <a:endParaRPr lang="zh-CN" altLang="en-US">
              <a:ea typeface="宋体" charset="0"/>
            </a:endParaRPr>
          </a:p>
          <a:p>
            <a:pPr marL="0" indent="0"/>
            <a:endParaRPr lang="zh-CN" altLang="en-US">
              <a:ea typeface="宋体" charset="0"/>
            </a:endParaRPr>
          </a:p>
          <a:p>
            <a:pPr marL="0" indent="0"/>
            <a:r>
              <a:rPr lang="zh-CN" altLang="en-US">
                <a:ea typeface="宋体" charset="0"/>
              </a:rPr>
              <a:t>解释执行的优点是跨平台能力强，开发效率高，可用于交互式界面。</a:t>
            </a:r>
            <a:endParaRPr lang="zh-CN" altLang="en-US">
              <a:ea typeface="宋体" charset="0"/>
            </a:endParaRPr>
          </a:p>
          <a:p>
            <a:pPr marL="0" indent="0"/>
            <a:endParaRPr lang="zh-CN" altLang="en-US" sz="2800">
              <a:ea typeface="宋体" charset="0"/>
              <a:sym typeface="+mn-ea"/>
            </a:endParaRPr>
          </a:p>
          <a:p>
            <a:pPr marL="0" indent="0"/>
            <a:r>
              <a:rPr lang="zh-CN" altLang="en-US" sz="2800">
                <a:ea typeface="宋体" charset="0"/>
                <a:sym typeface="+mn-ea"/>
              </a:rPr>
              <a:t>越来越多的现代程序语言试图融合两种执行方式的优点。</a:t>
            </a:r>
            <a:endParaRPr lang="zh-CN" altLang="en-US" sz="2800">
              <a:ea typeface="宋体" charset="0"/>
              <a:sym typeface="+mn-ea"/>
            </a:endParaRPr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Rectangle 4"/>
          <p:cNvSpPr>
            <a:spLocks noGrp="1"/>
          </p:cNvSpPr>
          <p:nvPr>
            <p:ph type="title" idx="4294967295"/>
          </p:nvPr>
        </p:nvSpPr>
        <p:spPr/>
        <p:txBody>
          <a:bodyPr vert="horz" wrap="square" anchor="ctr" anchorCtr="0"/>
          <a:p>
            <a:pPr eaLnBrk="1" hangingPunct="1"/>
            <a:r>
              <a:rPr lang="zh-CN" altLang="en-US">
                <a:ea typeface="宋体" charset="0"/>
              </a:rPr>
              <a:t>故事中的故事</a:t>
            </a:r>
            <a:r>
              <a:rPr lang="en-US" altLang="zh-CN">
                <a:ea typeface="宋体" charset="0"/>
              </a:rPr>
              <a:t>——</a:t>
            </a:r>
            <a:r>
              <a:rPr lang="en-US" altLang="zh-CN"/>
              <a:t>C</a:t>
            </a:r>
            <a:r>
              <a:rPr lang="zh-CN" altLang="en-US">
                <a:ea typeface="宋体" charset="0"/>
              </a:rPr>
              <a:t>语言的发展</a:t>
            </a:r>
            <a:endParaRPr lang="zh-CN" altLang="en-US">
              <a:ea typeface="宋体" charset="0"/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457200" y="1600200"/>
            <a:ext cx="8228013" cy="452437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t" anchorCtr="0"/>
          <a:lstStyle>
            <a:lvl1pPr marL="342900" lvl="0" indent="-342900" algn="l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320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8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2pPr>
            <a:lvl3pPr marL="1143000" lvl="2" indent="-228600" algn="l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4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3pPr>
            <a:lvl4pPr marL="1600200" lvl="3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4pPr>
            <a:lvl5pPr marL="2057400" lvl="4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5pPr>
            <a:lvl6pPr marL="2514600" lvl="5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6pPr>
            <a:lvl7pPr marL="2971800" lvl="6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7pPr>
            <a:lvl8pPr marL="3429000" lvl="7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8pPr>
            <a:lvl9pPr marL="3886200" lvl="8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9pPr>
          </a:lstStyle>
          <a:p>
            <a:pPr marL="0" indent="0"/>
            <a:r>
              <a:rPr lang="en-US" altLang="zh-CN">
                <a:ea typeface="宋体" charset="0"/>
              </a:rPr>
              <a:t>C</a:t>
            </a:r>
            <a:r>
              <a:rPr lang="zh-CN" altLang="en-US">
                <a:ea typeface="宋体" charset="0"/>
              </a:rPr>
              <a:t>语言的发展伴随着</a:t>
            </a:r>
            <a:r>
              <a:rPr lang="en-US" altLang="zh-CN">
                <a:ea typeface="宋体" charset="0"/>
              </a:rPr>
              <a:t>Unix</a:t>
            </a:r>
            <a:r>
              <a:rPr lang="zh-CN" altLang="en-US">
                <a:ea typeface="宋体" charset="0"/>
              </a:rPr>
              <a:t>发展而来，所以讲述</a:t>
            </a:r>
            <a:r>
              <a:rPr lang="en-US" altLang="zh-CN">
                <a:ea typeface="宋体" charset="0"/>
              </a:rPr>
              <a:t>C</a:t>
            </a:r>
            <a:r>
              <a:rPr lang="zh-CN" altLang="en-US">
                <a:ea typeface="宋体" charset="0"/>
              </a:rPr>
              <a:t>语言的发展，总是离不开讲述</a:t>
            </a:r>
            <a:r>
              <a:rPr lang="en-US" altLang="zh-CN">
                <a:ea typeface="宋体" charset="0"/>
              </a:rPr>
              <a:t>Unix</a:t>
            </a:r>
            <a:r>
              <a:rPr lang="zh-CN" altLang="en-US">
                <a:ea typeface="宋体" charset="0"/>
              </a:rPr>
              <a:t>的发展，而</a:t>
            </a:r>
            <a:r>
              <a:rPr lang="en-US" altLang="zh-CN">
                <a:ea typeface="宋体" charset="0"/>
              </a:rPr>
              <a:t>Unix</a:t>
            </a:r>
            <a:r>
              <a:rPr lang="zh-CN" altLang="en-US">
                <a:ea typeface="宋体" charset="0"/>
              </a:rPr>
              <a:t>的故事，则要从</a:t>
            </a:r>
            <a:r>
              <a:rPr lang="en-US" altLang="zh-CN">
                <a:ea typeface="宋体" charset="0"/>
              </a:rPr>
              <a:t>Multics</a:t>
            </a:r>
            <a:r>
              <a:rPr lang="zh-CN" altLang="en-US">
                <a:ea typeface="宋体" charset="0"/>
              </a:rPr>
              <a:t>讲起</a:t>
            </a:r>
            <a:r>
              <a:rPr lang="en-US" altLang="zh-CN">
                <a:ea typeface="宋体" charset="0"/>
              </a:rPr>
              <a:t>——</a:t>
            </a:r>
            <a:r>
              <a:rPr lang="zh-CN" altLang="en-US">
                <a:ea typeface="宋体" charset="0"/>
              </a:rPr>
              <a:t>故事中还有故事。</a:t>
            </a:r>
            <a:endParaRPr lang="zh-CN" altLang="en-US" sz="2800">
              <a:ea typeface="宋体" charset="0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970" y="3932809"/>
            <a:ext cx="2438400" cy="24384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5735" y="4322953"/>
            <a:ext cx="2048256" cy="204825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1195" y="4713097"/>
            <a:ext cx="1657392" cy="165811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2175" y="5103241"/>
            <a:ext cx="1267968" cy="126796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0270" y="5493385"/>
            <a:ext cx="877824" cy="877824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rcRect t="20738" b="20249"/>
          <a:stretch>
            <a:fillRect/>
          </a:stretch>
        </p:blipFill>
        <p:spPr>
          <a:xfrm>
            <a:off x="359410" y="3676015"/>
            <a:ext cx="4451985" cy="213042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5710" y="4222115"/>
            <a:ext cx="1343025" cy="157162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3470" y="3944620"/>
            <a:ext cx="2762250" cy="1718120"/>
          </a:xfrm>
          <a:prstGeom prst="rect">
            <a:avLst/>
          </a:prstGeom>
        </p:spPr>
      </p:pic>
      <p:sp>
        <p:nvSpPr>
          <p:cNvPr id="27649" name="Rectangle 4"/>
          <p:cNvSpPr>
            <a:spLocks noGrp="1"/>
          </p:cNvSpPr>
          <p:nvPr/>
        </p:nvSpPr>
        <p:spPr>
          <a:xfrm>
            <a:off x="457200" y="274638"/>
            <a:ext cx="8228013" cy="1141412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0000" tIns="46800" rIns="90000" bIns="46800" anchor="ctr" anchorCtr="0"/>
          <a:lstStyle>
            <a:lvl1pPr marL="0" lvl="0" indent="0" algn="ctr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4400" u="none" kern="1200" baseline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/>
              <a:t>大型计算机作业批处理</a:t>
            </a:r>
            <a:endParaRPr lang="zh-CN" altLang="en-US"/>
          </a:p>
        </p:txBody>
      </p:sp>
      <p:sp>
        <p:nvSpPr>
          <p:cNvPr id="21" name="内容占位符 2"/>
          <p:cNvSpPr>
            <a:spLocks noGrp="1"/>
          </p:cNvSpPr>
          <p:nvPr/>
        </p:nvSpPr>
        <p:spPr>
          <a:xfrm>
            <a:off x="457200" y="1600200"/>
            <a:ext cx="8228013" cy="452437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t" anchorCtr="0"/>
          <a:lstStyle>
            <a:lvl1pPr marL="342900" lvl="0" indent="-342900" algn="l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320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8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2pPr>
            <a:lvl3pPr marL="1143000" lvl="2" indent="-228600" algn="l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4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3pPr>
            <a:lvl4pPr marL="1600200" lvl="3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4pPr>
            <a:lvl5pPr marL="2057400" lvl="4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5pPr>
            <a:lvl6pPr marL="2514600" lvl="5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6pPr>
            <a:lvl7pPr marL="2971800" lvl="6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7pPr>
            <a:lvl8pPr marL="3429000" lvl="7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8pPr>
            <a:lvl9pPr marL="3886200" lvl="8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9pPr>
          </a:lstStyle>
          <a:p>
            <a:pPr marL="0" indent="0"/>
            <a:r>
              <a:rPr lang="zh-CN" altLang="en-US">
                <a:sym typeface="+mn-ea"/>
              </a:rPr>
              <a:t>用户排队等待安排上机时间，</a:t>
            </a:r>
            <a:r>
              <a:rPr lang="zh-CN" altLang="en-US">
                <a:ea typeface="宋体" charset="0"/>
                <a:sym typeface="+mn-ea"/>
              </a:rPr>
              <a:t>计算</a:t>
            </a:r>
            <a:r>
              <a:rPr lang="zh-CN" altLang="en-US">
                <a:sym typeface="+mn-ea"/>
              </a:rPr>
              <a:t>资源的利用率低。</a:t>
            </a:r>
            <a:r>
              <a:rPr lang="zh-CN" altLang="en-US">
                <a:ea typeface="宋体" charset="0"/>
                <a:sym typeface="+mn-ea"/>
              </a:rPr>
              <a:t>主机的高速CPU</a:t>
            </a:r>
            <a:r>
              <a:rPr lang="zh-CN" altLang="en-US">
                <a:sym typeface="+mn-ea"/>
              </a:rPr>
              <a:t>常常处于</a:t>
            </a:r>
            <a:r>
              <a:rPr lang="zh-CN" altLang="en-US">
                <a:ea typeface="宋体" charset="0"/>
                <a:sym typeface="+mn-ea"/>
              </a:rPr>
              <a:t>空闲状态，等待慢速的输入/输出设备完成工作</a:t>
            </a:r>
            <a:endParaRPr lang="zh-CN" altLang="en-US">
              <a:sym typeface="+mn-ea"/>
            </a:endParaRPr>
          </a:p>
          <a:p>
            <a:pPr marL="0" indent="0"/>
            <a:endParaRPr lang="zh-CN" altLang="en-US" sz="2800">
              <a:ea typeface="宋体" charset="0"/>
              <a:sym typeface="+mn-ea"/>
            </a:endParaRPr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Rectangle 4"/>
          <p:cNvSpPr>
            <a:spLocks noGrp="1"/>
          </p:cNvSpPr>
          <p:nvPr/>
        </p:nvSpPr>
        <p:spPr>
          <a:xfrm>
            <a:off x="457200" y="274638"/>
            <a:ext cx="8228013" cy="1141412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0000" tIns="46800" rIns="90000" bIns="46800" anchor="ctr" anchorCtr="0"/>
          <a:lstStyle>
            <a:lvl1pPr marL="0" lvl="0" indent="0" algn="ctr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4400" u="none" kern="1200" baseline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/>
              <a:t>大型计算机分时共享</a:t>
            </a:r>
            <a:endParaRPr lang="zh-CN" altLang="en-US"/>
          </a:p>
        </p:txBody>
      </p:sp>
      <p:sp>
        <p:nvSpPr>
          <p:cNvPr id="21" name="内容占位符 2"/>
          <p:cNvSpPr>
            <a:spLocks noGrp="1"/>
          </p:cNvSpPr>
          <p:nvPr/>
        </p:nvSpPr>
        <p:spPr>
          <a:xfrm>
            <a:off x="457200" y="1600200"/>
            <a:ext cx="8228013" cy="452437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t" anchorCtr="0"/>
          <a:lstStyle>
            <a:lvl1pPr marL="342900" lvl="0" indent="-342900" algn="l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320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8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2pPr>
            <a:lvl3pPr marL="1143000" lvl="2" indent="-228600" algn="l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4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3pPr>
            <a:lvl4pPr marL="1600200" lvl="3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4pPr>
            <a:lvl5pPr marL="2057400" lvl="4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5pPr>
            <a:lvl6pPr marL="2514600" lvl="5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6pPr>
            <a:lvl7pPr marL="2971800" lvl="6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7pPr>
            <a:lvl8pPr marL="3429000" lvl="7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8pPr>
            <a:lvl9pPr marL="3886200" lvl="8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9pPr>
          </a:lstStyle>
          <a:p>
            <a:pPr marL="0" indent="0"/>
            <a:r>
              <a:rPr lang="zh-CN" altLang="en-US">
                <a:sym typeface="+mn-ea"/>
              </a:rPr>
              <a:t>麻省理工学院实现了分时系统(CTSS）及</a:t>
            </a:r>
            <a:r>
              <a:rPr lang="en-US" altLang="zh-CN">
                <a:sym typeface="+mn-ea"/>
              </a:rPr>
              <a:t>MAC</a:t>
            </a:r>
            <a:r>
              <a:rPr lang="zh-CN" altLang="en-US">
                <a:ea typeface="宋体" charset="0"/>
                <a:sym typeface="+mn-ea"/>
              </a:rPr>
              <a:t>计划，将</a:t>
            </a:r>
            <a:r>
              <a:rPr lang="en-US" altLang="zh-CN">
                <a:ea typeface="宋体" charset="0"/>
                <a:sym typeface="+mn-ea"/>
              </a:rPr>
              <a:t>IBM</a:t>
            </a:r>
            <a:r>
              <a:rPr lang="zh-CN" altLang="en-US">
                <a:ea typeface="宋体" charset="0"/>
                <a:sym typeface="+mn-ea"/>
              </a:rPr>
              <a:t>大型机连接了学校各处约</a:t>
            </a:r>
            <a:r>
              <a:rPr lang="en-US" altLang="zh-CN">
                <a:ea typeface="宋体" charset="0"/>
                <a:sym typeface="+mn-ea"/>
              </a:rPr>
              <a:t>160</a:t>
            </a:r>
            <a:r>
              <a:rPr lang="zh-CN" altLang="en-US">
                <a:ea typeface="宋体" charset="0"/>
                <a:sym typeface="+mn-ea"/>
              </a:rPr>
              <a:t>台终端，可供</a:t>
            </a:r>
            <a:r>
              <a:rPr lang="en-US" altLang="zh-CN">
                <a:ea typeface="宋体" charset="0"/>
                <a:sym typeface="+mn-ea"/>
              </a:rPr>
              <a:t>30</a:t>
            </a:r>
            <a:r>
              <a:rPr lang="zh-CN" altLang="en-US">
                <a:ea typeface="宋体" charset="0"/>
                <a:sym typeface="+mn-ea"/>
              </a:rPr>
              <a:t>个用户同时使用大型机计算资源。</a:t>
            </a:r>
            <a:endParaRPr lang="zh-CN" altLang="en-US">
              <a:ea typeface="宋体" charset="0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9905" y="3224530"/>
            <a:ext cx="4572000" cy="3429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771900"/>
            <a:ext cx="3810000" cy="235267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Rectangle 4"/>
          <p:cNvSpPr>
            <a:spLocks noGrp="1"/>
          </p:cNvSpPr>
          <p:nvPr/>
        </p:nvSpPr>
        <p:spPr>
          <a:xfrm>
            <a:off x="457200" y="274638"/>
            <a:ext cx="8228013" cy="1141412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0000" tIns="46800" rIns="90000" bIns="46800" anchor="ctr" anchorCtr="0"/>
          <a:lstStyle>
            <a:lvl1pPr marL="0" lvl="0" indent="0" algn="ctr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4400" u="none" kern="1200" baseline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en-US" altLang="zh-CN"/>
              <a:t>MULTICS</a:t>
            </a:r>
            <a:endParaRPr lang="en-US" altLang="zh-CN"/>
          </a:p>
        </p:txBody>
      </p:sp>
      <p:sp>
        <p:nvSpPr>
          <p:cNvPr id="21" name="内容占位符 2"/>
          <p:cNvSpPr>
            <a:spLocks noGrp="1"/>
          </p:cNvSpPr>
          <p:nvPr/>
        </p:nvSpPr>
        <p:spPr>
          <a:xfrm>
            <a:off x="457200" y="1600200"/>
            <a:ext cx="8228013" cy="452437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t" anchorCtr="0"/>
          <a:lstStyle>
            <a:lvl1pPr marL="342900" lvl="0" indent="-342900" algn="l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320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8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2pPr>
            <a:lvl3pPr marL="1143000" lvl="2" indent="-228600" algn="l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4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3pPr>
            <a:lvl4pPr marL="1600200" lvl="3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4pPr>
            <a:lvl5pPr marL="2057400" lvl="4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5pPr>
            <a:lvl6pPr marL="2514600" lvl="5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6pPr>
            <a:lvl7pPr marL="2971800" lvl="6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7pPr>
            <a:lvl8pPr marL="3429000" lvl="7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8pPr>
            <a:lvl9pPr marL="3886200" lvl="8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9pPr>
          </a:lstStyle>
          <a:p>
            <a:pPr marL="0" indent="0"/>
            <a:r>
              <a:rPr lang="zh-CN" altLang="en-US">
                <a:sym typeface="+mn-ea"/>
              </a:rPr>
              <a:t>几年后，联机需求激增，麻省理工决定开发一个计算机史上最为庞大的分时计算机系统，企图连接1000 部终端机，支持 300 位使用者同时上线</a:t>
            </a:r>
            <a:endParaRPr lang="zh-CN" altLang="en-US">
              <a:sym typeface="+mn-ea"/>
            </a:endParaRPr>
          </a:p>
          <a:p>
            <a:pPr marL="0" indent="0"/>
            <a:endParaRPr lang="zh-CN" altLang="en-US">
              <a:sym typeface="+mn-ea"/>
            </a:endParaRPr>
          </a:p>
          <a:p>
            <a:pPr marL="0" indent="0"/>
            <a:r>
              <a:rPr lang="zh-CN" altLang="en-US">
                <a:sym typeface="+mn-ea"/>
              </a:rPr>
              <a:t>该系统采用通用电子GE645大型主机，</a:t>
            </a:r>
            <a:r>
              <a:rPr lang="en-US" altLang="zh-CN">
                <a:sym typeface="+mn-ea"/>
              </a:rPr>
              <a:t>MIT</a:t>
            </a:r>
            <a:r>
              <a:rPr lang="zh-CN" altLang="en-US">
                <a:sym typeface="+mn-ea"/>
              </a:rPr>
              <a:t>联合贝尔实验室为其开发操作系统MULTICS</a:t>
            </a:r>
            <a:endParaRPr lang="zh-CN" altLang="en-US">
              <a:ea typeface="宋体" charset="0"/>
              <a:sym typeface="+mn-ea"/>
            </a:endParaRPr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Rectangle 4"/>
          <p:cNvSpPr>
            <a:spLocks noGrp="1"/>
          </p:cNvSpPr>
          <p:nvPr/>
        </p:nvSpPr>
        <p:spPr>
          <a:xfrm>
            <a:off x="457200" y="274638"/>
            <a:ext cx="8228013" cy="1141412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0000" tIns="46800" rIns="90000" bIns="46800" anchor="ctr" anchorCtr="0"/>
          <a:lstStyle>
            <a:lvl1pPr marL="0" lvl="0" indent="0" algn="ctr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4400" u="none" kern="1200" baseline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en-US" altLang="zh-CN">
                <a:sym typeface="+mn-ea"/>
              </a:rPr>
              <a:t>MULTICS</a:t>
            </a:r>
            <a:endParaRPr lang="zh-CN" altLang="en-US"/>
          </a:p>
        </p:txBody>
      </p:sp>
      <p:sp>
        <p:nvSpPr>
          <p:cNvPr id="21" name="内容占位符 2"/>
          <p:cNvSpPr>
            <a:spLocks noGrp="1"/>
          </p:cNvSpPr>
          <p:nvPr/>
        </p:nvSpPr>
        <p:spPr>
          <a:xfrm>
            <a:off x="457200" y="1600200"/>
            <a:ext cx="8228013" cy="452437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t" anchorCtr="0"/>
          <a:lstStyle>
            <a:lvl1pPr marL="342900" lvl="0" indent="-342900" algn="l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320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8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2pPr>
            <a:lvl3pPr marL="1143000" lvl="2" indent="-228600" algn="l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4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3pPr>
            <a:lvl4pPr marL="1600200" lvl="3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4pPr>
            <a:lvl5pPr marL="2057400" lvl="4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5pPr>
            <a:lvl6pPr marL="2514600" lvl="5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6pPr>
            <a:lvl7pPr marL="2971800" lvl="6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7pPr>
            <a:lvl8pPr marL="3429000" lvl="7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8pPr>
            <a:lvl9pPr marL="3886200" lvl="8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9pPr>
          </a:lstStyle>
          <a:p>
            <a:pPr marL="0" indent="0"/>
            <a:r>
              <a:rPr lang="en-US" altLang="zh-CN">
                <a:sym typeface="+mn-ea"/>
              </a:rPr>
              <a:t>MULTICS</a:t>
            </a:r>
            <a:r>
              <a:rPr lang="zh-CN" altLang="en-US">
                <a:ea typeface="宋体" charset="0"/>
                <a:sym typeface="+mn-ea"/>
              </a:rPr>
              <a:t>：层次文件系统，动态链接，高级语言开发操作系统（</a:t>
            </a:r>
            <a:r>
              <a:rPr lang="en-US" altLang="zh-CN">
                <a:ea typeface="宋体" charset="0"/>
                <a:sym typeface="+mn-ea"/>
              </a:rPr>
              <a:t>PL/I)</a:t>
            </a:r>
            <a:r>
              <a:rPr lang="zh-CN" altLang="en-US">
                <a:ea typeface="宋体" charset="0"/>
                <a:sym typeface="+mn-ea"/>
              </a:rPr>
              <a:t>，虚拟内存，系统安全，逻辑卷，关系数据管理，共享内存。</a:t>
            </a:r>
            <a:endParaRPr lang="zh-CN" altLang="en-US">
              <a:ea typeface="宋体" charset="0"/>
              <a:sym typeface="+mn-ea"/>
            </a:endParaRPr>
          </a:p>
          <a:p>
            <a:pPr marL="0" indent="0"/>
            <a:endParaRPr lang="zh-CN" altLang="en-US">
              <a:ea typeface="宋体" charset="0"/>
              <a:sym typeface="+mn-ea"/>
            </a:endParaRPr>
          </a:p>
          <a:p>
            <a:pPr marL="0" indent="0"/>
            <a:r>
              <a:rPr lang="zh-CN" altLang="en-US">
                <a:ea typeface="宋体" charset="0"/>
                <a:sym typeface="+mn-ea"/>
              </a:rPr>
              <a:t>计划过于庞大，进展缓慢，历经四年仍未达预设目标，</a:t>
            </a:r>
            <a:r>
              <a:rPr lang="en-US" altLang="zh-CN">
                <a:ea typeface="宋体" charset="0"/>
                <a:sym typeface="+mn-ea"/>
              </a:rPr>
              <a:t>1969</a:t>
            </a:r>
            <a:r>
              <a:rPr lang="zh-CN" altLang="en-US">
                <a:ea typeface="宋体" charset="0"/>
                <a:sym typeface="+mn-ea"/>
              </a:rPr>
              <a:t>年，贝尔实验室退出计划。</a:t>
            </a:r>
            <a:endParaRPr lang="zh-CN" altLang="en-US">
              <a:ea typeface="宋体" charset="0"/>
              <a:sym typeface="+mn-ea"/>
            </a:endParaRPr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Rectangle 4"/>
          <p:cNvSpPr>
            <a:spLocks noGrp="1"/>
          </p:cNvSpPr>
          <p:nvPr/>
        </p:nvSpPr>
        <p:spPr>
          <a:xfrm>
            <a:off x="457200" y="274638"/>
            <a:ext cx="8228013" cy="1141412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0000" tIns="46800" rIns="90000" bIns="46800" anchor="ctr" anchorCtr="0"/>
          <a:lstStyle>
            <a:lvl1pPr marL="0" lvl="0" indent="0" algn="ctr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4400" u="none" kern="1200" baseline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en-US" altLang="zh-CN">
                <a:sym typeface="+mn-ea"/>
              </a:rPr>
              <a:t>Space Travel</a:t>
            </a:r>
            <a:endParaRPr lang="zh-CN" altLang="en-US"/>
          </a:p>
        </p:txBody>
      </p:sp>
      <p:sp>
        <p:nvSpPr>
          <p:cNvPr id="21" name="内容占位符 2"/>
          <p:cNvSpPr>
            <a:spLocks noGrp="1"/>
          </p:cNvSpPr>
          <p:nvPr/>
        </p:nvSpPr>
        <p:spPr>
          <a:xfrm>
            <a:off x="457200" y="1600200"/>
            <a:ext cx="8228013" cy="452437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t" anchorCtr="0"/>
          <a:lstStyle>
            <a:lvl1pPr marL="342900" lvl="0" indent="-342900" algn="l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320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8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2pPr>
            <a:lvl3pPr marL="1143000" lvl="2" indent="-228600" algn="l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4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3pPr>
            <a:lvl4pPr marL="1600200" lvl="3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4pPr>
            <a:lvl5pPr marL="2057400" lvl="4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5pPr>
            <a:lvl6pPr marL="2514600" lvl="5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6pPr>
            <a:lvl7pPr marL="2971800" lvl="6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7pPr>
            <a:lvl8pPr marL="3429000" lvl="7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8pPr>
            <a:lvl9pPr marL="3886200" lvl="8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9pPr>
          </a:lstStyle>
          <a:p>
            <a:pPr marL="0" indent="0"/>
            <a:r>
              <a:rPr lang="zh-CN" altLang="en-US">
                <a:sym typeface="+mn-ea"/>
              </a:rPr>
              <a:t>退出项目的 Ken Thompson 当时在实验室无聊时，为了让一台空闲的</a:t>
            </a:r>
            <a:r>
              <a:rPr lang="en-US" altLang="zh-CN">
                <a:sym typeface="+mn-ea"/>
              </a:rPr>
              <a:t>PDP-7</a:t>
            </a:r>
            <a:r>
              <a:rPr lang="zh-CN" altLang="en-US">
                <a:sym typeface="+mn-ea"/>
              </a:rPr>
              <a:t>电脑上能够运行 "星际旅行（Space Travel）" 游戏，在 8 月份左右趁着其妻子探亲的时间，用了 1 个月的时间，使用汇编写出了 Unix 操作系统的原型。</a:t>
            </a:r>
            <a:endParaRPr lang="en-US" altLang="zh-CN">
              <a:sym typeface="+mn-ea"/>
            </a:endParaRPr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Rectangle 4"/>
          <p:cNvSpPr>
            <a:spLocks noGrp="1"/>
          </p:cNvSpPr>
          <p:nvPr/>
        </p:nvSpPr>
        <p:spPr>
          <a:xfrm>
            <a:off x="457200" y="274638"/>
            <a:ext cx="8228013" cy="1141412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0000" tIns="46800" rIns="90000" bIns="46800" anchor="ctr" anchorCtr="0"/>
          <a:lstStyle>
            <a:lvl1pPr marL="0" lvl="0" indent="0" algn="ctr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4400" u="none" kern="1200" baseline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en-US" altLang="zh-CN">
                <a:sym typeface="+mn-ea"/>
              </a:rPr>
              <a:t>UNIX / B</a:t>
            </a:r>
            <a:r>
              <a:rPr lang="zh-CN" altLang="en-US">
                <a:ea typeface="宋体" charset="0"/>
                <a:sym typeface="+mn-ea"/>
              </a:rPr>
              <a:t>语言</a:t>
            </a:r>
            <a:endParaRPr lang="zh-CN" altLang="en-US">
              <a:ea typeface="宋体" charset="0"/>
              <a:sym typeface="+mn-ea"/>
            </a:endParaRPr>
          </a:p>
        </p:txBody>
      </p:sp>
      <p:sp>
        <p:nvSpPr>
          <p:cNvPr id="21" name="内容占位符 2"/>
          <p:cNvSpPr>
            <a:spLocks noGrp="1"/>
          </p:cNvSpPr>
          <p:nvPr/>
        </p:nvSpPr>
        <p:spPr>
          <a:xfrm>
            <a:off x="457200" y="1600200"/>
            <a:ext cx="8228013" cy="452437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t" anchorCtr="0"/>
          <a:lstStyle>
            <a:lvl1pPr marL="342900" lvl="0" indent="-342900" algn="l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320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8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2pPr>
            <a:lvl3pPr marL="1143000" lvl="2" indent="-228600" algn="l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4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3pPr>
            <a:lvl4pPr marL="1600200" lvl="3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4pPr>
            <a:lvl5pPr marL="2057400" lvl="4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5pPr>
            <a:lvl6pPr marL="2514600" lvl="5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6pPr>
            <a:lvl7pPr marL="2971800" lvl="6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7pPr>
            <a:lvl8pPr marL="3429000" lvl="7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8pPr>
            <a:lvl9pPr marL="3886200" lvl="8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9pPr>
          </a:lstStyle>
          <a:p>
            <a:pPr marL="0" indent="0"/>
            <a:r>
              <a:rPr lang="zh-CN" altLang="en-US">
                <a:sym typeface="+mn-ea"/>
              </a:rPr>
              <a:t>但是，用汇编语言在</a:t>
            </a:r>
            <a:r>
              <a:rPr lang="en-US" altLang="zh-CN">
                <a:sym typeface="+mn-ea"/>
              </a:rPr>
              <a:t>PDP-7</a:t>
            </a:r>
            <a:r>
              <a:rPr lang="zh-CN" altLang="en-US">
                <a:sym typeface="+mn-ea"/>
              </a:rPr>
              <a:t>上开发操作系统，困难重重。汤普森想到了BCPL语言</a:t>
            </a:r>
            <a:endParaRPr lang="zh-CN" altLang="en-US">
              <a:sym typeface="+mn-ea"/>
            </a:endParaRPr>
          </a:p>
          <a:p>
            <a:pPr marL="0" indent="0"/>
            <a:endParaRPr lang="zh-CN" altLang="en-US">
              <a:sym typeface="+mn-ea"/>
            </a:endParaRPr>
          </a:p>
          <a:p>
            <a:pPr marL="0" indent="0"/>
            <a:endParaRPr lang="en-US" altLang="zh-CN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4990" y="2872740"/>
            <a:ext cx="8401050" cy="706755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>
            <a:spAutoFit/>
          </a:bodyPr>
          <a:p>
            <a:r>
              <a:rPr lang="en-US" altLang="zh-CN" sz="2000"/>
              <a:t>ALGOL60：局部性概念、动态、递归、巴科斯-诺尔范式BNF等等），是程序设计语言发展史上的一个里程碑。</a:t>
            </a:r>
            <a:endParaRPr lang="en-US" altLang="zh-CN" sz="2000"/>
          </a:p>
        </p:txBody>
      </p:sp>
      <p:sp>
        <p:nvSpPr>
          <p:cNvPr id="100" name="文本框 99"/>
          <p:cNvSpPr txBox="1"/>
          <p:nvPr/>
        </p:nvSpPr>
        <p:spPr>
          <a:xfrm>
            <a:off x="554990" y="4017645"/>
            <a:ext cx="8401685" cy="706755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>
            <a:spAutoFit/>
          </a:bodyPr>
          <a:p>
            <a:r>
              <a:rPr lang="en-US" sz="2000" b="0">
                <a:latin typeface="Calibri" charset="0"/>
                <a:cs typeface="宋体" charset="0"/>
              </a:rPr>
              <a:t>1963</a:t>
            </a:r>
            <a:r>
              <a:rPr lang="zh-CN" sz="2000" b="0">
                <a:latin typeface="Calibri" charset="0"/>
                <a:cs typeface="宋体" charset="0"/>
              </a:rPr>
              <a:t>年，剑桥大学在</a:t>
            </a:r>
            <a:r>
              <a:rPr lang="en-US" sz="2000" b="0">
                <a:latin typeface="Calibri" charset="0"/>
                <a:cs typeface="宋体" charset="0"/>
              </a:rPr>
              <a:t>Algol 60</a:t>
            </a:r>
            <a:r>
              <a:rPr lang="zh-CN" sz="2000" b="0">
                <a:latin typeface="Calibri" charset="0"/>
                <a:cs typeface="宋体" charset="0"/>
              </a:rPr>
              <a:t>的基础上开发出</a:t>
            </a:r>
            <a:r>
              <a:rPr lang="en-US" sz="2000" b="0">
                <a:latin typeface="Calibri" charset="0"/>
                <a:cs typeface="宋体" charset="0"/>
              </a:rPr>
              <a:t>CPL</a:t>
            </a:r>
            <a:r>
              <a:rPr lang="zh-CN" altLang="en-US" sz="2000" b="0">
                <a:latin typeface="Calibri" charset="0"/>
                <a:ea typeface="宋体" charset="0"/>
                <a:cs typeface="宋体" charset="0"/>
              </a:rPr>
              <a:t>（</a:t>
            </a:r>
            <a:r>
              <a:rPr lang="zh-CN" sz="2000">
                <a:latin typeface="Calibri" charset="0"/>
                <a:cs typeface="宋体" charset="0"/>
                <a:sym typeface="+mn-ea"/>
              </a:rPr>
              <a:t>Combined Programming Language</a:t>
            </a:r>
            <a:r>
              <a:rPr lang="zh-CN" altLang="en-US" sz="2000" b="0">
                <a:latin typeface="Calibri" charset="0"/>
                <a:ea typeface="宋体" charset="0"/>
                <a:cs typeface="宋体" charset="0"/>
              </a:rPr>
              <a:t>）</a:t>
            </a:r>
            <a:r>
              <a:rPr lang="zh-CN" sz="2000" b="0">
                <a:latin typeface="Calibri" charset="0"/>
                <a:cs typeface="宋体" charset="0"/>
              </a:rPr>
              <a:t>语言。</a:t>
            </a:r>
            <a:r>
              <a:rPr lang="en-US" sz="2000" b="0">
                <a:latin typeface="Calibri" charset="0"/>
                <a:cs typeface="宋体" charset="0"/>
              </a:rPr>
              <a:t>CPL</a:t>
            </a:r>
            <a:r>
              <a:rPr lang="zh-CN" sz="2000" b="0">
                <a:latin typeface="Calibri" charset="0"/>
                <a:cs typeface="宋体" charset="0"/>
              </a:rPr>
              <a:t>语言更接近硬件，但庞大难实现。</a:t>
            </a:r>
            <a:endParaRPr lang="zh-CN" sz="2000" b="0">
              <a:latin typeface="Calibri" charset="0"/>
              <a:cs typeface="宋体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54990" y="5162550"/>
            <a:ext cx="8401050" cy="101473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>
            <a:spAutoFit/>
          </a:bodyPr>
          <a:p>
            <a:pPr marL="0" indent="0" algn="l"/>
            <a:r>
              <a:rPr lang="en-US" sz="2000" b="0">
                <a:latin typeface="Calibri" charset="0"/>
                <a:cs typeface="宋体" charset="0"/>
              </a:rPr>
              <a:t>1967</a:t>
            </a:r>
            <a:r>
              <a:rPr lang="zh-CN" sz="2000" b="0">
                <a:latin typeface="Calibri" charset="0"/>
                <a:cs typeface="宋体" charset="0"/>
              </a:rPr>
              <a:t>年，剑桥大学的</a:t>
            </a:r>
            <a:r>
              <a:rPr lang="en-US" sz="2000" b="0">
                <a:latin typeface="Calibri" charset="0"/>
                <a:cs typeface="宋体" charset="0"/>
              </a:rPr>
              <a:t>Martin Richards</a:t>
            </a:r>
            <a:r>
              <a:rPr lang="zh-CN" sz="2000" b="0">
                <a:latin typeface="Calibri" charset="0"/>
                <a:cs typeface="宋体" charset="0"/>
              </a:rPr>
              <a:t>在访问麻省理工期间，对</a:t>
            </a:r>
            <a:r>
              <a:rPr lang="en-US" sz="2000" b="0">
                <a:latin typeface="Calibri" charset="0"/>
                <a:cs typeface="宋体" charset="0"/>
              </a:rPr>
              <a:t>CPL</a:t>
            </a:r>
            <a:r>
              <a:rPr lang="zh-CN" sz="2000" b="0">
                <a:latin typeface="Calibri" charset="0"/>
                <a:cs typeface="宋体" charset="0"/>
              </a:rPr>
              <a:t>语言进行了简化，移除了该语言中最复杂的部分，设计出了</a:t>
            </a:r>
            <a:r>
              <a:rPr lang="en-US" sz="2000" b="0">
                <a:latin typeface="Calibri" charset="0"/>
                <a:cs typeface="宋体" charset="0"/>
              </a:rPr>
              <a:t>BCPL</a:t>
            </a:r>
            <a:r>
              <a:rPr lang="zh-CN" altLang="en-US" sz="2000" b="0">
                <a:latin typeface="Calibri" charset="0"/>
                <a:ea typeface="宋体" charset="0"/>
                <a:cs typeface="宋体" charset="0"/>
              </a:rPr>
              <a:t>（Basic Combined Programming Language）</a:t>
            </a:r>
            <a:r>
              <a:rPr lang="zh-CN" sz="2000" b="0">
                <a:latin typeface="Calibri" charset="0"/>
                <a:cs typeface="宋体" charset="0"/>
              </a:rPr>
              <a:t>语言。</a:t>
            </a:r>
            <a:endParaRPr lang="zh-CN" altLang="en-US" sz="2000"/>
          </a:p>
        </p:txBody>
      </p:sp>
      <p:cxnSp>
        <p:nvCxnSpPr>
          <p:cNvPr id="4" name="直接箭头连接符 3"/>
          <p:cNvCxnSpPr>
            <a:stCxn id="2" idx="2"/>
            <a:endCxn id="100" idx="0"/>
          </p:cNvCxnSpPr>
          <p:nvPr/>
        </p:nvCxnSpPr>
        <p:spPr>
          <a:xfrm>
            <a:off x="4755515" y="3579495"/>
            <a:ext cx="635" cy="438150"/>
          </a:xfrm>
          <a:prstGeom prst="straightConnector1">
            <a:avLst/>
          </a:prstGeom>
          <a:ln w="38100"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>
            <a:off x="4739005" y="4711065"/>
            <a:ext cx="635" cy="438150"/>
          </a:xfrm>
          <a:prstGeom prst="straightConnector1">
            <a:avLst/>
          </a:prstGeom>
          <a:ln w="38100"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Rectangle 4"/>
          <p:cNvSpPr>
            <a:spLocks noGrp="1"/>
          </p:cNvSpPr>
          <p:nvPr/>
        </p:nvSpPr>
        <p:spPr>
          <a:xfrm>
            <a:off x="457200" y="274638"/>
            <a:ext cx="8228013" cy="1141412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0000" tIns="46800" rIns="90000" bIns="46800" anchor="ctr" anchorCtr="0"/>
          <a:lstStyle>
            <a:lvl1pPr marL="0" lvl="0" indent="0" algn="ctr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4400" u="none" kern="1200" baseline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en-US" altLang="zh-CN">
                <a:sym typeface="+mn-ea"/>
              </a:rPr>
              <a:t>UNIX / B</a:t>
            </a:r>
            <a:r>
              <a:rPr lang="zh-CN" altLang="en-US">
                <a:ea typeface="宋体" charset="0"/>
                <a:sym typeface="+mn-ea"/>
              </a:rPr>
              <a:t>语言</a:t>
            </a:r>
            <a:endParaRPr lang="zh-CN" altLang="en-US"/>
          </a:p>
        </p:txBody>
      </p:sp>
      <p:sp>
        <p:nvSpPr>
          <p:cNvPr id="21" name="内容占位符 2"/>
          <p:cNvSpPr>
            <a:spLocks noGrp="1"/>
          </p:cNvSpPr>
          <p:nvPr/>
        </p:nvSpPr>
        <p:spPr>
          <a:xfrm>
            <a:off x="457200" y="1600200"/>
            <a:ext cx="8228013" cy="452437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t" anchorCtr="0"/>
          <a:lstStyle>
            <a:lvl1pPr marL="342900" lvl="0" indent="-342900" algn="l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320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8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2pPr>
            <a:lvl3pPr marL="1143000" lvl="2" indent="-228600" algn="l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4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3pPr>
            <a:lvl4pPr marL="1600200" lvl="3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4pPr>
            <a:lvl5pPr marL="2057400" lvl="4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5pPr>
            <a:lvl6pPr marL="2514600" lvl="5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6pPr>
            <a:lvl7pPr marL="2971800" lvl="6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7pPr>
            <a:lvl8pPr marL="3429000" lvl="7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8pPr>
            <a:lvl9pPr marL="3886200" lvl="8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9pPr>
          </a:lstStyle>
          <a:p>
            <a:pPr marL="0" indent="0"/>
            <a:r>
              <a:rPr lang="zh-CN" altLang="en-US">
                <a:sym typeface="+mn-ea"/>
              </a:rPr>
              <a:t>汤普森删除BCPL其中的非必备组件，开发出了一种通用的程序设计语言：B语言（取BCPL的第一个字母），并用B语言写出了第一个UNIX操作系统。</a:t>
            </a:r>
            <a:endParaRPr lang="en-US" altLang="zh-CN">
              <a:sym typeface="+mn-ea"/>
            </a:endParaRPr>
          </a:p>
        </p:txBody>
      </p:sp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Rectangle 4"/>
          <p:cNvSpPr>
            <a:spLocks noGrp="1"/>
          </p:cNvSpPr>
          <p:nvPr/>
        </p:nvSpPr>
        <p:spPr>
          <a:xfrm>
            <a:off x="457200" y="274638"/>
            <a:ext cx="8228013" cy="1141412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0000" tIns="46800" rIns="90000" bIns="46800" anchor="ctr" anchorCtr="0"/>
          <a:lstStyle>
            <a:lvl1pPr marL="0" lvl="0" indent="0" algn="ctr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4400" u="none" kern="1200" baseline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en-US" altLang="zh-CN">
                <a:sym typeface="+mn-ea"/>
              </a:rPr>
              <a:t>UNIX / B</a:t>
            </a:r>
            <a:r>
              <a:rPr lang="zh-CN" altLang="en-US">
                <a:ea typeface="宋体" charset="0"/>
                <a:sym typeface="+mn-ea"/>
              </a:rPr>
              <a:t>语言</a:t>
            </a:r>
            <a:endParaRPr lang="zh-CN" altLang="en-US"/>
          </a:p>
        </p:txBody>
      </p:sp>
      <p:sp>
        <p:nvSpPr>
          <p:cNvPr id="21" name="内容占位符 2"/>
          <p:cNvSpPr>
            <a:spLocks noGrp="1"/>
          </p:cNvSpPr>
          <p:nvPr/>
        </p:nvSpPr>
        <p:spPr>
          <a:xfrm>
            <a:off x="457200" y="1600200"/>
            <a:ext cx="8228013" cy="452437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t" anchorCtr="0"/>
          <a:lstStyle>
            <a:lvl1pPr marL="342900" lvl="0" indent="-342900" algn="l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320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8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2pPr>
            <a:lvl3pPr marL="1143000" lvl="2" indent="-228600" algn="l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4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3pPr>
            <a:lvl4pPr marL="1600200" lvl="3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4pPr>
            <a:lvl5pPr marL="2057400" lvl="4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5pPr>
            <a:lvl6pPr marL="2514600" lvl="5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6pPr>
            <a:lvl7pPr marL="2971800" lvl="6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7pPr>
            <a:lvl8pPr marL="3429000" lvl="7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8pPr>
            <a:lvl9pPr marL="3886200" lvl="8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9pPr>
          </a:lstStyle>
          <a:p>
            <a:pPr marL="0" indent="0"/>
            <a:r>
              <a:rPr lang="en-US" altLang="zh-CN">
                <a:sym typeface="+mn-ea"/>
              </a:rPr>
              <a:t>1970 年，贝尔实验室的专利部门</a:t>
            </a:r>
            <a:r>
              <a:rPr lang="zh-CN" altLang="en-US">
                <a:ea typeface="宋体" charset="0"/>
                <a:sym typeface="+mn-ea"/>
              </a:rPr>
              <a:t>需要开发</a:t>
            </a:r>
            <a:r>
              <a:rPr lang="en-US" altLang="zh-CN">
                <a:sym typeface="+mn-ea"/>
              </a:rPr>
              <a:t>一套文书处理系统，于是买了一台 PDP-11 计算机。</a:t>
            </a:r>
            <a:endParaRPr lang="en-US" altLang="zh-CN">
              <a:sym typeface="+mn-ea"/>
            </a:endParaRPr>
          </a:p>
          <a:p>
            <a:pPr marL="0" indent="0"/>
            <a:endParaRPr lang="en-US" altLang="zh-CN">
              <a:ea typeface="宋体" charset="0"/>
              <a:sym typeface="+mn-ea"/>
            </a:endParaRPr>
          </a:p>
          <a:p>
            <a:pPr marL="0" indent="0"/>
            <a:r>
              <a:rPr lang="zh-CN" altLang="en-US">
                <a:ea typeface="宋体" charset="0"/>
                <a:sym typeface="+mn-ea"/>
              </a:rPr>
              <a:t>然而</a:t>
            </a:r>
            <a:r>
              <a:rPr lang="en-US" altLang="zh-CN">
                <a:sym typeface="+mn-ea"/>
              </a:rPr>
              <a:t>B语言的无类型特性成为在PDP-11机器上访问字符类型的软肋</a:t>
            </a:r>
            <a:r>
              <a:rPr lang="zh-CN" altLang="en-US">
                <a:ea typeface="宋体" charset="0"/>
                <a:sym typeface="+mn-ea"/>
              </a:rPr>
              <a:t>，亟待改造。</a:t>
            </a:r>
            <a:endParaRPr lang="zh-CN" altLang="en-US">
              <a:ea typeface="宋体" charset="0"/>
              <a:sym typeface="+mn-ea"/>
            </a:endParaRPr>
          </a:p>
        </p:txBody>
      </p:sp>
    </p:spTree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Rectangle 4"/>
          <p:cNvSpPr>
            <a:spLocks noGrp="1"/>
          </p:cNvSpPr>
          <p:nvPr/>
        </p:nvSpPr>
        <p:spPr>
          <a:xfrm>
            <a:off x="457200" y="274638"/>
            <a:ext cx="8228013" cy="1141412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0000" tIns="46800" rIns="90000" bIns="46800" anchor="ctr" anchorCtr="0"/>
          <a:lstStyle>
            <a:lvl1pPr marL="0" lvl="0" indent="0" algn="ctr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4400" u="none" kern="1200" baseline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en-US" altLang="zh-CN">
                <a:sym typeface="+mn-ea"/>
              </a:rPr>
              <a:t>UNIX / B</a:t>
            </a:r>
            <a:r>
              <a:rPr lang="zh-CN" altLang="en-US">
                <a:ea typeface="宋体" charset="0"/>
                <a:sym typeface="+mn-ea"/>
              </a:rPr>
              <a:t>语言</a:t>
            </a:r>
            <a:endParaRPr lang="zh-CN" altLang="en-US"/>
          </a:p>
        </p:txBody>
      </p:sp>
      <p:sp>
        <p:nvSpPr>
          <p:cNvPr id="21" name="内容占位符 2"/>
          <p:cNvSpPr>
            <a:spLocks noGrp="1"/>
          </p:cNvSpPr>
          <p:nvPr/>
        </p:nvSpPr>
        <p:spPr>
          <a:xfrm>
            <a:off x="457200" y="1600200"/>
            <a:ext cx="8228013" cy="452437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t" anchorCtr="0"/>
          <a:lstStyle>
            <a:lvl1pPr marL="342900" lvl="0" indent="-342900" algn="l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320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8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2pPr>
            <a:lvl3pPr marL="1143000" lvl="2" indent="-228600" algn="l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4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3pPr>
            <a:lvl4pPr marL="1600200" lvl="3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4pPr>
            <a:lvl5pPr marL="2057400" lvl="4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5pPr>
            <a:lvl6pPr marL="2514600" lvl="5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6pPr>
            <a:lvl7pPr marL="2971800" lvl="6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7pPr>
            <a:lvl8pPr marL="3429000" lvl="7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8pPr>
            <a:lvl9pPr marL="3886200" lvl="8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9pPr>
          </a:lstStyle>
          <a:p>
            <a:pPr marL="0" indent="0"/>
            <a:r>
              <a:rPr lang="zh-CN" altLang="en-US">
                <a:ea typeface="宋体" charset="0"/>
                <a:sym typeface="+mn-ea"/>
              </a:rPr>
              <a:t>与此同时</a:t>
            </a:r>
            <a:r>
              <a:rPr lang="en-US" altLang="zh-CN">
                <a:sym typeface="+mn-ea"/>
              </a:rPr>
              <a:t>，同样酷爱Space Travel的丹尼斯•里奇（Dennis M.Ritchie）为了能早点儿玩上游戏，加入了汤普森的UNIX</a:t>
            </a:r>
            <a:r>
              <a:rPr lang="zh-CN" altLang="en-US">
                <a:ea typeface="宋体" charset="0"/>
                <a:sym typeface="+mn-ea"/>
              </a:rPr>
              <a:t>开发</a:t>
            </a:r>
            <a:r>
              <a:rPr lang="en-US" altLang="zh-CN">
                <a:sym typeface="+mn-ea"/>
              </a:rPr>
              <a:t>。</a:t>
            </a:r>
            <a:endParaRPr lang="en-US" altLang="zh-CN">
              <a:sym typeface="+mn-ea"/>
            </a:endParaRPr>
          </a:p>
          <a:p>
            <a:pPr marL="0" indent="0"/>
            <a:endParaRPr lang="en-US" altLang="zh-CN">
              <a:sym typeface="+mn-ea"/>
            </a:endParaRPr>
          </a:p>
          <a:p>
            <a:pPr marL="0" indent="0"/>
            <a:endParaRPr lang="zh-CN" altLang="en-US">
              <a:ea typeface="宋体" charset="0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3785" y="3460750"/>
            <a:ext cx="4456430" cy="288988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Rectangle 4"/>
          <p:cNvSpPr>
            <a:spLocks noGrp="1"/>
          </p:cNvSpPr>
          <p:nvPr/>
        </p:nvSpPr>
        <p:spPr>
          <a:xfrm>
            <a:off x="457200" y="274638"/>
            <a:ext cx="8228013" cy="1141412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0000" tIns="46800" rIns="90000" bIns="46800" anchor="ctr" anchorCtr="0"/>
          <a:lstStyle>
            <a:lvl1pPr marL="0" lvl="0" indent="0" algn="ctr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4400" u="none" kern="1200" baseline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en-US" altLang="zh-CN">
                <a:sym typeface="+mn-ea"/>
              </a:rPr>
              <a:t>UNIX / C</a:t>
            </a:r>
            <a:r>
              <a:rPr lang="zh-CN" altLang="en-US">
                <a:ea typeface="宋体" charset="0"/>
                <a:sym typeface="+mn-ea"/>
              </a:rPr>
              <a:t>语言</a:t>
            </a:r>
            <a:endParaRPr lang="zh-CN" altLang="en-US"/>
          </a:p>
        </p:txBody>
      </p:sp>
      <p:sp>
        <p:nvSpPr>
          <p:cNvPr id="21" name="内容占位符 2"/>
          <p:cNvSpPr>
            <a:spLocks noGrp="1"/>
          </p:cNvSpPr>
          <p:nvPr/>
        </p:nvSpPr>
        <p:spPr>
          <a:xfrm>
            <a:off x="457200" y="1600200"/>
            <a:ext cx="8228013" cy="452437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t" anchorCtr="0"/>
          <a:lstStyle>
            <a:lvl1pPr marL="342900" lvl="0" indent="-342900" algn="l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320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8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2pPr>
            <a:lvl3pPr marL="1143000" lvl="2" indent="-228600" algn="l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4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3pPr>
            <a:lvl4pPr marL="1600200" lvl="3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4pPr>
            <a:lvl5pPr marL="2057400" lvl="4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5pPr>
            <a:lvl6pPr marL="2514600" lvl="5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6pPr>
            <a:lvl7pPr marL="2971800" lvl="6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7pPr>
            <a:lvl8pPr marL="3429000" lvl="7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8pPr>
            <a:lvl9pPr marL="3886200" lvl="8" indent="-228600" algn="l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2000" u="none" kern="1200" baseline="0">
                <a:solidFill>
                  <a:srgbClr val="000000"/>
                </a:solidFill>
                <a:latin typeface="Arial" panose="02080604020202020204" pitchFamily="34" charset="0"/>
                <a:ea typeface="Arial" panose="02080604020202020204" pitchFamily="34" charset="0"/>
                <a:cs typeface="+mn-cs"/>
              </a:defRPr>
            </a:lvl9pPr>
          </a:lstStyle>
          <a:p>
            <a:pPr marL="0" indent="0"/>
            <a:r>
              <a:rPr lang="zh-CN" altLang="en-US">
                <a:ea typeface="宋体" charset="0"/>
                <a:sym typeface="+mn-ea"/>
              </a:rPr>
              <a:t>丹尼斯•里奇</a:t>
            </a:r>
            <a:r>
              <a:rPr lang="en-US" altLang="zh-CN">
                <a:sym typeface="+mn-ea"/>
              </a:rPr>
              <a:t>的主要工作是改造B语言，把数据类型的概念引入</a:t>
            </a:r>
            <a:r>
              <a:rPr lang="zh-CN" altLang="en-US">
                <a:ea typeface="宋体" charset="0"/>
                <a:sym typeface="+mn-ea"/>
              </a:rPr>
              <a:t>，</a:t>
            </a:r>
            <a:r>
              <a:rPr lang="en-US" altLang="zh-CN">
                <a:sym typeface="+mn-ea"/>
              </a:rPr>
              <a:t>增加了字符类型，他</a:t>
            </a:r>
            <a:r>
              <a:rPr lang="zh-CN" altLang="en-US">
                <a:ea typeface="宋体" charset="0"/>
                <a:sym typeface="+mn-ea"/>
              </a:rPr>
              <a:t>称这</a:t>
            </a:r>
            <a:r>
              <a:rPr lang="en-US" altLang="zh-CN">
                <a:sym typeface="+mn-ea"/>
              </a:rPr>
              <a:t>个稍微扩展的语言为NB，也就是“New B”</a:t>
            </a:r>
            <a:endParaRPr lang="en-US" altLang="zh-CN">
              <a:sym typeface="+mn-ea"/>
            </a:endParaRPr>
          </a:p>
          <a:p>
            <a:pPr marL="0" indent="0"/>
            <a:endParaRPr lang="zh-CN" altLang="en-US">
              <a:ea typeface="宋体" charset="0"/>
              <a:sym typeface="+mn-ea"/>
            </a:endParaRPr>
          </a:p>
          <a:p>
            <a:pPr marL="0" indent="0"/>
            <a:r>
              <a:rPr lang="zh-CN" altLang="en-US">
                <a:ea typeface="宋体" charset="0"/>
                <a:sym typeface="+mn-ea"/>
              </a:rPr>
              <a:t>经过不懈地努力，里奇在B语言的基础上最终设计出了一种新的语言，他取了BCPL的第二个字母作为这种语言的名字，也就是C语言。</a:t>
            </a:r>
            <a:endParaRPr lang="zh-CN" altLang="en-US">
              <a:ea typeface="宋体" charset="0"/>
              <a:sym typeface="+mn-ea"/>
            </a:endParaRPr>
          </a:p>
        </p:txBody>
      </p:sp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文本框 99"/>
          <p:cNvSpPr txBox="1"/>
          <p:nvPr/>
        </p:nvSpPr>
        <p:spPr>
          <a:xfrm>
            <a:off x="31115" y="1454785"/>
            <a:ext cx="9060180" cy="40309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 algn="l"/>
            <a:r>
              <a:rPr lang="en-US" sz="3200" b="0">
                <a:latin typeface="Calibri" charset="0"/>
                <a:cs typeface="宋体" charset="0"/>
              </a:rPr>
              <a:t>1973</a:t>
            </a:r>
            <a:r>
              <a:rPr lang="zh-CN" sz="3200" b="0">
                <a:latin typeface="Calibri" charset="0"/>
                <a:cs typeface="宋体" charset="0"/>
              </a:rPr>
              <a:t>年</a:t>
            </a:r>
            <a:r>
              <a:rPr lang="en-US" sz="3200" b="0">
                <a:latin typeface="Calibri" charset="0"/>
                <a:cs typeface="宋体" charset="0"/>
              </a:rPr>
              <a:t>C</a:t>
            </a:r>
            <a:r>
              <a:rPr lang="zh-CN" sz="3200" b="0">
                <a:latin typeface="Calibri" charset="0"/>
                <a:cs typeface="宋体" charset="0"/>
              </a:rPr>
              <a:t>语言的主体完成。汤普森和里奇迫不及待地开始用</a:t>
            </a:r>
            <a:r>
              <a:rPr lang="en-US" sz="3200" b="0">
                <a:latin typeface="Calibri" charset="0"/>
                <a:cs typeface="宋体" charset="0"/>
              </a:rPr>
              <a:t>C</a:t>
            </a:r>
            <a:r>
              <a:rPr lang="zh-CN" sz="3200" b="0">
                <a:latin typeface="Calibri" charset="0"/>
                <a:cs typeface="宋体" charset="0"/>
              </a:rPr>
              <a:t>语言全部重写了</a:t>
            </a:r>
            <a:r>
              <a:rPr lang="en-US" sz="3200" b="0">
                <a:latin typeface="Calibri" charset="0"/>
                <a:cs typeface="宋体" charset="0"/>
              </a:rPr>
              <a:t>UNIX</a:t>
            </a:r>
            <a:r>
              <a:rPr lang="zh-CN" sz="3200" b="0">
                <a:latin typeface="Calibri" charset="0"/>
                <a:cs typeface="宋体" charset="0"/>
              </a:rPr>
              <a:t>。</a:t>
            </a:r>
            <a:endParaRPr lang="zh-CN" sz="3200" b="0">
              <a:latin typeface="Calibri" charset="0"/>
              <a:cs typeface="宋体" charset="0"/>
            </a:endParaRPr>
          </a:p>
          <a:p>
            <a:pPr marL="0" indent="0" algn="l"/>
            <a:endParaRPr lang="zh-CN" sz="3200" b="0">
              <a:latin typeface="Calibri" charset="0"/>
              <a:cs typeface="宋体" charset="0"/>
            </a:endParaRPr>
          </a:p>
          <a:p>
            <a:pPr marL="0" indent="0" algn="l"/>
            <a:r>
              <a:rPr lang="zh-CN" sz="3200" b="0">
                <a:latin typeface="Calibri" charset="0"/>
                <a:cs typeface="宋体" charset="0"/>
              </a:rPr>
              <a:t>此时，他们一门心思地投入</a:t>
            </a:r>
            <a:endParaRPr lang="zh-CN" sz="3200" b="0">
              <a:latin typeface="Calibri" charset="0"/>
              <a:cs typeface="宋体" charset="0"/>
            </a:endParaRPr>
          </a:p>
          <a:p>
            <a:pPr marL="0" indent="0" algn="l"/>
            <a:r>
              <a:rPr lang="zh-CN" sz="3200" b="0">
                <a:latin typeface="Calibri" charset="0"/>
                <a:cs typeface="宋体" charset="0"/>
              </a:rPr>
              <a:t>到</a:t>
            </a:r>
            <a:r>
              <a:rPr lang="en-US" sz="3200" b="0">
                <a:latin typeface="Calibri" charset="0"/>
                <a:cs typeface="宋体" charset="0"/>
              </a:rPr>
              <a:t>C</a:t>
            </a:r>
            <a:r>
              <a:rPr lang="zh-CN" sz="3200" b="0">
                <a:latin typeface="Calibri" charset="0"/>
                <a:cs typeface="宋体" charset="0"/>
              </a:rPr>
              <a:t>语言和</a:t>
            </a:r>
            <a:r>
              <a:rPr lang="en-US" sz="3200" b="0">
                <a:latin typeface="Calibri" charset="0"/>
                <a:cs typeface="宋体" charset="0"/>
              </a:rPr>
              <a:t>UNIX</a:t>
            </a:r>
            <a:r>
              <a:rPr lang="zh-CN" sz="3200" b="0">
                <a:latin typeface="Calibri" charset="0"/>
                <a:cs typeface="宋体" charset="0"/>
              </a:rPr>
              <a:t>的开发中，</a:t>
            </a:r>
            <a:endParaRPr lang="zh-CN" sz="3200" b="0">
              <a:latin typeface="Calibri" charset="0"/>
              <a:cs typeface="宋体" charset="0"/>
            </a:endParaRPr>
          </a:p>
          <a:p>
            <a:pPr marL="0" indent="0" algn="l"/>
            <a:r>
              <a:rPr lang="zh-CN" sz="3200" b="0">
                <a:latin typeface="Calibri" charset="0"/>
                <a:cs typeface="宋体" charset="0"/>
              </a:rPr>
              <a:t>完全沉浸在编程的乐趣中，</a:t>
            </a:r>
            <a:endParaRPr lang="zh-CN" sz="3200" b="0">
              <a:latin typeface="Calibri" charset="0"/>
              <a:cs typeface="宋体" charset="0"/>
            </a:endParaRPr>
          </a:p>
          <a:p>
            <a:pPr marL="0" indent="0" algn="l"/>
            <a:r>
              <a:rPr lang="zh-CN" sz="3200" b="0">
                <a:latin typeface="Calibri" charset="0"/>
                <a:cs typeface="宋体" charset="0"/>
              </a:rPr>
              <a:t>早就忘了那个曾经的</a:t>
            </a:r>
            <a:endParaRPr lang="zh-CN" sz="3200" b="0">
              <a:latin typeface="Calibri" charset="0"/>
              <a:cs typeface="宋体" charset="0"/>
            </a:endParaRPr>
          </a:p>
          <a:p>
            <a:pPr marL="0" indent="0" algn="l"/>
            <a:r>
              <a:rPr lang="en-US" sz="3200" b="0">
                <a:latin typeface="Calibri" charset="0"/>
                <a:cs typeface="宋体" charset="0"/>
              </a:rPr>
              <a:t>Space Travel</a:t>
            </a:r>
            <a:r>
              <a:rPr lang="zh-CN" sz="3200" b="0">
                <a:latin typeface="Calibri" charset="0"/>
                <a:cs typeface="宋体" charset="0"/>
              </a:rPr>
              <a:t>游戏。</a:t>
            </a:r>
            <a:endParaRPr lang="zh-CN" altLang="en-US" sz="3200"/>
          </a:p>
        </p:txBody>
      </p:sp>
      <p:pic>
        <p:nvPicPr>
          <p:cNvPr id="13313" name="Picture 5" descr="9786_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8890" y="2898775"/>
            <a:ext cx="4002405" cy="320230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649" name="Rectangle 4"/>
          <p:cNvSpPr>
            <a:spLocks noGrp="1"/>
          </p:cNvSpPr>
          <p:nvPr/>
        </p:nvSpPr>
        <p:spPr>
          <a:xfrm>
            <a:off x="316230" y="313373"/>
            <a:ext cx="8228013" cy="1141412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0000" tIns="46800" rIns="90000" bIns="46800" anchor="ctr" anchorCtr="0"/>
          <a:lstStyle>
            <a:lvl1pPr marL="0" lvl="0" indent="0" algn="ctr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4400" u="none" kern="1200" baseline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en-US" altLang="zh-CN">
                <a:sym typeface="+mn-ea"/>
              </a:rPr>
              <a:t>UNIX / C</a:t>
            </a:r>
            <a:r>
              <a:rPr lang="zh-CN" altLang="en-US">
                <a:ea typeface="宋体" charset="0"/>
                <a:sym typeface="+mn-ea"/>
              </a:rPr>
              <a:t>语言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文本框 99"/>
          <p:cNvSpPr txBox="1"/>
          <p:nvPr/>
        </p:nvSpPr>
        <p:spPr>
          <a:xfrm>
            <a:off x="31115" y="1454785"/>
            <a:ext cx="9060180" cy="40309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 algn="l"/>
            <a:r>
              <a:rPr lang="en-US" altLang="zh-CN" sz="3200"/>
              <a:t>1978年，贝尔实验室正式发布了C语言。</a:t>
            </a:r>
            <a:endParaRPr lang="en-US" altLang="zh-CN" sz="3200"/>
          </a:p>
          <a:p>
            <a:pPr marL="0" indent="0" algn="l"/>
            <a:endParaRPr lang="en-US" altLang="zh-CN" sz="3200"/>
          </a:p>
          <a:p>
            <a:pPr marL="0" indent="0" algn="l"/>
            <a:r>
              <a:rPr lang="en-US" altLang="zh-CN" sz="3200"/>
              <a:t>布莱恩•柯林汉（Brian Kernighan）和丹尼斯•里奇共</a:t>
            </a:r>
            <a:r>
              <a:rPr lang="zh-CN" altLang="en-US" sz="3200">
                <a:ea typeface="宋体" charset="0"/>
              </a:rPr>
              <a:t>著写</a:t>
            </a:r>
            <a:r>
              <a:rPr lang="en-US" altLang="zh-CN" sz="3200"/>
              <a:t>《The C Programming Language》（《C程序设计语言》）出版了。</a:t>
            </a:r>
            <a:endParaRPr lang="en-US" altLang="zh-CN" sz="3200"/>
          </a:p>
          <a:p>
            <a:pPr marL="0" indent="0" algn="l"/>
            <a:endParaRPr lang="en-US" altLang="zh-CN" sz="3200"/>
          </a:p>
          <a:p>
            <a:pPr marL="0" indent="0" algn="l"/>
            <a:r>
              <a:rPr lang="en-US" altLang="zh-CN" sz="3200"/>
              <a:t>这本书被C语言开发者们称为“K&amp;R”，很多年来都被当作C语言的非正式标准说明。</a:t>
            </a:r>
            <a:endParaRPr lang="en-US" altLang="zh-CN" sz="3200"/>
          </a:p>
        </p:txBody>
      </p:sp>
      <p:sp>
        <p:nvSpPr>
          <p:cNvPr id="27649" name="Rectangle 4"/>
          <p:cNvSpPr>
            <a:spLocks noGrp="1"/>
          </p:cNvSpPr>
          <p:nvPr/>
        </p:nvSpPr>
        <p:spPr>
          <a:xfrm>
            <a:off x="316230" y="313373"/>
            <a:ext cx="8228013" cy="1141412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0000" tIns="46800" rIns="90000" bIns="46800" anchor="ctr" anchorCtr="0"/>
          <a:lstStyle>
            <a:lvl1pPr marL="0" lvl="0" indent="0" algn="ctr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4400" u="none" kern="1200" baseline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en-US" altLang="zh-CN">
                <a:sym typeface="+mn-ea"/>
              </a:rPr>
              <a:t>C</a:t>
            </a:r>
            <a:r>
              <a:rPr lang="zh-CN" altLang="en-US">
                <a:ea typeface="宋体" charset="0"/>
                <a:sym typeface="+mn-ea"/>
              </a:rPr>
              <a:t>语言标准</a:t>
            </a:r>
            <a:endParaRPr lang="en-US" altLang="zh-CN">
              <a:ea typeface="宋体" charset="0"/>
              <a:sym typeface="+mn-ea"/>
            </a:endParaRPr>
          </a:p>
        </p:txBody>
      </p:sp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文本框 99"/>
          <p:cNvSpPr txBox="1"/>
          <p:nvPr/>
        </p:nvSpPr>
        <p:spPr>
          <a:xfrm>
            <a:off x="31115" y="1454785"/>
            <a:ext cx="9060180" cy="40309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 algn="l"/>
            <a:r>
              <a:rPr lang="en-US" altLang="zh-CN" sz="3200"/>
              <a:t>1989年，X3J11委员会在年底发布了ANSI89报告。随后，ANSI发布了第一个完整的C语言标准：ANSI X3.159-1989，简称“C89”，也就是ANSI C或C89标准。</a:t>
            </a:r>
            <a:endParaRPr lang="en-US" altLang="zh-CN" sz="3200"/>
          </a:p>
          <a:p>
            <a:pPr marL="0" indent="0" algn="l"/>
            <a:endParaRPr lang="en-US" altLang="zh-CN" sz="3200"/>
          </a:p>
          <a:p>
            <a:pPr marL="0" indent="0" algn="l"/>
            <a:r>
              <a:rPr lang="en-US" altLang="zh-CN" sz="3200"/>
              <a:t>1990年，国际标准化组织（ISO）和国际电工委员会（IEC）接受C89为ISO C的标准，命名为ISO/IEC 9899:1990。</a:t>
            </a:r>
            <a:endParaRPr lang="en-US" altLang="zh-CN" sz="3200"/>
          </a:p>
        </p:txBody>
      </p:sp>
      <p:sp>
        <p:nvSpPr>
          <p:cNvPr id="27649" name="Rectangle 4"/>
          <p:cNvSpPr>
            <a:spLocks noGrp="1"/>
          </p:cNvSpPr>
          <p:nvPr/>
        </p:nvSpPr>
        <p:spPr>
          <a:xfrm>
            <a:off x="316230" y="313373"/>
            <a:ext cx="8228013" cy="1141412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0000" tIns="46800" rIns="90000" bIns="46800" anchor="ctr" anchorCtr="0"/>
          <a:lstStyle>
            <a:lvl1pPr marL="0" lvl="0" indent="0" algn="ctr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4400" u="none" kern="1200" baseline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en-US" altLang="zh-CN">
                <a:sym typeface="+mn-ea"/>
              </a:rPr>
              <a:t>C</a:t>
            </a:r>
            <a:r>
              <a:rPr lang="zh-CN" altLang="en-US">
                <a:ea typeface="宋体" charset="0"/>
                <a:sym typeface="+mn-ea"/>
              </a:rPr>
              <a:t>语言标准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文本框 99"/>
          <p:cNvSpPr txBox="1"/>
          <p:nvPr/>
        </p:nvSpPr>
        <p:spPr>
          <a:xfrm>
            <a:off x="31115" y="1454785"/>
            <a:ext cx="9060180" cy="3538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 algn="l"/>
            <a:r>
              <a:rPr lang="en-US" sz="3200">
                <a:latin typeface="Calibri" charset="0"/>
                <a:cs typeface="宋体" charset="0"/>
                <a:sym typeface="+mn-ea"/>
              </a:rPr>
              <a:t>1999</a:t>
            </a:r>
            <a:r>
              <a:rPr lang="zh-CN" sz="3200">
                <a:latin typeface="Calibri" charset="0"/>
                <a:cs typeface="宋体" charset="0"/>
                <a:sym typeface="+mn-ea"/>
              </a:rPr>
              <a:t>年，在做了一些必要的修正和完善后，</a:t>
            </a:r>
            <a:r>
              <a:rPr lang="en-US" sz="3200">
                <a:latin typeface="Calibri" charset="0"/>
                <a:cs typeface="宋体" charset="0"/>
                <a:sym typeface="+mn-ea"/>
              </a:rPr>
              <a:t>ISO</a:t>
            </a:r>
            <a:r>
              <a:rPr lang="zh-CN" sz="3200">
                <a:latin typeface="Calibri" charset="0"/>
                <a:cs typeface="宋体" charset="0"/>
                <a:sym typeface="+mn-ea"/>
              </a:rPr>
              <a:t>发布了新的</a:t>
            </a:r>
            <a:r>
              <a:rPr lang="en-US" sz="3200">
                <a:latin typeface="Calibri" charset="0"/>
                <a:cs typeface="宋体" charset="0"/>
                <a:sym typeface="+mn-ea"/>
              </a:rPr>
              <a:t>C</a:t>
            </a:r>
            <a:r>
              <a:rPr lang="zh-CN" sz="3200">
                <a:latin typeface="Calibri" charset="0"/>
                <a:cs typeface="宋体" charset="0"/>
                <a:sym typeface="+mn-ea"/>
              </a:rPr>
              <a:t>语言标准，命名为</a:t>
            </a:r>
            <a:r>
              <a:rPr lang="en-US" sz="3200">
                <a:latin typeface="Calibri" charset="0"/>
                <a:cs typeface="宋体" charset="0"/>
                <a:sym typeface="+mn-ea"/>
              </a:rPr>
              <a:t>ISO/IEC 9899:1999</a:t>
            </a:r>
            <a:r>
              <a:rPr lang="zh-CN" sz="3200">
                <a:latin typeface="Calibri" charset="0"/>
                <a:cs typeface="宋体" charset="0"/>
                <a:sym typeface="+mn-ea"/>
              </a:rPr>
              <a:t>，简称“</a:t>
            </a:r>
            <a:r>
              <a:rPr lang="en-US" sz="3200">
                <a:latin typeface="Calibri" charset="0"/>
                <a:cs typeface="宋体" charset="0"/>
                <a:sym typeface="+mn-ea"/>
              </a:rPr>
              <a:t>C99</a:t>
            </a:r>
            <a:r>
              <a:rPr lang="zh-CN" sz="3200">
                <a:latin typeface="Calibri" charset="0"/>
                <a:cs typeface="宋体" charset="0"/>
                <a:sym typeface="+mn-ea"/>
              </a:rPr>
              <a:t>”。</a:t>
            </a:r>
            <a:r>
              <a:rPr lang="en-US" sz="3200">
                <a:latin typeface="Calibri" charset="0"/>
                <a:cs typeface="宋体" charset="0"/>
                <a:sym typeface="+mn-ea"/>
              </a:rPr>
              <a:t> 2011</a:t>
            </a:r>
            <a:r>
              <a:rPr lang="zh-CN" sz="3200">
                <a:latin typeface="Calibri" charset="0"/>
                <a:cs typeface="宋体" charset="0"/>
                <a:sym typeface="+mn-ea"/>
              </a:rPr>
              <a:t>年</a:t>
            </a:r>
            <a:r>
              <a:rPr lang="en-US" sz="3200">
                <a:latin typeface="Calibri" charset="0"/>
                <a:cs typeface="宋体" charset="0"/>
                <a:sym typeface="+mn-ea"/>
              </a:rPr>
              <a:t>12</a:t>
            </a:r>
            <a:r>
              <a:rPr lang="zh-CN" sz="3200">
                <a:latin typeface="Calibri" charset="0"/>
                <a:cs typeface="宋体" charset="0"/>
                <a:sym typeface="+mn-ea"/>
              </a:rPr>
              <a:t>月</a:t>
            </a:r>
            <a:r>
              <a:rPr lang="en-US" sz="3200">
                <a:latin typeface="Calibri" charset="0"/>
                <a:cs typeface="宋体" charset="0"/>
                <a:sym typeface="+mn-ea"/>
              </a:rPr>
              <a:t>8</a:t>
            </a:r>
            <a:r>
              <a:rPr lang="zh-CN" sz="3200">
                <a:latin typeface="Calibri" charset="0"/>
                <a:cs typeface="宋体" charset="0"/>
                <a:sym typeface="+mn-ea"/>
              </a:rPr>
              <a:t>日，</a:t>
            </a:r>
            <a:r>
              <a:rPr lang="en-US" sz="3200">
                <a:latin typeface="Calibri" charset="0"/>
                <a:cs typeface="宋体" charset="0"/>
                <a:sym typeface="+mn-ea"/>
              </a:rPr>
              <a:t>ISO</a:t>
            </a:r>
            <a:r>
              <a:rPr lang="zh-CN" sz="3200">
                <a:latin typeface="Calibri" charset="0"/>
                <a:cs typeface="宋体" charset="0"/>
                <a:sym typeface="+mn-ea"/>
              </a:rPr>
              <a:t>正式发布了</a:t>
            </a:r>
            <a:r>
              <a:rPr lang="en-US" sz="3200">
                <a:latin typeface="Calibri" charset="0"/>
                <a:cs typeface="宋体" charset="0"/>
                <a:sym typeface="+mn-ea"/>
              </a:rPr>
              <a:t>C</a:t>
            </a:r>
            <a:r>
              <a:rPr lang="zh-CN" sz="3200">
                <a:latin typeface="Calibri" charset="0"/>
                <a:cs typeface="宋体" charset="0"/>
                <a:sym typeface="+mn-ea"/>
              </a:rPr>
              <a:t>语言的最新标准</a:t>
            </a:r>
            <a:r>
              <a:rPr lang="en-US" sz="3200">
                <a:latin typeface="Calibri" charset="0"/>
                <a:cs typeface="宋体" charset="0"/>
                <a:sym typeface="+mn-ea"/>
              </a:rPr>
              <a:t>C11</a:t>
            </a:r>
            <a:r>
              <a:rPr lang="zh-CN" sz="3200">
                <a:latin typeface="Calibri" charset="0"/>
                <a:cs typeface="宋体" charset="0"/>
                <a:sym typeface="+mn-ea"/>
              </a:rPr>
              <a:t>。，简称“</a:t>
            </a:r>
            <a:r>
              <a:rPr lang="en-US" sz="3200">
                <a:latin typeface="Calibri" charset="0"/>
                <a:cs typeface="宋体" charset="0"/>
                <a:sym typeface="+mn-ea"/>
              </a:rPr>
              <a:t>C11</a:t>
            </a:r>
            <a:r>
              <a:rPr lang="zh-CN" sz="3200">
                <a:latin typeface="Calibri" charset="0"/>
                <a:cs typeface="宋体" charset="0"/>
                <a:sym typeface="+mn-ea"/>
              </a:rPr>
              <a:t>”。新标准提高了对</a:t>
            </a:r>
            <a:r>
              <a:rPr lang="en-US" sz="3200">
                <a:latin typeface="Calibri" charset="0"/>
                <a:cs typeface="宋体" charset="0"/>
                <a:sym typeface="+mn-ea"/>
              </a:rPr>
              <a:t>C++</a:t>
            </a:r>
            <a:r>
              <a:rPr lang="zh-CN" sz="3200">
                <a:latin typeface="Calibri" charset="0"/>
                <a:cs typeface="宋体" charset="0"/>
                <a:sym typeface="+mn-ea"/>
              </a:rPr>
              <a:t>的兼容性，并增加了一些新特性。</a:t>
            </a:r>
            <a:endParaRPr lang="en-US" altLang="zh-CN" sz="3200"/>
          </a:p>
        </p:txBody>
      </p:sp>
      <p:sp>
        <p:nvSpPr>
          <p:cNvPr id="27649" name="Rectangle 4"/>
          <p:cNvSpPr>
            <a:spLocks noGrp="1"/>
          </p:cNvSpPr>
          <p:nvPr/>
        </p:nvSpPr>
        <p:spPr>
          <a:xfrm>
            <a:off x="316230" y="313373"/>
            <a:ext cx="8228013" cy="1141412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0000" tIns="46800" rIns="90000" bIns="46800" anchor="ctr" anchorCtr="0"/>
          <a:lstStyle>
            <a:lvl1pPr marL="0" lvl="0" indent="0" algn="ctr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4400" u="none" kern="1200" baseline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en-US" altLang="zh-CN">
                <a:sym typeface="+mn-ea"/>
              </a:rPr>
              <a:t>C</a:t>
            </a:r>
            <a:r>
              <a:rPr lang="zh-CN" altLang="en-US">
                <a:ea typeface="宋体" charset="0"/>
                <a:sym typeface="+mn-ea"/>
              </a:rPr>
              <a:t>语言标准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Rectangle 4"/>
          <p:cNvSpPr>
            <a:spLocks noGrp="1"/>
          </p:cNvSpPr>
          <p:nvPr/>
        </p:nvSpPr>
        <p:spPr>
          <a:xfrm>
            <a:off x="316230" y="313373"/>
            <a:ext cx="8228013" cy="1141412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0000" tIns="46800" rIns="90000" bIns="46800" anchor="ctr" anchorCtr="0"/>
          <a:lstStyle>
            <a:lvl1pPr marL="0" lvl="0" indent="0" algn="ctr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4400" u="none" kern="1200" baseline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>
                <a:ea typeface="宋体" charset="0"/>
              </a:rPr>
              <a:t>本课程要求</a:t>
            </a:r>
            <a:endParaRPr lang="zh-CN" altLang="en-US">
              <a:ea typeface="宋体" charset="0"/>
            </a:endParaRPr>
          </a:p>
        </p:txBody>
      </p:sp>
    </p:spTree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Rectangle 6"/>
          <p:cNvSpPr>
            <a:spLocks noGrp="1"/>
          </p:cNvSpPr>
          <p:nvPr>
            <p:ph type="title" idx="4294967295"/>
          </p:nvPr>
        </p:nvSpPr>
        <p:spPr/>
        <p:txBody>
          <a:bodyPr vert="horz" wrap="square" anchor="ctr" anchorCtr="0"/>
          <a:p>
            <a:pPr eaLnBrk="1" hangingPunct="1"/>
            <a:r>
              <a:rPr lang="zh-CN" altLang="en-US" dirty="0"/>
              <a:t>程序设计基础</a:t>
            </a:r>
            <a:r>
              <a:rPr lang="en-US" altLang="zh-CN" dirty="0"/>
              <a:t>—C</a:t>
            </a:r>
            <a:r>
              <a:rPr lang="zh-CN" altLang="en-US" dirty="0"/>
              <a:t>语言版</a:t>
            </a:r>
            <a:endParaRPr lang="zh-CN" altLang="en-US" dirty="0"/>
          </a:p>
        </p:txBody>
      </p:sp>
      <p:sp>
        <p:nvSpPr>
          <p:cNvPr id="6146" name="Rectangle 7"/>
          <p:cNvSpPr>
            <a:spLocks noGrp="1"/>
          </p:cNvSpPr>
          <p:nvPr>
            <p:ph type="body" idx="4294967295"/>
          </p:nvPr>
        </p:nvSpPr>
        <p:spPr/>
        <p:txBody>
          <a:bodyPr vert="horz" wrap="square" anchor="t" anchorCtr="0"/>
          <a:p>
            <a:pPr eaLnBrk="1" hangingPunct="1"/>
            <a:r>
              <a:rPr lang="zh-CN" altLang="en-US" dirty="0"/>
              <a:t>教学要求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掌握程序设计语言的基本知识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常用算法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进一步的程序设计能力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懂原理、能应用、有创新</a:t>
            </a:r>
            <a:endParaRPr lang="zh-CN" altLang="en-US" dirty="0"/>
          </a:p>
          <a:p>
            <a:pPr eaLnBrk="1" hangingPunct="1"/>
            <a:r>
              <a:rPr lang="zh-CN" altLang="en-US" dirty="0"/>
              <a:t>学习方法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自主学习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重视上机实践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页脚占位符 5"/>
          <p:cNvSpPr txBox="1">
            <a:spLocks noGrp="1"/>
          </p:cNvSpPr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/>
            <a:fld id="{9A0DB2DC-4C9A-4742-B13C-FB6460FD3503}" type="slidenum">
              <a:rPr lang="en-US" altLang="zh-CN" sz="1100" dirty="0">
                <a:solidFill>
                  <a:schemeClr val="accent2"/>
                </a:solidFill>
                <a:latin typeface="Times New Roman" pitchFamily="16" charset="0"/>
              </a:rPr>
            </a:fld>
            <a:endParaRPr lang="en-US" altLang="zh-CN" sz="1100" dirty="0">
              <a:solidFill>
                <a:schemeClr val="accent2"/>
              </a:solidFill>
              <a:latin typeface="Times New Roman" pitchFamily="16" charset="0"/>
            </a:endParaRPr>
          </a:p>
        </p:txBody>
      </p:sp>
      <p:sp>
        <p:nvSpPr>
          <p:cNvPr id="7170" name="Rectangle 2"/>
          <p:cNvSpPr>
            <a:spLocks noGrp="1"/>
          </p:cNvSpPr>
          <p:nvPr>
            <p:ph type="title" idx="4294967295"/>
          </p:nvPr>
        </p:nvSpPr>
        <p:spPr>
          <a:xfrm>
            <a:off x="520700" y="511175"/>
            <a:ext cx="8356600" cy="574675"/>
          </a:xfrm>
        </p:spPr>
        <p:txBody>
          <a:bodyPr vert="horz" wrap="square" anchor="ctr" anchorCtr="0"/>
          <a:p>
            <a:pPr eaLnBrk="1" hangingPunct="1"/>
            <a:r>
              <a:rPr lang="zh-CN" altLang="en-US">
                <a:solidFill>
                  <a:srgbClr val="CC0066"/>
                </a:solidFill>
                <a:latin typeface="Tahoma" pitchFamily="34" charset="0"/>
              </a:rPr>
              <a:t>如何学好</a:t>
            </a:r>
            <a:endParaRPr lang="zh-CN" altLang="en-US">
              <a:solidFill>
                <a:srgbClr val="CC0066"/>
              </a:solidFill>
              <a:latin typeface="Tahoma" pitchFamily="34" charset="0"/>
            </a:endParaRPr>
          </a:p>
        </p:txBody>
      </p:sp>
      <p:sp>
        <p:nvSpPr>
          <p:cNvPr id="7172" name="Rectangle 3" descr="Rectangle: Click to edit Master text styles&#13;&#10;Second level&#13;&#10;Third level&#13;&#10;Fourth level&#13;&#10;Fifth level"/>
          <p:cNvSpPr/>
          <p:nvPr/>
        </p:nvSpPr>
        <p:spPr>
          <a:xfrm>
            <a:off x="568325" y="1262063"/>
            <a:ext cx="8247063" cy="44577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57200" indent="-457200" eaLnBrk="0" hangingPunct="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</a:pPr>
            <a:endParaRPr lang="zh-CN" altLang="en-US" dirty="0">
              <a:solidFill>
                <a:schemeClr val="folHlink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  <p:pic>
        <p:nvPicPr>
          <p:cNvPr id="7173" name="Picture 4" descr="J03012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6700" y="1211263"/>
            <a:ext cx="1511300" cy="12922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4" name="Picture 5" descr="MCj02974550000[1]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038" y="2579688"/>
            <a:ext cx="1584325" cy="1450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75" name="Text Box 8"/>
          <p:cNvSpPr txBox="1"/>
          <p:nvPr/>
        </p:nvSpPr>
        <p:spPr>
          <a:xfrm>
            <a:off x="1187450" y="4437063"/>
            <a:ext cx="5272088" cy="13112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8000" b="1" dirty="0">
                <a:solidFill>
                  <a:srgbClr val="0000FF"/>
                </a:solidFill>
                <a:latin typeface="Times New Roman" pitchFamily="16" charset="0"/>
                <a:ea typeface="黑体" pitchFamily="1" charset="-122"/>
              </a:rPr>
              <a:t>多练多问！</a:t>
            </a:r>
            <a:endParaRPr lang="zh-CN" altLang="en-US" sz="8000" b="1" dirty="0">
              <a:solidFill>
                <a:srgbClr val="0000FF"/>
              </a:solidFill>
              <a:latin typeface="Times New Roman" pitchFamily="16" charset="0"/>
              <a:ea typeface="黑体" pitchFamily="1" charset="-122"/>
            </a:endParaRPr>
          </a:p>
        </p:txBody>
      </p:sp>
      <p:pic>
        <p:nvPicPr>
          <p:cNvPr id="7176" name="Picture 9" descr="MCj03453250000[1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425" y="4292600"/>
            <a:ext cx="1824038" cy="16065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77" name="Line 10"/>
          <p:cNvSpPr/>
          <p:nvPr/>
        </p:nvSpPr>
        <p:spPr>
          <a:xfrm>
            <a:off x="2060575" y="2636838"/>
            <a:ext cx="711200" cy="992187"/>
          </a:xfrm>
          <a:prstGeom prst="line">
            <a:avLst/>
          </a:prstGeom>
          <a:ln w="152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178" name="Line 11"/>
          <p:cNvSpPr/>
          <p:nvPr/>
        </p:nvSpPr>
        <p:spPr>
          <a:xfrm flipV="1">
            <a:off x="2709863" y="1787525"/>
            <a:ext cx="2087562" cy="1800225"/>
          </a:xfrm>
          <a:prstGeom prst="line">
            <a:avLst/>
          </a:prstGeom>
          <a:ln w="152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179" name="Line 10"/>
          <p:cNvSpPr/>
          <p:nvPr/>
        </p:nvSpPr>
        <p:spPr>
          <a:xfrm>
            <a:off x="3059113" y="2060575"/>
            <a:ext cx="1216025" cy="1281113"/>
          </a:xfrm>
          <a:prstGeom prst="line">
            <a:avLst/>
          </a:prstGeom>
          <a:ln w="152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charRg st="0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72">
                                            <p:txEl>
                                              <p:charRg st="0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7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 build="p"/>
      <p:bldP spid="7175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Rectangle 11"/>
          <p:cNvSpPr>
            <a:spLocks noGrp="1"/>
          </p:cNvSpPr>
          <p:nvPr>
            <p:ph type="title" idx="4294967295"/>
          </p:nvPr>
        </p:nvSpPr>
        <p:spPr/>
        <p:txBody>
          <a:bodyPr vert="horz" wrap="square" anchor="ctr" anchorCtr="0"/>
          <a:p>
            <a:pPr eaLnBrk="1" hangingPunct="1"/>
            <a:r>
              <a:rPr lang="zh-CN" altLang="en-US" sz="4000" dirty="0"/>
              <a:t>如何尽快学会用</a:t>
            </a:r>
            <a:r>
              <a:rPr lang="en-US" altLang="zh-CN" sz="4000" dirty="0"/>
              <a:t>C</a:t>
            </a:r>
            <a:r>
              <a:rPr lang="zh-CN" altLang="en-US" sz="4000" dirty="0"/>
              <a:t>语言进行程序设计</a:t>
            </a:r>
            <a:endParaRPr lang="zh-CN" altLang="en-US" sz="4000" dirty="0"/>
          </a:p>
        </p:txBody>
      </p:sp>
      <p:sp>
        <p:nvSpPr>
          <p:cNvPr id="8194" name="Rectangle 12"/>
          <p:cNvSpPr>
            <a:spLocks noGrp="1"/>
          </p:cNvSpPr>
          <p:nvPr>
            <p:ph type="body" idx="4294967295"/>
          </p:nvPr>
        </p:nvSpPr>
        <p:spPr>
          <a:xfrm>
            <a:off x="457200" y="1981200"/>
            <a:ext cx="8229600" cy="3968750"/>
          </a:xfrm>
        </p:spPr>
        <p:txBody>
          <a:bodyPr vert="horz" wrap="square" anchor="t" anchorCtr="0"/>
          <a:p>
            <a:pPr marL="0" indent="0" eaLnBrk="1" hangingPunct="1">
              <a:lnSpc>
                <a:spcPct val="90000"/>
              </a:lnSpc>
            </a:pPr>
            <a:r>
              <a:rPr lang="zh-CN" altLang="en-US" sz="2800" dirty="0"/>
              <a:t>了解程序设计语言(</a:t>
            </a:r>
            <a:r>
              <a:rPr lang="en-US" altLang="zh-CN" sz="2800" dirty="0"/>
              <a:t>C</a:t>
            </a:r>
            <a:r>
              <a:rPr lang="zh-CN" altLang="en-US" sz="2800" dirty="0"/>
              <a:t>语言)</a:t>
            </a:r>
            <a:endParaRPr lang="zh-CN" altLang="en-US" sz="2800" dirty="0"/>
          </a:p>
          <a:p>
            <a:pPr marL="0" indent="0" eaLnBrk="1" hangingPunct="1">
              <a:lnSpc>
                <a:spcPct val="90000"/>
              </a:lnSpc>
            </a:pPr>
            <a:r>
              <a:rPr lang="zh-CN" altLang="en-US" sz="2800" dirty="0"/>
              <a:t>抄写，改写、模仿、编写</a:t>
            </a:r>
            <a:endParaRPr lang="zh-CN" altLang="en-US" sz="2800" dirty="0"/>
          </a:p>
          <a:p>
            <a:pPr marL="0" indent="0" eaLnBrk="1" hangingPunct="1">
              <a:lnSpc>
                <a:spcPct val="90000"/>
              </a:lnSpc>
            </a:pPr>
            <a:r>
              <a:rPr lang="zh-CN" altLang="en-US" sz="2800" dirty="0"/>
              <a:t>通过不断的编程实践，逐步领会和掌握程序设计的基本思想和方法。</a:t>
            </a:r>
            <a:endParaRPr lang="en-US" altLang="zh-CN" sz="2800" dirty="0"/>
          </a:p>
        </p:txBody>
      </p:sp>
    </p:spTree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Rectangle 7"/>
          <p:cNvSpPr>
            <a:spLocks noGrp="1"/>
          </p:cNvSpPr>
          <p:nvPr>
            <p:ph type="title" idx="4294967295"/>
          </p:nvPr>
        </p:nvSpPr>
        <p:spPr>
          <a:xfrm>
            <a:off x="457200" y="457200"/>
            <a:ext cx="8229600" cy="955675"/>
          </a:xfrm>
        </p:spPr>
        <p:txBody>
          <a:bodyPr vert="horz" wrap="square" anchor="ctr" anchorCtr="0"/>
          <a:p>
            <a:pPr eaLnBrk="1" hangingPunct="1"/>
            <a:r>
              <a:rPr lang="zh-CN" altLang="en-US"/>
              <a:t>教材和参考书</a:t>
            </a:r>
            <a:endParaRPr lang="zh-CN" altLang="en-US"/>
          </a:p>
        </p:txBody>
      </p:sp>
      <p:sp>
        <p:nvSpPr>
          <p:cNvPr id="9218" name="Rectangle 8"/>
          <p:cNvSpPr>
            <a:spLocks noGrp="1"/>
          </p:cNvSpPr>
          <p:nvPr>
            <p:ph type="body" idx="4294967295"/>
          </p:nvPr>
        </p:nvSpPr>
        <p:spPr>
          <a:xfrm>
            <a:off x="323850" y="1386205"/>
            <a:ext cx="8640763" cy="4635500"/>
          </a:xfrm>
        </p:spPr>
        <p:txBody>
          <a:bodyPr vert="horz" wrap="square" anchor="t" anchorCtr="0"/>
          <a:p>
            <a:pPr marL="0" indent="0" eaLnBrk="1" hangingPunct="1">
              <a:lnSpc>
                <a:spcPct val="80000"/>
              </a:lnSpc>
            </a:pPr>
            <a:r>
              <a:rPr lang="en-US" altLang="zh-CN" sz="2400" dirty="0"/>
              <a:t>C</a:t>
            </a:r>
            <a:r>
              <a:rPr lang="zh-CN" altLang="en-US" sz="2400" dirty="0"/>
              <a:t>语言程序设计，何钦铭、颜晖主编，高等教育出版社，200</a:t>
            </a:r>
            <a:r>
              <a:rPr lang="en-US" altLang="zh-CN" sz="2400" dirty="0"/>
              <a:t>8</a:t>
            </a:r>
            <a:r>
              <a:rPr lang="zh-CN" altLang="en-US" sz="2400" dirty="0"/>
              <a:t>（教材）</a:t>
            </a:r>
            <a:endParaRPr lang="zh-CN" altLang="en-US" sz="2400" dirty="0"/>
          </a:p>
          <a:p>
            <a:pPr marL="0" indent="0" eaLnBrk="1" hangingPunct="1">
              <a:lnSpc>
                <a:spcPct val="80000"/>
              </a:lnSpc>
            </a:pPr>
            <a:endParaRPr lang="en-US" altLang="zh-CN" sz="2400" dirty="0"/>
          </a:p>
          <a:p>
            <a:pPr marL="0" indent="0" eaLnBrk="1" hangingPunct="1">
              <a:lnSpc>
                <a:spcPct val="80000"/>
              </a:lnSpc>
            </a:pPr>
            <a:r>
              <a:rPr lang="en-US" altLang="zh-CN" sz="2400" dirty="0"/>
              <a:t>C</a:t>
            </a:r>
            <a:r>
              <a:rPr lang="zh-CN" altLang="en-US" sz="2400" dirty="0"/>
              <a:t>语言编程（第</a:t>
            </a:r>
            <a:r>
              <a:rPr lang="en-US" altLang="zh-CN" sz="2400" dirty="0"/>
              <a:t>3</a:t>
            </a:r>
            <a:r>
              <a:rPr lang="zh-CN" altLang="en-US" sz="2400" dirty="0"/>
              <a:t>版），</a:t>
            </a:r>
            <a:r>
              <a:rPr lang="en-US" altLang="zh-CN" sz="2400" dirty="0"/>
              <a:t>[</a:t>
            </a:r>
            <a:r>
              <a:rPr lang="zh-CN" altLang="en-US" sz="2400" dirty="0"/>
              <a:t>美</a:t>
            </a:r>
            <a:r>
              <a:rPr lang="en-US" altLang="zh-CN" sz="2400" dirty="0"/>
              <a:t>]Stephen, G.Kochan</a:t>
            </a:r>
            <a:r>
              <a:rPr lang="zh-CN" altLang="en-US" sz="2400" dirty="0"/>
              <a:t>，张小潘译，电子工业出版社，</a:t>
            </a:r>
            <a:r>
              <a:rPr lang="en-US" altLang="zh-CN" sz="2400" dirty="0"/>
              <a:t>2006</a:t>
            </a:r>
            <a:endParaRPr lang="en-US" altLang="zh-CN" sz="2400" dirty="0"/>
          </a:p>
          <a:p>
            <a:pPr marL="0" indent="0" eaLnBrk="1" hangingPunct="1">
              <a:lnSpc>
                <a:spcPct val="80000"/>
              </a:lnSpc>
            </a:pPr>
            <a:endParaRPr lang="en-US" altLang="zh-CN" sz="2400" dirty="0"/>
          </a:p>
          <a:p>
            <a:pPr marL="0" indent="0" eaLnBrk="1" hangingPunct="1">
              <a:lnSpc>
                <a:spcPct val="90000"/>
              </a:lnSpc>
            </a:pPr>
            <a:r>
              <a:rPr lang="en-US" altLang="zh-CN" sz="2400" dirty="0"/>
              <a:t>C</a:t>
            </a:r>
            <a:r>
              <a:rPr lang="zh-CN" altLang="en-US" sz="2400" dirty="0"/>
              <a:t>程序设计语言，</a:t>
            </a:r>
            <a:r>
              <a:rPr lang="en-US" altLang="zh-CN" sz="2400" dirty="0"/>
              <a:t>[</a:t>
            </a:r>
            <a:r>
              <a:rPr lang="zh-CN" altLang="en-US" sz="2400" dirty="0"/>
              <a:t>美</a:t>
            </a:r>
            <a:r>
              <a:rPr lang="en-US" altLang="zh-CN" sz="2400" dirty="0"/>
              <a:t>]Brian W. Kernighan, Dennis M. Ritchie</a:t>
            </a:r>
            <a:r>
              <a:rPr lang="zh-CN" altLang="en-US" sz="2400" dirty="0"/>
              <a:t>，徐宝文等译，机械工业出版社，</a:t>
            </a:r>
            <a:r>
              <a:rPr lang="en-US" altLang="zh-CN" sz="2400" dirty="0"/>
              <a:t>2006</a:t>
            </a:r>
            <a:endParaRPr lang="en-US" altLang="zh-CN" sz="2400" dirty="0"/>
          </a:p>
          <a:p>
            <a:pPr marL="0" indent="0" eaLnBrk="1" hangingPunct="1">
              <a:lnSpc>
                <a:spcPct val="90000"/>
              </a:lnSpc>
            </a:pPr>
            <a:endParaRPr lang="en-US" altLang="zh-CN" sz="2400" dirty="0"/>
          </a:p>
          <a:p>
            <a:pPr marL="0" indent="0" eaLnBrk="1" hangingPunct="1">
              <a:lnSpc>
                <a:spcPct val="90000"/>
              </a:lnSpc>
            </a:pPr>
            <a:r>
              <a:rPr lang="en-US" altLang="zh-CN" sz="2400" dirty="0"/>
              <a:t>C</a:t>
            </a:r>
            <a:r>
              <a:rPr lang="zh-CN" altLang="en-US" sz="2400" dirty="0"/>
              <a:t>语言教程（第</a:t>
            </a:r>
            <a:r>
              <a:rPr lang="en-US" altLang="zh-CN" sz="2400" dirty="0"/>
              <a:t>4</a:t>
            </a:r>
            <a:r>
              <a:rPr lang="zh-CN" altLang="en-US" sz="2400" dirty="0"/>
              <a:t>版），</a:t>
            </a:r>
            <a:r>
              <a:rPr lang="en-US" altLang="zh-CN" sz="2400" dirty="0"/>
              <a:t>[</a:t>
            </a:r>
            <a:r>
              <a:rPr lang="zh-CN" altLang="en-US" sz="2400" dirty="0"/>
              <a:t>美</a:t>
            </a:r>
            <a:r>
              <a:rPr lang="en-US" altLang="zh-CN" sz="2400" dirty="0"/>
              <a:t>]Al Kelley, Ira Pohl</a:t>
            </a:r>
            <a:r>
              <a:rPr lang="zh-CN" altLang="en-US" sz="2400" dirty="0"/>
              <a:t>，徐波译，机械工业出版社，</a:t>
            </a:r>
            <a:r>
              <a:rPr lang="en-US" altLang="zh-CN" sz="2400" dirty="0"/>
              <a:t>2007</a:t>
            </a:r>
            <a:endParaRPr lang="en-US" altLang="zh-CN" sz="2400" dirty="0"/>
          </a:p>
          <a:p>
            <a:pPr marL="0" indent="0" eaLnBrk="1" hangingPunct="1">
              <a:lnSpc>
                <a:spcPct val="90000"/>
              </a:lnSpc>
            </a:pPr>
            <a:endParaRPr lang="en-US" altLang="zh-CN" sz="2400" dirty="0"/>
          </a:p>
          <a:p>
            <a:pPr marL="0" indent="0" eaLnBrk="1" hangingPunct="1">
              <a:lnSpc>
                <a:spcPct val="90000"/>
              </a:lnSpc>
            </a:pPr>
            <a:r>
              <a:rPr lang="zh-CN" altLang="en-US" sz="2400" dirty="0"/>
              <a:t>标准</a:t>
            </a:r>
            <a:r>
              <a:rPr lang="en-US" altLang="zh-CN" sz="2400" dirty="0"/>
              <a:t>C</a:t>
            </a:r>
            <a:r>
              <a:rPr lang="zh-CN" altLang="en-US" sz="2400" dirty="0"/>
              <a:t>语言基础教程（第</a:t>
            </a:r>
            <a:r>
              <a:rPr lang="en-US" altLang="zh-CN" sz="2400" dirty="0"/>
              <a:t>4</a:t>
            </a:r>
            <a:r>
              <a:rPr lang="zh-CN" altLang="en-US" sz="2400" dirty="0"/>
              <a:t>版），</a:t>
            </a:r>
            <a:r>
              <a:rPr lang="en-US" altLang="zh-CN" sz="2400" dirty="0"/>
              <a:t>[</a:t>
            </a:r>
            <a:r>
              <a:rPr lang="zh-CN" altLang="en-US" sz="2400" dirty="0"/>
              <a:t>美</a:t>
            </a:r>
            <a:r>
              <a:rPr lang="en-US" altLang="zh-CN" sz="2400" dirty="0"/>
              <a:t>]Gary J. Bronson</a:t>
            </a:r>
            <a:r>
              <a:rPr lang="zh-CN" altLang="en-US" sz="2400" dirty="0"/>
              <a:t>，单先余等译，电子工业出版社，</a:t>
            </a:r>
            <a:r>
              <a:rPr lang="en-US" altLang="zh-CN" sz="2400" dirty="0"/>
              <a:t>2006</a:t>
            </a:r>
            <a:endParaRPr lang="en-US" altLang="zh-CN" sz="2400" dirty="0"/>
          </a:p>
        </p:txBody>
      </p:sp>
    </p:spTree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标题 1"/>
          <p:cNvSpPr>
            <a:spLocks noGrp="1"/>
          </p:cNvSpPr>
          <p:nvPr>
            <p:ph type="title" idx="4294967295"/>
          </p:nvPr>
        </p:nvSpPr>
        <p:spPr/>
        <p:txBody>
          <a:bodyPr vert="horz" wrap="square" anchor="ctr" anchorCtr="0"/>
          <a:p>
            <a:r>
              <a:rPr lang="zh-CN" altLang="en-US"/>
              <a:t>课程要求</a:t>
            </a:r>
            <a:endParaRPr lang="zh-CN" altLang="en-US"/>
          </a:p>
        </p:txBody>
      </p:sp>
      <p:sp>
        <p:nvSpPr>
          <p:cNvPr id="10242" name="内容占位符 2"/>
          <p:cNvSpPr>
            <a:spLocks noGrp="1"/>
          </p:cNvSpPr>
          <p:nvPr>
            <p:ph idx="4294967295"/>
          </p:nvPr>
        </p:nvSpPr>
        <p:spPr>
          <a:xfrm>
            <a:off x="457200" y="1981200"/>
            <a:ext cx="8229600" cy="3090863"/>
          </a:xfrm>
        </p:spPr>
        <p:txBody>
          <a:bodyPr vert="horz" wrap="square" anchor="t" anchorCtr="0"/>
          <a:p>
            <a:r>
              <a:rPr lang="zh-CN" altLang="en-US" dirty="0"/>
              <a:t>课程得分</a:t>
            </a:r>
            <a:r>
              <a:rPr lang="en-US" altLang="zh-CN" dirty="0"/>
              <a:t>=</a:t>
            </a:r>
            <a:r>
              <a:rPr lang="zh-CN" altLang="en-US" dirty="0"/>
              <a:t>平时作业分</a:t>
            </a:r>
            <a:r>
              <a:rPr lang="en-US" altLang="zh-CN" dirty="0"/>
              <a:t>+</a:t>
            </a:r>
            <a:r>
              <a:rPr lang="zh-CN" altLang="en-US" dirty="0"/>
              <a:t>期末笔试分</a:t>
            </a:r>
            <a:endParaRPr lang="en-US" altLang="zh-CN" dirty="0"/>
          </a:p>
          <a:p>
            <a:r>
              <a:rPr lang="zh-CN" altLang="en-US" dirty="0"/>
              <a:t>比例</a:t>
            </a:r>
            <a:r>
              <a:rPr lang="en-US" altLang="zh-CN" dirty="0"/>
              <a:t>=50:50</a:t>
            </a:r>
            <a:endParaRPr lang="en-US" altLang="zh-CN" dirty="0"/>
          </a:p>
          <a:p>
            <a:r>
              <a:rPr lang="zh-CN" altLang="en-US" dirty="0"/>
              <a:t>期末卷面</a:t>
            </a:r>
            <a:r>
              <a:rPr lang="en-US" altLang="zh-CN" dirty="0"/>
              <a:t>100</a:t>
            </a:r>
            <a:r>
              <a:rPr lang="zh-CN" altLang="en-US" dirty="0"/>
              <a:t>分</a:t>
            </a:r>
            <a:endParaRPr lang="zh-CN" altLang="en-US" dirty="0"/>
          </a:p>
          <a:p>
            <a:r>
              <a:rPr lang="zh-CN" altLang="en-US" dirty="0">
                <a:ea typeface="宋体" charset="0"/>
              </a:rPr>
              <a:t>平时成绩合计</a:t>
            </a:r>
            <a:r>
              <a:rPr lang="en-US" altLang="zh-CN" dirty="0">
                <a:ea typeface="宋体" charset="0"/>
              </a:rPr>
              <a:t>100</a:t>
            </a:r>
            <a:r>
              <a:rPr lang="zh-CN" altLang="en-US" dirty="0">
                <a:ea typeface="宋体" charset="0"/>
              </a:rPr>
              <a:t>分</a:t>
            </a:r>
            <a:endParaRPr lang="zh-CN" altLang="en-US" dirty="0">
              <a:ea typeface="宋体" charset="0"/>
            </a:endParaRPr>
          </a:p>
        </p:txBody>
      </p:sp>
    </p:spTree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Rectangle 8"/>
          <p:cNvSpPr>
            <a:spLocks noGrp="1"/>
          </p:cNvSpPr>
          <p:nvPr>
            <p:ph type="title" idx="4294967295"/>
          </p:nvPr>
        </p:nvSpPr>
        <p:spPr/>
        <p:txBody>
          <a:bodyPr vert="horz" wrap="square" anchor="ctr" anchorCtr="0"/>
          <a:p>
            <a:pPr eaLnBrk="1" hangingPunct="1"/>
            <a:r>
              <a:rPr lang="en-US" altLang="zh-CN" dirty="0"/>
              <a:t>Chap</a:t>
            </a:r>
            <a:r>
              <a:rPr lang="zh-CN" altLang="en-US" dirty="0"/>
              <a:t> 1  引  言</a:t>
            </a:r>
            <a:endParaRPr lang="zh-CN" altLang="en-US" dirty="0"/>
          </a:p>
        </p:txBody>
      </p:sp>
      <p:sp>
        <p:nvSpPr>
          <p:cNvPr id="11266" name="Rectangle 9"/>
          <p:cNvSpPr>
            <a:spLocks noGrp="1"/>
          </p:cNvSpPr>
          <p:nvPr>
            <p:ph type="body" idx="4294967295"/>
          </p:nvPr>
        </p:nvSpPr>
        <p:spPr/>
        <p:txBody>
          <a:bodyPr vert="horz" wrap="square" anchor="t" anchorCtr="0"/>
          <a:p>
            <a:pPr eaLnBrk="1" hangingPunct="1"/>
            <a:r>
              <a:rPr lang="zh-CN" altLang="en-US" dirty="0"/>
              <a:t>一个</a:t>
            </a:r>
            <a:r>
              <a:rPr lang="en-US" altLang="zh-CN" dirty="0"/>
              <a:t>C</a:t>
            </a:r>
            <a:r>
              <a:rPr lang="zh-CN" altLang="en-US" dirty="0"/>
              <a:t>语言程序</a:t>
            </a:r>
            <a:endParaRPr lang="zh-CN" altLang="en-US" dirty="0"/>
          </a:p>
          <a:p>
            <a:pPr eaLnBrk="1" hangingPunct="1"/>
            <a:r>
              <a:rPr lang="zh-CN" altLang="en-US" dirty="0"/>
              <a:t>程序设计语言的功能</a:t>
            </a:r>
            <a:endParaRPr lang="en-US" altLang="zh-CN" dirty="0"/>
          </a:p>
          <a:p>
            <a:pPr eaLnBrk="1" hangingPunct="1"/>
            <a:r>
              <a:rPr lang="zh-CN" altLang="en-US" dirty="0"/>
              <a:t>实现问题求解的过程</a:t>
            </a:r>
            <a:endParaRPr lang="en-US" altLang="zh-CN" dirty="0"/>
          </a:p>
          <a:p>
            <a:pPr eaLnBrk="1" hangingPunct="1"/>
            <a:r>
              <a:rPr lang="en-US" altLang="zh-CN" dirty="0"/>
              <a:t>C</a:t>
            </a:r>
            <a:r>
              <a:rPr lang="zh-CN" altLang="en-US" dirty="0"/>
              <a:t>语言上机过程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Rectangle 17"/>
          <p:cNvSpPr>
            <a:spLocks noGrp="1"/>
          </p:cNvSpPr>
          <p:nvPr>
            <p:ph type="title" idx="4294967295"/>
          </p:nvPr>
        </p:nvSpPr>
        <p:spPr>
          <a:xfrm>
            <a:off x="457200" y="457200"/>
            <a:ext cx="5915025" cy="884238"/>
          </a:xfrm>
        </p:spPr>
        <p:txBody>
          <a:bodyPr vert="horz" wrap="square" anchor="ctr" anchorCtr="0"/>
          <a:p>
            <a:pPr eaLnBrk="1" hangingPunct="1"/>
            <a:r>
              <a:rPr lang="zh-CN" altLang="en-US" dirty="0"/>
              <a:t>1.</a:t>
            </a:r>
            <a:r>
              <a:rPr lang="en-US" altLang="zh-CN" dirty="0"/>
              <a:t>2</a:t>
            </a:r>
            <a:r>
              <a:rPr lang="zh-CN" altLang="en-US" dirty="0"/>
              <a:t>  一个</a:t>
            </a:r>
            <a:r>
              <a:rPr lang="en-US" altLang="zh-CN" dirty="0"/>
              <a:t>C</a:t>
            </a:r>
            <a:r>
              <a:rPr lang="zh-CN" altLang="en-US" dirty="0"/>
              <a:t>语言程序</a:t>
            </a:r>
            <a:endParaRPr lang="zh-CN" altLang="en-US" dirty="0"/>
          </a:p>
        </p:txBody>
      </p:sp>
      <p:sp>
        <p:nvSpPr>
          <p:cNvPr id="16386" name="Rectangle 18"/>
          <p:cNvSpPr>
            <a:spLocks noGrp="1"/>
          </p:cNvSpPr>
          <p:nvPr>
            <p:ph type="body" idx="4294967295"/>
          </p:nvPr>
        </p:nvSpPr>
        <p:spPr>
          <a:xfrm>
            <a:off x="457200" y="1197928"/>
            <a:ext cx="8686800" cy="5327650"/>
          </a:xfrm>
        </p:spPr>
        <p:txBody>
          <a:bodyPr vert="horz" wrap="square" anchor="t" anchorCtr="0"/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dirty="0"/>
              <a:t>例1-1求阶乘问题。输入一个正整数</a:t>
            </a:r>
            <a:r>
              <a:rPr lang="en-US" altLang="zh-CN" sz="2400" dirty="0"/>
              <a:t>n，</a:t>
            </a:r>
            <a:r>
              <a:rPr lang="zh-CN" altLang="en-US" sz="2400" dirty="0"/>
              <a:t>输出</a:t>
            </a:r>
            <a:r>
              <a:rPr lang="en-US" altLang="zh-CN" sz="2400" dirty="0"/>
              <a:t>n!。  </a:t>
            </a:r>
            <a:endParaRPr lang="en-US" altLang="zh-CN" sz="2400" dirty="0"/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altLang="zh-CN" sz="2000" dirty="0"/>
              <a:t>#include &lt;stdio.h&gt;                       /* </a:t>
            </a:r>
            <a:r>
              <a:rPr lang="zh-CN" altLang="en-US" sz="2000" dirty="0"/>
              <a:t>编译预处理命令 */</a:t>
            </a:r>
            <a:endParaRPr lang="zh-CN" altLang="en-US" sz="2000" dirty="0"/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altLang="zh-CN" sz="2000" dirty="0"/>
              <a:t>int </a:t>
            </a:r>
            <a:r>
              <a:rPr lang="en-US" altLang="zh-CN" sz="2000" dirty="0">
                <a:solidFill>
                  <a:srgbClr val="CC0066"/>
                </a:solidFill>
              </a:rPr>
              <a:t>main</a:t>
            </a:r>
            <a:r>
              <a:rPr lang="en-US" altLang="zh-CN" sz="2000" dirty="0"/>
              <a:t>(void)                               </a:t>
            </a:r>
            <a:r>
              <a:rPr lang="x-none" altLang="en-US" sz="2000" dirty="0"/>
              <a:t> </a:t>
            </a:r>
            <a:r>
              <a:rPr lang="en-US" altLang="zh-CN" sz="2000" dirty="0"/>
              <a:t>/* </a:t>
            </a:r>
            <a:r>
              <a:rPr lang="zh-CN" altLang="en-US" sz="2000" dirty="0">
                <a:solidFill>
                  <a:schemeClr val="bg2"/>
                </a:solidFill>
              </a:rPr>
              <a:t>主函数</a:t>
            </a:r>
            <a:r>
              <a:rPr lang="zh-CN" altLang="en-US" sz="2000" dirty="0"/>
              <a:t> */</a:t>
            </a:r>
            <a:endParaRPr lang="zh-CN" altLang="en-US" sz="2000" dirty="0"/>
          </a:p>
          <a:p>
            <a:pPr lvl="1" eaLnBrk="1" hangingPunct="1">
              <a:lnSpc>
                <a:spcPct val="80000"/>
              </a:lnSpc>
              <a:buNone/>
            </a:pPr>
            <a:r>
              <a:rPr lang="zh-CN" altLang="en-US" sz="2000" dirty="0"/>
              <a:t>{</a:t>
            </a:r>
            <a:endParaRPr lang="zh-CN" altLang="en-US" sz="2000" dirty="0"/>
          </a:p>
          <a:p>
            <a:pPr lvl="1" eaLnBrk="1" hangingPunct="1">
              <a:lnSpc>
                <a:spcPct val="80000"/>
              </a:lnSpc>
              <a:buNone/>
            </a:pPr>
            <a:r>
              <a:rPr lang="zh-CN" altLang="en-US" sz="2000" dirty="0"/>
              <a:t>	</a:t>
            </a:r>
            <a:r>
              <a:rPr lang="en-US" altLang="zh-CN" sz="2000" dirty="0"/>
              <a:t>int input;             	                /* </a:t>
            </a:r>
            <a:r>
              <a:rPr lang="zh-CN" altLang="en-US" sz="2000" dirty="0"/>
              <a:t>变量定义 */</a:t>
            </a:r>
            <a:endParaRPr lang="zh-CN" altLang="en-US" sz="2000" dirty="0"/>
          </a:p>
          <a:p>
            <a:pPr lvl="1" eaLnBrk="1" hangingPunct="1">
              <a:lnSpc>
                <a:spcPct val="80000"/>
              </a:lnSpc>
              <a:buNone/>
            </a:pPr>
            <a:r>
              <a:rPr lang="zh-CN" altLang="en-US" sz="2000" dirty="0"/>
              <a:t>	</a:t>
            </a:r>
            <a:r>
              <a:rPr lang="en-US" altLang="zh-CN" sz="2000" dirty="0"/>
              <a:t>int </a:t>
            </a:r>
            <a:r>
              <a:rPr lang="en-US" altLang="zh-CN" sz="2000" dirty="0">
                <a:solidFill>
                  <a:srgbClr val="CC0066"/>
                </a:solidFill>
              </a:rPr>
              <a:t>factorial</a:t>
            </a:r>
            <a:r>
              <a:rPr lang="en-US" altLang="zh-CN" sz="2000" dirty="0"/>
              <a:t>(int n);                    </a:t>
            </a:r>
            <a:r>
              <a:rPr lang="x-none" altLang="en-US" sz="2000" dirty="0"/>
              <a:t>   </a:t>
            </a:r>
            <a:r>
              <a:rPr lang="en-US" altLang="zh-CN" sz="2000" dirty="0"/>
              <a:t>/* </a:t>
            </a:r>
            <a:r>
              <a:rPr lang="zh-CN" altLang="en-US" sz="2000" dirty="0"/>
              <a:t>函数声明 */</a:t>
            </a:r>
            <a:endParaRPr lang="zh-CN" altLang="en-US" sz="2000" dirty="0"/>
          </a:p>
          <a:p>
            <a:pPr lvl="1" eaLnBrk="1" hangingPunct="1">
              <a:lnSpc>
                <a:spcPct val="80000"/>
              </a:lnSpc>
              <a:buNone/>
            </a:pPr>
            <a:r>
              <a:rPr lang="zh-CN" altLang="en-US" sz="2000" dirty="0"/>
              <a:t> 	</a:t>
            </a:r>
            <a:r>
              <a:rPr lang="en-US" altLang="zh-CN" sz="2000" dirty="0">
                <a:solidFill>
                  <a:srgbClr val="CC0066"/>
                </a:solidFill>
              </a:rPr>
              <a:t>scanf</a:t>
            </a:r>
            <a:r>
              <a:rPr lang="en-US" altLang="zh-CN" sz="2000" dirty="0"/>
              <a:t>("%d", &amp;input);                   /* </a:t>
            </a:r>
            <a:r>
              <a:rPr lang="zh-CN" altLang="en-US" sz="2000" dirty="0"/>
              <a:t>输入一个整数 */</a:t>
            </a:r>
            <a:endParaRPr lang="zh-CN" altLang="en-US" sz="2000" dirty="0"/>
          </a:p>
          <a:p>
            <a:pPr lvl="1" eaLnBrk="1" hangingPunct="1">
              <a:lnSpc>
                <a:spcPct val="80000"/>
              </a:lnSpc>
              <a:buNone/>
            </a:pPr>
            <a:r>
              <a:rPr lang="zh-CN" altLang="en-US" sz="2000" dirty="0"/>
              <a:t>	</a:t>
            </a:r>
            <a:r>
              <a:rPr lang="en-US" altLang="zh-CN" sz="2000" dirty="0">
                <a:solidFill>
                  <a:srgbClr val="CC0066"/>
                </a:solidFill>
              </a:rPr>
              <a:t>printf</a:t>
            </a:r>
            <a:r>
              <a:rPr lang="en-US" altLang="zh-CN" sz="2000" dirty="0"/>
              <a:t>(“%d\n”, factorial(input));   /* </a:t>
            </a:r>
            <a:r>
              <a:rPr lang="zh-CN" altLang="en-US" sz="2000" dirty="0"/>
              <a:t>调用函数计算阶乘 */</a:t>
            </a:r>
            <a:endParaRPr lang="zh-CN" altLang="en-US" sz="2000" dirty="0"/>
          </a:p>
          <a:p>
            <a:pPr lvl="1" eaLnBrk="1" hangingPunct="1">
              <a:lnSpc>
                <a:spcPct val="80000"/>
              </a:lnSpc>
              <a:buNone/>
            </a:pPr>
            <a:r>
              <a:rPr lang="zh-CN" altLang="en-US" sz="2000" dirty="0"/>
              <a:t>  </a:t>
            </a:r>
            <a:r>
              <a:rPr lang="x-none" altLang="zh-CN" sz="2000" dirty="0"/>
              <a:t> </a:t>
            </a:r>
            <a:r>
              <a:rPr lang="en-US" altLang="zh-CN" sz="2000" dirty="0"/>
              <a:t>return 0;</a:t>
            </a:r>
            <a:endParaRPr lang="en-US" altLang="zh-CN" sz="2000" dirty="0"/>
          </a:p>
          <a:p>
            <a:pPr lvl="1" eaLnBrk="1" hangingPunct="1">
              <a:lnSpc>
                <a:spcPct val="80000"/>
              </a:lnSpc>
              <a:buNone/>
            </a:pPr>
            <a:r>
              <a:rPr lang="zh-CN" altLang="en-US" sz="2000" dirty="0"/>
              <a:t> }</a:t>
            </a:r>
            <a:endParaRPr lang="zh-CN" altLang="en-US" sz="2000" dirty="0"/>
          </a:p>
          <a:p>
            <a:pPr lvl="1" eaLnBrk="1" hangingPunct="1">
              <a:lnSpc>
                <a:spcPct val="80000"/>
              </a:lnSpc>
              <a:buNone/>
            </a:pPr>
            <a:r>
              <a:rPr lang="zh-CN" altLang="en-US" sz="2000" dirty="0"/>
              <a:t> </a:t>
            </a:r>
            <a:r>
              <a:rPr lang="en-US" altLang="zh-CN" sz="2000" dirty="0"/>
              <a:t>int </a:t>
            </a:r>
            <a:r>
              <a:rPr lang="en-US" altLang="zh-CN" sz="2000" dirty="0">
                <a:solidFill>
                  <a:srgbClr val="CC0066"/>
                </a:solidFill>
              </a:rPr>
              <a:t>factorial</a:t>
            </a:r>
            <a:r>
              <a:rPr lang="en-US" altLang="zh-CN" sz="2000" dirty="0"/>
              <a:t>(int n)      	         </a:t>
            </a:r>
            <a:r>
              <a:rPr lang="x-none" altLang="en-US" sz="2000" dirty="0"/>
              <a:t>       </a:t>
            </a:r>
            <a:r>
              <a:rPr lang="en-US" altLang="zh-CN" sz="2000" dirty="0"/>
              <a:t>/* </a:t>
            </a:r>
            <a:r>
              <a:rPr lang="zh-CN" altLang="en-US" sz="2000" dirty="0"/>
              <a:t>定义计算 </a:t>
            </a:r>
            <a:r>
              <a:rPr lang="en-US" altLang="zh-CN" sz="2000" dirty="0"/>
              <a:t>n! </a:t>
            </a:r>
            <a:r>
              <a:rPr lang="zh-CN" altLang="en-US" sz="2000" dirty="0"/>
              <a:t>的函数 */</a:t>
            </a:r>
            <a:endParaRPr lang="zh-CN" altLang="en-US" sz="2000" dirty="0"/>
          </a:p>
          <a:p>
            <a:pPr lvl="1" eaLnBrk="1" hangingPunct="1">
              <a:lnSpc>
                <a:spcPct val="80000"/>
              </a:lnSpc>
              <a:buNone/>
            </a:pPr>
            <a:r>
              <a:rPr lang="zh-CN" altLang="en-US" sz="2000" dirty="0"/>
              <a:t>{</a:t>
            </a:r>
            <a:endParaRPr lang="zh-CN" altLang="en-US" sz="2000" dirty="0"/>
          </a:p>
          <a:p>
            <a:pPr lvl="1" eaLnBrk="1" hangingPunct="1">
              <a:lnSpc>
                <a:spcPct val="80000"/>
              </a:lnSpc>
              <a:buNone/>
            </a:pPr>
            <a:r>
              <a:rPr lang="zh-CN" altLang="en-US" sz="2000" dirty="0"/>
              <a:t>	</a:t>
            </a:r>
            <a:r>
              <a:rPr lang="en-US" altLang="zh-CN" sz="2000" dirty="0"/>
              <a:t>int i, fact = 1;</a:t>
            </a:r>
            <a:endParaRPr lang="en-US" altLang="zh-CN" sz="2000" dirty="0"/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altLang="zh-CN" sz="2000" dirty="0"/>
              <a:t> 	for(i = 1; i &lt;= n; i++)                 /* </a:t>
            </a:r>
            <a:r>
              <a:rPr lang="zh-CN" altLang="en-US" sz="2000" dirty="0"/>
              <a:t>循环 */</a:t>
            </a:r>
            <a:endParaRPr lang="zh-CN" altLang="en-US" sz="2000" dirty="0"/>
          </a:p>
          <a:p>
            <a:pPr lvl="1" eaLnBrk="1" hangingPunct="1">
              <a:lnSpc>
                <a:spcPct val="80000"/>
              </a:lnSpc>
              <a:buNone/>
            </a:pPr>
            <a:r>
              <a:rPr lang="zh-CN" altLang="en-US" sz="2000" dirty="0"/>
              <a:t>		</a:t>
            </a:r>
            <a:r>
              <a:rPr lang="x-none" altLang="zh-CN" sz="2000" dirty="0"/>
              <a:t>   </a:t>
            </a:r>
            <a:r>
              <a:rPr lang="en-US" altLang="zh-CN" sz="2000" dirty="0"/>
              <a:t>fact = fact * i;</a:t>
            </a:r>
            <a:endParaRPr lang="en-US" altLang="zh-CN" sz="2000" dirty="0"/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altLang="zh-CN" sz="2000" dirty="0"/>
              <a:t>    return fact;</a:t>
            </a:r>
            <a:endParaRPr lang="en-US" altLang="zh-CN" sz="2000" dirty="0"/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altLang="zh-CN" sz="2000" dirty="0"/>
              <a:t>}</a:t>
            </a:r>
            <a:endParaRPr lang="en-US" altLang="zh-CN" sz="2000" dirty="0"/>
          </a:p>
        </p:txBody>
      </p:sp>
      <p:sp>
        <p:nvSpPr>
          <p:cNvPr id="16388" name="Rectangle 14"/>
          <p:cNvSpPr/>
          <p:nvPr/>
        </p:nvSpPr>
        <p:spPr>
          <a:xfrm>
            <a:off x="7164388" y="620713"/>
            <a:ext cx="1447800" cy="944562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spcBef>
                <a:spcPct val="30000"/>
              </a:spcBef>
            </a:pPr>
            <a:r>
              <a:rPr lang="zh-CN" altLang="en-US" sz="2400" b="1" dirty="0">
                <a:latin typeface="宋体" pitchFamily="2" charset="-122"/>
              </a:rPr>
              <a:t>输入 </a:t>
            </a:r>
            <a:r>
              <a:rPr lang="zh-CN" altLang="en-US" sz="2400" b="1" dirty="0">
                <a:latin typeface="Arial" panose="02080604020202020204" pitchFamily="34" charset="0"/>
              </a:rPr>
              <a:t>4</a:t>
            </a:r>
            <a:endParaRPr lang="zh-CN" altLang="en-US" sz="2400" b="1" dirty="0">
              <a:latin typeface="Arial" panose="02080604020202020204" pitchFamily="34" charset="0"/>
            </a:endParaRPr>
          </a:p>
          <a:p>
            <a:pPr>
              <a:spcBef>
                <a:spcPct val="30000"/>
              </a:spcBef>
            </a:pPr>
            <a:r>
              <a:rPr lang="zh-CN" altLang="en-US" sz="2400" b="1" dirty="0">
                <a:latin typeface="宋体" pitchFamily="2" charset="-122"/>
              </a:rPr>
              <a:t>输出 </a:t>
            </a:r>
            <a:r>
              <a:rPr lang="zh-CN" altLang="en-US" sz="2400" b="1" dirty="0">
                <a:latin typeface="Arial" panose="02080604020202020204" pitchFamily="34" charset="0"/>
              </a:rPr>
              <a:t>24</a:t>
            </a:r>
            <a:endParaRPr lang="zh-CN" altLang="en-US" sz="2400" b="1" dirty="0">
              <a:latin typeface="Arial" panose="02080604020202020204" pitchFamily="34" charset="0"/>
            </a:endParaRPr>
          </a:p>
        </p:txBody>
      </p:sp>
      <p:sp>
        <p:nvSpPr>
          <p:cNvPr id="16389" name="Text Box 15"/>
          <p:cNvSpPr txBox="1"/>
          <p:nvPr/>
        </p:nvSpPr>
        <p:spPr>
          <a:xfrm>
            <a:off x="4572000" y="5795963"/>
            <a:ext cx="3886200" cy="1017587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2400" b="1" dirty="0">
                <a:latin typeface="Arial" panose="02080604020202020204" pitchFamily="34" charset="0"/>
              </a:rPr>
              <a:t>C</a:t>
            </a:r>
            <a:r>
              <a:rPr lang="zh-CN" altLang="en-US" sz="2400" b="1" dirty="0">
                <a:latin typeface="宋体" pitchFamily="2" charset="-122"/>
              </a:rPr>
              <a:t>程序由函数组成</a:t>
            </a:r>
            <a:endParaRPr lang="zh-CN" altLang="en-US" sz="2400" b="1" dirty="0">
              <a:latin typeface="宋体" pitchFamily="2" charset="-122"/>
            </a:endParaRPr>
          </a:p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latin typeface="宋体" pitchFamily="2" charset="-122"/>
              </a:rPr>
              <a:t>有且只有一个主函数</a:t>
            </a:r>
            <a:r>
              <a:rPr lang="en-US" altLang="zh-CN" sz="2400" b="1" dirty="0">
                <a:latin typeface="Arial" panose="02080604020202020204" pitchFamily="34" charset="0"/>
              </a:rPr>
              <a:t>main</a:t>
            </a:r>
            <a:r>
              <a:rPr lang="en-US" altLang="zh-CN" sz="2400" b="1" dirty="0">
                <a:latin typeface="Times New Roman" pitchFamily="16" charset="0"/>
              </a:rPr>
              <a:t> </a:t>
            </a:r>
            <a:endParaRPr lang="zh-CN" altLang="en-US" sz="2400" b="1" dirty="0">
              <a:latin typeface="Times New Roman" pitchFamily="16" charset="0"/>
              <a:ea typeface="Arial" panose="0208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8" grpId="0" bldLvl="0" animBg="1"/>
      <p:bldP spid="16389" grpId="0" bldLvl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Rectangle 4"/>
          <p:cNvSpPr>
            <a:spLocks noGrp="1"/>
          </p:cNvSpPr>
          <p:nvPr>
            <p:ph type="title" idx="4294967295"/>
          </p:nvPr>
        </p:nvSpPr>
        <p:spPr/>
        <p:txBody>
          <a:bodyPr vert="horz" wrap="square" anchor="ctr" anchorCtr="0"/>
          <a:p>
            <a:pPr eaLnBrk="1" hangingPunct="1"/>
            <a:r>
              <a:rPr lang="en-US" altLang="zh-CN" dirty="0"/>
              <a:t>1.3 </a:t>
            </a:r>
            <a:r>
              <a:rPr lang="zh-CN" altLang="en-US" dirty="0"/>
              <a:t>程序设计语言的功能</a:t>
            </a:r>
            <a:endParaRPr lang="zh-CN" altLang="en-US" dirty="0"/>
          </a:p>
        </p:txBody>
      </p:sp>
      <p:sp>
        <p:nvSpPr>
          <p:cNvPr id="17410" name="Rectangle 5"/>
          <p:cNvSpPr>
            <a:spLocks noGrp="1"/>
          </p:cNvSpPr>
          <p:nvPr>
            <p:ph type="body" idx="4294967295"/>
          </p:nvPr>
        </p:nvSpPr>
        <p:spPr>
          <a:xfrm>
            <a:off x="457200" y="2268538"/>
            <a:ext cx="8218488" cy="2816225"/>
          </a:xfrm>
        </p:spPr>
        <p:txBody>
          <a:bodyPr vert="horz" wrap="square" anchor="t" anchorCtr="0"/>
          <a:p>
            <a:pPr eaLnBrk="1" hangingPunct="1"/>
            <a:r>
              <a:rPr lang="zh-CN" altLang="en-US"/>
              <a:t>数据表达：表达所要处理的数据</a:t>
            </a:r>
            <a:endParaRPr lang="zh-CN" altLang="en-US"/>
          </a:p>
          <a:p>
            <a:pPr eaLnBrk="1" hangingPunct="1"/>
            <a:endParaRPr lang="zh-CN" altLang="en-US"/>
          </a:p>
          <a:p>
            <a:pPr eaLnBrk="1" hangingPunct="1"/>
            <a:r>
              <a:rPr lang="zh-CN" altLang="en-US"/>
              <a:t>流程控制：表达数据处理的流程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Rectangle 4"/>
          <p:cNvSpPr>
            <a:spLocks noGrp="1"/>
          </p:cNvSpPr>
          <p:nvPr>
            <p:ph type="title" idx="4294967295"/>
          </p:nvPr>
        </p:nvSpPr>
        <p:spPr/>
        <p:txBody>
          <a:bodyPr vert="horz" wrap="square" anchor="ctr" anchorCtr="0"/>
          <a:p>
            <a:pPr eaLnBrk="1" hangingPunct="1"/>
            <a:r>
              <a:rPr lang="zh-CN" altLang="en-US"/>
              <a:t>数据表达</a:t>
            </a:r>
            <a:endParaRPr lang="zh-CN" altLang="en-US"/>
          </a:p>
        </p:txBody>
      </p:sp>
      <p:sp>
        <p:nvSpPr>
          <p:cNvPr id="18434" name="Rectangle 5"/>
          <p:cNvSpPr>
            <a:spLocks noGrp="1"/>
          </p:cNvSpPr>
          <p:nvPr>
            <p:ph type="body" idx="4294967295"/>
          </p:nvPr>
        </p:nvSpPr>
        <p:spPr>
          <a:xfrm>
            <a:off x="457200" y="1981200"/>
            <a:ext cx="8291513" cy="4256088"/>
          </a:xfrm>
        </p:spPr>
        <p:txBody>
          <a:bodyPr vert="horz" wrap="square" anchor="t" anchorCtr="0"/>
          <a:p>
            <a:pPr eaLnBrk="1" hangingPunct="1"/>
            <a:r>
              <a:rPr lang="zh-CN" altLang="en-US" dirty="0"/>
              <a:t>数据表达</a:t>
            </a:r>
            <a:r>
              <a:rPr lang="en-US" altLang="zh-CN" dirty="0"/>
              <a:t>：</a:t>
            </a:r>
            <a:r>
              <a:rPr lang="zh-CN" altLang="en-US" dirty="0"/>
              <a:t>一般将数据抽象为若干类型</a:t>
            </a:r>
            <a:endParaRPr lang="zh-CN" altLang="en-US" dirty="0"/>
          </a:p>
          <a:p>
            <a:pPr eaLnBrk="1" hangingPunct="1"/>
            <a:r>
              <a:rPr lang="zh-CN" altLang="en-US" dirty="0"/>
              <a:t>数据类型:对某些具有共同特点的数据集合的总称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代表的数据（数据类型的定义域）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在这些数据上做些什么（即操作或称运算）</a:t>
            </a:r>
            <a:endParaRPr lang="zh-CN" altLang="en-US" dirty="0"/>
          </a:p>
          <a:p>
            <a:pPr lvl="1" eaLnBrk="1" hangingPunct="1">
              <a:buNone/>
            </a:pPr>
            <a:r>
              <a:rPr lang="zh-CN" altLang="en-US" dirty="0"/>
              <a:t>例如：整数类型</a:t>
            </a:r>
            <a:endParaRPr lang="zh-CN" altLang="en-US" dirty="0"/>
          </a:p>
          <a:p>
            <a:pPr lvl="2" eaLnBrk="1" hangingPunct="1"/>
            <a:r>
              <a:rPr lang="zh-CN" altLang="en-US" dirty="0"/>
              <a:t>包含的数据：{…，-2，-1，0，1，2，…} </a:t>
            </a:r>
            <a:endParaRPr lang="zh-CN" altLang="en-US" dirty="0"/>
          </a:p>
          <a:p>
            <a:pPr lvl="2" eaLnBrk="1" hangingPunct="1"/>
            <a:r>
              <a:rPr lang="zh-CN" altLang="en-US" dirty="0"/>
              <a:t>作用在整数上的运算：+ 、 - 、 * 、 /等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灯片编号占位符 4"/>
          <p:cNvSpPr txBox="1">
            <a:spLocks noGrp="1"/>
          </p:cNvSpPr>
          <p:nvPr/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fld id="{9A0DB2DC-4C9A-4742-B13C-FB6460FD3503}" type="slidenum">
              <a:rPr lang="zh-CN" altLang="en-US" sz="1200" dirty="0">
                <a:latin typeface="Arial Black" pitchFamily="2" charset="0"/>
              </a:rPr>
            </a:fld>
            <a:endParaRPr lang="zh-CN" altLang="en-US" sz="1200" dirty="0">
              <a:latin typeface="Arial Black" pitchFamily="2" charset="0"/>
            </a:endParaRPr>
          </a:p>
        </p:txBody>
      </p:sp>
      <p:sp>
        <p:nvSpPr>
          <p:cNvPr id="19458" name="Rectangle 2"/>
          <p:cNvSpPr>
            <a:spLocks noGrp="1"/>
          </p:cNvSpPr>
          <p:nvPr>
            <p:ph type="title" idx="4294967295"/>
          </p:nvPr>
        </p:nvSpPr>
        <p:spPr>
          <a:xfrm>
            <a:off x="457200" y="457200"/>
            <a:ext cx="7138988" cy="1100138"/>
          </a:xfrm>
        </p:spPr>
        <p:txBody>
          <a:bodyPr vert="horz" wrap="square" anchor="ctr" anchorCtr="0"/>
          <a:p>
            <a:pPr eaLnBrk="1" hangingPunct="1"/>
            <a:r>
              <a:rPr lang="zh-CN" altLang="en-US"/>
              <a:t>数据类型</a:t>
            </a:r>
            <a:endParaRPr lang="zh-CN" altLang="en-US"/>
          </a:p>
        </p:txBody>
      </p:sp>
      <p:sp>
        <p:nvSpPr>
          <p:cNvPr id="19459" name="Rectangle 3"/>
          <p:cNvSpPr>
            <a:spLocks noGrp="1"/>
          </p:cNvSpPr>
          <p:nvPr>
            <p:ph type="body" idx="4294967295"/>
          </p:nvPr>
        </p:nvSpPr>
        <p:spPr>
          <a:xfrm>
            <a:off x="611188" y="1773238"/>
            <a:ext cx="8077200" cy="4800600"/>
          </a:xfrm>
        </p:spPr>
        <p:txBody>
          <a:bodyPr vert="horz" wrap="square" anchor="t" anchorCtr="0"/>
          <a:p>
            <a:pPr marL="476250" indent="-476250" eaLnBrk="1" hangingPunct="1"/>
            <a:r>
              <a:rPr lang="zh-CN" altLang="en-US" sz="2800" dirty="0"/>
              <a:t>数据类型</a:t>
            </a:r>
            <a:endParaRPr lang="zh-CN" altLang="en-US" sz="2800" dirty="0"/>
          </a:p>
          <a:p>
            <a:pPr marL="952500" lvl="1" eaLnBrk="1" hangingPunct="1"/>
            <a:r>
              <a:rPr lang="zh-CN" altLang="en-US" sz="2400" dirty="0"/>
              <a:t>基本数据类型：程序设计语言事先定义好，供程序员直接使用。</a:t>
            </a:r>
            <a:endParaRPr lang="zh-CN" altLang="en-US" sz="2400" dirty="0"/>
          </a:p>
          <a:p>
            <a:pPr marL="1371600" lvl="2" eaLnBrk="1" hangingPunct="1"/>
            <a:r>
              <a:rPr lang="zh-CN" altLang="en-US" sz="2000" dirty="0"/>
              <a:t>整型</a:t>
            </a:r>
            <a:r>
              <a:rPr lang="en-US" altLang="zh-CN" sz="2000" dirty="0"/>
              <a:t>int</a:t>
            </a:r>
            <a:endParaRPr lang="en-US" altLang="zh-CN" sz="2000" dirty="0"/>
          </a:p>
          <a:p>
            <a:pPr marL="1371600" lvl="2" eaLnBrk="1" hangingPunct="1"/>
            <a:r>
              <a:rPr lang="zh-CN" altLang="en-US" sz="2000" dirty="0"/>
              <a:t>实型（浮点型）</a:t>
            </a:r>
            <a:r>
              <a:rPr lang="en-US" altLang="zh-CN" sz="2000" dirty="0"/>
              <a:t>float   double</a:t>
            </a:r>
            <a:endParaRPr lang="en-US" altLang="zh-CN" sz="2000" dirty="0"/>
          </a:p>
          <a:p>
            <a:pPr marL="1371600" lvl="2" eaLnBrk="1" hangingPunct="1"/>
            <a:r>
              <a:rPr lang="zh-CN" altLang="en-US" sz="2000" dirty="0"/>
              <a:t>字符型</a:t>
            </a:r>
            <a:r>
              <a:rPr lang="en-US" altLang="zh-CN" sz="2000" dirty="0"/>
              <a:t>char</a:t>
            </a:r>
            <a:endParaRPr lang="en-US" altLang="zh-CN" sz="2000" dirty="0"/>
          </a:p>
          <a:p>
            <a:pPr marL="952500" lvl="1" eaLnBrk="1" hangingPunct="1"/>
            <a:r>
              <a:rPr lang="zh-CN" altLang="en-US" sz="2400" dirty="0"/>
              <a:t>构造数据类型：由程序员构造。</a:t>
            </a:r>
            <a:endParaRPr lang="zh-CN" altLang="en-US" sz="2400" dirty="0"/>
          </a:p>
          <a:p>
            <a:pPr marL="1371600" lvl="2" eaLnBrk="1" hangingPunct="1">
              <a:buNone/>
            </a:pPr>
            <a:r>
              <a:rPr lang="zh-CN" altLang="en-US" sz="2000" dirty="0"/>
              <a:t>数组、结构、联合、枚举</a:t>
            </a:r>
            <a:endParaRPr lang="zh-CN" altLang="en-US" sz="2000" dirty="0"/>
          </a:p>
          <a:p>
            <a:pPr marL="952500" lvl="1" eaLnBrk="1" hangingPunct="1"/>
            <a:r>
              <a:rPr lang="zh-CN" altLang="en-US" sz="2400" dirty="0"/>
              <a:t>指针类型</a:t>
            </a:r>
            <a:endParaRPr lang="zh-CN" altLang="en-US" sz="2400" dirty="0"/>
          </a:p>
          <a:p>
            <a:pPr marL="952500" lvl="1" eaLnBrk="1" hangingPunct="1"/>
            <a:r>
              <a:rPr lang="zh-CN" altLang="en-US" sz="2400" dirty="0"/>
              <a:t>空类型</a:t>
            </a:r>
            <a:endParaRPr lang="zh-CN" altLang="en-US" sz="2400" dirty="0"/>
          </a:p>
          <a:p>
            <a:pPr marL="476250" indent="-476250" eaLnBrk="1" hangingPunct="1">
              <a:buNone/>
            </a:pPr>
            <a:endParaRPr lang="zh-CN" altLang="en-US" sz="2800" dirty="0"/>
          </a:p>
        </p:txBody>
      </p:sp>
    </p:spTree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Rectangle 3091"/>
          <p:cNvSpPr>
            <a:spLocks noGrp="1"/>
          </p:cNvSpPr>
          <p:nvPr>
            <p:ph type="title" idx="4294967295"/>
          </p:nvPr>
        </p:nvSpPr>
        <p:spPr/>
        <p:txBody>
          <a:bodyPr vert="horz" wrap="square" anchor="ctr" anchorCtr="0"/>
          <a:p>
            <a:pPr eaLnBrk="1" hangingPunct="1"/>
            <a:r>
              <a:rPr lang="zh-CN" altLang="en-US"/>
              <a:t>流程控制 </a:t>
            </a:r>
            <a:endParaRPr lang="zh-CN" altLang="en-US"/>
          </a:p>
        </p:txBody>
      </p:sp>
      <p:sp>
        <p:nvSpPr>
          <p:cNvPr id="20482" name="Rectangle 3092"/>
          <p:cNvSpPr>
            <a:spLocks noGrp="1"/>
          </p:cNvSpPr>
          <p:nvPr>
            <p:ph type="body" idx="4294967295"/>
          </p:nvPr>
        </p:nvSpPr>
        <p:spPr>
          <a:xfrm>
            <a:off x="468630" y="1773555"/>
            <a:ext cx="8229600" cy="1214120"/>
          </a:xfrm>
        </p:spPr>
        <p:txBody>
          <a:bodyPr vert="horz" wrap="square" anchor="t" anchorCtr="0"/>
          <a:p>
            <a:pPr marL="0" eaLnBrk="1" hangingPunct="1"/>
            <a:r>
              <a:rPr lang="zh-CN" altLang="en-US" dirty="0"/>
              <a:t>结构化程序设计方法</a:t>
            </a:r>
            <a:r>
              <a:rPr lang="zh-CN" altLang="en-US">
                <a:sym typeface="+mn-ea"/>
              </a:rPr>
              <a:t>采用自顶向下、逐步求精的设计方法，将复杂程序划分为若干个相互独立的模块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468630" y="3515360"/>
            <a:ext cx="759968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/>
              <a:t>模块：一条语句、一段程序或一个函数（子程序）。</a:t>
            </a:r>
            <a:endParaRPr lang="zh-CN" altLang="en-US" sz="2400"/>
          </a:p>
          <a:p>
            <a:r>
              <a:rPr lang="zh-CN" altLang="en-US" sz="2400"/>
              <a:t>各个模块通过“顺序、选择、循环”的控制结构进行连接。</a:t>
            </a:r>
            <a:endParaRPr lang="zh-CN" altLang="en-US" sz="2400"/>
          </a:p>
          <a:p>
            <a:r>
              <a:rPr lang="zh-CN" altLang="en-US" sz="2400"/>
              <a:t>模块只有一个入口、一个出口。</a:t>
            </a:r>
            <a:endParaRPr lang="zh-CN" altLang="en-US" sz="2400"/>
          </a:p>
        </p:txBody>
      </p:sp>
      <p:sp>
        <p:nvSpPr>
          <p:cNvPr id="4" name="文本框 3"/>
          <p:cNvSpPr txBox="1"/>
          <p:nvPr/>
        </p:nvSpPr>
        <p:spPr>
          <a:xfrm>
            <a:off x="457200" y="5062220"/>
            <a:ext cx="502983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/>
              <a:t>程序=算法+数据结构</a:t>
            </a:r>
            <a:endParaRPr lang="zh-CN" altLang="en-US" sz="3200"/>
          </a:p>
        </p:txBody>
      </p:sp>
    </p:spTree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Rectangle 53"/>
          <p:cNvSpPr>
            <a:spLocks noGrp="1"/>
          </p:cNvSpPr>
          <p:nvPr>
            <p:ph type="title" idx="4294967295"/>
          </p:nvPr>
        </p:nvSpPr>
        <p:spPr>
          <a:xfrm>
            <a:off x="457200" y="115888"/>
            <a:ext cx="8229600" cy="1371600"/>
          </a:xfrm>
        </p:spPr>
        <p:txBody>
          <a:bodyPr vert="horz" wrap="square" anchor="ctr" anchorCtr="0"/>
          <a:p>
            <a:pPr eaLnBrk="1" hangingPunct="1"/>
            <a:r>
              <a:rPr lang="zh-CN" altLang="en-US"/>
              <a:t>流程控制 </a:t>
            </a:r>
            <a:endParaRPr lang="zh-CN" altLang="en-US"/>
          </a:p>
        </p:txBody>
      </p:sp>
      <p:sp>
        <p:nvSpPr>
          <p:cNvPr id="21506" name="Rectangle 54"/>
          <p:cNvSpPr>
            <a:spLocks noGrp="1"/>
          </p:cNvSpPr>
          <p:nvPr>
            <p:ph type="body" idx="4294967295"/>
          </p:nvPr>
        </p:nvSpPr>
        <p:spPr>
          <a:xfrm>
            <a:off x="250825" y="1268413"/>
            <a:ext cx="8075613" cy="1160462"/>
          </a:xfrm>
        </p:spPr>
        <p:txBody>
          <a:bodyPr vert="horz" wrap="square" anchor="t" anchorCtr="0"/>
          <a:p>
            <a:pPr marL="0" eaLnBrk="1" hangingPunct="1"/>
            <a:r>
              <a:t>结构化程式理论中提到利用顺序、选择及重复这三种</a:t>
            </a:r>
            <a:r>
              <a:rPr lang="zh-CN">
                <a:ea typeface="宋体" charset="0"/>
              </a:rPr>
              <a:t>控制结构</a:t>
            </a:r>
            <a:r>
              <a:t>，</a:t>
            </a:r>
            <a:r>
              <a:rPr lang="zh-CN">
                <a:ea typeface="宋体" charset="0"/>
              </a:rPr>
              <a:t>能</a:t>
            </a:r>
            <a:r>
              <a:t>表示所有可计算函数。</a:t>
            </a:r>
          </a:p>
        </p:txBody>
      </p:sp>
      <p:sp>
        <p:nvSpPr>
          <p:cNvPr id="21507" name="Rectangle 18"/>
          <p:cNvSpPr/>
          <p:nvPr/>
        </p:nvSpPr>
        <p:spPr>
          <a:xfrm>
            <a:off x="395605" y="5784850"/>
            <a:ext cx="1752600" cy="381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chemeClr val="bg2"/>
                </a:solidFill>
                <a:latin typeface="宋体" pitchFamily="2" charset="-122"/>
              </a:rPr>
              <a:t>顺序结构</a:t>
            </a:r>
            <a:endParaRPr lang="zh-CN" altLang="en-US" sz="2400" b="1" dirty="0">
              <a:solidFill>
                <a:schemeClr val="bg2"/>
              </a:solidFill>
              <a:latin typeface="宋体" pitchFamily="2" charset="-122"/>
            </a:endParaRPr>
          </a:p>
        </p:txBody>
      </p:sp>
      <p:grpSp>
        <p:nvGrpSpPr>
          <p:cNvPr id="21508" name="Group 19"/>
          <p:cNvGrpSpPr/>
          <p:nvPr/>
        </p:nvGrpSpPr>
        <p:grpSpPr>
          <a:xfrm>
            <a:off x="474980" y="2729865"/>
            <a:ext cx="8153400" cy="2971800"/>
            <a:chOff x="0" y="0"/>
            <a:chExt cx="5136" cy="1872"/>
          </a:xfrm>
        </p:grpSpPr>
        <p:sp>
          <p:nvSpPr>
            <p:cNvPr id="21509" name="Rectangle 20"/>
            <p:cNvSpPr/>
            <p:nvPr/>
          </p:nvSpPr>
          <p:spPr>
            <a:xfrm>
              <a:off x="0" y="240"/>
              <a:ext cx="576" cy="240"/>
            </a:xfrm>
            <a:prstGeom prst="rect">
              <a:avLst/>
            </a:prstGeom>
            <a:noFill/>
            <a:ln w="12700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Arial" panose="02080604020202020204" pitchFamily="34" charset="0"/>
              </a:endParaRPr>
            </a:p>
          </p:txBody>
        </p:sp>
        <p:sp>
          <p:nvSpPr>
            <p:cNvPr id="21510" name="Line 21"/>
            <p:cNvSpPr/>
            <p:nvPr/>
          </p:nvSpPr>
          <p:spPr>
            <a:xfrm>
              <a:off x="288" y="0"/>
              <a:ext cx="0" cy="24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1511" name="Line 22"/>
            <p:cNvSpPr/>
            <p:nvPr/>
          </p:nvSpPr>
          <p:spPr>
            <a:xfrm>
              <a:off x="288" y="960"/>
              <a:ext cx="0" cy="24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1512" name="Line 23"/>
            <p:cNvSpPr/>
            <p:nvPr/>
          </p:nvSpPr>
          <p:spPr>
            <a:xfrm>
              <a:off x="288" y="480"/>
              <a:ext cx="0" cy="24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1513" name="Rectangle 24"/>
            <p:cNvSpPr/>
            <p:nvPr/>
          </p:nvSpPr>
          <p:spPr>
            <a:xfrm>
              <a:off x="0" y="720"/>
              <a:ext cx="576" cy="240"/>
            </a:xfrm>
            <a:prstGeom prst="rect">
              <a:avLst/>
            </a:prstGeom>
            <a:noFill/>
            <a:ln w="12700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Arial" panose="02080604020202020204" pitchFamily="34" charset="0"/>
              </a:endParaRPr>
            </a:p>
          </p:txBody>
        </p:sp>
        <p:sp>
          <p:nvSpPr>
            <p:cNvPr id="21514" name="Rectangle 25"/>
            <p:cNvSpPr/>
            <p:nvPr/>
          </p:nvSpPr>
          <p:spPr>
            <a:xfrm>
              <a:off x="0" y="1200"/>
              <a:ext cx="576" cy="240"/>
            </a:xfrm>
            <a:prstGeom prst="rect">
              <a:avLst/>
            </a:prstGeom>
            <a:noFill/>
            <a:ln w="12700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Arial" panose="02080604020202020204" pitchFamily="34" charset="0"/>
              </a:endParaRPr>
            </a:p>
          </p:txBody>
        </p:sp>
        <p:sp>
          <p:nvSpPr>
            <p:cNvPr id="21515" name="Line 26"/>
            <p:cNvSpPr/>
            <p:nvPr/>
          </p:nvSpPr>
          <p:spPr>
            <a:xfrm>
              <a:off x="288" y="1440"/>
              <a:ext cx="0" cy="24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1516" name="AutoShape 27"/>
            <p:cNvSpPr/>
            <p:nvPr/>
          </p:nvSpPr>
          <p:spPr>
            <a:xfrm>
              <a:off x="1440" y="336"/>
              <a:ext cx="960" cy="336"/>
            </a:xfrm>
            <a:prstGeom prst="diamond">
              <a:avLst/>
            </a:prstGeom>
            <a:noFill/>
            <a:ln w="12700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Arial" panose="02080604020202020204" pitchFamily="34" charset="0"/>
              </a:endParaRPr>
            </a:p>
          </p:txBody>
        </p:sp>
        <p:sp>
          <p:nvSpPr>
            <p:cNvPr id="21517" name="Line 28"/>
            <p:cNvSpPr/>
            <p:nvPr/>
          </p:nvSpPr>
          <p:spPr>
            <a:xfrm>
              <a:off x="1920" y="48"/>
              <a:ext cx="0" cy="24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1518" name="Line 29"/>
            <p:cNvSpPr/>
            <p:nvPr/>
          </p:nvSpPr>
          <p:spPr>
            <a:xfrm>
              <a:off x="1104" y="528"/>
              <a:ext cx="336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19" name="Line 30"/>
            <p:cNvSpPr/>
            <p:nvPr/>
          </p:nvSpPr>
          <p:spPr>
            <a:xfrm>
              <a:off x="2400" y="528"/>
              <a:ext cx="336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20" name="Line 31"/>
            <p:cNvSpPr/>
            <p:nvPr/>
          </p:nvSpPr>
          <p:spPr>
            <a:xfrm>
              <a:off x="1104" y="528"/>
              <a:ext cx="0" cy="24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1521" name="Line 32"/>
            <p:cNvSpPr/>
            <p:nvPr/>
          </p:nvSpPr>
          <p:spPr>
            <a:xfrm>
              <a:off x="2736" y="528"/>
              <a:ext cx="0" cy="24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1522" name="Rectangle 33"/>
            <p:cNvSpPr/>
            <p:nvPr/>
          </p:nvSpPr>
          <p:spPr>
            <a:xfrm>
              <a:off x="816" y="768"/>
              <a:ext cx="576" cy="240"/>
            </a:xfrm>
            <a:prstGeom prst="rect">
              <a:avLst/>
            </a:prstGeom>
            <a:noFill/>
            <a:ln w="12700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Arial" panose="02080604020202020204" pitchFamily="34" charset="0"/>
              </a:endParaRPr>
            </a:p>
          </p:txBody>
        </p:sp>
        <p:sp>
          <p:nvSpPr>
            <p:cNvPr id="21523" name="Rectangle 34"/>
            <p:cNvSpPr/>
            <p:nvPr/>
          </p:nvSpPr>
          <p:spPr>
            <a:xfrm>
              <a:off x="2448" y="768"/>
              <a:ext cx="576" cy="240"/>
            </a:xfrm>
            <a:prstGeom prst="rect">
              <a:avLst/>
            </a:prstGeom>
            <a:noFill/>
            <a:ln w="12700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Arial" panose="02080604020202020204" pitchFamily="34" charset="0"/>
              </a:endParaRPr>
            </a:p>
          </p:txBody>
        </p:sp>
        <p:sp>
          <p:nvSpPr>
            <p:cNvPr id="21524" name="Line 35"/>
            <p:cNvSpPr/>
            <p:nvPr/>
          </p:nvSpPr>
          <p:spPr>
            <a:xfrm>
              <a:off x="1104" y="1296"/>
              <a:ext cx="1632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25" name="Line 36"/>
            <p:cNvSpPr/>
            <p:nvPr/>
          </p:nvSpPr>
          <p:spPr>
            <a:xfrm flipV="1">
              <a:off x="1104" y="1008"/>
              <a:ext cx="0" cy="288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26" name="Line 37"/>
            <p:cNvSpPr/>
            <p:nvPr/>
          </p:nvSpPr>
          <p:spPr>
            <a:xfrm flipV="1">
              <a:off x="2736" y="1008"/>
              <a:ext cx="0" cy="288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27" name="Line 38"/>
            <p:cNvSpPr/>
            <p:nvPr/>
          </p:nvSpPr>
          <p:spPr>
            <a:xfrm>
              <a:off x="1920" y="1296"/>
              <a:ext cx="0" cy="24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1528" name="AutoShape 39"/>
            <p:cNvSpPr/>
            <p:nvPr/>
          </p:nvSpPr>
          <p:spPr>
            <a:xfrm>
              <a:off x="3840" y="288"/>
              <a:ext cx="960" cy="336"/>
            </a:xfrm>
            <a:prstGeom prst="diamond">
              <a:avLst/>
            </a:prstGeom>
            <a:noFill/>
            <a:ln w="12700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Arial" panose="02080604020202020204" pitchFamily="34" charset="0"/>
              </a:endParaRPr>
            </a:p>
          </p:txBody>
        </p:sp>
        <p:sp>
          <p:nvSpPr>
            <p:cNvPr id="21529" name="Line 40"/>
            <p:cNvSpPr/>
            <p:nvPr/>
          </p:nvSpPr>
          <p:spPr>
            <a:xfrm>
              <a:off x="4320" y="0"/>
              <a:ext cx="0" cy="24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1530" name="Line 41"/>
            <p:cNvSpPr/>
            <p:nvPr/>
          </p:nvSpPr>
          <p:spPr>
            <a:xfrm>
              <a:off x="4320" y="624"/>
              <a:ext cx="0" cy="24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1531" name="Rectangle 42"/>
            <p:cNvSpPr/>
            <p:nvPr/>
          </p:nvSpPr>
          <p:spPr>
            <a:xfrm>
              <a:off x="4032" y="864"/>
              <a:ext cx="576" cy="240"/>
            </a:xfrm>
            <a:prstGeom prst="rect">
              <a:avLst/>
            </a:prstGeom>
            <a:noFill/>
            <a:ln w="12700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Arial" panose="02080604020202020204" pitchFamily="34" charset="0"/>
              </a:endParaRPr>
            </a:p>
          </p:txBody>
        </p:sp>
        <p:sp>
          <p:nvSpPr>
            <p:cNvPr id="21532" name="Line 43"/>
            <p:cNvSpPr/>
            <p:nvPr/>
          </p:nvSpPr>
          <p:spPr>
            <a:xfrm flipV="1">
              <a:off x="4320" y="1104"/>
              <a:ext cx="0" cy="288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33" name="Line 44"/>
            <p:cNvSpPr/>
            <p:nvPr/>
          </p:nvSpPr>
          <p:spPr>
            <a:xfrm flipV="1">
              <a:off x="3456" y="1392"/>
              <a:ext cx="864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34" name="Line 45"/>
            <p:cNvSpPr/>
            <p:nvPr/>
          </p:nvSpPr>
          <p:spPr>
            <a:xfrm flipV="1">
              <a:off x="3456" y="432"/>
              <a:ext cx="0" cy="96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35" name="Line 46"/>
            <p:cNvSpPr/>
            <p:nvPr/>
          </p:nvSpPr>
          <p:spPr>
            <a:xfrm>
              <a:off x="3456" y="432"/>
              <a:ext cx="384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1536" name="Line 47"/>
            <p:cNvSpPr/>
            <p:nvPr/>
          </p:nvSpPr>
          <p:spPr>
            <a:xfrm>
              <a:off x="4800" y="432"/>
              <a:ext cx="336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37" name="Line 48"/>
            <p:cNvSpPr/>
            <p:nvPr/>
          </p:nvSpPr>
          <p:spPr>
            <a:xfrm flipH="1">
              <a:off x="5136" y="432"/>
              <a:ext cx="0" cy="120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38" name="Line 49"/>
            <p:cNvSpPr/>
            <p:nvPr/>
          </p:nvSpPr>
          <p:spPr>
            <a:xfrm>
              <a:off x="4320" y="1632"/>
              <a:ext cx="816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39" name="Line 50"/>
            <p:cNvSpPr/>
            <p:nvPr/>
          </p:nvSpPr>
          <p:spPr>
            <a:xfrm>
              <a:off x="4320" y="1632"/>
              <a:ext cx="0" cy="24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21540" name="Rectangle 51"/>
          <p:cNvSpPr/>
          <p:nvPr/>
        </p:nvSpPr>
        <p:spPr>
          <a:xfrm>
            <a:off x="6851968" y="5784850"/>
            <a:ext cx="1752600" cy="381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chemeClr val="bg2"/>
                </a:solidFill>
                <a:latin typeface="宋体" pitchFamily="2" charset="-122"/>
              </a:rPr>
              <a:t>循环结构</a:t>
            </a:r>
            <a:endParaRPr lang="zh-CN" altLang="en-US" sz="2400" b="1" dirty="0">
              <a:solidFill>
                <a:schemeClr val="bg2"/>
              </a:solidFill>
              <a:latin typeface="宋体" pitchFamily="2" charset="-122"/>
            </a:endParaRPr>
          </a:p>
        </p:txBody>
      </p:sp>
      <p:sp>
        <p:nvSpPr>
          <p:cNvPr id="21541" name="Rectangle 52"/>
          <p:cNvSpPr/>
          <p:nvPr/>
        </p:nvSpPr>
        <p:spPr>
          <a:xfrm>
            <a:off x="2987993" y="5784850"/>
            <a:ext cx="1752600" cy="381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chemeClr val="bg2"/>
                </a:solidFill>
                <a:latin typeface="宋体" pitchFamily="2" charset="-122"/>
              </a:rPr>
              <a:t>分支结构</a:t>
            </a:r>
            <a:endParaRPr lang="zh-CN" altLang="en-US" sz="2400" b="1" dirty="0">
              <a:solidFill>
                <a:schemeClr val="bg2"/>
              </a:solidFill>
              <a:latin typeface="宋体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988310" y="3345815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x-none">
                <a:ea typeface="宋体" charset="0"/>
              </a:rPr>
              <a:t>条件判断</a:t>
            </a:r>
            <a:endParaRPr lang="zh-CN" altLang="x-none">
              <a:ea typeface="宋体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780530" y="3269615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x-none">
                <a:ea typeface="宋体" charset="0"/>
              </a:rPr>
              <a:t>条件判断</a:t>
            </a:r>
            <a:endParaRPr lang="zh-CN" altLang="x-none">
              <a:ea typeface="宋体" charset="0"/>
            </a:endParaRPr>
          </a:p>
        </p:txBody>
      </p:sp>
    </p:spTree>
  </p:cSld>
  <p:clrMapOvr>
    <a:masterClrMapping/>
  </p:clrMapOvr>
  <p:transition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Rectangle 4"/>
          <p:cNvSpPr>
            <a:spLocks noGrp="1"/>
          </p:cNvSpPr>
          <p:nvPr>
            <p:ph type="title" idx="4294967295"/>
          </p:nvPr>
        </p:nvSpPr>
        <p:spPr/>
        <p:txBody>
          <a:bodyPr vert="horz" wrap="square" anchor="ctr" anchorCtr="0"/>
          <a:p>
            <a:pPr eaLnBrk="1" hangingPunct="1"/>
            <a:r>
              <a:rPr lang="zh-CN" altLang="en-US"/>
              <a:t>流程控制 </a:t>
            </a:r>
            <a:endParaRPr lang="zh-CN" altLang="en-US"/>
          </a:p>
        </p:txBody>
      </p:sp>
      <p:sp>
        <p:nvSpPr>
          <p:cNvPr id="22530" name="Rectangle 5"/>
          <p:cNvSpPr>
            <a:spLocks noGrp="1"/>
          </p:cNvSpPr>
          <p:nvPr>
            <p:ph type="body" idx="4294967295"/>
          </p:nvPr>
        </p:nvSpPr>
        <p:spPr/>
        <p:txBody>
          <a:bodyPr vert="horz" wrap="square" anchor="t" anchorCtr="0"/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 语句级控制：3种基本的控制结构</a:t>
            </a:r>
            <a:endParaRPr lang="zh-CN" altLang="en-US" sz="28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/>
              <a:t>顺序控制结构</a:t>
            </a:r>
            <a:r>
              <a:rPr lang="zh-CN" altLang="en-US" sz="2400" dirty="0"/>
              <a:t>：自然顺序执行</a:t>
            </a:r>
            <a:endParaRPr lang="zh-CN" altLang="en-US" sz="24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/>
              <a:t>分支控制结构</a:t>
            </a:r>
            <a:r>
              <a:rPr lang="zh-CN" altLang="en-US" sz="2400" dirty="0"/>
              <a:t>（选择结构）：根据不同的条件来选择所要执行的模块</a:t>
            </a:r>
            <a:endParaRPr lang="zh-CN" altLang="en-US" sz="24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/>
              <a:t>循环控制结构</a:t>
            </a:r>
            <a:r>
              <a:rPr lang="zh-CN" altLang="en-US" sz="2400" dirty="0"/>
              <a:t>：重复执行某个模块</a:t>
            </a:r>
            <a:endParaRPr lang="zh-CN" altLang="en-US" sz="2400" dirty="0"/>
          </a:p>
          <a:p>
            <a:pPr lvl="1" eaLnBrk="1" hangingPunct="1">
              <a:lnSpc>
                <a:spcPct val="90000"/>
              </a:lnSpc>
            </a:pPr>
            <a:endParaRPr lang="zh-CN" altLang="en-US" sz="24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 单位级控制：函数的定义与调用</a:t>
            </a:r>
            <a:endParaRPr lang="zh-CN" altLang="en-US" sz="28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/>
              <a:t>处理复杂问题时, 将程序分为若干个相对独立的子程序（函数） </a:t>
            </a:r>
            <a:endParaRPr lang="zh-CN" altLang="en-US" sz="2400" dirty="0"/>
          </a:p>
        </p:txBody>
      </p:sp>
    </p:spTree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Rectangle 4"/>
          <p:cNvSpPr>
            <a:spLocks noGrp="1"/>
          </p:cNvSpPr>
          <p:nvPr>
            <p:ph type="title" idx="4294967295"/>
          </p:nvPr>
        </p:nvSpPr>
        <p:spPr/>
        <p:txBody>
          <a:bodyPr vert="horz" wrap="square" anchor="ctr" anchorCtr="0"/>
          <a:p>
            <a:pPr eaLnBrk="1" hangingPunct="1"/>
            <a:r>
              <a:rPr lang="en-US" altLang="zh-CN"/>
              <a:t>1.4  </a:t>
            </a:r>
            <a:r>
              <a:rPr lang="zh-CN" altLang="en-US"/>
              <a:t>实现问题求解的过程 </a:t>
            </a:r>
            <a:endParaRPr lang="zh-CN" altLang="en-US"/>
          </a:p>
        </p:txBody>
      </p:sp>
      <p:sp>
        <p:nvSpPr>
          <p:cNvPr id="23554" name="Rectangle 5"/>
          <p:cNvSpPr>
            <a:spLocks noGrp="1"/>
          </p:cNvSpPr>
          <p:nvPr>
            <p:ph type="body" idx="4294967295"/>
          </p:nvPr>
        </p:nvSpPr>
        <p:spPr>
          <a:xfrm>
            <a:off x="395288" y="1700213"/>
            <a:ext cx="8497887" cy="4752975"/>
          </a:xfrm>
        </p:spPr>
        <p:txBody>
          <a:bodyPr vert="horz" wrap="square" anchor="t" anchorCtr="0"/>
          <a:p>
            <a:pPr eaLnBrk="1" hangingPunct="1">
              <a:buNone/>
            </a:pPr>
            <a:r>
              <a:rPr lang="zh-CN" altLang="en-US" sz="2800" dirty="0"/>
              <a:t> 问题：求1～100范围内所有偶数的和。</a:t>
            </a:r>
            <a:endParaRPr lang="zh-CN" altLang="en-US" sz="2800" dirty="0"/>
          </a:p>
          <a:p>
            <a:pPr eaLnBrk="1" hangingPunct="1">
              <a:buNone/>
            </a:pPr>
            <a:r>
              <a:rPr lang="zh-CN" altLang="en-US" sz="2800" dirty="0"/>
              <a:t>1．问题分析与算法设计 </a:t>
            </a:r>
            <a:endParaRPr lang="zh-CN" altLang="en-US" sz="2800" dirty="0"/>
          </a:p>
          <a:p>
            <a:pPr lvl="1" eaLnBrk="1" hangingPunct="1">
              <a:buNone/>
            </a:pPr>
            <a:r>
              <a:rPr lang="zh-CN" altLang="en-US" sz="2400" dirty="0"/>
              <a:t>求在一定范围内（1～100）、满足一定条件(偶数)的若干整数的和，是求累加和。 </a:t>
            </a:r>
            <a:endParaRPr lang="zh-CN" altLang="en-US" sz="2400" dirty="0"/>
          </a:p>
          <a:p>
            <a:pPr lvl="1" eaLnBrk="1" hangingPunct="1"/>
            <a:endParaRPr lang="zh-CN" altLang="en-US" sz="2400" dirty="0"/>
          </a:p>
          <a:p>
            <a:pPr lvl="1" eaLnBrk="1" hangingPunct="1">
              <a:buNone/>
            </a:pPr>
            <a:r>
              <a:rPr lang="zh-CN" altLang="en-US" sz="2400" dirty="0">
                <a:solidFill>
                  <a:srgbClr val="CC0066"/>
                </a:solidFill>
              </a:rPr>
              <a:t>思路</a:t>
            </a:r>
            <a:r>
              <a:rPr lang="zh-CN" altLang="en-US" sz="2400" dirty="0"/>
              <a:t>：设置一个变量(</a:t>
            </a:r>
            <a:r>
              <a:rPr lang="en-US" altLang="zh-CN" sz="2400" dirty="0"/>
              <a:t>sum)，</a:t>
            </a:r>
            <a:r>
              <a:rPr lang="zh-CN" altLang="en-US" sz="2400" dirty="0"/>
              <a:t>其初值为0，然后在1～100的数中(</a:t>
            </a:r>
            <a:r>
              <a:rPr lang="en-US" altLang="zh-CN" sz="2400" dirty="0"/>
              <a:t>i)</a:t>
            </a:r>
            <a:r>
              <a:rPr lang="zh-CN" altLang="en-US" sz="2400" dirty="0"/>
              <a:t>寻找偶数</a:t>
            </a:r>
            <a:r>
              <a:rPr lang="en-US" altLang="zh-CN" sz="2400" dirty="0"/>
              <a:t>，</a:t>
            </a:r>
            <a:r>
              <a:rPr lang="zh-CN" altLang="en-US" sz="2400" dirty="0"/>
              <a:t>将它们一个一个累加到</a:t>
            </a:r>
            <a:r>
              <a:rPr lang="en-US" altLang="zh-CN" sz="2400" dirty="0"/>
              <a:t>sum</a:t>
            </a:r>
            <a:r>
              <a:rPr lang="zh-CN" altLang="en-US" sz="2400" dirty="0"/>
              <a:t>中。</a:t>
            </a:r>
            <a:endParaRPr lang="zh-CN" altLang="en-US" sz="2400" dirty="0"/>
          </a:p>
          <a:p>
            <a:pPr lvl="2" eaLnBrk="1" hangingPunct="1"/>
            <a:r>
              <a:rPr lang="zh-CN" altLang="en-US" sz="2000" dirty="0"/>
              <a:t>一步累加：</a:t>
            </a:r>
            <a:r>
              <a:rPr lang="en-US" altLang="zh-CN" sz="2000" dirty="0"/>
              <a:t>sum = sum + i;  </a:t>
            </a:r>
            <a:endParaRPr lang="en-US" altLang="zh-CN" sz="2000" dirty="0"/>
          </a:p>
          <a:p>
            <a:pPr lvl="2" eaLnBrk="1" hangingPunct="1"/>
            <a:r>
              <a:rPr lang="zh-CN" altLang="en-US" sz="2000" dirty="0"/>
              <a:t>重复累加，用循环语句实现，在循环过程中：</a:t>
            </a:r>
            <a:endParaRPr lang="zh-CN" altLang="en-US" sz="2000" dirty="0"/>
          </a:p>
          <a:p>
            <a:pPr lvl="3" eaLnBrk="1" hangingPunct="1">
              <a:buNone/>
            </a:pPr>
            <a:r>
              <a:rPr lang="zh-CN" altLang="en-US" sz="1800" dirty="0"/>
              <a:t>(1) 判别 </a:t>
            </a:r>
            <a:r>
              <a:rPr lang="en-US" altLang="zh-CN" sz="1800" dirty="0"/>
              <a:t>i </a:t>
            </a:r>
            <a:r>
              <a:rPr lang="zh-CN" altLang="en-US" sz="1800" dirty="0"/>
              <a:t>是不是偶数：用分支控制语句来实现。</a:t>
            </a:r>
            <a:endParaRPr lang="zh-CN" altLang="en-US" sz="1800" dirty="0"/>
          </a:p>
          <a:p>
            <a:pPr lvl="3" eaLnBrk="1" hangingPunct="1">
              <a:buNone/>
            </a:pPr>
            <a:r>
              <a:rPr lang="zh-CN" altLang="en-US" sz="1800" dirty="0"/>
              <a:t>(2) 对循环次数进行控制：通过 </a:t>
            </a:r>
            <a:r>
              <a:rPr lang="en-US" altLang="zh-CN" sz="1800" dirty="0"/>
              <a:t>i </a:t>
            </a:r>
            <a:r>
              <a:rPr lang="zh-CN" altLang="en-US" sz="1800" dirty="0"/>
              <a:t>值的变化</a:t>
            </a:r>
            <a:endParaRPr lang="zh-CN" altLang="en-US" sz="1800" dirty="0"/>
          </a:p>
        </p:txBody>
      </p:sp>
      <p:sp>
        <p:nvSpPr>
          <p:cNvPr id="2" name="文本框 1"/>
          <p:cNvSpPr txBox="1"/>
          <p:nvPr/>
        </p:nvSpPr>
        <p:spPr>
          <a:xfrm>
            <a:off x="431483" y="3630295"/>
            <a:ext cx="8281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1  2  3  4  5  6  7  8  9  10  11  12  13  14  15  16  ......  97  98  99  100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Rectangle 4"/>
          <p:cNvSpPr>
            <a:spLocks noGrp="1"/>
          </p:cNvSpPr>
          <p:nvPr>
            <p:ph type="title" idx="4294967295"/>
          </p:nvPr>
        </p:nvSpPr>
        <p:spPr/>
        <p:txBody>
          <a:bodyPr vert="horz" wrap="square" anchor="ctr" anchorCtr="0"/>
          <a:p>
            <a:pPr eaLnBrk="1" hangingPunct="1"/>
            <a:r>
              <a:rPr lang="zh-CN" altLang="en-US"/>
              <a:t>问题分析与算法设计 </a:t>
            </a:r>
            <a:endParaRPr lang="zh-CN" altLang="en-US"/>
          </a:p>
        </p:txBody>
      </p:sp>
      <p:sp>
        <p:nvSpPr>
          <p:cNvPr id="24578" name="Rectangle 5"/>
          <p:cNvSpPr>
            <a:spLocks noGrp="1"/>
          </p:cNvSpPr>
          <p:nvPr>
            <p:ph type="body" idx="4294967295"/>
          </p:nvPr>
        </p:nvSpPr>
        <p:spPr/>
        <p:txBody>
          <a:bodyPr vert="horz" wrap="square" anchor="t" anchorCtr="0"/>
          <a:p>
            <a:pPr lvl="1" eaLnBrk="1" hangingPunct="1"/>
            <a:r>
              <a:rPr lang="zh-CN" altLang="en-US" dirty="0"/>
              <a:t>思路 </a:t>
            </a:r>
            <a:r>
              <a:rPr lang="en-US" altLang="zh-CN" dirty="0"/>
              <a:t>--&gt; </a:t>
            </a:r>
            <a:r>
              <a:rPr lang="zh-CN" altLang="en-US" dirty="0"/>
              <a:t>确定算法</a:t>
            </a:r>
            <a:endParaRPr lang="zh-CN" altLang="en-US" dirty="0"/>
          </a:p>
          <a:p>
            <a:pPr lvl="1" eaLnBrk="1" hangingPunct="1"/>
            <a:endParaRPr lang="zh-CN" altLang="en-US" dirty="0"/>
          </a:p>
          <a:p>
            <a:pPr lvl="1" eaLnBrk="1" hangingPunct="1"/>
            <a:r>
              <a:rPr lang="zh-CN" altLang="en-US" dirty="0"/>
              <a:t>算法</a:t>
            </a:r>
            <a:r>
              <a:rPr lang="en-US" altLang="zh-CN" dirty="0"/>
              <a:t>：</a:t>
            </a:r>
            <a:r>
              <a:rPr lang="zh-CN" altLang="en-US" dirty="0"/>
              <a:t>一组明确的解决问题的步骤，它产生结果并可在有限的时间内终止。</a:t>
            </a:r>
            <a:endParaRPr lang="zh-CN" altLang="en-US" dirty="0"/>
          </a:p>
          <a:p>
            <a:pPr lvl="1" eaLnBrk="1" hangingPunct="1"/>
            <a:endParaRPr lang="zh-CN" altLang="en-US" dirty="0"/>
          </a:p>
          <a:p>
            <a:pPr lvl="1" eaLnBrk="1" hangingPunct="1"/>
            <a:r>
              <a:rPr lang="zh-CN" altLang="en-US" dirty="0"/>
              <a:t>算法的描述：</a:t>
            </a:r>
            <a:endParaRPr lang="zh-CN" altLang="en-US" dirty="0"/>
          </a:p>
          <a:p>
            <a:pPr lvl="2" eaLnBrk="1" hangingPunct="1"/>
            <a:r>
              <a:rPr lang="zh-CN" altLang="en-US" dirty="0"/>
              <a:t>自然语言</a:t>
            </a:r>
            <a:endParaRPr lang="zh-CN" altLang="en-US" dirty="0"/>
          </a:p>
          <a:p>
            <a:pPr lvl="2" eaLnBrk="1" hangingPunct="1"/>
            <a:r>
              <a:rPr lang="zh-CN" altLang="en-US" dirty="0"/>
              <a:t>伪代码</a:t>
            </a:r>
            <a:endParaRPr lang="zh-CN" altLang="en-US" dirty="0"/>
          </a:p>
          <a:p>
            <a:pPr lvl="2" eaLnBrk="1" hangingPunct="1"/>
            <a:r>
              <a:rPr lang="zh-CN" altLang="en-US" dirty="0"/>
              <a:t>流程图：算法的图形表示法 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5601" name="Group 89"/>
          <p:cNvGrpSpPr/>
          <p:nvPr/>
        </p:nvGrpSpPr>
        <p:grpSpPr>
          <a:xfrm>
            <a:off x="1143000" y="223838"/>
            <a:ext cx="5334000" cy="6405563"/>
            <a:chOff x="0" y="45"/>
            <a:chExt cx="3360" cy="4035"/>
          </a:xfrm>
        </p:grpSpPr>
        <p:sp>
          <p:nvSpPr>
            <p:cNvPr id="25602" name="Text Box 37"/>
            <p:cNvSpPr txBox="1"/>
            <p:nvPr/>
          </p:nvSpPr>
          <p:spPr>
            <a:xfrm>
              <a:off x="1110" y="45"/>
              <a:ext cx="1219" cy="406"/>
            </a:xfrm>
            <a:prstGeom prst="rect">
              <a:avLst/>
            </a:prstGeom>
            <a:noFill/>
            <a:ln w="12700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square" anchor="t" anchorCtr="0">
              <a:spAutoFit/>
            </a:bodyPr>
            <a:p>
              <a:pPr algn="ctr" eaLnBrk="0" hangingPunct="0"/>
              <a:r>
                <a:rPr lang="en-US" altLang="zh-CN" sz="1800" dirty="0">
                  <a:latin typeface="Arial" panose="02080604020202020204" pitchFamily="34" charset="0"/>
                </a:rPr>
                <a:t>sum = 0</a:t>
              </a:r>
              <a:endParaRPr lang="en-US" altLang="zh-CN" sz="1800" dirty="0">
                <a:latin typeface="Arial" panose="02080604020202020204" pitchFamily="34" charset="0"/>
              </a:endParaRPr>
            </a:p>
            <a:p>
              <a:pPr algn="ctr" eaLnBrk="0" hangingPunct="0"/>
              <a:r>
                <a:rPr lang="en-US" altLang="zh-CN" sz="1800" dirty="0">
                  <a:latin typeface="Arial" panose="02080604020202020204" pitchFamily="34" charset="0"/>
                </a:rPr>
                <a:t>i = 1</a:t>
              </a:r>
              <a:endParaRPr lang="en-US" altLang="zh-CN" sz="1800" dirty="0">
                <a:latin typeface="Arial" panose="02080604020202020204" pitchFamily="34" charset="0"/>
              </a:endParaRPr>
            </a:p>
          </p:txBody>
        </p:sp>
        <p:sp>
          <p:nvSpPr>
            <p:cNvPr id="25603" name="AutoShape 58"/>
            <p:cNvSpPr/>
            <p:nvPr/>
          </p:nvSpPr>
          <p:spPr>
            <a:xfrm>
              <a:off x="1248" y="624"/>
              <a:ext cx="960" cy="432"/>
            </a:xfrm>
            <a:prstGeom prst="diamond">
              <a:avLst/>
            </a:prstGeom>
            <a:noFill/>
            <a:ln w="12700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80604020202020204" pitchFamily="34" charset="0"/>
              </a:endParaRPr>
            </a:p>
          </p:txBody>
        </p:sp>
        <p:sp>
          <p:nvSpPr>
            <p:cNvPr id="25604" name="Line 59"/>
            <p:cNvSpPr/>
            <p:nvPr/>
          </p:nvSpPr>
          <p:spPr>
            <a:xfrm>
              <a:off x="1728" y="480"/>
              <a:ext cx="0" cy="144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5605" name="Line 60"/>
            <p:cNvSpPr/>
            <p:nvPr/>
          </p:nvSpPr>
          <p:spPr>
            <a:xfrm>
              <a:off x="1728" y="1056"/>
              <a:ext cx="0" cy="24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5606" name="Rectangle 61"/>
            <p:cNvSpPr/>
            <p:nvPr/>
          </p:nvSpPr>
          <p:spPr>
            <a:xfrm>
              <a:off x="288" y="1972"/>
              <a:ext cx="268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80604020202020204" pitchFamily="34" charset="0"/>
              </a:endParaRPr>
            </a:p>
          </p:txBody>
        </p:sp>
        <p:sp>
          <p:nvSpPr>
            <p:cNvPr id="25607" name="Line 62"/>
            <p:cNvSpPr/>
            <p:nvPr/>
          </p:nvSpPr>
          <p:spPr>
            <a:xfrm flipV="1">
              <a:off x="1728" y="2928"/>
              <a:ext cx="0" cy="288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08" name="Line 63"/>
            <p:cNvSpPr/>
            <p:nvPr/>
          </p:nvSpPr>
          <p:spPr>
            <a:xfrm flipV="1">
              <a:off x="0" y="3216"/>
              <a:ext cx="1728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09" name="Line 64"/>
            <p:cNvSpPr/>
            <p:nvPr/>
          </p:nvSpPr>
          <p:spPr>
            <a:xfrm flipV="1">
              <a:off x="0" y="864"/>
              <a:ext cx="0" cy="2352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10" name="Line 65"/>
            <p:cNvSpPr/>
            <p:nvPr/>
          </p:nvSpPr>
          <p:spPr>
            <a:xfrm>
              <a:off x="0" y="864"/>
              <a:ext cx="1200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5611" name="Line 66"/>
            <p:cNvSpPr/>
            <p:nvPr/>
          </p:nvSpPr>
          <p:spPr>
            <a:xfrm>
              <a:off x="2208" y="864"/>
              <a:ext cx="1152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12" name="Line 67"/>
            <p:cNvSpPr/>
            <p:nvPr/>
          </p:nvSpPr>
          <p:spPr>
            <a:xfrm>
              <a:off x="3360" y="864"/>
              <a:ext cx="0" cy="2448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13" name="Line 68"/>
            <p:cNvSpPr/>
            <p:nvPr/>
          </p:nvSpPr>
          <p:spPr>
            <a:xfrm>
              <a:off x="1728" y="3312"/>
              <a:ext cx="1632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14" name="Line 69"/>
            <p:cNvSpPr/>
            <p:nvPr/>
          </p:nvSpPr>
          <p:spPr>
            <a:xfrm>
              <a:off x="1728" y="3312"/>
              <a:ext cx="0" cy="24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5615" name="Text Box 70"/>
            <p:cNvSpPr txBox="1"/>
            <p:nvPr/>
          </p:nvSpPr>
          <p:spPr>
            <a:xfrm>
              <a:off x="1248" y="720"/>
              <a:ext cx="960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1800" dirty="0">
                  <a:latin typeface="Arial" panose="02080604020202020204" pitchFamily="34" charset="0"/>
                </a:rPr>
                <a:t>i &lt;= 100</a:t>
              </a:r>
              <a:endParaRPr lang="en-US" altLang="zh-CN" sz="1800" dirty="0">
                <a:latin typeface="Arial" panose="02080604020202020204" pitchFamily="34" charset="0"/>
              </a:endParaRPr>
            </a:p>
          </p:txBody>
        </p:sp>
        <p:sp>
          <p:nvSpPr>
            <p:cNvPr id="25616" name="AutoShape 71"/>
            <p:cNvSpPr/>
            <p:nvPr/>
          </p:nvSpPr>
          <p:spPr>
            <a:xfrm>
              <a:off x="1248" y="1344"/>
              <a:ext cx="960" cy="336"/>
            </a:xfrm>
            <a:prstGeom prst="diamond">
              <a:avLst/>
            </a:prstGeom>
            <a:noFill/>
            <a:ln w="12700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Arial" panose="02080604020202020204" pitchFamily="34" charset="0"/>
              </a:endParaRPr>
            </a:p>
          </p:txBody>
        </p:sp>
        <p:sp>
          <p:nvSpPr>
            <p:cNvPr id="25617" name="Text Box 72"/>
            <p:cNvSpPr txBox="1"/>
            <p:nvPr/>
          </p:nvSpPr>
          <p:spPr>
            <a:xfrm>
              <a:off x="1299" y="1392"/>
              <a:ext cx="960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dirty="0">
                  <a:latin typeface="Arial" panose="02080604020202020204" pitchFamily="34" charset="0"/>
                </a:rPr>
                <a:t>i </a:t>
              </a:r>
              <a:r>
                <a:rPr lang="zh-CN" altLang="en-US" dirty="0">
                  <a:latin typeface="Arial" panose="02080604020202020204" pitchFamily="34" charset="0"/>
                </a:rPr>
                <a:t>是偶数？</a:t>
              </a:r>
              <a:endParaRPr lang="zh-CN" altLang="en-US" dirty="0">
                <a:latin typeface="Arial" panose="02080604020202020204" pitchFamily="34" charset="0"/>
              </a:endParaRPr>
            </a:p>
          </p:txBody>
        </p:sp>
        <p:sp>
          <p:nvSpPr>
            <p:cNvPr id="25618" name="Line 73"/>
            <p:cNvSpPr/>
            <p:nvPr/>
          </p:nvSpPr>
          <p:spPr>
            <a:xfrm>
              <a:off x="2208" y="1536"/>
              <a:ext cx="336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19" name="Line 74"/>
            <p:cNvSpPr/>
            <p:nvPr/>
          </p:nvSpPr>
          <p:spPr>
            <a:xfrm>
              <a:off x="912" y="1536"/>
              <a:ext cx="336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20" name="Line 75"/>
            <p:cNvSpPr/>
            <p:nvPr/>
          </p:nvSpPr>
          <p:spPr>
            <a:xfrm>
              <a:off x="912" y="1536"/>
              <a:ext cx="0" cy="24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5621" name="Text Box 76"/>
            <p:cNvSpPr txBox="1"/>
            <p:nvPr/>
          </p:nvSpPr>
          <p:spPr>
            <a:xfrm>
              <a:off x="336" y="1776"/>
              <a:ext cx="1392" cy="251"/>
            </a:xfrm>
            <a:prstGeom prst="rect">
              <a:avLst/>
            </a:prstGeom>
            <a:noFill/>
            <a:ln w="12700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square" anchor="t" anchorCtr="0">
              <a:spAutoFit/>
            </a:bodyPr>
            <a:p>
              <a:pPr algn="ctr" eaLnBrk="0" hangingPunct="0"/>
              <a:r>
                <a:rPr lang="en-US" altLang="zh-CN" sz="2000" dirty="0">
                  <a:latin typeface="Arial" panose="02080604020202020204" pitchFamily="34" charset="0"/>
                </a:rPr>
                <a:t>sum=sum+i</a:t>
              </a:r>
              <a:endParaRPr lang="en-US" altLang="zh-CN" sz="2000" dirty="0">
                <a:latin typeface="Arial" panose="02080604020202020204" pitchFamily="34" charset="0"/>
              </a:endParaRPr>
            </a:p>
          </p:txBody>
        </p:sp>
        <p:sp>
          <p:nvSpPr>
            <p:cNvPr id="25622" name="Line 77"/>
            <p:cNvSpPr/>
            <p:nvPr/>
          </p:nvSpPr>
          <p:spPr>
            <a:xfrm flipV="1">
              <a:off x="912" y="2064"/>
              <a:ext cx="0" cy="288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23" name="Line 78"/>
            <p:cNvSpPr/>
            <p:nvPr/>
          </p:nvSpPr>
          <p:spPr>
            <a:xfrm flipH="1">
              <a:off x="2544" y="1536"/>
              <a:ext cx="0" cy="816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24" name="Line 79"/>
            <p:cNvSpPr/>
            <p:nvPr/>
          </p:nvSpPr>
          <p:spPr>
            <a:xfrm flipV="1">
              <a:off x="912" y="2352"/>
              <a:ext cx="1632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25" name="Text Box 80"/>
            <p:cNvSpPr txBox="1"/>
            <p:nvPr/>
          </p:nvSpPr>
          <p:spPr>
            <a:xfrm>
              <a:off x="1200" y="2640"/>
              <a:ext cx="1104" cy="251"/>
            </a:xfrm>
            <a:prstGeom prst="rect">
              <a:avLst/>
            </a:prstGeom>
            <a:noFill/>
            <a:ln w="12700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en-US" altLang="zh-CN" sz="2000" dirty="0">
                  <a:latin typeface="Arial" panose="02080604020202020204" pitchFamily="34" charset="0"/>
                </a:rPr>
                <a:t>i=i+1</a:t>
              </a:r>
              <a:endParaRPr lang="en-US" altLang="zh-CN" sz="2000" dirty="0">
                <a:latin typeface="Arial" panose="02080604020202020204" pitchFamily="34" charset="0"/>
              </a:endParaRPr>
            </a:p>
          </p:txBody>
        </p:sp>
        <p:sp>
          <p:nvSpPr>
            <p:cNvPr id="25626" name="Line 81"/>
            <p:cNvSpPr/>
            <p:nvPr/>
          </p:nvSpPr>
          <p:spPr>
            <a:xfrm>
              <a:off x="1728" y="2352"/>
              <a:ext cx="0" cy="288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5627" name="Text Box 83"/>
            <p:cNvSpPr txBox="1"/>
            <p:nvPr/>
          </p:nvSpPr>
          <p:spPr>
            <a:xfrm>
              <a:off x="1152" y="3582"/>
              <a:ext cx="1104" cy="251"/>
            </a:xfrm>
            <a:prstGeom prst="rect">
              <a:avLst/>
            </a:prstGeom>
            <a:noFill/>
            <a:ln w="12700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zh-CN" altLang="en-US" sz="2000" dirty="0">
                  <a:latin typeface="Arial" panose="02080604020202020204" pitchFamily="34" charset="0"/>
                </a:rPr>
                <a:t>输出</a:t>
              </a:r>
              <a:r>
                <a:rPr lang="en-US" altLang="zh-CN" sz="2000" dirty="0">
                  <a:latin typeface="Arial" panose="02080604020202020204" pitchFamily="34" charset="0"/>
                </a:rPr>
                <a:t>sum</a:t>
              </a:r>
              <a:endParaRPr lang="en-US" altLang="zh-CN" sz="2000" dirty="0">
                <a:latin typeface="Arial" panose="02080604020202020204" pitchFamily="34" charset="0"/>
              </a:endParaRPr>
            </a:p>
          </p:txBody>
        </p:sp>
        <p:sp>
          <p:nvSpPr>
            <p:cNvPr id="25628" name="Line 84"/>
            <p:cNvSpPr/>
            <p:nvPr/>
          </p:nvSpPr>
          <p:spPr>
            <a:xfrm>
              <a:off x="1728" y="3840"/>
              <a:ext cx="0" cy="24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5629" name="Text Box 85"/>
            <p:cNvSpPr txBox="1"/>
            <p:nvPr/>
          </p:nvSpPr>
          <p:spPr>
            <a:xfrm>
              <a:off x="1728" y="1008"/>
              <a:ext cx="33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zh-CN" altLang="en-US" sz="2000" dirty="0">
                  <a:latin typeface="Arial" panose="02080604020202020204" pitchFamily="34" charset="0"/>
                </a:rPr>
                <a:t>真</a:t>
              </a:r>
              <a:endParaRPr lang="zh-CN" altLang="en-US" sz="2000" dirty="0">
                <a:latin typeface="Arial" panose="02080604020202020204" pitchFamily="34" charset="0"/>
              </a:endParaRPr>
            </a:p>
          </p:txBody>
        </p:sp>
        <p:sp>
          <p:nvSpPr>
            <p:cNvPr id="25630" name="Text Box 86"/>
            <p:cNvSpPr txBox="1"/>
            <p:nvPr/>
          </p:nvSpPr>
          <p:spPr>
            <a:xfrm>
              <a:off x="912" y="1286"/>
              <a:ext cx="33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zh-CN" altLang="en-US" sz="2000" dirty="0">
                  <a:latin typeface="Arial" panose="02080604020202020204" pitchFamily="34" charset="0"/>
                </a:rPr>
                <a:t>真</a:t>
              </a:r>
              <a:endParaRPr lang="zh-CN" altLang="en-US" sz="2000" dirty="0">
                <a:latin typeface="Arial" panose="02080604020202020204" pitchFamily="34" charset="0"/>
              </a:endParaRPr>
            </a:p>
          </p:txBody>
        </p:sp>
        <p:sp>
          <p:nvSpPr>
            <p:cNvPr id="25631" name="Text Box 87"/>
            <p:cNvSpPr txBox="1"/>
            <p:nvPr/>
          </p:nvSpPr>
          <p:spPr>
            <a:xfrm>
              <a:off x="2256" y="1296"/>
              <a:ext cx="33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zh-CN" altLang="en-US" sz="2000" dirty="0">
                  <a:latin typeface="Arial" panose="02080604020202020204" pitchFamily="34" charset="0"/>
                </a:rPr>
                <a:t>假</a:t>
              </a:r>
              <a:endParaRPr lang="zh-CN" altLang="en-US" sz="2000" dirty="0">
                <a:latin typeface="Arial" panose="02080604020202020204" pitchFamily="34" charset="0"/>
              </a:endParaRPr>
            </a:p>
          </p:txBody>
        </p:sp>
        <p:sp>
          <p:nvSpPr>
            <p:cNvPr id="25632" name="Text Box 88"/>
            <p:cNvSpPr txBox="1"/>
            <p:nvPr/>
          </p:nvSpPr>
          <p:spPr>
            <a:xfrm>
              <a:off x="2304" y="576"/>
              <a:ext cx="33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zh-CN" altLang="en-US" sz="2000" dirty="0">
                  <a:latin typeface="Arial" panose="02080604020202020204" pitchFamily="34" charset="0"/>
                </a:rPr>
                <a:t>假</a:t>
              </a:r>
              <a:endParaRPr lang="zh-CN" altLang="en-US" sz="2000" dirty="0">
                <a:latin typeface="Arial" panose="02080604020202020204" pitchFamily="34" charset="0"/>
              </a:endParaRPr>
            </a:p>
          </p:txBody>
        </p:sp>
      </p:grpSp>
    </p:spTree>
  </p:cSld>
  <p:clrMapOvr>
    <a:masterClrMapping/>
  </p:clrMapOvr>
  <p:transition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Rectangle 1028"/>
          <p:cNvSpPr>
            <a:spLocks noGrp="1"/>
          </p:cNvSpPr>
          <p:nvPr>
            <p:ph type="title" idx="4294967295"/>
          </p:nvPr>
        </p:nvSpPr>
        <p:spPr/>
        <p:txBody>
          <a:bodyPr vert="horz" wrap="square" anchor="ctr" anchorCtr="0"/>
          <a:p>
            <a:pPr eaLnBrk="1" hangingPunct="1"/>
            <a:r>
              <a:rPr lang="zh-CN" altLang="en-US"/>
              <a:t>实现问题求解的过程</a:t>
            </a:r>
            <a:endParaRPr lang="zh-CN" altLang="en-US"/>
          </a:p>
        </p:txBody>
      </p:sp>
      <p:sp>
        <p:nvSpPr>
          <p:cNvPr id="26626" name="Rectangle 1029"/>
          <p:cNvSpPr>
            <a:spLocks noGrp="1"/>
          </p:cNvSpPr>
          <p:nvPr>
            <p:ph type="body" idx="4294967295"/>
          </p:nvPr>
        </p:nvSpPr>
        <p:spPr>
          <a:xfrm>
            <a:off x="323850" y="1530668"/>
            <a:ext cx="8569325" cy="4779962"/>
          </a:xfrm>
        </p:spPr>
        <p:txBody>
          <a:bodyPr vert="horz" wrap="square" anchor="t" anchorCtr="0"/>
          <a:p>
            <a:pPr eaLnBrk="1" hangingPunct="1">
              <a:lnSpc>
                <a:spcPct val="80000"/>
              </a:lnSpc>
              <a:buNone/>
            </a:pPr>
            <a:r>
              <a:rPr lang="zh-CN" altLang="en-US" sz="2800" dirty="0"/>
              <a:t>2．编辑程序</a:t>
            </a:r>
            <a:endParaRPr lang="zh-CN" altLang="en-US" sz="2800" dirty="0"/>
          </a:p>
          <a:p>
            <a:pPr lvl="1" eaLnBrk="1" hangingPunct="1">
              <a:lnSpc>
                <a:spcPct val="80000"/>
              </a:lnSpc>
              <a:buNone/>
            </a:pPr>
            <a:r>
              <a:rPr lang="zh-CN" altLang="en-US" sz="2400" dirty="0"/>
              <a:t>生成程序的源文件，</a:t>
            </a:r>
            <a:r>
              <a:rPr lang="en-US" altLang="zh-CN" sz="2400" dirty="0"/>
              <a:t>C/C++</a:t>
            </a:r>
            <a:r>
              <a:rPr lang="zh-CN" altLang="en-US" sz="2400" dirty="0"/>
              <a:t>语言源文件的后缀为 </a:t>
            </a:r>
            <a:r>
              <a:rPr lang="zh-CN" altLang="en-US" sz="2400" dirty="0">
                <a:solidFill>
                  <a:schemeClr val="bg2"/>
                </a:solidFill>
              </a:rPr>
              <a:t>.</a:t>
            </a:r>
            <a:r>
              <a:rPr lang="en-US" altLang="zh-CN" sz="2400" dirty="0">
                <a:solidFill>
                  <a:schemeClr val="bg2"/>
                </a:solidFill>
              </a:rPr>
              <a:t>c </a:t>
            </a:r>
            <a:r>
              <a:rPr lang="en-US" altLang="zh-CN" sz="2400" dirty="0"/>
              <a:t>/ </a:t>
            </a:r>
            <a:r>
              <a:rPr lang="en-US" altLang="zh-CN" sz="2400" dirty="0">
                <a:solidFill>
                  <a:schemeClr val="bg2"/>
                </a:solidFill>
              </a:rPr>
              <a:t>.cpp</a:t>
            </a:r>
            <a:endParaRPr lang="en-US" altLang="zh-CN" sz="2400" dirty="0">
              <a:solidFill>
                <a:schemeClr val="bg2"/>
              </a:solidFill>
            </a:endParaRPr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altLang="zh-CN" sz="2400" dirty="0"/>
              <a:t>#include &lt;stdio.h&gt;</a:t>
            </a:r>
            <a:endParaRPr lang="en-US" altLang="zh-CN" sz="2400" dirty="0"/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altLang="zh-CN" sz="2400" dirty="0"/>
              <a:t>int main(void)</a:t>
            </a:r>
            <a:endParaRPr lang="en-US" altLang="zh-CN" sz="2400" dirty="0"/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altLang="zh-CN" sz="2400" dirty="0"/>
              <a:t>{</a:t>
            </a:r>
            <a:endParaRPr lang="en-US" altLang="zh-CN" sz="2400" dirty="0"/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altLang="zh-CN" sz="2400" dirty="0"/>
              <a:t>	int i, sum = 0;  </a:t>
            </a:r>
            <a:endParaRPr lang="en-US" altLang="zh-CN" sz="2400" dirty="0"/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altLang="zh-CN" sz="2400" dirty="0"/>
              <a:t> </a:t>
            </a:r>
            <a:endParaRPr lang="en-US" altLang="zh-CN" sz="2400" dirty="0"/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altLang="zh-CN" sz="2400" dirty="0"/>
              <a:t>	for(i = 1; i &lt;= 100; i++) </a:t>
            </a:r>
            <a:endParaRPr lang="en-US" altLang="zh-CN" sz="2400" dirty="0"/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altLang="zh-CN" sz="2400" dirty="0"/>
              <a:t>         if (i%2 == 0)  </a:t>
            </a:r>
            <a:endParaRPr lang="en-US" altLang="zh-CN" sz="2400" dirty="0"/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altLang="zh-CN" sz="2400" dirty="0"/>
              <a:t>              sum = sum + i; </a:t>
            </a:r>
            <a:endParaRPr lang="en-US" altLang="zh-CN" sz="2400" dirty="0"/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altLang="zh-CN" sz="2400" dirty="0"/>
              <a:t>     printf("%d", sum); </a:t>
            </a:r>
            <a:endParaRPr lang="en-US" altLang="zh-CN" sz="2400" dirty="0"/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altLang="zh-CN" sz="2400" dirty="0"/>
              <a:t>     return 0;</a:t>
            </a:r>
            <a:endParaRPr lang="en-US" altLang="zh-CN" sz="2400" dirty="0"/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altLang="zh-CN" sz="2400" dirty="0"/>
              <a:t>}</a:t>
            </a:r>
            <a:r>
              <a:rPr lang="zh-CN" altLang="en-US" sz="2400" dirty="0"/>
              <a:t> </a:t>
            </a:r>
            <a:endParaRPr lang="zh-CN" altLang="en-US" sz="2400" dirty="0"/>
          </a:p>
        </p:txBody>
      </p:sp>
    </p:spTree>
  </p:cSld>
  <p:clrMapOvr>
    <a:masterClrMapping/>
  </p:clrMapOvr>
  <p:transition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Rectangle 4"/>
          <p:cNvSpPr>
            <a:spLocks noGrp="1"/>
          </p:cNvSpPr>
          <p:nvPr>
            <p:ph type="title" idx="4294967295"/>
          </p:nvPr>
        </p:nvSpPr>
        <p:spPr/>
        <p:txBody>
          <a:bodyPr vert="horz" wrap="square" anchor="ctr" anchorCtr="0"/>
          <a:p>
            <a:pPr eaLnBrk="1" hangingPunct="1"/>
            <a:r>
              <a:rPr lang="zh-CN" altLang="en-US"/>
              <a:t>实现问题求解的过程</a:t>
            </a:r>
            <a:endParaRPr lang="zh-CN" altLang="en-US"/>
          </a:p>
        </p:txBody>
      </p:sp>
      <p:sp>
        <p:nvSpPr>
          <p:cNvPr id="27650" name="Rectangle 5"/>
          <p:cNvSpPr>
            <a:spLocks noGrp="1"/>
          </p:cNvSpPr>
          <p:nvPr>
            <p:ph type="body" idx="4294967295"/>
          </p:nvPr>
        </p:nvSpPr>
        <p:spPr/>
        <p:txBody>
          <a:bodyPr vert="horz" wrap="square" anchor="t" anchorCtr="0"/>
          <a:p>
            <a:pPr eaLnBrk="1" hangingPunct="1">
              <a:lnSpc>
                <a:spcPct val="90000"/>
              </a:lnSpc>
              <a:buNone/>
            </a:pPr>
            <a:r>
              <a:rPr lang="en-US" altLang="zh-CN" dirty="0"/>
              <a:t>3．</a:t>
            </a:r>
            <a:r>
              <a:rPr lang="zh-CN" altLang="en-US" dirty="0"/>
              <a:t>程序编译链接</a:t>
            </a:r>
            <a:endParaRPr lang="zh-CN" altLang="en-US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zh-CN" altLang="en-US" dirty="0"/>
              <a:t>编辑程序后，用该语言的编译程序对其进行编译，以生成二进制代码表示的目标程序(.</a:t>
            </a:r>
            <a:r>
              <a:rPr lang="en-US" altLang="zh-CN" dirty="0"/>
              <a:t>obj)，</a:t>
            </a:r>
            <a:r>
              <a:rPr lang="zh-CN" altLang="en-US" dirty="0"/>
              <a:t>与编程环境提供的库函数进行链接（</a:t>
            </a:r>
            <a:r>
              <a:rPr lang="en-US" altLang="zh-CN" dirty="0"/>
              <a:t>Link）</a:t>
            </a:r>
            <a:r>
              <a:rPr lang="zh-CN" altLang="en-US" dirty="0"/>
              <a:t>形成可执行的程序(.</a:t>
            </a:r>
            <a:r>
              <a:rPr lang="en-US" altLang="zh-CN" dirty="0"/>
              <a:t>exe)。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  <a:buNone/>
            </a:pPr>
            <a:endParaRPr lang="zh-CN" altLang="en-US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zh-CN" altLang="en-US" dirty="0"/>
              <a:t>编译程序指出</a:t>
            </a:r>
            <a:r>
              <a:rPr lang="zh-CN" altLang="en-US" dirty="0">
                <a:solidFill>
                  <a:srgbClr val="CC0066"/>
                </a:solidFill>
              </a:rPr>
              <a:t>语法错误</a:t>
            </a:r>
            <a:r>
              <a:rPr lang="zh-CN" altLang="en-US" dirty="0"/>
              <a:t> </a:t>
            </a:r>
            <a:endParaRPr lang="zh-CN" altLang="en-US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zh-CN" altLang="en-US" dirty="0">
                <a:solidFill>
                  <a:srgbClr val="CC0066"/>
                </a:solidFill>
              </a:rPr>
              <a:t>语法错误</a:t>
            </a:r>
            <a:r>
              <a:rPr lang="en-US" altLang="zh-CN" dirty="0"/>
              <a:t>VS</a:t>
            </a:r>
            <a:r>
              <a:rPr lang="zh-CN" altLang="en-US" dirty="0">
                <a:solidFill>
                  <a:srgbClr val="CC0066"/>
                </a:solidFill>
              </a:rPr>
              <a:t>逻辑错误</a:t>
            </a:r>
            <a:endParaRPr lang="en-US" altLang="zh-CN" dirty="0">
              <a:solidFill>
                <a:srgbClr val="CC0066"/>
              </a:solidFill>
            </a:endParaRPr>
          </a:p>
        </p:txBody>
      </p:sp>
    </p:spTree>
  </p:cSld>
  <p:clrMapOvr>
    <a:masterClrMapping/>
  </p:clrMapOvr>
  <p:transition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Rectangle 4"/>
          <p:cNvSpPr>
            <a:spLocks noGrp="1"/>
          </p:cNvSpPr>
          <p:nvPr>
            <p:ph type="title" idx="4294967295"/>
          </p:nvPr>
        </p:nvSpPr>
        <p:spPr/>
        <p:txBody>
          <a:bodyPr vert="horz" wrap="square" anchor="ctr" anchorCtr="0"/>
          <a:p>
            <a:pPr eaLnBrk="1" hangingPunct="1"/>
            <a:r>
              <a:rPr lang="zh-CN" altLang="en-US"/>
              <a:t>实现问题求解的过程</a:t>
            </a:r>
            <a:endParaRPr lang="zh-CN" altLang="en-US"/>
          </a:p>
        </p:txBody>
      </p:sp>
      <p:sp>
        <p:nvSpPr>
          <p:cNvPr id="28674" name="Rectangle 5"/>
          <p:cNvSpPr>
            <a:spLocks noGrp="1"/>
          </p:cNvSpPr>
          <p:nvPr>
            <p:ph type="body" idx="4294967295"/>
          </p:nvPr>
        </p:nvSpPr>
        <p:spPr>
          <a:xfrm>
            <a:off x="468313" y="1773238"/>
            <a:ext cx="8207375" cy="4608512"/>
          </a:xfrm>
        </p:spPr>
        <p:txBody>
          <a:bodyPr vert="horz" wrap="square" anchor="t" anchorCtr="0"/>
          <a:p>
            <a:pPr eaLnBrk="1" hangingPunct="1">
              <a:lnSpc>
                <a:spcPct val="80000"/>
              </a:lnSpc>
              <a:buNone/>
            </a:pPr>
            <a:r>
              <a:rPr lang="zh-CN" altLang="en-US" sz="2800" dirty="0"/>
              <a:t>4．运行与调试</a:t>
            </a:r>
            <a:endParaRPr lang="zh-CN" altLang="en-US" sz="2800" dirty="0"/>
          </a:p>
          <a:p>
            <a:pPr lvl="1" eaLnBrk="1" hangingPunct="1">
              <a:lnSpc>
                <a:spcPct val="80000"/>
              </a:lnSpc>
              <a:buNone/>
            </a:pPr>
            <a:r>
              <a:rPr lang="zh-CN" altLang="en-US" sz="2400" dirty="0"/>
              <a:t>经过编辑、编译、链接，生成执行文件后，就可以在编程环境或操作系统环境中运行该程序。</a:t>
            </a:r>
            <a:endParaRPr lang="zh-CN" altLang="en-US" sz="2400" dirty="0"/>
          </a:p>
          <a:p>
            <a:pPr lvl="1" eaLnBrk="1" hangingPunct="1">
              <a:lnSpc>
                <a:spcPct val="80000"/>
              </a:lnSpc>
              <a:buNone/>
            </a:pPr>
            <a:r>
              <a:rPr lang="zh-CN" altLang="en-US" sz="2400" dirty="0"/>
              <a:t>如果程序运行所产生的结果不是你想要的结果，这是程序的</a:t>
            </a:r>
            <a:r>
              <a:rPr lang="zh-CN" altLang="en-US" sz="2400" dirty="0">
                <a:solidFill>
                  <a:srgbClr val="CC0066"/>
                </a:solidFill>
              </a:rPr>
              <a:t>语义错误（逻辑错误）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pPr lvl="1" eaLnBrk="1" hangingPunct="1">
              <a:lnSpc>
                <a:spcPct val="80000"/>
              </a:lnSpc>
              <a:buNone/>
            </a:pPr>
            <a:endParaRPr lang="zh-CN" altLang="en-US" sz="2400" dirty="0"/>
          </a:p>
          <a:p>
            <a:pPr lvl="1" eaLnBrk="1" hangingPunct="1">
              <a:lnSpc>
                <a:spcPct val="80000"/>
              </a:lnSpc>
              <a:buNone/>
            </a:pPr>
            <a:r>
              <a:rPr lang="zh-CN" altLang="en-US" sz="2400" dirty="0"/>
              <a:t>调试：在程序中查找错误并修改错误的过程。</a:t>
            </a:r>
            <a:endParaRPr lang="zh-CN" altLang="en-US" sz="2400" dirty="0"/>
          </a:p>
          <a:p>
            <a:pPr lvl="1" eaLnBrk="1" hangingPunct="1">
              <a:lnSpc>
                <a:spcPct val="80000"/>
              </a:lnSpc>
              <a:buNone/>
            </a:pPr>
            <a:r>
              <a:rPr lang="zh-CN" altLang="en-US" sz="2400" dirty="0"/>
              <a:t>调试的方法</a:t>
            </a:r>
            <a:endParaRPr lang="zh-CN" altLang="en-US" sz="2400" dirty="0"/>
          </a:p>
          <a:p>
            <a:pPr lvl="2" eaLnBrk="1" hangingPunct="1">
              <a:lnSpc>
                <a:spcPct val="80000"/>
              </a:lnSpc>
            </a:pPr>
            <a:r>
              <a:rPr lang="zh-CN" altLang="en-US" sz="2000" dirty="0"/>
              <a:t>设置断点</a:t>
            </a:r>
            <a:endParaRPr lang="zh-CN" altLang="en-US" sz="2000" dirty="0"/>
          </a:p>
          <a:p>
            <a:pPr lvl="2" eaLnBrk="1" hangingPunct="1">
              <a:lnSpc>
                <a:spcPct val="80000"/>
              </a:lnSpc>
            </a:pPr>
            <a:r>
              <a:rPr lang="zh-CN" altLang="en-US" sz="2000" dirty="0"/>
              <a:t>单步跟踪</a:t>
            </a:r>
            <a:endParaRPr lang="zh-CN" altLang="en-US" sz="2000" dirty="0"/>
          </a:p>
          <a:p>
            <a:pPr lvl="2" eaLnBrk="1" hangingPunct="1">
              <a:lnSpc>
                <a:spcPct val="80000"/>
              </a:lnSpc>
              <a:buNone/>
            </a:pPr>
            <a:endParaRPr lang="zh-CN" altLang="en-US" sz="2000" dirty="0"/>
          </a:p>
          <a:p>
            <a:pPr lvl="1" eaLnBrk="1" hangingPunct="1">
              <a:lnSpc>
                <a:spcPct val="80000"/>
              </a:lnSpc>
              <a:buNone/>
            </a:pPr>
            <a:r>
              <a:rPr lang="zh-CN" altLang="en-US" sz="2400" dirty="0"/>
              <a:t>调试是一个需要耐心和经验的工作，也是程序设计最基本的技能之一。</a:t>
            </a:r>
            <a:endParaRPr lang="zh-CN" altLang="en-US" sz="2400" dirty="0"/>
          </a:p>
        </p:txBody>
      </p:sp>
    </p:spTree>
  </p:cSld>
  <p:clrMapOvr>
    <a:masterClrMapping/>
  </p:clrMapOvr>
  <p:transition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Rectangle 4"/>
          <p:cNvSpPr>
            <a:spLocks noGrp="1"/>
          </p:cNvSpPr>
          <p:nvPr>
            <p:ph type="title" idx="4294967295"/>
          </p:nvPr>
        </p:nvSpPr>
        <p:spPr/>
        <p:txBody>
          <a:bodyPr vert="horz" wrap="square" anchor="ctr" anchorCtr="0"/>
          <a:p>
            <a:pPr eaLnBrk="1" hangingPunct="1"/>
            <a:r>
              <a:rPr lang="en-US" altLang="zh-CN" dirty="0"/>
              <a:t>1.5 C </a:t>
            </a:r>
            <a:r>
              <a:rPr lang="zh-CN" altLang="en-US" dirty="0"/>
              <a:t>语言上机过程</a:t>
            </a:r>
            <a:endParaRPr lang="zh-CN" altLang="en-US" dirty="0"/>
          </a:p>
        </p:txBody>
      </p:sp>
      <p:grpSp>
        <p:nvGrpSpPr>
          <p:cNvPr id="29698" name="Group 61"/>
          <p:cNvGrpSpPr/>
          <p:nvPr/>
        </p:nvGrpSpPr>
        <p:grpSpPr>
          <a:xfrm>
            <a:off x="152400" y="1774190"/>
            <a:ext cx="8763000" cy="2760663"/>
            <a:chOff x="0" y="0"/>
            <a:chExt cx="5520" cy="1739"/>
          </a:xfrm>
        </p:grpSpPr>
        <p:sp>
          <p:nvSpPr>
            <p:cNvPr id="29699" name="Text Box 36"/>
            <p:cNvSpPr txBox="1"/>
            <p:nvPr/>
          </p:nvSpPr>
          <p:spPr>
            <a:xfrm>
              <a:off x="0" y="720"/>
              <a:ext cx="57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zh-CN" altLang="en-US" sz="2000" dirty="0">
                  <a:latin typeface="Arial" panose="02080604020202020204" pitchFamily="34" charset="0"/>
                </a:rPr>
                <a:t>开始</a:t>
              </a:r>
              <a:endParaRPr lang="zh-CN" altLang="en-US" sz="2000" dirty="0">
                <a:latin typeface="Arial" panose="02080604020202020204" pitchFamily="34" charset="0"/>
              </a:endParaRPr>
            </a:p>
          </p:txBody>
        </p:sp>
        <p:sp>
          <p:nvSpPr>
            <p:cNvPr id="29700" name="Text Box 40"/>
            <p:cNvSpPr txBox="1"/>
            <p:nvPr/>
          </p:nvSpPr>
          <p:spPr>
            <a:xfrm>
              <a:off x="4944" y="720"/>
              <a:ext cx="57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zh-CN" altLang="en-US" sz="2000" dirty="0">
                  <a:latin typeface="Arial" panose="02080604020202020204" pitchFamily="34" charset="0"/>
                </a:rPr>
                <a:t>结果</a:t>
              </a:r>
              <a:endParaRPr lang="zh-CN" altLang="en-US" sz="2000" dirty="0">
                <a:latin typeface="Arial" panose="02080604020202020204" pitchFamily="34" charset="0"/>
              </a:endParaRPr>
            </a:p>
          </p:txBody>
        </p:sp>
        <p:sp>
          <p:nvSpPr>
            <p:cNvPr id="29701" name="Line 13"/>
            <p:cNvSpPr/>
            <p:nvPr/>
          </p:nvSpPr>
          <p:spPr>
            <a:xfrm>
              <a:off x="576" y="864"/>
              <a:ext cx="384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9702" name="Text Box 30"/>
            <p:cNvSpPr txBox="1"/>
            <p:nvPr/>
          </p:nvSpPr>
          <p:spPr>
            <a:xfrm>
              <a:off x="1154" y="1488"/>
              <a:ext cx="105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  <a:scene3d>
                <a:camera prst="orthographicFront"/>
                <a:lightRig rig="threePt" dir="t"/>
              </a:scene3d>
            </a:bodyPr>
            <a:p>
              <a:pPr algn="ctr" eaLnBrk="0" hangingPunct="0"/>
              <a:r>
                <a:rPr lang="zh-CN" altLang="en-US" sz="20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80604020202020204" pitchFamily="34" charset="0"/>
                </a:rPr>
                <a:t>语法错误</a:t>
              </a:r>
              <a:endParaRPr lang="zh-CN" altLang="en-US" sz="2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80604020202020204" pitchFamily="34" charset="0"/>
              </a:endParaRPr>
            </a:p>
          </p:txBody>
        </p:sp>
        <p:sp>
          <p:nvSpPr>
            <p:cNvPr id="29703" name="Line 31"/>
            <p:cNvSpPr/>
            <p:nvPr/>
          </p:nvSpPr>
          <p:spPr>
            <a:xfrm>
              <a:off x="768" y="288"/>
              <a:ext cx="0" cy="528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9704" name="Text Box 37"/>
            <p:cNvSpPr txBox="1"/>
            <p:nvPr/>
          </p:nvSpPr>
          <p:spPr>
            <a:xfrm>
              <a:off x="1008" y="624"/>
              <a:ext cx="768" cy="445"/>
            </a:xfrm>
            <a:prstGeom prst="rect">
              <a:avLst/>
            </a:prstGeom>
            <a:noFill/>
            <a:ln w="12700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zh-CN" altLang="en-US" sz="2000" dirty="0">
                  <a:latin typeface="Arial" panose="02080604020202020204" pitchFamily="34" charset="0"/>
                </a:rPr>
                <a:t>源程序</a:t>
              </a:r>
              <a:endParaRPr lang="zh-CN" altLang="en-US" sz="2000" dirty="0">
                <a:latin typeface="Arial" panose="02080604020202020204" pitchFamily="34" charset="0"/>
              </a:endParaRPr>
            </a:p>
            <a:p>
              <a:pPr algn="ctr" eaLnBrk="0" hangingPunct="0"/>
              <a:r>
                <a:rPr lang="en-US" altLang="zh-CN" sz="2000" dirty="0">
                  <a:latin typeface="Arial" panose="02080604020202020204" pitchFamily="34" charset="0"/>
                </a:rPr>
                <a:t>.c / .cpp</a:t>
              </a:r>
              <a:endParaRPr lang="en-US" altLang="zh-CN" sz="2000" dirty="0">
                <a:latin typeface="Arial" panose="02080604020202020204" pitchFamily="34" charset="0"/>
              </a:endParaRPr>
            </a:p>
          </p:txBody>
        </p:sp>
        <p:sp>
          <p:nvSpPr>
            <p:cNvPr id="29705" name="Text Box 38"/>
            <p:cNvSpPr txBox="1"/>
            <p:nvPr/>
          </p:nvSpPr>
          <p:spPr>
            <a:xfrm>
              <a:off x="2208" y="624"/>
              <a:ext cx="768" cy="445"/>
            </a:xfrm>
            <a:prstGeom prst="rect">
              <a:avLst/>
            </a:prstGeom>
            <a:noFill/>
            <a:ln w="12700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zh-CN" altLang="en-US" sz="2000" dirty="0">
                  <a:latin typeface="Arial" panose="02080604020202020204" pitchFamily="34" charset="0"/>
                </a:rPr>
                <a:t>目标程序</a:t>
              </a:r>
              <a:endParaRPr lang="zh-CN" altLang="en-US" sz="2000" dirty="0">
                <a:latin typeface="Arial" panose="02080604020202020204" pitchFamily="34" charset="0"/>
              </a:endParaRPr>
            </a:p>
            <a:p>
              <a:pPr algn="ctr" eaLnBrk="0" hangingPunct="0"/>
              <a:r>
                <a:rPr lang="en-US" altLang="zh-CN" sz="2000" dirty="0">
                  <a:latin typeface="Arial" panose="02080604020202020204" pitchFamily="34" charset="0"/>
                </a:rPr>
                <a:t>.obj/.o</a:t>
              </a:r>
              <a:endParaRPr lang="en-US" altLang="zh-CN" sz="2000" dirty="0">
                <a:latin typeface="Arial" panose="02080604020202020204" pitchFamily="34" charset="0"/>
              </a:endParaRPr>
            </a:p>
          </p:txBody>
        </p:sp>
        <p:sp>
          <p:nvSpPr>
            <p:cNvPr id="29706" name="Text Box 39"/>
            <p:cNvSpPr txBox="1"/>
            <p:nvPr/>
          </p:nvSpPr>
          <p:spPr>
            <a:xfrm>
              <a:off x="3456" y="624"/>
              <a:ext cx="1008" cy="445"/>
            </a:xfrm>
            <a:prstGeom prst="rect">
              <a:avLst/>
            </a:prstGeom>
            <a:noFill/>
            <a:ln w="12700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zh-CN" altLang="en-US" sz="2000" dirty="0">
                  <a:latin typeface="Arial" panose="02080604020202020204" pitchFamily="34" charset="0"/>
                </a:rPr>
                <a:t>可执行程序</a:t>
              </a:r>
              <a:endParaRPr lang="zh-CN" altLang="en-US" sz="2000" dirty="0">
                <a:latin typeface="Arial" panose="02080604020202020204" pitchFamily="34" charset="0"/>
              </a:endParaRPr>
            </a:p>
            <a:p>
              <a:pPr algn="ctr" eaLnBrk="0" hangingPunct="0"/>
              <a:r>
                <a:rPr lang="en-US" altLang="zh-CN" sz="2000" dirty="0">
                  <a:latin typeface="Arial" panose="02080604020202020204" pitchFamily="34" charset="0"/>
                </a:rPr>
                <a:t>.exe</a:t>
              </a:r>
              <a:endParaRPr lang="en-US" altLang="zh-CN" sz="2000" dirty="0">
                <a:latin typeface="Arial" panose="02080604020202020204" pitchFamily="34" charset="0"/>
              </a:endParaRPr>
            </a:p>
          </p:txBody>
        </p:sp>
        <p:sp>
          <p:nvSpPr>
            <p:cNvPr id="29707" name="Text Box 41"/>
            <p:cNvSpPr txBox="1"/>
            <p:nvPr/>
          </p:nvSpPr>
          <p:spPr>
            <a:xfrm>
              <a:off x="480" y="0"/>
              <a:ext cx="576" cy="251"/>
            </a:xfrm>
            <a:prstGeom prst="rect">
              <a:avLst/>
            </a:prstGeom>
            <a:noFill/>
            <a:ln w="12700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zh-CN" altLang="en-US" sz="2000" dirty="0">
                  <a:latin typeface="Arial" panose="02080604020202020204" pitchFamily="34" charset="0"/>
                </a:rPr>
                <a:t>编辑</a:t>
              </a:r>
              <a:endParaRPr lang="zh-CN" altLang="en-US" sz="2000" dirty="0">
                <a:latin typeface="Arial" panose="02080604020202020204" pitchFamily="34" charset="0"/>
              </a:endParaRPr>
            </a:p>
          </p:txBody>
        </p:sp>
        <p:sp>
          <p:nvSpPr>
            <p:cNvPr id="29708" name="Text Box 42"/>
            <p:cNvSpPr txBox="1"/>
            <p:nvPr/>
          </p:nvSpPr>
          <p:spPr>
            <a:xfrm>
              <a:off x="1680" y="0"/>
              <a:ext cx="576" cy="251"/>
            </a:xfrm>
            <a:prstGeom prst="rect">
              <a:avLst/>
            </a:prstGeom>
            <a:noFill/>
            <a:ln w="12700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zh-CN" altLang="en-US" sz="2000" dirty="0">
                  <a:latin typeface="Arial" panose="02080604020202020204" pitchFamily="34" charset="0"/>
                </a:rPr>
                <a:t>编译</a:t>
              </a:r>
              <a:endParaRPr lang="zh-CN" altLang="en-US" sz="2000" dirty="0">
                <a:latin typeface="Arial" panose="02080604020202020204" pitchFamily="34" charset="0"/>
              </a:endParaRPr>
            </a:p>
          </p:txBody>
        </p:sp>
        <p:sp>
          <p:nvSpPr>
            <p:cNvPr id="29709" name="Text Box 43"/>
            <p:cNvSpPr txBox="1"/>
            <p:nvPr/>
          </p:nvSpPr>
          <p:spPr>
            <a:xfrm>
              <a:off x="2880" y="0"/>
              <a:ext cx="576" cy="251"/>
            </a:xfrm>
            <a:prstGeom prst="rect">
              <a:avLst/>
            </a:prstGeom>
            <a:noFill/>
            <a:ln w="12700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zh-CN" altLang="en-US" sz="2000" dirty="0">
                  <a:latin typeface="Arial" panose="02080604020202020204" pitchFamily="34" charset="0"/>
                </a:rPr>
                <a:t>链接</a:t>
              </a:r>
              <a:endParaRPr lang="zh-CN" altLang="en-US" sz="2000" dirty="0">
                <a:latin typeface="Arial" panose="02080604020202020204" pitchFamily="34" charset="0"/>
              </a:endParaRPr>
            </a:p>
          </p:txBody>
        </p:sp>
        <p:sp>
          <p:nvSpPr>
            <p:cNvPr id="29710" name="Text Box 44"/>
            <p:cNvSpPr txBox="1"/>
            <p:nvPr/>
          </p:nvSpPr>
          <p:spPr>
            <a:xfrm>
              <a:off x="4416" y="0"/>
              <a:ext cx="576" cy="251"/>
            </a:xfrm>
            <a:prstGeom prst="rect">
              <a:avLst/>
            </a:prstGeom>
            <a:noFill/>
            <a:ln w="12700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zh-CN" altLang="en-US" sz="2000" dirty="0">
                  <a:latin typeface="Arial" panose="02080604020202020204" pitchFamily="34" charset="0"/>
                </a:rPr>
                <a:t>运行</a:t>
              </a:r>
              <a:endParaRPr lang="zh-CN" altLang="en-US" sz="2000" dirty="0">
                <a:latin typeface="Arial" panose="02080604020202020204" pitchFamily="34" charset="0"/>
              </a:endParaRPr>
            </a:p>
          </p:txBody>
        </p:sp>
        <p:sp>
          <p:nvSpPr>
            <p:cNvPr id="29711" name="Line 45"/>
            <p:cNvSpPr/>
            <p:nvPr/>
          </p:nvSpPr>
          <p:spPr>
            <a:xfrm>
              <a:off x="1776" y="864"/>
              <a:ext cx="384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9712" name="Line 46"/>
            <p:cNvSpPr/>
            <p:nvPr/>
          </p:nvSpPr>
          <p:spPr>
            <a:xfrm>
              <a:off x="3024" y="864"/>
              <a:ext cx="384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9713" name="Line 47"/>
            <p:cNvSpPr/>
            <p:nvPr/>
          </p:nvSpPr>
          <p:spPr>
            <a:xfrm>
              <a:off x="4512" y="864"/>
              <a:ext cx="384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9714" name="Line 48"/>
            <p:cNvSpPr/>
            <p:nvPr/>
          </p:nvSpPr>
          <p:spPr>
            <a:xfrm>
              <a:off x="1968" y="288"/>
              <a:ext cx="0" cy="528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9715" name="Line 49"/>
            <p:cNvSpPr/>
            <p:nvPr/>
          </p:nvSpPr>
          <p:spPr>
            <a:xfrm>
              <a:off x="3168" y="288"/>
              <a:ext cx="0" cy="528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9716" name="Line 50"/>
            <p:cNvSpPr/>
            <p:nvPr/>
          </p:nvSpPr>
          <p:spPr>
            <a:xfrm>
              <a:off x="4704" y="288"/>
              <a:ext cx="0" cy="528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9717" name="Line 51"/>
            <p:cNvSpPr/>
            <p:nvPr/>
          </p:nvSpPr>
          <p:spPr>
            <a:xfrm>
              <a:off x="2016" y="864"/>
              <a:ext cx="0" cy="52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ysDot"/>
              <a:round/>
              <a:headEnd type="none" w="med" len="med"/>
              <a:tailEnd type="triangle" w="med" len="med"/>
            </a:ln>
          </p:spPr>
        </p:sp>
        <p:sp>
          <p:nvSpPr>
            <p:cNvPr id="29718" name="Line 52"/>
            <p:cNvSpPr/>
            <p:nvPr/>
          </p:nvSpPr>
          <p:spPr>
            <a:xfrm>
              <a:off x="3264" y="864"/>
              <a:ext cx="0" cy="52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ysDot"/>
              <a:round/>
              <a:headEnd type="none" w="med" len="med"/>
              <a:tailEnd type="triangle" w="med" len="med"/>
            </a:ln>
          </p:spPr>
        </p:sp>
        <p:sp>
          <p:nvSpPr>
            <p:cNvPr id="29719" name="Line 53"/>
            <p:cNvSpPr/>
            <p:nvPr/>
          </p:nvSpPr>
          <p:spPr>
            <a:xfrm>
              <a:off x="4752" y="864"/>
              <a:ext cx="0" cy="52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ysDot"/>
              <a:round/>
              <a:headEnd type="none" w="med" len="med"/>
              <a:tailEnd type="triangle" w="med" len="med"/>
            </a:ln>
          </p:spPr>
        </p:sp>
        <p:sp>
          <p:nvSpPr>
            <p:cNvPr id="29720" name="Line 54"/>
            <p:cNvSpPr/>
            <p:nvPr/>
          </p:nvSpPr>
          <p:spPr>
            <a:xfrm>
              <a:off x="1488" y="1395"/>
              <a:ext cx="3264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sp>
        <p:sp>
          <p:nvSpPr>
            <p:cNvPr id="29721" name="Line 55"/>
            <p:cNvSpPr/>
            <p:nvPr/>
          </p:nvSpPr>
          <p:spPr>
            <a:xfrm>
              <a:off x="1488" y="1104"/>
              <a:ext cx="0" cy="29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ysDot"/>
              <a:round/>
              <a:headEnd type="triangle" w="med" len="med"/>
              <a:tailEnd type="none" w="med" len="med"/>
            </a:ln>
          </p:spPr>
        </p:sp>
        <p:sp>
          <p:nvSpPr>
            <p:cNvPr id="29722" name="Text Box 56"/>
            <p:cNvSpPr txBox="1"/>
            <p:nvPr/>
          </p:nvSpPr>
          <p:spPr>
            <a:xfrm>
              <a:off x="2410" y="1488"/>
              <a:ext cx="811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  <a:scene3d>
                <a:camera prst="orthographicFront"/>
                <a:lightRig rig="threePt" dir="t"/>
              </a:scene3d>
            </a:bodyPr>
            <a:p>
              <a:pPr algn="ctr" eaLnBrk="0" hangingPunct="0"/>
              <a:r>
                <a:rPr lang="zh-CN" altLang="en-US" sz="20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80604020202020204" pitchFamily="34" charset="0"/>
                </a:rPr>
                <a:t>链接错误</a:t>
              </a:r>
              <a:endParaRPr lang="zh-CN" altLang="en-US" sz="2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80604020202020204" pitchFamily="34" charset="0"/>
              </a:endParaRPr>
            </a:p>
          </p:txBody>
        </p:sp>
        <p:sp>
          <p:nvSpPr>
            <p:cNvPr id="29723" name="Text Box 57"/>
            <p:cNvSpPr txBox="1"/>
            <p:nvPr/>
          </p:nvSpPr>
          <p:spPr>
            <a:xfrm>
              <a:off x="3711" y="1488"/>
              <a:ext cx="114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  <a:scene3d>
                <a:camera prst="orthographicFront"/>
                <a:lightRig rig="threePt" dir="t"/>
              </a:scene3d>
            </a:bodyPr>
            <a:p>
              <a:pPr algn="ctr" eaLnBrk="0" hangingPunct="0"/>
              <a:r>
                <a:rPr lang="zh-CN" altLang="en-US" sz="20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80604020202020204" pitchFamily="34" charset="0"/>
                </a:rPr>
                <a:t>逻辑错误</a:t>
              </a:r>
              <a:endParaRPr lang="zh-CN" altLang="en-US" sz="2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80604020202020204" pitchFamily="34" charset="0"/>
              </a:endParaRPr>
            </a:p>
          </p:txBody>
        </p:sp>
      </p:grpSp>
      <p:cxnSp>
        <p:nvCxnSpPr>
          <p:cNvPr id="6" name="直接箭头连接符 5"/>
          <p:cNvCxnSpPr>
            <a:stCxn id="29702" idx="2"/>
            <a:endCxn id="10" idx="0"/>
          </p:cNvCxnSpPr>
          <p:nvPr/>
        </p:nvCxnSpPr>
        <p:spPr>
          <a:xfrm flipH="1">
            <a:off x="1724025" y="4535170"/>
            <a:ext cx="1097280" cy="56896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" name="直接箭头连接符 6"/>
          <p:cNvCxnSpPr>
            <a:stCxn id="29722" idx="2"/>
            <a:endCxn id="11" idx="0"/>
          </p:cNvCxnSpPr>
          <p:nvPr/>
        </p:nvCxnSpPr>
        <p:spPr>
          <a:xfrm>
            <a:off x="4622165" y="4535170"/>
            <a:ext cx="0" cy="494665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>
            <a:endCxn id="12" idx="0"/>
          </p:cNvCxnSpPr>
          <p:nvPr/>
        </p:nvCxnSpPr>
        <p:spPr>
          <a:xfrm>
            <a:off x="7075805" y="4545965"/>
            <a:ext cx="492125" cy="31242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185" y="5104130"/>
            <a:ext cx="2011680" cy="92583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705" y="5029835"/>
            <a:ext cx="2788920" cy="107442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935" y="4858385"/>
            <a:ext cx="2205990" cy="173736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Rectangle 4"/>
          <p:cNvSpPr>
            <a:spLocks noGrp="1"/>
          </p:cNvSpPr>
          <p:nvPr>
            <p:ph type="title" idx="4294967295"/>
          </p:nvPr>
        </p:nvSpPr>
        <p:spPr/>
        <p:txBody>
          <a:bodyPr vert="horz" wrap="square" anchor="ctr" anchorCtr="0"/>
          <a:p>
            <a:pPr eaLnBrk="1" hangingPunct="1"/>
            <a:r>
              <a:rPr lang="zh-CN" altLang="en-US"/>
              <a:t>程序的编译与编程环境 </a:t>
            </a:r>
            <a:endParaRPr lang="zh-CN" altLang="en-US"/>
          </a:p>
        </p:txBody>
      </p:sp>
      <p:sp>
        <p:nvSpPr>
          <p:cNvPr id="30722" name="Rectangle 5"/>
          <p:cNvSpPr>
            <a:spLocks noGrp="1"/>
          </p:cNvSpPr>
          <p:nvPr>
            <p:ph type="body" idx="4294967295"/>
          </p:nvPr>
        </p:nvSpPr>
        <p:spPr>
          <a:xfrm>
            <a:off x="457200" y="1341755"/>
            <a:ext cx="8147050" cy="4608513"/>
          </a:xfrm>
        </p:spPr>
        <p:txBody>
          <a:bodyPr vert="horz" wrap="square" anchor="t" anchorCtr="0"/>
          <a:p>
            <a:pPr eaLnBrk="1" hangingPunct="1">
              <a:lnSpc>
                <a:spcPct val="90000"/>
              </a:lnSpc>
            </a:pPr>
            <a:r>
              <a:rPr lang="zh-CN" altLang="en-US" sz="2400" dirty="0"/>
              <a:t> 编程环境</a:t>
            </a:r>
            <a:endParaRPr lang="zh-CN" altLang="en-US" sz="240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zh-CN" altLang="en-US" sz="2000" dirty="0"/>
              <a:t>主要包括程序的编辑器（</a:t>
            </a:r>
            <a:r>
              <a:rPr lang="en-US" altLang="zh-CN" sz="2000" dirty="0"/>
              <a:t>Editor）、</a:t>
            </a:r>
            <a:r>
              <a:rPr lang="zh-CN" altLang="en-US" sz="2000" dirty="0"/>
              <a:t>编译器（</a:t>
            </a:r>
            <a:r>
              <a:rPr lang="en-US" altLang="zh-CN" sz="2000" dirty="0"/>
              <a:t>Compiler）、</a:t>
            </a:r>
            <a:r>
              <a:rPr lang="zh-CN" altLang="en-US" sz="2000" dirty="0"/>
              <a:t>调试器（</a:t>
            </a:r>
            <a:r>
              <a:rPr lang="en-US" altLang="zh-CN" sz="2000" dirty="0"/>
              <a:t>Debuger）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/>
              <a:t> 编辑器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普通编辑器就可以编辑</a:t>
            </a:r>
            <a:r>
              <a:rPr lang="en-US" altLang="zh-CN" sz="2000" dirty="0"/>
              <a:t>C</a:t>
            </a:r>
            <a:r>
              <a:rPr lang="zh-CN" altLang="en-US" sz="2000" dirty="0"/>
              <a:t>程序</a:t>
            </a:r>
            <a:endParaRPr lang="en-US" altLang="zh-CN" sz="2000" dirty="0"/>
          </a:p>
          <a:p>
            <a:pPr lvl="2" eaLnBrk="1" hangingPunct="1">
              <a:lnSpc>
                <a:spcPct val="90000"/>
              </a:lnSpc>
            </a:pPr>
            <a:r>
              <a:rPr lang="en-US" altLang="zh-CN" sz="1600" dirty="0"/>
              <a:t>Notepad</a:t>
            </a:r>
            <a:endParaRPr lang="en-US" altLang="zh-CN" sz="1600" dirty="0"/>
          </a:p>
          <a:p>
            <a:pPr lvl="2" eaLnBrk="1" hangingPunct="1">
              <a:lnSpc>
                <a:spcPct val="90000"/>
              </a:lnSpc>
            </a:pPr>
            <a:r>
              <a:rPr lang="en-US" altLang="zh-CN" sz="1600" dirty="0"/>
              <a:t>Vim</a:t>
            </a:r>
            <a:endParaRPr lang="en-US" altLang="zh-CN" sz="16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主流程序的集成开发环境</a:t>
            </a:r>
            <a:r>
              <a:rPr lang="zh-CN" altLang="en-US" sz="1400" dirty="0"/>
              <a:t>（</a:t>
            </a:r>
            <a:r>
              <a:rPr lang="en-US" altLang="zh-CN" sz="1400" dirty="0"/>
              <a:t>Integrated Development Environment</a:t>
            </a:r>
            <a:r>
              <a:rPr lang="zh-CN" altLang="en-US" sz="1400" dirty="0"/>
              <a:t>，</a:t>
            </a:r>
            <a:r>
              <a:rPr lang="en-US" altLang="zh-CN" sz="1400" dirty="0"/>
              <a:t>IDE</a:t>
            </a:r>
            <a:r>
              <a:rPr lang="zh-CN" altLang="en-US" sz="1400" dirty="0"/>
              <a:t>）</a:t>
            </a:r>
            <a:endParaRPr lang="en-US" altLang="zh-CN" sz="1600" dirty="0"/>
          </a:p>
          <a:p>
            <a:pPr lvl="2" eaLnBrk="1" hangingPunct="1">
              <a:lnSpc>
                <a:spcPct val="90000"/>
              </a:lnSpc>
            </a:pPr>
            <a:r>
              <a:rPr lang="en-US" altLang="zh-CN" sz="1600" dirty="0"/>
              <a:t>Visual Studio</a:t>
            </a:r>
            <a:endParaRPr lang="en-US" altLang="zh-CN" sz="1600" dirty="0"/>
          </a:p>
          <a:p>
            <a:pPr lvl="2" eaLnBrk="1" hangingPunct="1">
              <a:lnSpc>
                <a:spcPct val="90000"/>
              </a:lnSpc>
            </a:pPr>
            <a:r>
              <a:rPr lang="en-US" altLang="zh-CN" sz="1600" dirty="0"/>
              <a:t>Dev C++</a:t>
            </a:r>
            <a:endParaRPr lang="en-US" altLang="zh-CN" sz="1600" dirty="0"/>
          </a:p>
          <a:p>
            <a:pPr lvl="2" eaLnBrk="1" hangingPunct="1">
              <a:lnSpc>
                <a:spcPct val="90000"/>
              </a:lnSpc>
            </a:pPr>
            <a:r>
              <a:rPr lang="en-US" altLang="zh-CN" sz="1600" dirty="0">
                <a:solidFill>
                  <a:srgbClr val="FF0000"/>
                </a:solidFill>
              </a:rPr>
              <a:t>Code Blocks</a:t>
            </a:r>
            <a:r>
              <a:rPr lang="zh-CN" altLang="en-US" sz="1600" dirty="0"/>
              <a:t>，</a:t>
            </a:r>
            <a:r>
              <a:rPr lang="en-US" altLang="zh-CN" sz="1600" dirty="0"/>
              <a:t>CodeLite</a:t>
            </a:r>
            <a:endParaRPr lang="en-US" altLang="zh-CN" sz="1600" dirty="0"/>
          </a:p>
          <a:p>
            <a:pPr lvl="2" eaLnBrk="1" hangingPunct="1">
              <a:lnSpc>
                <a:spcPct val="90000"/>
              </a:lnSpc>
            </a:pPr>
            <a:r>
              <a:rPr lang="en-US" altLang="zh-CN" sz="1600" dirty="0"/>
              <a:t>Eclipse</a:t>
            </a:r>
            <a:endParaRPr lang="en-US" altLang="zh-CN" sz="1600" dirty="0"/>
          </a:p>
          <a:p>
            <a:pPr lvl="2" eaLnBrk="1" hangingPunct="1">
              <a:lnSpc>
                <a:spcPct val="90000"/>
              </a:lnSpc>
            </a:pPr>
            <a:r>
              <a:rPr lang="en-US" altLang="zh-CN" sz="1600" dirty="0"/>
              <a:t>Qt</a:t>
            </a:r>
            <a:endParaRPr lang="en-US" altLang="zh-CN" sz="1600" dirty="0"/>
          </a:p>
          <a:p>
            <a:pPr lvl="2" eaLnBrk="1" hangingPunct="1">
              <a:lnSpc>
                <a:spcPct val="90000"/>
              </a:lnSpc>
            </a:pPr>
            <a:r>
              <a:rPr lang="en-US" altLang="zh-CN" sz="1600" dirty="0"/>
              <a:t>Xcode</a:t>
            </a:r>
            <a:r>
              <a:rPr lang="zh-CN" altLang="en-US" sz="1600" dirty="0"/>
              <a:t>，</a:t>
            </a:r>
            <a:r>
              <a:rPr lang="en-US" altLang="zh-CN" sz="1600" dirty="0"/>
              <a:t>Appcode</a:t>
            </a:r>
            <a:endParaRPr lang="en-US" altLang="zh-CN" sz="1600" dirty="0"/>
          </a:p>
          <a:p>
            <a:pPr lvl="2" eaLnBrk="1" hangingPunct="1">
              <a:lnSpc>
                <a:spcPct val="90000"/>
              </a:lnSpc>
            </a:pPr>
            <a:r>
              <a:rPr lang="en-US" altLang="zh-CN" sz="1600" dirty="0"/>
              <a:t>Emacs</a:t>
            </a:r>
            <a:endParaRPr lang="en-US" altLang="zh-CN" sz="1600" dirty="0"/>
          </a:p>
          <a:p>
            <a:pPr lvl="2" eaLnBrk="1" hangingPunct="1">
              <a:lnSpc>
                <a:spcPct val="90000"/>
              </a:lnSpc>
            </a:pPr>
            <a:r>
              <a:rPr lang="en-US" altLang="zh-CN" sz="1600" dirty="0"/>
              <a:t>KDeveloper</a:t>
            </a:r>
            <a:endParaRPr lang="zh-CN" altLang="en-US" sz="160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zh-CN" altLang="en-US" sz="2000" dirty="0"/>
              <a:t>        </a:t>
            </a:r>
            <a:endParaRPr lang="zh-CN" altLang="en-US" sz="2400" dirty="0"/>
          </a:p>
        </p:txBody>
      </p:sp>
    </p:spTree>
  </p:cSld>
  <p:clrMapOvr>
    <a:masterClrMapping/>
  </p:clrMapOvr>
  <p:transition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Rectangle 4"/>
          <p:cNvSpPr>
            <a:spLocks noGrp="1"/>
          </p:cNvSpPr>
          <p:nvPr>
            <p:ph type="title" idx="4294967295"/>
          </p:nvPr>
        </p:nvSpPr>
        <p:spPr/>
        <p:txBody>
          <a:bodyPr vert="horz" wrap="square" anchor="ctr" anchorCtr="0"/>
          <a:p>
            <a:pPr eaLnBrk="1" hangingPunct="1"/>
            <a:r>
              <a:rPr lang="zh-CN" altLang="en-US"/>
              <a:t>程序的编译与编程环境 </a:t>
            </a:r>
            <a:endParaRPr lang="zh-CN" altLang="en-US"/>
          </a:p>
        </p:txBody>
      </p:sp>
      <p:sp>
        <p:nvSpPr>
          <p:cNvPr id="31746" name="Rectangle 5"/>
          <p:cNvSpPr>
            <a:spLocks noGrp="1"/>
          </p:cNvSpPr>
          <p:nvPr>
            <p:ph type="body" idx="4294967295"/>
          </p:nvPr>
        </p:nvSpPr>
        <p:spPr>
          <a:xfrm>
            <a:off x="457200" y="1628775"/>
            <a:ext cx="8147050" cy="4608513"/>
          </a:xfrm>
        </p:spPr>
        <p:txBody>
          <a:bodyPr vert="horz" wrap="square" anchor="t" anchorCtr="0"/>
          <a:p>
            <a:pPr eaLnBrk="1" hangingPunct="1">
              <a:lnSpc>
                <a:spcPct val="90000"/>
              </a:lnSpc>
            </a:pPr>
            <a:r>
              <a:rPr lang="zh-CN" altLang="en-US" sz="2400" dirty="0"/>
              <a:t> 程序的编译</a:t>
            </a:r>
            <a:endParaRPr lang="zh-CN" altLang="en-US" sz="240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zh-CN" altLang="en-US" sz="2000" dirty="0"/>
              <a:t>         编译器</a:t>
            </a:r>
            <a:endParaRPr lang="zh-CN" altLang="en-US" sz="200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zh-CN" altLang="en-US" sz="2000" dirty="0"/>
              <a:t>   程序 </a:t>
            </a:r>
            <a:r>
              <a:rPr lang="en-US" altLang="zh-CN" sz="2000" dirty="0"/>
              <a:t>--&gt; </a:t>
            </a:r>
            <a:r>
              <a:rPr lang="zh-CN" altLang="en-US" sz="2000" dirty="0"/>
              <a:t>计算机直接能理解的指令序列</a:t>
            </a:r>
            <a:endParaRPr lang="zh-CN" altLang="en-US" sz="2000" dirty="0"/>
          </a:p>
          <a:p>
            <a:pPr lvl="1" eaLnBrk="1" hangingPunct="1">
              <a:lnSpc>
                <a:spcPct val="90000"/>
              </a:lnSpc>
              <a:buNone/>
            </a:pPr>
            <a:endParaRPr lang="zh-CN" altLang="en-US" sz="200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zh-CN" altLang="en-US" sz="2000" dirty="0"/>
              <a:t>编译器：对源程序进行词法分析、语法与语义分析，生成可执行的代码。直接指出程序中的语法错误，链接错误。</a:t>
            </a:r>
            <a:endParaRPr lang="en-US" altLang="zh-CN" sz="2000" dirty="0"/>
          </a:p>
          <a:p>
            <a:pPr lvl="1" eaLnBrk="1" hangingPunct="1">
              <a:lnSpc>
                <a:spcPct val="90000"/>
              </a:lnSpc>
              <a:buNone/>
            </a:pPr>
            <a:endParaRPr lang="zh-CN" altLang="en-US" sz="20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/>
              <a:t> 主流</a:t>
            </a:r>
            <a:r>
              <a:rPr lang="en-US" altLang="zh-CN" sz="2400" dirty="0"/>
              <a:t>C</a:t>
            </a:r>
            <a:r>
              <a:rPr lang="zh-CN" altLang="en-US" sz="2400" dirty="0"/>
              <a:t>／</a:t>
            </a:r>
            <a:r>
              <a:rPr lang="en-US" altLang="zh-CN" sz="2400" dirty="0"/>
              <a:t>C++</a:t>
            </a:r>
            <a:r>
              <a:rPr lang="zh-CN" altLang="en-US" sz="2400" dirty="0"/>
              <a:t>编译器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/>
              <a:t>Visual C++ </a:t>
            </a:r>
            <a:r>
              <a:rPr lang="zh-CN" altLang="en-US" sz="2000" dirty="0"/>
              <a:t>（</a:t>
            </a:r>
            <a:r>
              <a:rPr lang="en-US" altLang="zh-CN" sz="2000" dirty="0"/>
              <a:t>CL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>
                <a:solidFill>
                  <a:srgbClr val="FF0000"/>
                </a:solidFill>
              </a:rPr>
              <a:t>GCC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/>
              <a:t>Clang+llvm</a:t>
            </a:r>
            <a:endParaRPr lang="en-US" altLang="zh-CN" sz="20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/>
              <a:t>Intel C++</a:t>
            </a:r>
            <a:endParaRPr lang="en-US" altLang="zh-CN" sz="20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Open Watcom C/C++</a:t>
            </a:r>
            <a:endParaRPr lang="zh-CN" altLang="en-US" sz="2000" dirty="0"/>
          </a:p>
        </p:txBody>
      </p:sp>
    </p:spTree>
  </p:cSld>
  <p:clrMapOvr>
    <a:masterClrMapping/>
  </p:clrMapOvr>
  <p:transition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Rectangle 4"/>
          <p:cNvSpPr>
            <a:spLocks noGrp="1"/>
          </p:cNvSpPr>
          <p:nvPr>
            <p:ph type="title" idx="4294967295"/>
          </p:nvPr>
        </p:nvSpPr>
        <p:spPr/>
        <p:txBody>
          <a:bodyPr vert="horz" wrap="square" anchor="ctr" anchorCtr="0"/>
          <a:p>
            <a:pPr eaLnBrk="1" hangingPunct="1"/>
            <a:r>
              <a:rPr lang="zh-CN" altLang="en-US"/>
              <a:t>程序的编译与编程环境 </a:t>
            </a:r>
            <a:endParaRPr lang="zh-CN" altLang="en-US"/>
          </a:p>
        </p:txBody>
      </p:sp>
      <p:sp>
        <p:nvSpPr>
          <p:cNvPr id="32770" name="Rectangle 5"/>
          <p:cNvSpPr>
            <a:spLocks noGrp="1"/>
          </p:cNvSpPr>
          <p:nvPr>
            <p:ph type="body" idx="4294967295"/>
          </p:nvPr>
        </p:nvSpPr>
        <p:spPr>
          <a:xfrm>
            <a:off x="611188" y="1773238"/>
            <a:ext cx="8147050" cy="4608512"/>
          </a:xfrm>
        </p:spPr>
        <p:txBody>
          <a:bodyPr vert="horz" wrap="square" anchor="t" anchorCtr="0"/>
          <a:p>
            <a:pPr eaLnBrk="1" hangingPunct="1">
              <a:lnSpc>
                <a:spcPct val="90000"/>
              </a:lnSpc>
            </a:pPr>
            <a:r>
              <a:rPr lang="zh-CN" altLang="en-US" dirty="0"/>
              <a:t> 程序的调试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监视程序运行过程，变量查看及过程监控，从而修正程序按照既定设计运行。</a:t>
            </a:r>
            <a:endParaRPr lang="en-US" altLang="zh-CN" sz="2000" dirty="0"/>
          </a:p>
          <a:p>
            <a:pPr lvl="1" eaLnBrk="1" hangingPunct="1">
              <a:lnSpc>
                <a:spcPct val="90000"/>
              </a:lnSpc>
            </a:pPr>
            <a:endParaRPr lang="en-US" altLang="zh-CN" sz="2000" dirty="0"/>
          </a:p>
          <a:p>
            <a:pPr lvl="1" eaLnBrk="1" hangingPunct="1">
              <a:lnSpc>
                <a:spcPct val="9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zh-CN" altLang="en-US" sz="3200" dirty="0"/>
              <a:t>主流</a:t>
            </a:r>
            <a:r>
              <a:rPr lang="en-US" altLang="zh-CN" sz="3200" dirty="0"/>
              <a:t>C</a:t>
            </a:r>
            <a:r>
              <a:rPr lang="zh-CN" altLang="en-US" sz="3200" dirty="0"/>
              <a:t>／</a:t>
            </a:r>
            <a:r>
              <a:rPr lang="en-US" altLang="zh-CN" sz="3200" dirty="0"/>
              <a:t>C++</a:t>
            </a:r>
            <a:r>
              <a:rPr lang="zh-CN" altLang="en-US" sz="3200" dirty="0"/>
              <a:t>调试器</a:t>
            </a:r>
            <a:endParaRPr lang="en-US" altLang="zh-CN" sz="32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/>
              <a:t>Remote Debugger</a:t>
            </a:r>
            <a:endParaRPr lang="en-US" altLang="zh-CN" sz="20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/>
              <a:t>WinDbg</a:t>
            </a:r>
            <a:endParaRPr lang="en-US" altLang="zh-CN" sz="20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/>
              <a:t>LLDB</a:t>
            </a:r>
            <a:endParaRPr lang="en-US" altLang="zh-CN" sz="20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>
                <a:solidFill>
                  <a:srgbClr val="FF0000"/>
                </a:solidFill>
              </a:rPr>
              <a:t>GDB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lvl="2" eaLnBrk="1" hangingPunct="1">
              <a:lnSpc>
                <a:spcPct val="90000"/>
              </a:lnSpc>
            </a:pPr>
            <a:endParaRPr lang="zh-CN" altLang="en-US" sz="160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zh-CN" altLang="en-US" dirty="0"/>
              <a:t>   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  <a:buNone/>
            </a:pPr>
            <a:endParaRPr lang="zh-CN" altLang="en-US" sz="3200" dirty="0"/>
          </a:p>
        </p:txBody>
      </p:sp>
    </p:spTree>
  </p:cSld>
  <p:clrMapOvr>
    <a:masterClrMapping/>
  </p:clrMapOvr>
  <p:transition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7" name="Rectangle 4"/>
          <p:cNvSpPr>
            <a:spLocks noGrp="1"/>
          </p:cNvSpPr>
          <p:nvPr>
            <p:ph type="title" idx="4294967295"/>
          </p:nvPr>
        </p:nvSpPr>
        <p:spPr>
          <a:xfrm>
            <a:off x="457200" y="457200"/>
            <a:ext cx="8229600" cy="955675"/>
          </a:xfrm>
        </p:spPr>
        <p:txBody>
          <a:bodyPr vert="horz" wrap="square" anchor="ctr" anchorCtr="0"/>
          <a:p>
            <a:pPr eaLnBrk="1" hangingPunct="1"/>
            <a:r>
              <a:rPr lang="zh-CN" altLang="en-US"/>
              <a:t>程序的编译与编程环境 </a:t>
            </a:r>
            <a:endParaRPr lang="zh-CN" altLang="en-US"/>
          </a:p>
        </p:txBody>
      </p:sp>
      <p:sp>
        <p:nvSpPr>
          <p:cNvPr id="34818" name="Rectangle 5"/>
          <p:cNvSpPr>
            <a:spLocks noGrp="1"/>
          </p:cNvSpPr>
          <p:nvPr>
            <p:ph type="body" idx="4294967295"/>
          </p:nvPr>
        </p:nvSpPr>
        <p:spPr>
          <a:xfrm>
            <a:off x="611188" y="1341438"/>
            <a:ext cx="8353425" cy="1582737"/>
          </a:xfrm>
        </p:spPr>
        <p:txBody>
          <a:bodyPr vert="horz" wrap="square" anchor="t" anchorCtr="0"/>
          <a:p>
            <a:pPr eaLnBrk="1" hangingPunct="1">
              <a:lnSpc>
                <a:spcPct val="90000"/>
              </a:lnSpc>
            </a:pPr>
            <a:r>
              <a:rPr lang="zh-CN" altLang="en-US" dirty="0"/>
              <a:t> 推荐编程环境：</a:t>
            </a:r>
            <a:r>
              <a:rPr lang="en-US" altLang="zh-CN" dirty="0"/>
              <a:t>CodeBlocks+GCC+GDB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下载网址：</a:t>
            </a:r>
            <a:r>
              <a:rPr lang="en-US" altLang="zh-CN" sz="1800" dirty="0"/>
              <a:t>http://www.codeblocks.org/downloads/binaries</a:t>
            </a:r>
            <a:endParaRPr lang="en-US" altLang="zh-CN" sz="1800" dirty="0"/>
          </a:p>
          <a:p>
            <a:pPr lvl="2" eaLnBrk="1" hangingPunct="1">
              <a:lnSpc>
                <a:spcPct val="90000"/>
              </a:lnSpc>
            </a:pPr>
            <a:endParaRPr lang="zh-CN" altLang="en-US" sz="160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zh-CN" altLang="en-US" dirty="0"/>
              <a:t>   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  <a:buNone/>
            </a:pPr>
            <a:endParaRPr lang="zh-CN" altLang="en-US" sz="3200" dirty="0"/>
          </a:p>
        </p:txBody>
      </p:sp>
      <p:pic>
        <p:nvPicPr>
          <p:cNvPr id="34819" name="图片 1" descr="屏幕快照 2017-02-20 下午6.24.2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40" y="2504758"/>
            <a:ext cx="7099521" cy="4130294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353060" y="4171315"/>
            <a:ext cx="8301355" cy="64516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none" rtlCol="0">
            <a:spAutoFit/>
          </a:bodyPr>
          <a:p>
            <a:r>
              <a:rPr lang="en-US" altLang="zh-CN" sz="3600"/>
              <a:t>codeblocks-</a:t>
            </a:r>
            <a:r>
              <a:rPr lang="x-none" altLang="en-US" sz="3600"/>
              <a:t>20</a:t>
            </a:r>
            <a:r>
              <a:rPr lang="en-US" altLang="zh-CN" sz="3600"/>
              <a:t>.0</a:t>
            </a:r>
            <a:r>
              <a:rPr lang="x-none" altLang="en-US" sz="3600"/>
              <a:t>3</a:t>
            </a:r>
            <a:r>
              <a:rPr lang="en-US" altLang="zh-CN" sz="3600"/>
              <a:t>-mingw-setup.exe</a:t>
            </a:r>
            <a:endParaRPr lang="en-US" altLang="zh-CN" sz="360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10443</Words>
  <Application>WPS 演示</Application>
  <PresentationFormat/>
  <Paragraphs>798</Paragraphs>
  <Slides>91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91</vt:i4>
      </vt:variant>
    </vt:vector>
  </HeadingPairs>
  <TitlesOfParts>
    <vt:vector size="107" baseType="lpstr">
      <vt:lpstr>Arial</vt:lpstr>
      <vt:lpstr>宋体</vt:lpstr>
      <vt:lpstr>Wingdings</vt:lpstr>
      <vt:lpstr>Times New Roman</vt:lpstr>
      <vt:lpstr>DejaVu Sans</vt:lpstr>
      <vt:lpstr>文泉驿微米黑</vt:lpstr>
      <vt:lpstr>宋体</vt:lpstr>
      <vt:lpstr>Tahoma</vt:lpstr>
      <vt:lpstr>Droid Sans</vt:lpstr>
      <vt:lpstr>Calibri</vt:lpstr>
      <vt:lpstr>黑体</vt:lpstr>
      <vt:lpstr>Arial Black</vt:lpstr>
      <vt:lpstr>微软雅黑</vt:lpstr>
      <vt:lpstr>Arial Unicode MS</vt:lpstr>
      <vt:lpstr>Noto Sans Symbols2</vt:lpstr>
      <vt:lpstr>默认设计模板</vt:lpstr>
      <vt:lpstr>程序设计基础</vt:lpstr>
      <vt:lpstr>为什么要学习C语言？</vt:lpstr>
      <vt:lpstr>为什么要学习C语言？</vt:lpstr>
      <vt:lpstr>为什么要学习C语言？</vt:lpstr>
      <vt:lpstr>C语言与python语言的不同</vt:lpstr>
      <vt:lpstr>C语言与python语言的不同</vt:lpstr>
      <vt:lpstr>Hello World程序</vt:lpstr>
      <vt:lpstr>计算机语言的发展</vt:lpstr>
      <vt:lpstr>PowerPoint 演示文稿</vt:lpstr>
      <vt:lpstr>PowerPoint 演示文稿</vt:lpstr>
      <vt:lpstr>计算机语言的发展</vt:lpstr>
      <vt:lpstr>von neumann architecture</vt:lpstr>
      <vt:lpstr>PowerPoint 演示文稿</vt:lpstr>
      <vt:lpstr>PowerPoint 演示文稿</vt:lpstr>
      <vt:lpstr>计算机语言的发展</vt:lpstr>
      <vt:lpstr>PowerPoint 演示文稿</vt:lpstr>
      <vt:lpstr>PowerPoint 演示文稿</vt:lpstr>
      <vt:lpstr>计算机语言的发展</vt:lpstr>
      <vt:lpstr>PowerPoint 演示文稿</vt:lpstr>
      <vt:lpstr>PowerPoint 演示文稿</vt:lpstr>
      <vt:lpstr>PowerPoint 演示文稿</vt:lpstr>
      <vt:lpstr>计算机语言的发展</vt:lpstr>
      <vt:lpstr>计算机语言的发展</vt:lpstr>
      <vt:lpstr>计算机语言的发展</vt:lpstr>
      <vt:lpstr>计算机语言的发展</vt:lpstr>
      <vt:lpstr>计算机语言的发展</vt:lpstr>
      <vt:lpstr>计算机语言的发展</vt:lpstr>
      <vt:lpstr>计算机语言的发展</vt:lpstr>
      <vt:lpstr>计算机语言的发展</vt:lpstr>
      <vt:lpstr>计算机语言的发展</vt:lpstr>
      <vt:lpstr>计算机语言的发展</vt:lpstr>
      <vt:lpstr>计算机语言的发展</vt:lpstr>
      <vt:lpstr>计算机语言的发展</vt:lpstr>
      <vt:lpstr>计算机语言的发展</vt:lpstr>
      <vt:lpstr>计算机语言的发展</vt:lpstr>
      <vt:lpstr>计算机语言的发展</vt:lpstr>
      <vt:lpstr>计算机语言的发展</vt:lpstr>
      <vt:lpstr>计算机语言的发展</vt:lpstr>
      <vt:lpstr>计算机语言的发展</vt:lpstr>
      <vt:lpstr>计算机语言的发展</vt:lpstr>
      <vt:lpstr>计算机语言的发展</vt:lpstr>
      <vt:lpstr>PowerPoint 演示文稿</vt:lpstr>
      <vt:lpstr>高级语言    汇编代码    机器代码</vt:lpstr>
      <vt:lpstr>PowerPoint 演示文稿</vt:lpstr>
      <vt:lpstr>PowerPoint 演示文稿</vt:lpstr>
      <vt:lpstr>程序的编译和链接</vt:lpstr>
      <vt:lpstr>程序的编译和链接</vt:lpstr>
      <vt:lpstr>高级语言的执行</vt:lpstr>
      <vt:lpstr>高级语言的执行</vt:lpstr>
      <vt:lpstr>高级语言的执行</vt:lpstr>
      <vt:lpstr>高级语言的执行</vt:lpstr>
      <vt:lpstr>故事中的故事——C语言的发展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程序设计基础—C语言版</vt:lpstr>
      <vt:lpstr>如何学好</vt:lpstr>
      <vt:lpstr>如何尽快学会用C语言进行程序设计</vt:lpstr>
      <vt:lpstr>教材和参考书</vt:lpstr>
      <vt:lpstr>课程要求</vt:lpstr>
      <vt:lpstr>Chap 1  引  言</vt:lpstr>
      <vt:lpstr>1.2  一个C语言程序</vt:lpstr>
      <vt:lpstr>1.3 程序设计语言的功能</vt:lpstr>
      <vt:lpstr>数据表达</vt:lpstr>
      <vt:lpstr>数据类型</vt:lpstr>
      <vt:lpstr>流程控制 </vt:lpstr>
      <vt:lpstr>流程控制 </vt:lpstr>
      <vt:lpstr>流程控制 </vt:lpstr>
      <vt:lpstr>1.4  实现问题求解的过程 </vt:lpstr>
      <vt:lpstr>问题分析与算法设计 </vt:lpstr>
      <vt:lpstr>PowerPoint 演示文稿</vt:lpstr>
      <vt:lpstr>实现问题求解的过程</vt:lpstr>
      <vt:lpstr>实现问题求解的过程</vt:lpstr>
      <vt:lpstr>实现问题求解的过程</vt:lpstr>
      <vt:lpstr>1.5 C 语言上机过程</vt:lpstr>
      <vt:lpstr>程序的编译与编程环境 </vt:lpstr>
      <vt:lpstr>程序的编译与编程环境 </vt:lpstr>
      <vt:lpstr>程序的编译与编程环境 </vt:lpstr>
      <vt:lpstr>程序的编译与编程环境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huxy</cp:lastModifiedBy>
  <cp:revision>187</cp:revision>
  <dcterms:created xsi:type="dcterms:W3CDTF">2023-09-03T10:02:18Z</dcterms:created>
  <dcterms:modified xsi:type="dcterms:W3CDTF">2023-09-03T10:02:18Z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2052-11.1.0.10920</vt:lpwstr>
  </property>
</Properties>
</file>