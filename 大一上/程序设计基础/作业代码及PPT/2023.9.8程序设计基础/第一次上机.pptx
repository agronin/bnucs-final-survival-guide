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20"/>
  </p:handoutMasterIdLst>
  <p:sldIdLst>
    <p:sldId id="381" r:id="rId3"/>
    <p:sldId id="383" r:id="rId4"/>
    <p:sldId id="483" r:id="rId6"/>
    <p:sldId id="484" r:id="rId7"/>
    <p:sldId id="485" r:id="rId8"/>
    <p:sldId id="486" r:id="rId9"/>
    <p:sldId id="487" r:id="rId10"/>
    <p:sldId id="413" r:id="rId11"/>
    <p:sldId id="488" r:id="rId12"/>
    <p:sldId id="489" r:id="rId13"/>
    <p:sldId id="490" r:id="rId14"/>
    <p:sldId id="492" r:id="rId15"/>
    <p:sldId id="493" r:id="rId16"/>
    <p:sldId id="495" r:id="rId17"/>
    <p:sldId id="494" r:id="rId18"/>
    <p:sldId id="496" r:id="rId1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207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第一次上机做什么 </a:t>
            </a:r>
            <a:endParaRPr lang="zh-CN" altLang="en-US" b="0" dirty="0"/>
          </a:p>
        </p:txBody>
      </p:sp>
      <p:sp>
        <p:nvSpPr>
          <p:cNvPr id="5123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 dirty="0"/>
              <a:t>1</a:t>
            </a:r>
            <a:r>
              <a:rPr lang="zh-CN" altLang="en-US" b="0" dirty="0"/>
              <a:t>.1  熟悉</a:t>
            </a:r>
            <a:r>
              <a:rPr lang="en-US" altLang="zh-CN" b="0" dirty="0"/>
              <a:t>windows</a:t>
            </a:r>
            <a:r>
              <a:rPr lang="zh-CN" altLang="en-US" b="0" dirty="0"/>
              <a:t>的目录结构</a:t>
            </a:r>
            <a:endParaRPr lang="en-US" altLang="zh-CN" b="0" dirty="0"/>
          </a:p>
          <a:p>
            <a:pPr eaLnBrk="1" hangingPunct="1">
              <a:buNone/>
            </a:pPr>
            <a:r>
              <a:rPr lang="en-US" altLang="zh-CN" b="0" dirty="0"/>
              <a:t>1.2  </a:t>
            </a:r>
            <a:r>
              <a:rPr lang="zh-CN" b="0" dirty="0"/>
              <a:t>命令行环境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1</a:t>
            </a:r>
            <a:r>
              <a:rPr lang="zh-CN" altLang="en-US" b="0" dirty="0"/>
              <a:t>.3  常用命令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1</a:t>
            </a:r>
            <a:r>
              <a:rPr lang="zh-CN" altLang="en-US" b="0" dirty="0"/>
              <a:t>.4  </a:t>
            </a:r>
            <a:r>
              <a:rPr lang="zh-CN" altLang="en-US" b="0" dirty="0">
                <a:sym typeface="+mn-ea"/>
              </a:rPr>
              <a:t>安装编程环境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1</a:t>
            </a:r>
            <a:r>
              <a:rPr lang="zh-CN" altLang="en-US" b="0" dirty="0"/>
              <a:t>.5  </a:t>
            </a:r>
            <a:r>
              <a:rPr lang="zh-CN" altLang="en-US" b="0" dirty="0">
                <a:sym typeface="+mn-ea"/>
              </a:rPr>
              <a:t>路径设置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>
                <a:sym typeface="+mn-ea"/>
              </a:rPr>
              <a:t>1</a:t>
            </a:r>
            <a:r>
              <a:rPr lang="zh-CN" altLang="en-US" b="0" dirty="0">
                <a:sym typeface="+mn-ea"/>
              </a:rPr>
              <a:t>.</a:t>
            </a:r>
            <a:r>
              <a:rPr lang="en-US" altLang="zh-CN" b="0" dirty="0">
                <a:sym typeface="+mn-ea"/>
              </a:rPr>
              <a:t>6</a:t>
            </a:r>
            <a:r>
              <a:rPr lang="zh-CN" altLang="en-US" b="0" dirty="0">
                <a:sym typeface="+mn-ea"/>
              </a:rPr>
              <a:t>  编制</a:t>
            </a:r>
            <a:r>
              <a:rPr lang="en-US" altLang="zh-CN" b="0" dirty="0">
                <a:sym typeface="+mn-ea"/>
              </a:rPr>
              <a:t>Hello World</a:t>
            </a:r>
            <a:r>
              <a:rPr lang="zh-CN" altLang="en-US" b="0" dirty="0">
                <a:sym typeface="+mn-ea"/>
              </a:rPr>
              <a:t>程序</a:t>
            </a:r>
            <a:r>
              <a:rPr lang="zh-CN" altLang="en-US" b="0" dirty="0"/>
              <a:t> </a:t>
            </a:r>
            <a:endParaRPr lang="zh-CN" altLang="en-US" b="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1.1  熟悉windows的目录结构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计算机硬盘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2493010"/>
            <a:ext cx="4552950" cy="3857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70" y="2826385"/>
            <a:ext cx="1515745" cy="11499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330" y="2637155"/>
            <a:ext cx="1618615" cy="13392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35" y="4364990"/>
            <a:ext cx="1611630" cy="16116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1.1  熟悉windows的目录结构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计算机硬盘</a:t>
            </a:r>
            <a:endParaRPr lang="zh-CN" altLang="en-US" b="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7630" y="1701165"/>
            <a:ext cx="5939790" cy="476504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1.1  熟悉windows的目录结构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计算机硬盘</a:t>
            </a:r>
            <a:endParaRPr lang="zh-CN" altLang="en-US" b="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2853055"/>
            <a:ext cx="1929130" cy="20135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75" y="1917065"/>
            <a:ext cx="5834380" cy="43326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1.1  熟悉windows的目录结构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计算机硬盘</a:t>
            </a:r>
            <a:endParaRPr lang="zh-CN" altLang="en-US" b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5912" t="15796" r="11025" b="56090"/>
          <a:stretch>
            <a:fillRect/>
          </a:stretch>
        </p:blipFill>
        <p:spPr>
          <a:xfrm>
            <a:off x="72073" y="2978785"/>
            <a:ext cx="8999855" cy="25717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1.1  熟悉windows的目录结构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343"/>
          <a:stretch>
            <a:fillRect/>
          </a:stretch>
        </p:blipFill>
        <p:spPr>
          <a:xfrm>
            <a:off x="457200" y="1557020"/>
            <a:ext cx="8122285" cy="49764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627630" y="4797425"/>
            <a:ext cx="1490345" cy="1014730"/>
          </a:xfrm>
          <a:prstGeom prst="rect">
            <a:avLst/>
          </a:prstGeom>
          <a:solidFill>
            <a:schemeClr val="accent5">
              <a:alpha val="18000"/>
            </a:schemeClr>
          </a:solidFill>
        </p:spPr>
        <p:txBody>
          <a:bodyPr wrap="square" rtlCol="0">
            <a:spAutoFit/>
          </a:bodyPr>
          <a:p>
            <a:pPr lvl="0" algn="l">
              <a:buClrTx/>
              <a:buSzTx/>
              <a:buFontTx/>
            </a:pPr>
            <a:r>
              <a:rPr lang="en-US" altLang="zh-CN" sz="6000">
                <a:solidFill>
                  <a:schemeClr val="accent5">
                    <a:lumMod val="50000"/>
                  </a:schemeClr>
                </a:solidFill>
                <a:sym typeface="+mn-ea"/>
              </a:rPr>
              <a:t>C</a:t>
            </a:r>
            <a:r>
              <a:rPr lang="en-US" altLang="zh-CN" sz="6000">
                <a:solidFill>
                  <a:schemeClr val="accent5">
                    <a:lumMod val="50000"/>
                  </a:schemeClr>
                </a:solidFill>
                <a:sym typeface="+mn-ea"/>
              </a:rPr>
              <a:t>盘</a:t>
            </a:r>
            <a:endParaRPr lang="en-US" altLang="zh-CN" sz="6000">
              <a:solidFill>
                <a:schemeClr val="accent5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1.1  熟悉windows的目录结构</a:t>
            </a:r>
            <a:endParaRPr lang="zh-CN" altLang="en-US" b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1628775"/>
            <a:ext cx="7473950" cy="4914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99160" y="3357245"/>
            <a:ext cx="5951220" cy="2861310"/>
          </a:xfrm>
          <a:prstGeom prst="rect">
            <a:avLst/>
          </a:prstGeom>
          <a:solidFill>
            <a:schemeClr val="accent5">
              <a:alpha val="18000"/>
            </a:schemeClr>
          </a:solidFill>
        </p:spPr>
        <p:txBody>
          <a:bodyPr wrap="square" rtlCol="0">
            <a:spAutoFit/>
          </a:bodyPr>
          <a:p>
            <a:r>
              <a:rPr lang="en-US" altLang="zh-CN" sz="6000">
                <a:solidFill>
                  <a:schemeClr val="accent5">
                    <a:lumMod val="50000"/>
                  </a:schemeClr>
                </a:solidFill>
              </a:rPr>
              <a:t>D</a:t>
            </a:r>
            <a:r>
              <a:rPr lang="zh-CN" altLang="en-US" sz="6000">
                <a:solidFill>
                  <a:schemeClr val="accent5">
                    <a:lumMod val="50000"/>
                  </a:schemeClr>
                </a:solidFill>
              </a:rPr>
              <a:t>盘</a:t>
            </a:r>
            <a:endParaRPr lang="zh-CN" altLang="en-US" sz="600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zh-CN" altLang="en-US" sz="6000">
                <a:solidFill>
                  <a:schemeClr val="accent5">
                    <a:lumMod val="50000"/>
                  </a:schemeClr>
                </a:solidFill>
              </a:rPr>
              <a:t>空白处单击右键</a:t>
            </a:r>
            <a:r>
              <a:rPr lang="zh-CN" altLang="x-none" sz="6000">
                <a:solidFill>
                  <a:schemeClr val="accent5">
                    <a:lumMod val="50000"/>
                  </a:schemeClr>
                </a:solidFill>
              </a:rPr>
              <a:t>新建文件夹</a:t>
            </a:r>
            <a:endParaRPr lang="zh-CN" altLang="x-none" sz="600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1.2  命令行环境</a:t>
            </a:r>
            <a:endParaRPr lang="zh-CN" altLang="en-US" b="0" dirty="0"/>
          </a:p>
        </p:txBody>
      </p:sp>
      <p:sp>
        <p:nvSpPr>
          <p:cNvPr id="3" name="文本框 2"/>
          <p:cNvSpPr txBox="1"/>
          <p:nvPr/>
        </p:nvSpPr>
        <p:spPr>
          <a:xfrm>
            <a:off x="1043940" y="2565400"/>
            <a:ext cx="599186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1. 单击桌面上的“开始”按钮。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 在搜索框中输入“cmd”。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3. 在搜索结果中，单击cmd。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3940" y="5005070"/>
            <a:ext cx="45866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1. 按键盘上的“Win + R”打开运行框，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2. 在运行框输入“cmd”并回车</a:t>
            </a:r>
            <a:endParaRPr lang="zh-CN" altLang="en-US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方法一：</a:t>
            </a: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方法二：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6735" y="1757045"/>
            <a:ext cx="4712970" cy="30841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1.3  常用命令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进入</a:t>
            </a:r>
            <a:r>
              <a:rPr lang="en-US" altLang="zh-CN" b="0" dirty="0"/>
              <a:t>D</a:t>
            </a:r>
            <a:r>
              <a:rPr lang="zh-CN" altLang="en-US" b="0" dirty="0"/>
              <a:t>盘（其他盘类似）</a:t>
            </a:r>
            <a:r>
              <a:rPr lang="en-US" altLang="zh-CN" b="0" dirty="0"/>
              <a:t>      </a:t>
            </a:r>
            <a:r>
              <a:rPr lang="zh-CN" altLang="en-US" b="0" dirty="0"/>
              <a:t>查看目录内文件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键入“</a:t>
            </a:r>
            <a:r>
              <a:rPr lang="en-US" altLang="zh-CN" b="0" dirty="0"/>
              <a:t>d:</a:t>
            </a:r>
            <a:r>
              <a:rPr lang="zh-CN" altLang="en-US" b="0" dirty="0"/>
              <a:t>”</a:t>
            </a:r>
            <a:r>
              <a:rPr lang="en-US" altLang="zh-CN" b="0" dirty="0"/>
              <a:t>                        </a:t>
            </a:r>
            <a:r>
              <a:rPr lang="zh-CN" altLang="en-US" b="0" dirty="0"/>
              <a:t>键入“</a:t>
            </a:r>
            <a:r>
              <a:rPr lang="en-US" altLang="zh-CN" b="0" dirty="0"/>
              <a:t>dir</a:t>
            </a:r>
            <a:r>
              <a:rPr lang="zh-CN" altLang="en-US" b="0" dirty="0"/>
              <a:t>”</a:t>
            </a:r>
            <a:endParaRPr lang="zh-CN" altLang="en-US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3141345"/>
            <a:ext cx="5332095" cy="34817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846" t="16287" r="64594" b="70016"/>
          <a:stretch>
            <a:fillRect/>
          </a:stretch>
        </p:blipFill>
        <p:spPr>
          <a:xfrm>
            <a:off x="4427855" y="4077335"/>
            <a:ext cx="4632325" cy="1198880"/>
          </a:xfrm>
          <a:prstGeom prst="rect">
            <a:avLst/>
          </a:prstGeom>
          <a:ln w="53975" cmpd="sng">
            <a:solidFill>
              <a:srgbClr val="FF9966"/>
            </a:solidFill>
            <a:prstDash val="solid"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1.3  常用命令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 dirty="0"/>
              <a:t>cd：全称change directory，即更改目录</a:t>
            </a:r>
            <a:endParaRPr lang="en-US" altLang="zh-CN" b="0" dirty="0"/>
          </a:p>
          <a:p>
            <a:pPr eaLnBrk="1" hangingPunct="1">
              <a:buNone/>
            </a:pPr>
            <a:r>
              <a:rPr lang="zh-CN" altLang="en-US" b="0" dirty="0"/>
              <a:t>例子：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1. </a:t>
            </a:r>
            <a:r>
              <a:rPr lang="zh-CN" altLang="en-US" b="0" dirty="0"/>
              <a:t>使用</a:t>
            </a:r>
            <a:r>
              <a:rPr lang="en-US" altLang="zh-CN" b="0" dirty="0"/>
              <a:t>c:</a:t>
            </a:r>
            <a:r>
              <a:rPr lang="zh-CN" altLang="en-US" b="0" dirty="0"/>
              <a:t>命令进入</a:t>
            </a:r>
            <a:r>
              <a:rPr lang="en-US" altLang="zh-CN" b="0" dirty="0"/>
              <a:t>C</a:t>
            </a:r>
            <a:r>
              <a:rPr lang="zh-CN" altLang="en-US" b="0" dirty="0"/>
              <a:t>盘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2. </a:t>
            </a:r>
            <a:r>
              <a:rPr lang="zh-CN" altLang="en-US" b="0" dirty="0"/>
              <a:t>使用</a:t>
            </a:r>
            <a:r>
              <a:rPr lang="en-US" altLang="zh-CN" b="0" dirty="0"/>
              <a:t> cd </a:t>
            </a:r>
            <a:r>
              <a:rPr lang="x-none" altLang="en-US" b="0" dirty="0"/>
              <a:t>\ </a:t>
            </a:r>
            <a:r>
              <a:rPr lang="zh-CN" altLang="x-none" b="0" dirty="0"/>
              <a:t>进入</a:t>
            </a:r>
            <a:r>
              <a:rPr lang="en-US" altLang="zh-CN" b="0" dirty="0"/>
              <a:t>C</a:t>
            </a:r>
            <a:r>
              <a:rPr lang="zh-CN" altLang="en-US" b="0" dirty="0"/>
              <a:t>盘根目录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3. </a:t>
            </a:r>
            <a:r>
              <a:rPr lang="zh-CN" altLang="en-US" b="0" dirty="0"/>
              <a:t>使用</a:t>
            </a:r>
            <a:r>
              <a:rPr lang="en-US" altLang="zh-CN" b="0" dirty="0"/>
              <a:t> cd program files </a:t>
            </a:r>
            <a:r>
              <a:rPr lang="zh-CN" altLang="en-US" b="0" dirty="0"/>
              <a:t>进入程序目录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4. </a:t>
            </a:r>
            <a:r>
              <a:rPr lang="zh-CN" altLang="en-US" b="0" dirty="0"/>
              <a:t>使用</a:t>
            </a:r>
            <a:r>
              <a:rPr lang="en-US" altLang="zh-CN" b="0" dirty="0"/>
              <a:t> cd </a:t>
            </a:r>
            <a:r>
              <a:rPr lang="x-none" altLang="en-US" b="0" dirty="0"/>
              <a:t>.. </a:t>
            </a:r>
            <a:r>
              <a:rPr lang="zh-CN" altLang="x-none" b="0" dirty="0"/>
              <a:t>返回上一级目录</a:t>
            </a:r>
            <a:endParaRPr lang="zh-CN" altLang="x-none" b="0" dirty="0"/>
          </a:p>
        </p:txBody>
      </p:sp>
      <p:sp>
        <p:nvSpPr>
          <p:cNvPr id="2" name="文本框 1"/>
          <p:cNvSpPr txBox="1"/>
          <p:nvPr/>
        </p:nvSpPr>
        <p:spPr>
          <a:xfrm>
            <a:off x="179705" y="5589905"/>
            <a:ext cx="8671560" cy="521970"/>
          </a:xfrm>
          <a:prstGeom prst="rect">
            <a:avLst/>
          </a:prstGeom>
          <a:solidFill>
            <a:schemeClr val="accent5">
              <a:lumMod val="90000"/>
              <a:alpha val="18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none" rtlCol="0" anchor="t">
            <a:spAutoFit/>
          </a:bodyPr>
          <a:p>
            <a:r>
              <a:rPr lang="zh-CN" altLang="en-US" sz="2800" dirty="0">
                <a:sym typeface="+mn-ea"/>
              </a:rPr>
              <a:t>技巧：键入</a:t>
            </a:r>
            <a:r>
              <a:rPr lang="en-US" altLang="zh-CN" sz="2800" dirty="0">
                <a:sym typeface="+mn-ea"/>
              </a:rPr>
              <a:t>cd progr</a:t>
            </a:r>
            <a:r>
              <a:rPr lang="zh-CN" altLang="en-US" sz="2800" dirty="0">
                <a:sym typeface="+mn-ea"/>
              </a:rPr>
              <a:t>后，可按</a:t>
            </a:r>
            <a:r>
              <a:rPr lang="en-US" altLang="zh-CN" sz="2800" dirty="0">
                <a:sym typeface="+mn-ea"/>
              </a:rPr>
              <a:t>Tab</a:t>
            </a:r>
            <a:r>
              <a:rPr lang="zh-CN" altLang="en-US" sz="2800" dirty="0">
                <a:sym typeface="+mn-ea"/>
              </a:rPr>
              <a:t>键补全剩余的目录名</a:t>
            </a:r>
            <a:endParaRPr lang="zh-CN" altLang="en-US" sz="2800" dirty="0"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1.4  安装编程环境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双击</a:t>
            </a:r>
            <a:r>
              <a:rPr lang="en-US" altLang="zh-CN" b="0" dirty="0"/>
              <a:t>codeblocks</a:t>
            </a:r>
            <a:r>
              <a:rPr lang="zh-CN" altLang="en-US" b="0" dirty="0"/>
              <a:t>安装文件，使用默认设置，</a:t>
            </a: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安装路径中不要有中文目录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处理的程序也最好不要处于中文目录中</a:t>
            </a: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尝试使用</a:t>
            </a:r>
            <a:r>
              <a:rPr lang="en-US" altLang="zh-CN" b="0" dirty="0"/>
              <a:t>cd</a:t>
            </a:r>
            <a:r>
              <a:rPr lang="zh-CN" altLang="en-US" b="0" dirty="0"/>
              <a:t>命令，逐步进入</a:t>
            </a:r>
            <a:r>
              <a:rPr lang="en-US" altLang="zh-CN" b="0" dirty="0"/>
              <a:t>C</a:t>
            </a:r>
            <a:r>
              <a:rPr lang="zh-CN" altLang="en-US" b="0" dirty="0"/>
              <a:t>：</a:t>
            </a:r>
            <a:r>
              <a:rPr lang="x-none" altLang="zh-CN" b="0" dirty="0"/>
              <a:t>\Program Files\Codeblocks\MinGW\bin</a:t>
            </a:r>
            <a:r>
              <a:rPr lang="en-US" altLang="x-none" b="0" dirty="0"/>
              <a:t> </a:t>
            </a:r>
            <a:r>
              <a:rPr lang="zh-CN" altLang="x-none" b="0" dirty="0"/>
              <a:t>目录</a:t>
            </a:r>
            <a:endParaRPr lang="en-US" altLang="zh-CN" b="0" dirty="0"/>
          </a:p>
          <a:p>
            <a:pPr eaLnBrk="1" hangingPunct="1">
              <a:buNone/>
            </a:pPr>
            <a:endParaRPr lang="en-US" altLang="zh-CN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1.4  安装编程环境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键入</a:t>
            </a:r>
            <a:r>
              <a:rPr lang="en-US" altLang="zh-CN" b="0" dirty="0"/>
              <a:t>gcc</a:t>
            </a:r>
            <a:r>
              <a:rPr lang="zh-CN" altLang="en-US" b="0" dirty="0"/>
              <a:t>命令，应该会看到如下提示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   </a:t>
            </a:r>
            <a:r>
              <a:rPr lang="zh-CN" altLang="en-US" b="0" dirty="0"/>
              <a:t>gcc: 致命错误：没有输入文件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   </a:t>
            </a:r>
            <a:r>
              <a:rPr lang="zh-CN" altLang="en-US" b="0" dirty="0"/>
              <a:t>编译中断</a:t>
            </a:r>
            <a:endParaRPr lang="zh-CN" altLang="en-US" b="0" dirty="0"/>
          </a:p>
          <a:p>
            <a:pPr eaLnBrk="1" hangingPunct="1">
              <a:buNone/>
            </a:pP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但</a:t>
            </a:r>
            <a:r>
              <a:rPr lang="en-US" altLang="zh-CN" b="0" dirty="0"/>
              <a:t>cd </a:t>
            </a:r>
            <a:r>
              <a:rPr lang="x-none" altLang="en-US" b="0" dirty="0"/>
              <a:t>\</a:t>
            </a:r>
            <a:r>
              <a:rPr lang="zh-CN" altLang="x-none" b="0" dirty="0"/>
              <a:t>进入</a:t>
            </a:r>
            <a:r>
              <a:rPr lang="en-US" altLang="zh-CN" b="0" dirty="0"/>
              <a:t>C</a:t>
            </a:r>
            <a:r>
              <a:rPr lang="zh-CN" altLang="en-US" b="0" dirty="0"/>
              <a:t>盘根目录，再尝试使用</a:t>
            </a:r>
            <a:r>
              <a:rPr lang="en-US" altLang="zh-CN" b="0" dirty="0"/>
              <a:t>gcc</a:t>
            </a:r>
            <a:r>
              <a:rPr lang="zh-CN" altLang="en-US" b="0" dirty="0"/>
              <a:t>命令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则会看到提示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   ‘gcc’</a:t>
            </a:r>
            <a:r>
              <a:rPr lang="zh-CN" altLang="en-US" b="0" dirty="0"/>
              <a:t>不是内部或外部命令，也不是可运行的程序或批处理文件</a:t>
            </a:r>
            <a:endParaRPr lang="zh-CN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1.5  路径设置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为了在任何目录下都可以直接使用</a:t>
            </a:r>
            <a:r>
              <a:rPr lang="en-US" altLang="zh-CN" b="0" dirty="0"/>
              <a:t>gcc</a:t>
            </a:r>
            <a:r>
              <a:rPr lang="zh-CN" altLang="en-US" b="0" dirty="0"/>
              <a:t>命令，可以将</a:t>
            </a:r>
            <a:r>
              <a:rPr lang="en-US" altLang="zh-CN" b="0" dirty="0"/>
              <a:t>gcc</a:t>
            </a:r>
            <a:r>
              <a:rPr lang="zh-CN" altLang="en-US" b="0" dirty="0"/>
              <a:t>的路径放到系统中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所有的路径都存在</a:t>
            </a:r>
            <a:r>
              <a:rPr lang="en-US" altLang="zh-CN" b="0" dirty="0"/>
              <a:t>path</a:t>
            </a:r>
            <a:r>
              <a:rPr lang="zh-CN" altLang="en-US" b="0" dirty="0"/>
              <a:t>环境变量里面，当用户敲击命令，</a:t>
            </a:r>
            <a:r>
              <a:rPr lang="en-US" altLang="zh-CN" b="0" dirty="0"/>
              <a:t>windows</a:t>
            </a:r>
            <a:r>
              <a:rPr lang="zh-CN" altLang="en-US" b="0" dirty="0"/>
              <a:t>会在</a:t>
            </a:r>
            <a:r>
              <a:rPr lang="en-US" altLang="zh-CN" b="0" dirty="0"/>
              <a:t>path</a:t>
            </a:r>
            <a:r>
              <a:rPr lang="zh-CN" altLang="en-US" b="0" dirty="0"/>
              <a:t>环境变量记录的路径中一一查找。</a:t>
            </a:r>
            <a:endParaRPr lang="zh-CN" altLang="en-US" b="0" dirty="0"/>
          </a:p>
        </p:txBody>
      </p:sp>
      <p:sp>
        <p:nvSpPr>
          <p:cNvPr id="2" name="文本框 1"/>
          <p:cNvSpPr txBox="1"/>
          <p:nvPr/>
        </p:nvSpPr>
        <p:spPr>
          <a:xfrm>
            <a:off x="323215" y="5013325"/>
            <a:ext cx="8088630" cy="398780"/>
          </a:xfrm>
          <a:prstGeom prst="rect">
            <a:avLst/>
          </a:prstGeom>
          <a:solidFill>
            <a:schemeClr val="tx2"/>
          </a:solidFill>
        </p:spPr>
        <p:txBody>
          <a:bodyPr wrap="square" rtlCol="0" anchor="t">
            <a:spAutoFit/>
          </a:bodyPr>
          <a:p>
            <a:r>
              <a:rPr lang="en-US" altLang="zh-CN" sz="2000">
                <a:solidFill>
                  <a:schemeClr val="bg1"/>
                </a:solidFill>
              </a:rPr>
              <a:t>setx P</a:t>
            </a:r>
            <a:r>
              <a:rPr lang="zh-CN" altLang="en-US" sz="2000">
                <a:solidFill>
                  <a:schemeClr val="bg1"/>
                </a:solidFill>
              </a:rPr>
              <a:t>ATH "C:\</a:t>
            </a:r>
            <a:r>
              <a:rPr lang="en-US" altLang="zh-CN" sz="2000">
                <a:solidFill>
                  <a:schemeClr val="bg1"/>
                </a:solidFill>
              </a:rPr>
              <a:t>Program Files</a:t>
            </a:r>
            <a:r>
              <a:rPr lang="zh-CN" altLang="en-US" sz="2000">
                <a:solidFill>
                  <a:schemeClr val="bg1"/>
                </a:solidFill>
              </a:rPr>
              <a:t>\</a:t>
            </a:r>
            <a:r>
              <a:rPr lang="en-US" altLang="zh-CN" sz="2000">
                <a:solidFill>
                  <a:schemeClr val="bg1"/>
                </a:solidFill>
              </a:rPr>
              <a:t>codeblocks</a:t>
            </a:r>
            <a:r>
              <a:rPr lang="x-none" altLang="en-US" sz="2000">
                <a:solidFill>
                  <a:schemeClr val="bg1"/>
                </a:solidFill>
              </a:rPr>
              <a:t>\MinGW\bin\</a:t>
            </a:r>
            <a:r>
              <a:rPr lang="zh-CN" altLang="en-US" sz="2000">
                <a:solidFill>
                  <a:schemeClr val="bg1"/>
                </a:solidFill>
              </a:rPr>
              <a:t>;%PATH%"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1.5  路径设置</a:t>
            </a:r>
            <a:endParaRPr lang="zh-CN" altLang="en-US" b="0" dirty="0"/>
          </a:p>
        </p:txBody>
      </p:sp>
      <p:sp>
        <p:nvSpPr>
          <p:cNvPr id="5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x-none" b="0" dirty="0"/>
              <a:t>进入</a:t>
            </a:r>
            <a:r>
              <a:rPr lang="en-US" altLang="zh-CN" b="0" dirty="0"/>
              <a:t>C</a:t>
            </a:r>
            <a:r>
              <a:rPr lang="zh-CN" altLang="en-US" b="0" dirty="0"/>
              <a:t>盘根目录，再尝试使用</a:t>
            </a:r>
            <a:r>
              <a:rPr lang="en-US" altLang="zh-CN" b="0" dirty="0"/>
              <a:t>gcc</a:t>
            </a:r>
            <a:r>
              <a:rPr lang="zh-CN" altLang="en-US" b="0" dirty="0"/>
              <a:t>命令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>
                <a:sym typeface="+mn-ea"/>
              </a:rPr>
              <a:t>键入</a:t>
            </a:r>
            <a:r>
              <a:rPr lang="en-US" altLang="zh-CN" b="0" dirty="0">
                <a:sym typeface="+mn-ea"/>
              </a:rPr>
              <a:t>gcc</a:t>
            </a:r>
            <a:r>
              <a:rPr lang="zh-CN" altLang="en-US" b="0" dirty="0">
                <a:sym typeface="+mn-ea"/>
              </a:rPr>
              <a:t>命令，应该会看到如下提示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>
                <a:sym typeface="+mn-ea"/>
              </a:rPr>
              <a:t>   </a:t>
            </a:r>
            <a:r>
              <a:rPr lang="zh-CN" altLang="en-US" b="0" dirty="0">
                <a:sym typeface="+mn-ea"/>
              </a:rPr>
              <a:t>gcc: 致命错误：没有输入文件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>
                <a:sym typeface="+mn-ea"/>
              </a:rPr>
              <a:t>   </a:t>
            </a:r>
            <a:r>
              <a:rPr lang="zh-CN" altLang="en-US" b="0" dirty="0">
                <a:sym typeface="+mn-ea"/>
              </a:rPr>
              <a:t>编译中断</a:t>
            </a:r>
            <a:endParaRPr lang="zh-CN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1.6  编制Hello World程序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b="0" dirty="0"/>
              <a:t>1. </a:t>
            </a:r>
            <a:r>
              <a:rPr lang="zh-CN" altLang="x-none" b="0" dirty="0"/>
              <a:t>打开</a:t>
            </a:r>
            <a:r>
              <a:rPr lang="en-US" altLang="zh-CN" b="0" dirty="0"/>
              <a:t>codeblocks</a:t>
            </a:r>
            <a:r>
              <a:rPr lang="zh-CN" altLang="en-US" b="0" dirty="0"/>
              <a:t>或任意文本编辑器，新建文件，另存为</a:t>
            </a:r>
            <a:r>
              <a:rPr lang="en-US" altLang="zh-CN" b="0" dirty="0"/>
              <a:t> hello.c</a:t>
            </a:r>
            <a:endParaRPr lang="en-US" altLang="zh-CN" b="0" dirty="0"/>
          </a:p>
          <a:p>
            <a:pPr eaLnBrk="1" hangingPunct="1">
              <a:buNone/>
            </a:pPr>
            <a:r>
              <a:rPr lang="en-US" altLang="zh-CN" b="0" dirty="0"/>
              <a:t>2. </a:t>
            </a:r>
            <a:r>
              <a:rPr lang="zh-CN" altLang="en-US" b="0" dirty="0"/>
              <a:t>输入代码，保存到</a:t>
            </a:r>
            <a:r>
              <a:rPr lang="en-US" altLang="zh-CN" b="0" dirty="0"/>
              <a:t>hello.c</a:t>
            </a:r>
            <a:r>
              <a:rPr lang="zh-CN" altLang="en-US" b="0" dirty="0"/>
              <a:t>，关闭编辑器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3. </a:t>
            </a:r>
            <a:r>
              <a:rPr lang="zh-CN" altLang="en-US" b="0" dirty="0"/>
              <a:t>打开命令行，进入</a:t>
            </a:r>
            <a:r>
              <a:rPr lang="en-US" altLang="zh-CN" b="0" dirty="0"/>
              <a:t>hello.c</a:t>
            </a:r>
            <a:r>
              <a:rPr lang="zh-CN" altLang="en-US" b="0" dirty="0"/>
              <a:t>所在的目录</a:t>
            </a:r>
            <a:endParaRPr lang="zh-CN" altLang="en-US" b="0" dirty="0"/>
          </a:p>
          <a:p>
            <a:pPr eaLnBrk="1" hangingPunct="1">
              <a:buNone/>
            </a:pPr>
            <a:r>
              <a:rPr lang="en-US" altLang="zh-CN" b="0" dirty="0"/>
              <a:t>4. </a:t>
            </a:r>
            <a:r>
              <a:rPr lang="zh-CN" altLang="en-US" b="0" dirty="0"/>
              <a:t>键入“</a:t>
            </a:r>
            <a:r>
              <a:rPr lang="en-US" altLang="zh-CN" b="0" dirty="0"/>
              <a:t>gcc</a:t>
            </a:r>
            <a:r>
              <a:rPr lang="x-none" altLang="en-US" b="0" dirty="0"/>
              <a:t> hello.c -o hello.exe</a:t>
            </a:r>
            <a:r>
              <a:rPr lang="zh-CN" altLang="en-US" b="0" dirty="0"/>
              <a:t>”</a:t>
            </a:r>
            <a:endParaRPr lang="zh-CN" altLang="en-US" b="0" dirty="0"/>
          </a:p>
          <a:p>
            <a:pPr eaLnBrk="1" hangingPunct="1">
              <a:buNone/>
            </a:pPr>
            <a:r>
              <a:rPr lang="x-none" altLang="zh-CN" b="0" dirty="0"/>
              <a:t>5. </a:t>
            </a:r>
            <a:r>
              <a:rPr lang="zh-CN" altLang="x-none" b="0" dirty="0"/>
              <a:t>运行</a:t>
            </a:r>
            <a:r>
              <a:rPr lang="en-US" altLang="zh-CN" b="0" dirty="0"/>
              <a:t>hello</a:t>
            </a:r>
            <a:r>
              <a:rPr lang="x-none" altLang="en-US" b="0" dirty="0"/>
              <a:t>.exe</a:t>
            </a:r>
            <a:endParaRPr lang="x-none" altLang="en-US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1.6  编制Hello World程序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x-none" altLang="en-US" b="0" dirty="0"/>
              <a:t>#include &lt;stdio.h&gt;</a:t>
            </a:r>
            <a:endParaRPr lang="x-none" altLang="en-US" b="0" dirty="0"/>
          </a:p>
          <a:p>
            <a:pPr eaLnBrk="1" hangingPunct="1">
              <a:buNone/>
            </a:pPr>
            <a:r>
              <a:rPr lang="x-none" altLang="zh-CN" b="0" dirty="0"/>
              <a:t>int main(void)</a:t>
            </a:r>
            <a:endParaRPr lang="x-none" altLang="zh-CN" b="0" dirty="0"/>
          </a:p>
          <a:p>
            <a:pPr eaLnBrk="1" hangingPunct="1">
              <a:buNone/>
            </a:pPr>
            <a:r>
              <a:rPr lang="x-none" altLang="zh-CN" b="0" dirty="0"/>
              <a:t>{</a:t>
            </a:r>
            <a:endParaRPr lang="x-none" altLang="zh-CN" b="0" dirty="0"/>
          </a:p>
          <a:p>
            <a:pPr eaLnBrk="1" hangingPunct="1">
              <a:buNone/>
            </a:pPr>
            <a:r>
              <a:rPr lang="x-none" altLang="zh-CN" b="0" dirty="0"/>
              <a:t>	  printf(“Hello World!\n”);</a:t>
            </a:r>
            <a:endParaRPr lang="x-none" altLang="zh-CN" b="0" dirty="0"/>
          </a:p>
          <a:p>
            <a:pPr eaLnBrk="1" hangingPunct="1">
              <a:buNone/>
            </a:pPr>
            <a:r>
              <a:rPr lang="x-none" altLang="zh-CN" b="0" dirty="0"/>
              <a:t>	  return 0;</a:t>
            </a:r>
            <a:endParaRPr lang="x-none" altLang="zh-CN" b="0" dirty="0"/>
          </a:p>
          <a:p>
            <a:pPr eaLnBrk="1" hangingPunct="1">
              <a:buNone/>
            </a:pPr>
            <a:r>
              <a:rPr lang="x-none" altLang="zh-CN" b="0" dirty="0"/>
              <a:t>}</a:t>
            </a:r>
            <a:endParaRPr lang="x-none" altLang="zh-CN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1266</Words>
  <Application>WPS 演示</Application>
  <PresentationFormat>全屏显示(4:3)</PresentationFormat>
  <Paragraphs>119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微软雅黑</vt:lpstr>
      <vt:lpstr>宋体</vt:lpstr>
      <vt:lpstr>Arial Unicode MS</vt:lpstr>
      <vt:lpstr>Noto Sans Symbols2</vt:lpstr>
      <vt:lpstr>Pixel</vt:lpstr>
      <vt:lpstr>第一次上机做什么 </vt:lpstr>
      <vt:lpstr>1.1  熟悉windows的目录结构</vt:lpstr>
      <vt:lpstr>1.1  熟悉windows的目录结构</vt:lpstr>
      <vt:lpstr>1.1  熟悉windows的目录结构</vt:lpstr>
      <vt:lpstr>1.1  熟悉windows的目录结构</vt:lpstr>
      <vt:lpstr>1.1  熟悉windows的目录结构</vt:lpstr>
      <vt:lpstr>1.1  熟悉windows的目录结构</vt:lpstr>
      <vt:lpstr>1.2  命令行环境</vt:lpstr>
      <vt:lpstr>1.3  常用命令</vt:lpstr>
      <vt:lpstr>1.3  常用命令</vt:lpstr>
      <vt:lpstr>1.4  安装编程环境</vt:lpstr>
      <vt:lpstr>1.4  安装编程环境</vt:lpstr>
      <vt:lpstr>1.4  安装编程环境</vt:lpstr>
      <vt:lpstr>1.5  路径设置</vt:lpstr>
      <vt:lpstr>1.5  路径设置</vt:lpstr>
      <vt:lpstr>1.6  编制Hello World程序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1214</cp:revision>
  <dcterms:created xsi:type="dcterms:W3CDTF">2023-09-03T12:40:58Z</dcterms:created>
  <dcterms:modified xsi:type="dcterms:W3CDTF">2023-09-03T12:40:58Z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