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2"/>
  </p:handoutMasterIdLst>
  <p:sldIdLst>
    <p:sldId id="950" r:id="rId3"/>
    <p:sldId id="1027" r:id="rId4"/>
    <p:sldId id="1030" r:id="rId5"/>
    <p:sldId id="1032" r:id="rId6"/>
    <p:sldId id="1040" r:id="rId7"/>
    <p:sldId id="1028" r:id="rId8"/>
    <p:sldId id="1035" r:id="rId10"/>
    <p:sldId id="1038" r:id="rId11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FFF00"/>
    <a:srgbClr val="F9B5AC"/>
    <a:srgbClr val="C39BE1"/>
    <a:srgbClr val="E3D0F1"/>
    <a:srgbClr val="FF3300"/>
    <a:srgbClr val="008080"/>
    <a:srgbClr val="FF9966"/>
    <a:srgbClr val="FF9933"/>
    <a:srgbClr val="757E30"/>
    <a:srgbClr val="33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5655"/>
    <p:restoredTop sz="87587"/>
  </p:normalViewPr>
  <p:slideViewPr>
    <p:cSldViewPr showGuides="1">
      <p:cViewPr varScale="1">
        <p:scale>
          <a:sx n="96" d="100"/>
          <a:sy n="96" d="100"/>
        </p:scale>
        <p:origin x="392" y="48"/>
      </p:cViewPr>
      <p:guideLst>
        <p:guide orient="horz" pos="196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DC051A7-3587-483F-9A84-19A57A54D70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3076" name="Rectangle 4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9EBB9F-ED3F-4095-BBB0-A0D8AB781BF8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20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4920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31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2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3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 Black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800D6FC-F8F6-4751-AF76-C915BE71AE0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宋体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</p:spPr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4AC981-3895-42EE-8AD4-27665A5AED6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宋体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981200"/>
            <a:ext cx="4038600" cy="18669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4000500"/>
            <a:ext cx="4038600" cy="18669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</p:spPr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80604020202020204" pitchFamily="34" charset="0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3886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</p:spPr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8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816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>
                <a:latin typeface="Arial" panose="0208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28" name="Rectangle 14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9" name="Rectangle 15"/>
          <p:cNvSpPr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4817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8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48177" name="Text Box 17"/>
          <p:cNvSpPr txBox="1">
            <a:spLocks noChangeArrowheads="1"/>
          </p:cNvSpPr>
          <p:nvPr/>
        </p:nvSpPr>
        <p:spPr bwMode="auto">
          <a:xfrm>
            <a:off x="8532813" y="6308725"/>
            <a:ext cx="503238" cy="36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6D9E139-8418-4926-8889-64399745B40F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宋体" pitchFamily="2" charset="-122"/>
                <a:cs typeface="+mn-cs"/>
              </a:rPr>
            </a:fld>
            <a:endParaRPr kumimoji="0" lang="en-US" altLang="zh-CN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5" name="Rectangle 2"/>
          <p:cNvSpPr>
            <a:spLocks noGrp="1"/>
          </p:cNvSpPr>
          <p:nvPr>
            <p:ph type="title"/>
          </p:nvPr>
        </p:nvSpPr>
        <p:spPr>
          <a:xfrm>
            <a:off x="1042988" y="620713"/>
            <a:ext cx="5334000" cy="8382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x-none" altLang="zh-CN" b="0" dirty="0">
                <a:ea typeface="华文新魏" pitchFamily="2" charset="-122"/>
              </a:rPr>
              <a:t>C</a:t>
            </a:r>
            <a:r>
              <a:rPr lang="zh-CN" altLang="x-none" b="0" dirty="0">
                <a:ea typeface="华文新魏" pitchFamily="2" charset="-122"/>
              </a:rPr>
              <a:t>语言内存模型</a:t>
            </a:r>
            <a:endParaRPr lang="zh-CN" altLang="en-US" b="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18681" r="8595"/>
          <a:stretch>
            <a:fillRect/>
          </a:stretch>
        </p:blipFill>
        <p:spPr>
          <a:xfrm>
            <a:off x="4529455" y="2491740"/>
            <a:ext cx="4523105" cy="2458085"/>
          </a:xfrm>
          <a:prstGeom prst="rect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75" y="2493010"/>
            <a:ext cx="4365625" cy="2455545"/>
          </a:xfrm>
          <a:prstGeom prst="rect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 descr="Memory-Motherboard-splash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54760"/>
            <a:ext cx="9144000" cy="4348480"/>
          </a:xfrm>
          <a:prstGeom prst="rect">
            <a:avLst/>
          </a:prstGeom>
        </p:spPr>
      </p:pic>
      <p:sp>
        <p:nvSpPr>
          <p:cNvPr id="3075" name="Rectangle 2"/>
          <p:cNvSpPr>
            <a:spLocks noGrp="1"/>
          </p:cNvSpPr>
          <p:nvPr>
            <p:ph type="title"/>
          </p:nvPr>
        </p:nvSpPr>
        <p:spPr>
          <a:xfrm>
            <a:off x="2059623" y="260985"/>
            <a:ext cx="5024755" cy="838200"/>
          </a:xfrm>
        </p:spPr>
        <p:txBody>
          <a:bodyPr vert="horz" wrap="square" lIns="91440" tIns="45720" rIns="91440" bIns="45720" anchor="ctr" anchorCtr="0"/>
          <a:p>
            <a:pPr algn="ctr" eaLnBrk="1" hangingPunct="1"/>
            <a:r>
              <a:rPr lang="zh-CN" b="0" dirty="0">
                <a:ea typeface="华文新魏" pitchFamily="2" charset="-122"/>
              </a:rPr>
              <a:t>计算机物理</a:t>
            </a:r>
            <a:r>
              <a:rPr lang="zh-CN" altLang="x-none" b="0" dirty="0">
                <a:ea typeface="华文新魏" pitchFamily="2" charset="-122"/>
              </a:rPr>
              <a:t>内存</a:t>
            </a:r>
            <a:endParaRPr lang="zh-CN" altLang="en-US" b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5" name="Rectangle 2"/>
          <p:cNvSpPr>
            <a:spLocks noGrp="1"/>
          </p:cNvSpPr>
          <p:nvPr>
            <p:ph type="title"/>
          </p:nvPr>
        </p:nvSpPr>
        <p:spPr>
          <a:xfrm>
            <a:off x="2059623" y="260985"/>
            <a:ext cx="5024755" cy="838200"/>
          </a:xfrm>
        </p:spPr>
        <p:txBody>
          <a:bodyPr vert="horz" wrap="square" lIns="91440" tIns="45720" rIns="91440" bIns="45720" anchor="ctr" anchorCtr="0"/>
          <a:p>
            <a:pPr algn="ctr" eaLnBrk="1" hangingPunct="1"/>
            <a:r>
              <a:rPr lang="zh-CN" b="0" dirty="0">
                <a:ea typeface="华文新魏" pitchFamily="2" charset="-122"/>
              </a:rPr>
              <a:t>计算机物理</a:t>
            </a:r>
            <a:r>
              <a:rPr lang="zh-CN" altLang="x-none" b="0" dirty="0">
                <a:ea typeface="华文新魏" pitchFamily="2" charset="-122"/>
              </a:rPr>
              <a:t>内存</a:t>
            </a:r>
            <a:endParaRPr lang="zh-CN" altLang="en-US" b="0" dirty="0"/>
          </a:p>
        </p:txBody>
      </p:sp>
      <p:pic>
        <p:nvPicPr>
          <p:cNvPr id="4" name="图片 3" descr="R-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070" y="1196975"/>
            <a:ext cx="5062220" cy="28219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t="1952" r="58758"/>
          <a:stretch>
            <a:fillRect/>
          </a:stretch>
        </p:blipFill>
        <p:spPr>
          <a:xfrm>
            <a:off x="179070" y="4158455"/>
            <a:ext cx="604143" cy="252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135" y="1196975"/>
            <a:ext cx="3123565" cy="548132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rcRect t="1952" r="58758"/>
          <a:stretch>
            <a:fillRect/>
          </a:stretch>
        </p:blipFill>
        <p:spPr>
          <a:xfrm>
            <a:off x="1231523" y="4158455"/>
            <a:ext cx="603885" cy="2520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rcRect t="1952" r="58758"/>
          <a:stretch>
            <a:fillRect/>
          </a:stretch>
        </p:blipFill>
        <p:spPr>
          <a:xfrm>
            <a:off x="2283718" y="4158455"/>
            <a:ext cx="603885" cy="25200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rcRect t="1952" r="58758"/>
          <a:stretch>
            <a:fillRect/>
          </a:stretch>
        </p:blipFill>
        <p:spPr>
          <a:xfrm>
            <a:off x="4788793" y="4158455"/>
            <a:ext cx="603885" cy="252000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3335913" y="5157470"/>
            <a:ext cx="86106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x-none" altLang="zh-CN" sz="2800"/>
              <a:t>......</a:t>
            </a:r>
            <a:endParaRPr lang="x-none" altLang="zh-CN" sz="28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t="15413" b="1150"/>
          <a:stretch>
            <a:fillRect/>
          </a:stretch>
        </p:blipFill>
        <p:spPr>
          <a:xfrm>
            <a:off x="179070" y="1157605"/>
            <a:ext cx="5215890" cy="29013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5" name="Rectangle 2"/>
          <p:cNvSpPr>
            <a:spLocks noGrp="1"/>
          </p:cNvSpPr>
          <p:nvPr>
            <p:ph type="title"/>
          </p:nvPr>
        </p:nvSpPr>
        <p:spPr>
          <a:xfrm>
            <a:off x="2059623" y="260985"/>
            <a:ext cx="5024755" cy="838200"/>
          </a:xfrm>
        </p:spPr>
        <p:txBody>
          <a:bodyPr vert="horz" wrap="square" lIns="91440" tIns="45720" rIns="91440" bIns="45720" anchor="ctr" anchorCtr="0"/>
          <a:p>
            <a:pPr algn="ctr" eaLnBrk="1" hangingPunct="1"/>
            <a:r>
              <a:rPr lang="zh-CN" b="0" dirty="0">
                <a:ea typeface="华文新魏" pitchFamily="2" charset="-122"/>
              </a:rPr>
              <a:t>程序的虚拟</a:t>
            </a:r>
            <a:r>
              <a:rPr lang="zh-CN" altLang="x-none" b="0" dirty="0">
                <a:ea typeface="华文新魏" pitchFamily="2" charset="-122"/>
              </a:rPr>
              <a:t>内存</a:t>
            </a:r>
            <a:endParaRPr lang="zh-CN" altLang="en-US" b="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3213" y="1090930"/>
            <a:ext cx="8537575" cy="467614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5560" y="6453505"/>
            <a:ext cx="519747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200"/>
              <a:t>https://blog.csdn.net/weixin_46187354/article/details/128507292</a:t>
            </a:r>
            <a:endParaRPr lang="zh-CN" altLang="en-US" sz="1200"/>
          </a:p>
        </p:txBody>
      </p:sp>
      <p:sp>
        <p:nvSpPr>
          <p:cNvPr id="3" name="文本框 2"/>
          <p:cNvSpPr txBox="1"/>
          <p:nvPr/>
        </p:nvSpPr>
        <p:spPr>
          <a:xfrm>
            <a:off x="3924300" y="3789045"/>
            <a:ext cx="22326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例：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32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位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Linux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系统</a:t>
            </a:r>
            <a:endParaRPr lang="zh-CN" altLang="en-US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4" name="组合 13"/>
          <p:cNvGrpSpPr/>
          <p:nvPr/>
        </p:nvGrpSpPr>
        <p:grpSpPr>
          <a:xfrm>
            <a:off x="324485" y="488315"/>
            <a:ext cx="1367790" cy="5791835"/>
            <a:chOff x="11510" y="429"/>
            <a:chExt cx="2154" cy="9121"/>
          </a:xfrm>
        </p:grpSpPr>
        <p:sp>
          <p:nvSpPr>
            <p:cNvPr id="4" name="矩形 3"/>
            <p:cNvSpPr/>
            <p:nvPr/>
          </p:nvSpPr>
          <p:spPr>
            <a:xfrm>
              <a:off x="11510" y="429"/>
              <a:ext cx="2155" cy="1814"/>
            </a:xfrm>
            <a:prstGeom prst="rect">
              <a:avLst/>
            </a:prstGeom>
            <a:solidFill>
              <a:schemeClr val="accent5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2075" tIns="46038" rIns="92075" bIns="46038" numCol="1" anchor="ctr" anchorCtr="1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80604020202020204" pitchFamily="34" charset="0"/>
                  <a:ea typeface="宋体" pitchFamily="2" charset="-122"/>
                </a:rPr>
                <a:t>操作系统内核区</a:t>
              </a: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  <a:ea typeface="宋体" pitchFamily="2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11510" y="2243"/>
              <a:ext cx="2155" cy="1814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2075" tIns="46038" rIns="92075" bIns="46038" numCol="1" anchor="ctr" anchorCtr="1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80604020202020204" pitchFamily="34" charset="0"/>
                  <a:ea typeface="宋体" pitchFamily="2" charset="-122"/>
                </a:rPr>
                <a:t>栈区</a:t>
              </a:r>
              <a:endPara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  <a:ea typeface="宋体" pitchFamily="2" charset="-122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11510" y="4057"/>
              <a:ext cx="2155" cy="890"/>
            </a:xfrm>
            <a:prstGeom prst="rect">
              <a:avLst/>
            </a:prstGeom>
            <a:solidFill>
              <a:srgbClr val="33CCC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2075" tIns="46038" rIns="92075" bIns="46038" numCol="1" anchor="ctr" anchorCtr="1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80604020202020204" pitchFamily="34" charset="0"/>
                  <a:ea typeface="宋体" pitchFamily="2" charset="-122"/>
                </a:rPr>
                <a:t>动态链接库</a:t>
              </a: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  <a:ea typeface="宋体" pitchFamily="2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1510" y="4947"/>
              <a:ext cx="2155" cy="1814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2075" tIns="46038" rIns="92075" bIns="46038" numCol="1" anchor="ctr" anchorCtr="1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80604020202020204" pitchFamily="34" charset="0"/>
                  <a:ea typeface="宋体" pitchFamily="2" charset="-122"/>
                </a:rPr>
                <a:t>堆区</a:t>
              </a: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  <a:ea typeface="宋体" pitchFamily="2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11510" y="6761"/>
              <a:ext cx="2155" cy="720"/>
            </a:xfrm>
            <a:prstGeom prst="rect">
              <a:avLst/>
            </a:prstGeom>
            <a:solidFill>
              <a:srgbClr val="FF99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2075" tIns="46038" rIns="92075" bIns="46038" numCol="1" anchor="ctr" anchorCtr="1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80604020202020204" pitchFamily="34" charset="0"/>
                  <a:ea typeface="宋体" pitchFamily="2" charset="-122"/>
                </a:rPr>
                <a:t>bss</a:t>
              </a:r>
              <a:r>
                <a: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80604020202020204" pitchFamily="34" charset="0"/>
                  <a:ea typeface="宋体" pitchFamily="2" charset="-122"/>
                </a:rPr>
                <a:t>段</a:t>
              </a: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  <a:ea typeface="宋体" pitchFamily="2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11510" y="7481"/>
              <a:ext cx="2155" cy="570"/>
            </a:xfrm>
            <a:prstGeom prst="rect">
              <a:avLst/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2075" tIns="46038" rIns="92075" bIns="46038" numCol="1" anchor="ctr" anchorCtr="1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80604020202020204" pitchFamily="34" charset="0"/>
                  <a:ea typeface="宋体" pitchFamily="2" charset="-122"/>
                </a:rPr>
                <a:t>静态数据区</a:t>
              </a: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  <a:ea typeface="宋体" pitchFamily="2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11510" y="8051"/>
              <a:ext cx="2155" cy="748"/>
            </a:xfrm>
            <a:prstGeom prst="rect">
              <a:avLst/>
            </a:prstGeom>
            <a:solidFill>
              <a:srgbClr val="92D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2075" tIns="46038" rIns="92075" bIns="46038" numCol="1" anchor="ctr" anchorCtr="1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80604020202020204" pitchFamily="34" charset="0"/>
                  <a:ea typeface="宋体" pitchFamily="2" charset="-122"/>
                </a:rPr>
                <a:t>代码段</a:t>
              </a: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  <a:ea typeface="宋体" pitchFamily="2" charset="-122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11510" y="8802"/>
              <a:ext cx="2155" cy="7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2075" tIns="46038" rIns="92075" bIns="46038" numCol="1" anchor="ctr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80604020202020204" pitchFamily="34" charset="0"/>
                  <a:ea typeface="宋体" pitchFamily="2" charset="-122"/>
                </a:rPr>
                <a:t>受保护</a:t>
              </a: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  <a:ea typeface="宋体" pitchFamily="2" charset="-122"/>
              </a:endParaRPr>
            </a:p>
          </p:txBody>
        </p:sp>
        <p:cxnSp>
          <p:nvCxnSpPr>
            <p:cNvPr id="12" name="直接箭头连接符 11"/>
            <p:cNvCxnSpPr/>
            <p:nvPr/>
          </p:nvCxnSpPr>
          <p:spPr>
            <a:xfrm flipH="1">
              <a:off x="13211" y="2296"/>
              <a:ext cx="0" cy="129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13" name="直接箭头连接符 12"/>
            <p:cNvCxnSpPr/>
            <p:nvPr/>
          </p:nvCxnSpPr>
          <p:spPr>
            <a:xfrm flipH="1" flipV="1">
              <a:off x="13211" y="5434"/>
              <a:ext cx="0" cy="1293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</p:grpSp>
      <p:sp>
        <p:nvSpPr>
          <p:cNvPr id="15" name="文本框 14"/>
          <p:cNvSpPr txBox="1"/>
          <p:nvPr/>
        </p:nvSpPr>
        <p:spPr>
          <a:xfrm>
            <a:off x="1908810" y="876935"/>
            <a:ext cx="6981190" cy="36830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 anchor="t">
            <a:spAutoFit/>
          </a:bodyPr>
          <a:p>
            <a:r>
              <a:rPr lang="zh-CN" altLang="x-none">
                <a:solidFill>
                  <a:schemeClr val="tx1"/>
                </a:solidFill>
                <a:sym typeface="+mn-ea"/>
              </a:rPr>
              <a:t>操作系统内核区，用户态不能访问</a:t>
            </a:r>
            <a:endParaRPr lang="zh-CN" altLang="x-none">
              <a:solidFill>
                <a:schemeClr val="tx1"/>
              </a:solidFill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908810" y="1628775"/>
            <a:ext cx="6981190" cy="119888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 anchor="t">
            <a:spAutoFit/>
          </a:bodyPr>
          <a:p>
            <a:r>
              <a:rPr lang="zh-CN" altLang="x-none">
                <a:solidFill>
                  <a:schemeClr val="tx1"/>
                </a:solidFill>
                <a:sym typeface="+mn-ea"/>
              </a:rPr>
              <a:t>程序的</a:t>
            </a:r>
            <a:r>
              <a:rPr lang="zh-CN" altLang="x-none">
                <a:solidFill>
                  <a:srgbClr val="FF0000"/>
                </a:solidFill>
                <a:sym typeface="+mn-ea"/>
              </a:rPr>
              <a:t>局部变量，函数的形参等</a:t>
            </a:r>
            <a:r>
              <a:rPr lang="zh-CN" altLang="x-none">
                <a:solidFill>
                  <a:schemeClr val="tx1"/>
                </a:solidFill>
                <a:sym typeface="+mn-ea"/>
              </a:rPr>
              <a:t>所在的地方。每调用一个函数，栈区就会向下扩展，存储这个函数的局部变量，而当函数执行完毕返回调用者时，其存储会被销毁。栈区内存容量有限，如定义较大数组，或者调用层次过深，会出现内存不够的情况。</a:t>
            </a:r>
            <a:endParaRPr lang="zh-CN" altLang="x-none">
              <a:solidFill>
                <a:schemeClr val="tx1"/>
              </a:solidFill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908810" y="2978150"/>
            <a:ext cx="6981190" cy="36830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 anchor="t">
            <a:spAutoFit/>
          </a:bodyPr>
          <a:p>
            <a:r>
              <a:rPr lang="zh-CN" altLang="x-none">
                <a:solidFill>
                  <a:schemeClr val="tx1"/>
                </a:solidFill>
                <a:sym typeface="+mn-ea"/>
              </a:rPr>
              <a:t>动态链接库，使用外部动态链接库时的内容映射地址</a:t>
            </a:r>
            <a:endParaRPr lang="zh-CN" altLang="x-none">
              <a:solidFill>
                <a:schemeClr val="tx1"/>
              </a:solidFill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908810" y="3543935"/>
            <a:ext cx="6981190" cy="64516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 anchor="t">
            <a:spAutoFit/>
          </a:bodyPr>
          <a:p>
            <a:r>
              <a:rPr lang="zh-CN" altLang="x-none">
                <a:solidFill>
                  <a:schemeClr val="tx1"/>
                </a:solidFill>
                <a:sym typeface="+mn-ea"/>
              </a:rPr>
              <a:t>动态内存分配区，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malloc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从这个区获得内存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并返回给用户首地址。地址向上生长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908810" y="4509135"/>
            <a:ext cx="6981190" cy="36830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 anchor="t">
            <a:spAutoFit/>
          </a:bodyPr>
          <a:p>
            <a:r>
              <a:rPr lang="zh-CN" altLang="x-none">
                <a:solidFill>
                  <a:srgbClr val="FF0000"/>
                </a:solidFill>
                <a:sym typeface="+mn-ea"/>
              </a:rPr>
              <a:t>未初始化、或初始化成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0</a:t>
            </a:r>
            <a:r>
              <a:rPr lang="zh-CN" altLang="x-none">
                <a:solidFill>
                  <a:srgbClr val="FF0000"/>
                </a:solidFill>
                <a:sym typeface="+mn-ea"/>
              </a:rPr>
              <a:t>的全局变量、静态变量</a:t>
            </a:r>
            <a:endParaRPr lang="zh-CN" altLang="x-none">
              <a:solidFill>
                <a:srgbClr val="FF0000"/>
              </a:solidFill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908810" y="4981575"/>
            <a:ext cx="6981190" cy="36830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 anchor="t">
            <a:spAutoFit/>
          </a:bodyPr>
          <a:p>
            <a:r>
              <a:rPr lang="zh-CN" altLang="x-none">
                <a:solidFill>
                  <a:srgbClr val="FF0000"/>
                </a:solidFill>
                <a:sym typeface="+mn-ea"/>
              </a:rPr>
              <a:t>初始化成非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0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值</a:t>
            </a:r>
            <a:r>
              <a:rPr lang="zh-CN" altLang="x-none">
                <a:solidFill>
                  <a:srgbClr val="FF0000"/>
                </a:solidFill>
                <a:sym typeface="+mn-ea"/>
              </a:rPr>
              <a:t>的全局变量、静态变量</a:t>
            </a:r>
            <a:endParaRPr lang="zh-CN" altLang="x-none">
              <a:solidFill>
                <a:srgbClr val="FF0000"/>
              </a:solidFill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908810" y="5454015"/>
            <a:ext cx="6981190" cy="36830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 anchor="t">
            <a:spAutoFit/>
          </a:bodyPr>
          <a:p>
            <a:r>
              <a:rPr lang="zh-CN">
                <a:solidFill>
                  <a:srgbClr val="FF0000"/>
                </a:solidFill>
                <a:sym typeface="+mn-ea"/>
              </a:rPr>
              <a:t>程序代码以及字符串常量</a:t>
            </a:r>
            <a:endParaRPr lang="zh-CN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5" name="Rectangle 2"/>
          <p:cNvSpPr>
            <a:spLocks noGrp="1"/>
          </p:cNvSpPr>
          <p:nvPr>
            <p:ph type="title"/>
          </p:nvPr>
        </p:nvSpPr>
        <p:spPr>
          <a:xfrm>
            <a:off x="2059623" y="260985"/>
            <a:ext cx="5024755" cy="838200"/>
          </a:xfrm>
        </p:spPr>
        <p:txBody>
          <a:bodyPr vert="horz" wrap="square" lIns="91440" tIns="45720" rIns="91440" bIns="45720" anchor="ctr" anchorCtr="0"/>
          <a:p>
            <a:pPr algn="ctr" eaLnBrk="1" hangingPunct="1"/>
            <a:r>
              <a:rPr lang="zh-CN" b="0" dirty="0">
                <a:ea typeface="华文新魏" pitchFamily="2" charset="-122"/>
              </a:rPr>
              <a:t>程序的虚拟</a:t>
            </a:r>
            <a:r>
              <a:rPr lang="zh-CN" altLang="x-none" b="0" dirty="0">
                <a:ea typeface="华文新魏" pitchFamily="2" charset="-122"/>
              </a:rPr>
              <a:t>内存</a:t>
            </a:r>
            <a:endParaRPr lang="zh-CN" altLang="en-US" b="0" dirty="0"/>
          </a:p>
        </p:txBody>
      </p:sp>
      <p:sp>
        <p:nvSpPr>
          <p:cNvPr id="3" name="文本框 2"/>
          <p:cNvSpPr txBox="1"/>
          <p:nvPr/>
        </p:nvSpPr>
        <p:spPr>
          <a:xfrm>
            <a:off x="683260" y="1124585"/>
            <a:ext cx="5318125" cy="53543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#include &lt;stdio.h&gt;</a:t>
            </a:r>
            <a:endParaRPr lang="zh-CN" altLang="en-US"/>
          </a:p>
          <a:p>
            <a:r>
              <a:rPr lang="zh-CN" altLang="en-US"/>
              <a:t>#include &lt;stdlib.h&gt;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int global_var;</a:t>
            </a:r>
            <a:r>
              <a:rPr lang="x-none" altLang="zh-CN"/>
              <a:t> 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void fun(int x,int y)</a:t>
            </a:r>
            <a:endParaRPr lang="zh-CN" altLang="en-US"/>
          </a:p>
          <a:p>
            <a:r>
              <a:rPr lang="zh-CN" altLang="en-US"/>
              <a:t>{</a:t>
            </a:r>
            <a:endParaRPr lang="zh-CN" altLang="en-US"/>
          </a:p>
          <a:p>
            <a:r>
              <a:rPr lang="zh-CN" altLang="en-US"/>
              <a:t>	static int static_a = 10;</a:t>
            </a:r>
            <a:endParaRPr lang="zh-CN" altLang="en-US"/>
          </a:p>
          <a:p>
            <a:r>
              <a:rPr lang="zh-CN" altLang="en-US"/>
              <a:t>	int local_a = 20;</a:t>
            </a:r>
            <a:endParaRPr lang="zh-CN" altLang="en-US"/>
          </a:p>
          <a:p>
            <a:r>
              <a:rPr lang="zh-CN" altLang="en-US"/>
              <a:t>	return;</a:t>
            </a:r>
            <a:endParaRPr lang="zh-CN" altLang="en-US"/>
          </a:p>
          <a:p>
            <a:r>
              <a:rPr lang="zh-CN" altLang="en-US"/>
              <a:t>}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int main()</a:t>
            </a:r>
            <a:endParaRPr lang="zh-CN" altLang="en-US"/>
          </a:p>
          <a:p>
            <a:r>
              <a:rPr lang="zh-CN" altLang="en-US"/>
              <a:t>{</a:t>
            </a:r>
            <a:endParaRPr lang="zh-CN" altLang="en-US"/>
          </a:p>
          <a:p>
            <a:r>
              <a:rPr lang="zh-CN" altLang="en-US"/>
              <a:t>	int main_x=2;</a:t>
            </a:r>
            <a:endParaRPr lang="zh-CN" altLang="en-US"/>
          </a:p>
          <a:p>
            <a:r>
              <a:rPr lang="zh-CN" altLang="en-US"/>
              <a:t>	char * hello_str = "Hello world\n";</a:t>
            </a:r>
            <a:endParaRPr lang="zh-CN" altLang="en-US"/>
          </a:p>
          <a:p>
            <a:r>
              <a:rPr lang="zh-CN" altLang="en-US"/>
              <a:t>	char * pstr = (char *) malloc(100*1);</a:t>
            </a:r>
            <a:endParaRPr lang="zh-CN" altLang="en-US"/>
          </a:p>
          <a:p>
            <a:r>
              <a:rPr lang="zh-CN" altLang="en-US"/>
              <a:t>	fun(main_x,3);</a:t>
            </a:r>
            <a:endParaRPr lang="zh-CN" altLang="en-US"/>
          </a:p>
          <a:p>
            <a:r>
              <a:rPr lang="zh-CN" altLang="en-US"/>
              <a:t>}</a:t>
            </a:r>
            <a:endParaRPr lang="zh-CN" altLang="en-US"/>
          </a:p>
        </p:txBody>
      </p:sp>
      <p:cxnSp>
        <p:nvCxnSpPr>
          <p:cNvPr id="12" name="肘形连接符 11"/>
          <p:cNvCxnSpPr/>
          <p:nvPr/>
        </p:nvCxnSpPr>
        <p:spPr>
          <a:xfrm>
            <a:off x="2635250" y="2136140"/>
            <a:ext cx="4241165" cy="2733040"/>
          </a:xfrm>
          <a:prstGeom prst="bentConnector3">
            <a:avLst>
              <a:gd name="adj1" fmla="val 50007"/>
            </a:avLst>
          </a:prstGeom>
          <a:solidFill>
            <a:schemeClr val="accent1"/>
          </a:solidFill>
          <a:ln w="25400" cap="flat" cmpd="sng" algn="ctr">
            <a:solidFill>
              <a:srgbClr val="FF9933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4" name="肘形连接符 13"/>
          <p:cNvCxnSpPr/>
          <p:nvPr/>
        </p:nvCxnSpPr>
        <p:spPr>
          <a:xfrm flipV="1">
            <a:off x="2988310" y="2421255"/>
            <a:ext cx="3743960" cy="215900"/>
          </a:xfrm>
          <a:prstGeom prst="bentConnector3">
            <a:avLst>
              <a:gd name="adj1" fmla="val 55970"/>
            </a:avLst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5" name="肘形连接符 14"/>
          <p:cNvCxnSpPr/>
          <p:nvPr/>
        </p:nvCxnSpPr>
        <p:spPr>
          <a:xfrm>
            <a:off x="4428490" y="3213100"/>
            <a:ext cx="2447925" cy="2088515"/>
          </a:xfrm>
          <a:prstGeom prst="bentConnector3">
            <a:avLst>
              <a:gd name="adj1" fmla="val 50013"/>
            </a:avLst>
          </a:prstGeom>
          <a:solidFill>
            <a:schemeClr val="accent1"/>
          </a:solidFill>
          <a:ln w="25400" cap="flat" cmpd="sng" algn="ctr">
            <a:solidFill>
              <a:schemeClr val="accent1">
                <a:lumMod val="90000"/>
              </a:schemeClr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6" name="肘形连接符 15"/>
          <p:cNvCxnSpPr/>
          <p:nvPr/>
        </p:nvCxnSpPr>
        <p:spPr>
          <a:xfrm flipV="1">
            <a:off x="3636010" y="2421255"/>
            <a:ext cx="2880360" cy="1080135"/>
          </a:xfrm>
          <a:prstGeom prst="bentConnector3">
            <a:avLst>
              <a:gd name="adj1" fmla="val 50022"/>
            </a:avLst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7" name="肘形连接符 16"/>
          <p:cNvCxnSpPr>
            <a:endCxn id="10" idx="1"/>
          </p:cNvCxnSpPr>
          <p:nvPr/>
        </p:nvCxnSpPr>
        <p:spPr>
          <a:xfrm>
            <a:off x="5436235" y="5373370"/>
            <a:ext cx="1512570" cy="320675"/>
          </a:xfrm>
          <a:prstGeom prst="bentConnector3">
            <a:avLst>
              <a:gd name="adj1" fmla="val 50042"/>
            </a:avLst>
          </a:prstGeom>
          <a:solidFill>
            <a:schemeClr val="accent1"/>
          </a:solidFill>
          <a:ln w="25400" cap="flat" cmpd="sng" algn="ctr">
            <a:solidFill>
              <a:srgbClr val="92D05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9" name="肘形连接符 18"/>
          <p:cNvCxnSpPr/>
          <p:nvPr/>
        </p:nvCxnSpPr>
        <p:spPr>
          <a:xfrm flipV="1">
            <a:off x="3348355" y="2421255"/>
            <a:ext cx="3456305" cy="2677160"/>
          </a:xfrm>
          <a:prstGeom prst="bentConnector3">
            <a:avLst>
              <a:gd name="adj1" fmla="val 50009"/>
            </a:avLst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20" name="肘形连接符 19"/>
          <p:cNvCxnSpPr/>
          <p:nvPr/>
        </p:nvCxnSpPr>
        <p:spPr>
          <a:xfrm rot="16200000">
            <a:off x="5687695" y="4400550"/>
            <a:ext cx="1368425" cy="1153160"/>
          </a:xfrm>
          <a:prstGeom prst="bentConnector3">
            <a:avLst>
              <a:gd name="adj1" fmla="val 100116"/>
            </a:avLst>
          </a:prstGeom>
          <a:solidFill>
            <a:schemeClr val="accent1"/>
          </a:solidFill>
          <a:ln w="25400" cap="flat" cmpd="sng" algn="ctr">
            <a:solidFill>
              <a:srgbClr val="FF3300"/>
            </a:solidFill>
            <a:prstDash val="solid"/>
            <a:round/>
            <a:headEnd type="none" w="med" len="med"/>
            <a:tailEnd type="arrow" w="med" len="med"/>
          </a:ln>
        </p:spPr>
      </p:cxnSp>
      <p:grpSp>
        <p:nvGrpSpPr>
          <p:cNvPr id="2" name="组合 1"/>
          <p:cNvGrpSpPr>
            <a:grpSpLocks noChangeAspect="1"/>
          </p:cNvGrpSpPr>
          <p:nvPr/>
        </p:nvGrpSpPr>
        <p:grpSpPr>
          <a:xfrm>
            <a:off x="6948805" y="487045"/>
            <a:ext cx="1403366" cy="5939790"/>
            <a:chOff x="11510" y="429"/>
            <a:chExt cx="2155" cy="9121"/>
          </a:xfrm>
        </p:grpSpPr>
        <p:sp>
          <p:nvSpPr>
            <p:cNvPr id="4" name="矩形 3"/>
            <p:cNvSpPr/>
            <p:nvPr/>
          </p:nvSpPr>
          <p:spPr>
            <a:xfrm>
              <a:off x="11510" y="429"/>
              <a:ext cx="2155" cy="1814"/>
            </a:xfrm>
            <a:prstGeom prst="rect">
              <a:avLst/>
            </a:prstGeom>
            <a:solidFill>
              <a:schemeClr val="accent5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2075" tIns="46038" rIns="92075" bIns="46038" numCol="1" anchor="ctr" anchorCtr="1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80604020202020204" pitchFamily="34" charset="0"/>
                  <a:ea typeface="宋体" pitchFamily="2" charset="-122"/>
                </a:rPr>
                <a:t>操作系统内核区</a:t>
              </a: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  <a:ea typeface="宋体" pitchFamily="2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11510" y="2243"/>
              <a:ext cx="2155" cy="1814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2075" tIns="46038" rIns="92075" bIns="46038" numCol="1" anchor="ctr" anchorCtr="1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80604020202020204" pitchFamily="34" charset="0"/>
                  <a:ea typeface="宋体" pitchFamily="2" charset="-122"/>
                </a:rPr>
                <a:t>栈区</a:t>
              </a:r>
              <a:endPara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  <a:ea typeface="宋体" pitchFamily="2" charset="-122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11510" y="4057"/>
              <a:ext cx="2155" cy="890"/>
            </a:xfrm>
            <a:prstGeom prst="rect">
              <a:avLst/>
            </a:prstGeom>
            <a:solidFill>
              <a:srgbClr val="33CCC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2075" tIns="46038" rIns="92075" bIns="46038" numCol="1" anchor="ctr" anchorCtr="1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80604020202020204" pitchFamily="34" charset="0"/>
                  <a:ea typeface="宋体" pitchFamily="2" charset="-122"/>
                </a:rPr>
                <a:t>动态连接库</a:t>
              </a: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  <a:ea typeface="宋体" pitchFamily="2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1510" y="4947"/>
              <a:ext cx="2155" cy="1814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2075" tIns="46038" rIns="92075" bIns="46038" numCol="1" anchor="ctr" anchorCtr="1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80604020202020204" pitchFamily="34" charset="0"/>
                  <a:ea typeface="宋体" pitchFamily="2" charset="-122"/>
                </a:rPr>
                <a:t>堆区</a:t>
              </a: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  <a:ea typeface="宋体" pitchFamily="2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11510" y="6761"/>
              <a:ext cx="2155" cy="720"/>
            </a:xfrm>
            <a:prstGeom prst="rect">
              <a:avLst/>
            </a:prstGeom>
            <a:solidFill>
              <a:srgbClr val="FF99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2075" tIns="46038" rIns="92075" bIns="46038" numCol="1" anchor="ctr" anchorCtr="1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80604020202020204" pitchFamily="34" charset="0"/>
                  <a:ea typeface="宋体" pitchFamily="2" charset="-122"/>
                </a:rPr>
                <a:t>bss</a:t>
              </a:r>
              <a:r>
                <a: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80604020202020204" pitchFamily="34" charset="0"/>
                  <a:ea typeface="宋体" pitchFamily="2" charset="-122"/>
                </a:rPr>
                <a:t>段</a:t>
              </a: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  <a:ea typeface="宋体" pitchFamily="2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11510" y="7481"/>
              <a:ext cx="2155" cy="570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2075" tIns="46038" rIns="92075" bIns="46038" numCol="1" anchor="ctr" anchorCtr="1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80604020202020204" pitchFamily="34" charset="0"/>
                  <a:ea typeface="宋体" pitchFamily="2" charset="-122"/>
                </a:rPr>
                <a:t>静态数据区</a:t>
              </a: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  <a:ea typeface="宋体" pitchFamily="2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11510" y="8051"/>
              <a:ext cx="2155" cy="748"/>
            </a:xfrm>
            <a:prstGeom prst="rect">
              <a:avLst/>
            </a:prstGeom>
            <a:solidFill>
              <a:srgbClr val="92D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2075" tIns="46038" rIns="92075" bIns="46038" numCol="1" anchor="ctr" anchorCtr="1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80604020202020204" pitchFamily="34" charset="0"/>
                  <a:ea typeface="宋体" pitchFamily="2" charset="-122"/>
                </a:rPr>
                <a:t>代码段</a:t>
              </a: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  <a:ea typeface="宋体" pitchFamily="2" charset="-122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11510" y="8802"/>
              <a:ext cx="2155" cy="7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2075" tIns="46038" rIns="92075" bIns="46038" numCol="1" anchor="ctr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80604020202020204" pitchFamily="34" charset="0"/>
                  <a:ea typeface="宋体" pitchFamily="2" charset="-122"/>
                </a:rPr>
                <a:t>受保护</a:t>
              </a: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  <a:ea typeface="宋体" pitchFamily="2" charset="-122"/>
              </a:endParaRPr>
            </a:p>
          </p:txBody>
        </p:sp>
        <p:cxnSp>
          <p:nvCxnSpPr>
            <p:cNvPr id="18" name="直接箭头连接符 17"/>
            <p:cNvCxnSpPr/>
            <p:nvPr/>
          </p:nvCxnSpPr>
          <p:spPr>
            <a:xfrm flipH="1">
              <a:off x="13211" y="2296"/>
              <a:ext cx="0" cy="129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21" name="直接箭头连接符 20"/>
            <p:cNvCxnSpPr/>
            <p:nvPr/>
          </p:nvCxnSpPr>
          <p:spPr>
            <a:xfrm flipH="1" flipV="1">
              <a:off x="13211" y="5434"/>
              <a:ext cx="0" cy="1293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</p:grpSp>
      <p:sp>
        <p:nvSpPr>
          <p:cNvPr id="22" name="矩形 21"/>
          <p:cNvSpPr/>
          <p:nvPr/>
        </p:nvSpPr>
        <p:spPr>
          <a:xfrm>
            <a:off x="1548130" y="4941570"/>
            <a:ext cx="1871980" cy="870585"/>
          </a:xfrm>
          <a:prstGeom prst="rect">
            <a:avLst/>
          </a:prstGeom>
          <a:solidFill>
            <a:schemeClr val="bg1">
              <a:lumMod val="50000"/>
              <a:alpha val="52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5" name="Rectangle 2"/>
          <p:cNvSpPr>
            <a:spLocks noGrp="1"/>
          </p:cNvSpPr>
          <p:nvPr>
            <p:ph type="title"/>
          </p:nvPr>
        </p:nvSpPr>
        <p:spPr>
          <a:xfrm>
            <a:off x="2059623" y="260985"/>
            <a:ext cx="5024755" cy="838200"/>
          </a:xfrm>
        </p:spPr>
        <p:txBody>
          <a:bodyPr vert="horz" wrap="square" lIns="91440" tIns="45720" rIns="91440" bIns="45720" anchor="ctr" anchorCtr="0"/>
          <a:p>
            <a:pPr algn="ctr" eaLnBrk="1" hangingPunct="1"/>
            <a:r>
              <a:rPr lang="zh-CN" b="0" dirty="0">
                <a:ea typeface="华文新魏" pitchFamily="2" charset="-122"/>
              </a:rPr>
              <a:t>程序的虚拟</a:t>
            </a:r>
            <a:r>
              <a:rPr lang="zh-CN" altLang="x-none" b="0" dirty="0">
                <a:ea typeface="华文新魏" pitchFamily="2" charset="-122"/>
              </a:rPr>
              <a:t>内存</a:t>
            </a:r>
            <a:endParaRPr lang="zh-CN" altLang="en-US" b="0" dirty="0"/>
          </a:p>
        </p:txBody>
      </p:sp>
      <p:sp>
        <p:nvSpPr>
          <p:cNvPr id="5" name="文本框 4"/>
          <p:cNvSpPr txBox="1"/>
          <p:nvPr/>
        </p:nvSpPr>
        <p:spPr>
          <a:xfrm>
            <a:off x="539750" y="1701165"/>
            <a:ext cx="6278880" cy="3138170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[huxy@huxy-x1-nano cprog]$ ./mem_layout 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address of local_a = 58502a34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address of static_a = 383a8028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address of fun_x = 58502a2c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address of fun_y = 58502a28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address of main_x = 58502a54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address of hello_str = 58502a58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address of pstr = 58502a60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address of "Hello world\n" = 383a6069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address of returned value from malloc = 387a72a0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address of global_var = 383a8030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5" name="Rectangle 2"/>
          <p:cNvSpPr>
            <a:spLocks noGrp="1"/>
          </p:cNvSpPr>
          <p:nvPr>
            <p:ph type="title"/>
          </p:nvPr>
        </p:nvSpPr>
        <p:spPr>
          <a:xfrm>
            <a:off x="2059623" y="260985"/>
            <a:ext cx="5024755" cy="838200"/>
          </a:xfrm>
        </p:spPr>
        <p:txBody>
          <a:bodyPr vert="horz" wrap="square" lIns="91440" tIns="45720" rIns="91440" bIns="45720" anchor="ctr" anchorCtr="0"/>
          <a:p>
            <a:pPr algn="ctr" eaLnBrk="1" hangingPunct="1"/>
            <a:r>
              <a:rPr lang="zh-CN" b="0" dirty="0">
                <a:ea typeface="华文新魏" pitchFamily="2" charset="-122"/>
              </a:rPr>
              <a:t>程序的虚拟</a:t>
            </a:r>
            <a:r>
              <a:rPr lang="zh-CN" altLang="x-none" b="0" dirty="0">
                <a:ea typeface="华文新魏" pitchFamily="2" charset="-122"/>
              </a:rPr>
              <a:t>内存</a:t>
            </a:r>
            <a:endParaRPr lang="zh-CN" altLang="en-US" b="0" dirty="0"/>
          </a:p>
        </p:txBody>
      </p:sp>
      <p:sp>
        <p:nvSpPr>
          <p:cNvPr id="6" name="文本框 5"/>
          <p:cNvSpPr txBox="1"/>
          <p:nvPr/>
        </p:nvSpPr>
        <p:spPr>
          <a:xfrm>
            <a:off x="252095" y="1772920"/>
            <a:ext cx="6834505" cy="3969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main_x </a:t>
            </a:r>
            <a:r>
              <a:rPr lang="en-US" altLang="zh-CN">
                <a:sym typeface="+mn-ea"/>
              </a:rPr>
              <a:t>  </a:t>
            </a:r>
            <a:r>
              <a:rPr lang="zh-CN" altLang="en-US">
                <a:sym typeface="+mn-ea"/>
              </a:rPr>
              <a:t>函数</a:t>
            </a:r>
            <a:r>
              <a:rPr lang="en-US" altLang="zh-CN">
                <a:sym typeface="+mn-ea"/>
              </a:rPr>
              <a:t>main</a:t>
            </a:r>
            <a:r>
              <a:rPr lang="zh-CN" altLang="en-US">
                <a:sym typeface="+mn-ea"/>
              </a:rPr>
              <a:t>的局部变量，</a:t>
            </a:r>
            <a:r>
              <a:rPr lang="en-US" altLang="zh-CN">
                <a:sym typeface="+mn-ea"/>
              </a:rPr>
              <a:t>            </a:t>
            </a:r>
            <a:r>
              <a:rPr lang="zh-CN" altLang="en-US">
                <a:sym typeface="+mn-ea"/>
              </a:rPr>
              <a:t>在栈区：58502a54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r>
              <a:rPr lang="zh-CN" altLang="en-US">
                <a:sym typeface="+mn-ea"/>
              </a:rPr>
              <a:t>hello_str 函数</a:t>
            </a:r>
            <a:r>
              <a:rPr lang="en-US" altLang="zh-CN">
                <a:sym typeface="+mn-ea"/>
              </a:rPr>
              <a:t>main</a:t>
            </a:r>
            <a:r>
              <a:rPr lang="zh-CN" altLang="en-US">
                <a:sym typeface="+mn-ea"/>
              </a:rPr>
              <a:t>的局部变量，是指针，在栈区：58502a58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r>
              <a:rPr lang="zh-CN" altLang="en-US">
                <a:sym typeface="+mn-ea"/>
              </a:rPr>
              <a:t>pstr </a:t>
            </a:r>
            <a:r>
              <a:rPr lang="en-US" altLang="zh-CN">
                <a:sym typeface="+mn-ea"/>
              </a:rPr>
              <a:t>       </a:t>
            </a:r>
            <a:r>
              <a:rPr lang="zh-CN" altLang="en-US">
                <a:sym typeface="+mn-ea"/>
              </a:rPr>
              <a:t>函数</a:t>
            </a:r>
            <a:r>
              <a:rPr lang="en-US" altLang="zh-CN">
                <a:sym typeface="+mn-ea"/>
              </a:rPr>
              <a:t>main</a:t>
            </a:r>
            <a:r>
              <a:rPr lang="zh-CN" altLang="en-US">
                <a:sym typeface="+mn-ea"/>
              </a:rPr>
              <a:t>的局部变量，是指针，在栈区：58502a60</a:t>
            </a:r>
            <a:endParaRPr lang="zh-CN" altLang="en-US">
              <a:sym typeface="+mn-ea"/>
            </a:endParaRPr>
          </a:p>
          <a:p>
            <a:endParaRPr lang="zh-CN" altLang="en-US">
              <a:solidFill>
                <a:schemeClr val="tx1"/>
              </a:solidFill>
              <a:sym typeface="+mn-ea"/>
            </a:endParaRPr>
          </a:p>
          <a:p>
            <a:r>
              <a:rPr lang="zh-CN" altLang="en-US">
                <a:sym typeface="+mn-ea"/>
              </a:rPr>
              <a:t>local_a 函数</a:t>
            </a:r>
            <a:r>
              <a:rPr lang="en-US" altLang="zh-CN">
                <a:sym typeface="+mn-ea"/>
              </a:rPr>
              <a:t>fun</a:t>
            </a:r>
            <a:r>
              <a:rPr lang="zh-CN" altLang="en-US">
                <a:sym typeface="+mn-ea"/>
              </a:rPr>
              <a:t>的局部</a:t>
            </a:r>
            <a:r>
              <a:rPr lang="zh-CN" altLang="en-US">
                <a:sym typeface="+mn-ea"/>
              </a:rPr>
              <a:t>变量，在栈区：58502a34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ym typeface="+mn-ea"/>
              </a:rPr>
              <a:t>fun_x </a:t>
            </a:r>
            <a:r>
              <a:rPr lang="en-US" altLang="zh-CN">
                <a:sym typeface="+mn-ea"/>
              </a:rPr>
              <a:t>  </a:t>
            </a:r>
            <a:r>
              <a:rPr lang="zh-CN" altLang="en-US">
                <a:sym typeface="+mn-ea"/>
              </a:rPr>
              <a:t>函数</a:t>
            </a:r>
            <a:r>
              <a:rPr lang="en-US" altLang="zh-CN">
                <a:sym typeface="+mn-ea"/>
              </a:rPr>
              <a:t>fun</a:t>
            </a:r>
            <a:r>
              <a:rPr lang="zh-CN" altLang="en-US">
                <a:sym typeface="+mn-ea"/>
              </a:rPr>
              <a:t>的局部变量，在栈区：</a:t>
            </a:r>
            <a:r>
              <a:rPr lang="zh-CN" altLang="en-US">
                <a:sym typeface="+mn-ea"/>
              </a:rPr>
              <a:t>58502a2c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ym typeface="+mn-ea"/>
              </a:rPr>
              <a:t>fun_y</a:t>
            </a:r>
            <a:r>
              <a:rPr lang="en-US" altLang="zh-CN">
                <a:sym typeface="+mn-ea"/>
              </a:rPr>
              <a:t>  </a:t>
            </a:r>
            <a:r>
              <a:rPr lang="zh-CN" altLang="en-US">
                <a:sym typeface="+mn-ea"/>
              </a:rPr>
              <a:t> </a:t>
            </a:r>
            <a:r>
              <a:rPr lang="zh-CN" altLang="en-US">
                <a:sym typeface="+mn-ea"/>
              </a:rPr>
              <a:t>函数</a:t>
            </a:r>
            <a:r>
              <a:rPr lang="en-US" altLang="zh-CN">
                <a:sym typeface="+mn-ea"/>
              </a:rPr>
              <a:t>fun</a:t>
            </a:r>
            <a:r>
              <a:rPr lang="zh-CN" altLang="en-US">
                <a:sym typeface="+mn-ea"/>
              </a:rPr>
              <a:t>的局部变量，在栈区：58502a28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  <a:sym typeface="+mn-ea"/>
            </a:endParaRPr>
          </a:p>
          <a:p>
            <a:r>
              <a:rPr lang="zh-CN" altLang="en-US">
                <a:sym typeface="+mn-ea"/>
              </a:rPr>
              <a:t>malloc在堆区分配内存，返回该内存首地址：387a72a0</a:t>
            </a:r>
            <a:endParaRPr lang="x-none" altLang="en-US">
              <a:solidFill>
                <a:schemeClr val="tx1"/>
              </a:solidFill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global_var </a:t>
            </a:r>
            <a:r>
              <a:rPr lang="en-US" altLang="zh-CN">
                <a:sym typeface="+mn-ea"/>
              </a:rPr>
              <a:t>   </a:t>
            </a:r>
            <a:r>
              <a:rPr lang="zh-CN" altLang="en-US">
                <a:sym typeface="+mn-ea"/>
              </a:rPr>
              <a:t>全局变量，在静态数据区：</a:t>
            </a:r>
            <a:r>
              <a:rPr lang="zh-CN" altLang="en-US">
                <a:sym typeface="+mn-ea"/>
              </a:rPr>
              <a:t>383a8030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static_a 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静态局部变量，在静态数据区：383a8028</a:t>
            </a:r>
            <a:endParaRPr lang="zh-CN" altLang="en-US">
              <a:sym typeface="+mn-ea"/>
            </a:endParaRPr>
          </a:p>
          <a:p>
            <a:endParaRPr lang="zh-CN" altLang="en-US">
              <a:solidFill>
                <a:schemeClr val="tx1"/>
              </a:solidFill>
              <a:sym typeface="+mn-ea"/>
            </a:endParaRPr>
          </a:p>
          <a:p>
            <a:r>
              <a:rPr lang="zh-CN" altLang="en-US">
                <a:sym typeface="+mn-ea"/>
              </a:rPr>
              <a:t>"Hello world\n" 字符串常量，在代码区：383a6069</a:t>
            </a:r>
            <a:endParaRPr lang="x-none" altLang="en-US">
              <a:solidFill>
                <a:schemeClr val="tx1"/>
              </a:solidFill>
              <a:sym typeface="+mn-ea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7093585" y="702945"/>
            <a:ext cx="1367790" cy="5791835"/>
            <a:chOff x="11510" y="429"/>
            <a:chExt cx="2154" cy="9121"/>
          </a:xfrm>
        </p:grpSpPr>
        <p:sp>
          <p:nvSpPr>
            <p:cNvPr id="2" name="矩形 1"/>
            <p:cNvSpPr/>
            <p:nvPr/>
          </p:nvSpPr>
          <p:spPr>
            <a:xfrm>
              <a:off x="11510" y="429"/>
              <a:ext cx="2155" cy="1814"/>
            </a:xfrm>
            <a:prstGeom prst="rect">
              <a:avLst/>
            </a:prstGeom>
            <a:solidFill>
              <a:schemeClr val="accent5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2075" tIns="46038" rIns="92075" bIns="46038" numCol="1" anchor="ctr" anchorCtr="1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80604020202020204" pitchFamily="34" charset="0"/>
                  <a:ea typeface="宋体" pitchFamily="2" charset="-122"/>
                </a:rPr>
                <a:t>操作系统内核区</a:t>
              </a: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  <a:ea typeface="宋体" pitchFamily="2" charset="-122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11510" y="2243"/>
              <a:ext cx="2155" cy="1814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2075" tIns="46038" rIns="92075" bIns="46038" numCol="1" anchor="ctr" anchorCtr="1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80604020202020204" pitchFamily="34" charset="0"/>
                  <a:ea typeface="宋体" pitchFamily="2" charset="-122"/>
                </a:rPr>
                <a:t>栈区</a:t>
              </a:r>
              <a:endPara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  <a:ea typeface="宋体" pitchFamily="2" charset="-122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11510" y="4057"/>
              <a:ext cx="2155" cy="890"/>
            </a:xfrm>
            <a:prstGeom prst="rect">
              <a:avLst/>
            </a:prstGeom>
            <a:solidFill>
              <a:srgbClr val="33CCC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2075" tIns="46038" rIns="92075" bIns="46038" numCol="1" anchor="ctr" anchorCtr="1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80604020202020204" pitchFamily="34" charset="0"/>
                  <a:ea typeface="宋体" pitchFamily="2" charset="-122"/>
                </a:rPr>
                <a:t>动态链接库</a:t>
              </a: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  <a:ea typeface="宋体" pitchFamily="2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11510" y="4947"/>
              <a:ext cx="2155" cy="1814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2075" tIns="46038" rIns="92075" bIns="46038" numCol="1" anchor="ctr" anchorCtr="1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80604020202020204" pitchFamily="34" charset="0"/>
                  <a:ea typeface="宋体" pitchFamily="2" charset="-122"/>
                </a:rPr>
                <a:t>堆区</a:t>
              </a: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  <a:ea typeface="宋体" pitchFamily="2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1510" y="6761"/>
              <a:ext cx="2155" cy="720"/>
            </a:xfrm>
            <a:prstGeom prst="rect">
              <a:avLst/>
            </a:prstGeom>
            <a:solidFill>
              <a:srgbClr val="FF99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2075" tIns="46038" rIns="92075" bIns="46038" numCol="1" anchor="ctr" anchorCtr="1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80604020202020204" pitchFamily="34" charset="0"/>
                  <a:ea typeface="宋体" pitchFamily="2" charset="-122"/>
                </a:rPr>
                <a:t>bss</a:t>
              </a:r>
              <a:r>
                <a: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80604020202020204" pitchFamily="34" charset="0"/>
                  <a:ea typeface="宋体" pitchFamily="2" charset="-122"/>
                </a:rPr>
                <a:t>段</a:t>
              </a: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  <a:ea typeface="宋体" pitchFamily="2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11510" y="7481"/>
              <a:ext cx="2155" cy="570"/>
            </a:xfrm>
            <a:prstGeom prst="rect">
              <a:avLst/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2075" tIns="46038" rIns="92075" bIns="46038" numCol="1" anchor="ctr" anchorCtr="1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80604020202020204" pitchFamily="34" charset="0"/>
                  <a:ea typeface="宋体" pitchFamily="2" charset="-122"/>
                </a:rPr>
                <a:t>静态数据区</a:t>
              </a: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  <a:ea typeface="宋体" pitchFamily="2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11510" y="8051"/>
              <a:ext cx="2155" cy="748"/>
            </a:xfrm>
            <a:prstGeom prst="rect">
              <a:avLst/>
            </a:prstGeom>
            <a:solidFill>
              <a:srgbClr val="92D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2075" tIns="46038" rIns="92075" bIns="46038" numCol="1" anchor="ctr" anchorCtr="1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80604020202020204" pitchFamily="34" charset="0"/>
                  <a:ea typeface="宋体" pitchFamily="2" charset="-122"/>
                </a:rPr>
                <a:t>代码段</a:t>
              </a: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  <a:ea typeface="宋体" pitchFamily="2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11510" y="8802"/>
              <a:ext cx="2155" cy="7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2075" tIns="46038" rIns="92075" bIns="46038" numCol="1" anchor="ctr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80604020202020204" pitchFamily="34" charset="0"/>
                  <a:ea typeface="宋体" pitchFamily="2" charset="-122"/>
                </a:rPr>
                <a:t>受保护</a:t>
              </a: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  <a:ea typeface="宋体" pitchFamily="2" charset="-122"/>
              </a:endParaRPr>
            </a:p>
          </p:txBody>
        </p:sp>
        <p:cxnSp>
          <p:nvCxnSpPr>
            <p:cNvPr id="11" name="直接箭头连接符 10"/>
            <p:cNvCxnSpPr/>
            <p:nvPr/>
          </p:nvCxnSpPr>
          <p:spPr>
            <a:xfrm flipH="1">
              <a:off x="13211" y="2296"/>
              <a:ext cx="0" cy="129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12" name="直接箭头连接符 11"/>
            <p:cNvCxnSpPr/>
            <p:nvPr/>
          </p:nvCxnSpPr>
          <p:spPr>
            <a:xfrm flipH="1" flipV="1">
              <a:off x="13211" y="5434"/>
              <a:ext cx="0" cy="1293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80604020202020204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80604020202020204" pitchFamily="34" charset="0"/>
            <a:ea typeface="宋体" pitchFamily="2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1403</Words>
  <Application>WPS 演示</Application>
  <PresentationFormat>全屏显示(4:3)</PresentationFormat>
  <Paragraphs>129</Paragraphs>
  <Slides>8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1" baseType="lpstr">
      <vt:lpstr>Arial</vt:lpstr>
      <vt:lpstr>宋体</vt:lpstr>
      <vt:lpstr>Wingdings</vt:lpstr>
      <vt:lpstr>DejaVu Sans</vt:lpstr>
      <vt:lpstr>文泉驿微米黑</vt:lpstr>
      <vt:lpstr>Arial Black</vt:lpstr>
      <vt:lpstr>Times New Roman</vt:lpstr>
      <vt:lpstr>华文新魏</vt:lpstr>
      <vt:lpstr>微软雅黑</vt:lpstr>
      <vt:lpstr>宋体</vt:lpstr>
      <vt:lpstr>Arial Unicode MS</vt:lpstr>
      <vt:lpstr>Noto Sans Symbols2</vt:lpstr>
      <vt:lpstr>Pixel</vt:lpstr>
      <vt:lpstr>C语言内存模型</vt:lpstr>
      <vt:lpstr>计算机物理内存</vt:lpstr>
      <vt:lpstr>计算机物理内存</vt:lpstr>
      <vt:lpstr>程序的虚拟内存</vt:lpstr>
      <vt:lpstr>PowerPoint 演示文稿</vt:lpstr>
      <vt:lpstr>程序的虚拟内存</vt:lpstr>
      <vt:lpstr>程序的虚拟内存</vt:lpstr>
      <vt:lpstr>程序的虚拟内存</vt:lpstr>
    </vt:vector>
  </TitlesOfParts>
  <Company> 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chap2_用C语言编写程序1-3</dc:title>
  <dc:creator>yanhui</dc:creator>
  <cp:lastModifiedBy>huxy</cp:lastModifiedBy>
  <cp:revision>1447</cp:revision>
  <dcterms:created xsi:type="dcterms:W3CDTF">2023-11-29T15:44:24Z</dcterms:created>
  <dcterms:modified xsi:type="dcterms:W3CDTF">2023-11-29T15:44:24Z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2052-11.1.0.10920</vt:lpwstr>
  </property>
</Properties>
</file>